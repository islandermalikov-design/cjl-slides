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обложка" descr="Фотография обложки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Заголовок"/>
          <p:cNvSpPr txBox="1"/>
          <p:nvPr/>
        </p:nvSpPr>
        <p:spPr>
          <a:xfrm>
            <a:off x="560832" y="5120640"/>
            <a:ext cx="8534400" cy="9753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ts val="4334"/>
              </a:lnSpc>
            </a:pPr>
            <a:r>
              <a:rPr sz="4130" b="0" spc="660">
                <a:solidFill>
                  <a:srgbClr val="F2ECE3"/>
                </a:solidFill>
                <a:latin typeface="Cormorant Garamond Light"/>
                <a:ea typeface="Cormorant Garamond Light"/>
                <a:cs typeface="Cormorant Garamond Light"/>
              </a:rPr>
              <a:t>РЕСТАВРАЦИЯ ОБЪЕКТОВ</a:t>
            </a:r>
          </a:p>
        </p:txBody>
      </p:sp>
      <p:sp>
        <p:nvSpPr>
          <p:cNvPr id="5" name="Подзаголовок"/>
          <p:cNvSpPr txBox="1"/>
          <p:nvPr/>
        </p:nvSpPr>
        <p:spPr>
          <a:xfrm>
            <a:off x="560832" y="6181344"/>
            <a:ext cx="853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F2ECE3"/>
                </a:solidFill>
                <a:latin typeface="Noto Sans"/>
                <a:ea typeface="Noto Sans"/>
                <a:cs typeface="Noto Sans"/>
              </a:rPr>
              <a:t>Портфолио реализованных проектов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giliarovskogo-before" descr="Фотография: Гиляровского, 37к2 — ДО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01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5736336"/>
            <a:ext cx="12192000" cy="1121664"/>
          </a:xfrm>
          <a:prstGeom prst="rect">
            <a:avLst/>
          </a:prstGeom>
          <a:solidFill>
            <a:srgbClr val="1A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6016752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01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6211824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F2ECE3"/>
                </a:solidFill>
                <a:latin typeface="Cormorant Garamond Light"/>
                <a:ea typeface="Cormorant Garamond Light"/>
                <a:cs typeface="Cormorant Garamond Light"/>
              </a:rPr>
              <a:t>Гиляровского, 37к2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6059424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A9A092"/>
                </a:solidFill>
                <a:latin typeface="Noto Sans SemiBold"/>
                <a:ea typeface="Noto Sans SemiBold"/>
                <a:cs typeface="Noto Sans SemiBold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giliarovskogo-after" descr="Фотография: Гиляровского, 37к2 — ПОСЛЕ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01 / 06</a:t>
            </a:r>
          </a:p>
        </p:txBody>
      </p:sp>
      <p:pic>
        <p:nvPicPr>
          <p:cNvPr id="7" name="ДЕТАЛЬ ФАСАДА — giliarovskogo-after" descr="Фрагмент фасада — деталь для крупного плана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48" y="1036320"/>
            <a:ext cx="2011680" cy="2682240"/>
          </a:xfrm>
          <a:prstGeom prst="rect">
            <a:avLst/>
          </a:prstGeom>
          <a:ln w="6350">
            <a:solidFill>
              <a:srgbClr val="F2ECE3">
                <a:alpha val="40000"/>
              </a:srgbClr>
            </a:solidFill>
          </a:ln>
        </p:spPr>
      </p:pic>
      <p:sp>
        <p:nvSpPr>
          <p:cNvPr id="8" name="Подпись детали"/>
          <p:cNvSpPr txBox="1"/>
          <p:nvPr/>
        </p:nvSpPr>
        <p:spPr>
          <a:xfrm>
            <a:off x="9741408" y="3803904"/>
            <a:ext cx="1889760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ПОРТИК ПОСЛЕ РЕСТАВРАЦИИ</a:t>
            </a:r>
          </a:p>
        </p:txBody>
      </p:sp>
      <p:sp>
        <p:nvSpPr>
          <p:cNvPr id="9" name="Полоса-подпись"/>
          <p:cNvSpPr/>
          <p:nvPr/>
        </p:nvSpPr>
        <p:spPr>
          <a:xfrm>
            <a:off x="0" y="4956048"/>
            <a:ext cx="12192000" cy="1901952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Киккер объекта"/>
          <p:cNvSpPr txBox="1"/>
          <p:nvPr/>
        </p:nvSpPr>
        <p:spPr>
          <a:xfrm>
            <a:off x="560832" y="5187696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01</a:t>
            </a:r>
          </a:p>
        </p:txBody>
      </p:sp>
      <p:sp>
        <p:nvSpPr>
          <p:cNvPr id="11" name="Название объекта"/>
          <p:cNvSpPr txBox="1"/>
          <p:nvPr/>
        </p:nvSpPr>
        <p:spPr>
          <a:xfrm>
            <a:off x="560832" y="5382768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1A1815"/>
                </a:solidFill>
                <a:latin typeface="Cormorant Garamond Light"/>
                <a:ea typeface="Cormorant Garamond Light"/>
                <a:cs typeface="Cormorant Garamond Light"/>
              </a:rPr>
              <a:t>Гиляровского, 37к2</a:t>
            </a:r>
          </a:p>
        </p:txBody>
      </p:sp>
      <p:sp>
        <p:nvSpPr>
          <p:cNvPr id="12" name="Статус"/>
          <p:cNvSpPr txBox="1"/>
          <p:nvPr/>
        </p:nvSpPr>
        <p:spPr>
          <a:xfrm>
            <a:off x="6754368" y="5230368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ПОСЛЕ РЕСТАВРАЦИИ</a:t>
            </a:r>
          </a:p>
        </p:txBody>
      </p:sp>
      <p:sp>
        <p:nvSpPr>
          <p:cNvPr id="13" name="Разделитель-специф"/>
          <p:cNvSpPr/>
          <p:nvPr/>
        </p:nvSpPr>
        <p:spPr>
          <a:xfrm>
            <a:off x="560832" y="6065520"/>
            <a:ext cx="11070336" cy="6096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Характеристика — Площадь здания"/>
          <p:cNvSpPr txBox="1"/>
          <p:nvPr/>
        </p:nvSpPr>
        <p:spPr>
          <a:xfrm>
            <a:off x="56083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ПЛОЩАДЬ ЗДАНИЯ</a:t>
            </a:r>
          </a:p>
        </p:txBody>
      </p:sp>
      <p:sp>
        <p:nvSpPr>
          <p:cNvPr id="15" name="Линия значения"/>
          <p:cNvSpPr/>
          <p:nvPr/>
        </p:nvSpPr>
        <p:spPr>
          <a:xfrm>
            <a:off x="56083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Характеристика — Этажность"/>
          <p:cNvSpPr txBox="1"/>
          <p:nvPr/>
        </p:nvSpPr>
        <p:spPr>
          <a:xfrm>
            <a:off x="2434336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ЭТАЖНОСТЬ</a:t>
            </a:r>
          </a:p>
        </p:txBody>
      </p:sp>
      <p:sp>
        <p:nvSpPr>
          <p:cNvPr id="17" name="Линия значения"/>
          <p:cNvSpPr/>
          <p:nvPr/>
        </p:nvSpPr>
        <p:spPr>
          <a:xfrm>
            <a:off x="2434336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Характеристика — Год постройки"/>
          <p:cNvSpPr txBox="1"/>
          <p:nvPr/>
        </p:nvSpPr>
        <p:spPr>
          <a:xfrm>
            <a:off x="4307840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ГОД ПОСТРОЙКИ</a:t>
            </a:r>
          </a:p>
        </p:txBody>
      </p:sp>
      <p:sp>
        <p:nvSpPr>
          <p:cNvPr id="19" name="Линия значения"/>
          <p:cNvSpPr/>
          <p:nvPr/>
        </p:nvSpPr>
        <p:spPr>
          <a:xfrm>
            <a:off x="4307840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Характеристика — Состояние"/>
          <p:cNvSpPr txBox="1"/>
          <p:nvPr/>
        </p:nvSpPr>
        <p:spPr>
          <a:xfrm>
            <a:off x="6181344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СОСТОЯНИЕ</a:t>
            </a:r>
          </a:p>
        </p:txBody>
      </p:sp>
      <p:sp>
        <p:nvSpPr>
          <p:cNvPr id="21" name="Линия значения"/>
          <p:cNvSpPr/>
          <p:nvPr/>
        </p:nvSpPr>
        <p:spPr>
          <a:xfrm>
            <a:off x="6181344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Характеристика — Статус"/>
          <p:cNvSpPr txBox="1"/>
          <p:nvPr/>
        </p:nvSpPr>
        <p:spPr>
          <a:xfrm>
            <a:off x="8054848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СТАТУС</a:t>
            </a:r>
          </a:p>
        </p:txBody>
      </p:sp>
      <p:sp>
        <p:nvSpPr>
          <p:cNvPr id="23" name="Линия значения"/>
          <p:cNvSpPr/>
          <p:nvPr/>
        </p:nvSpPr>
        <p:spPr>
          <a:xfrm>
            <a:off x="8054848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Характеристика — Коммуникации"/>
          <p:cNvSpPr txBox="1"/>
          <p:nvPr/>
        </p:nvSpPr>
        <p:spPr>
          <a:xfrm>
            <a:off x="992835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КОММУНИКАЦИИ</a:t>
            </a:r>
          </a:p>
        </p:txBody>
      </p:sp>
      <p:sp>
        <p:nvSpPr>
          <p:cNvPr id="25" name="Линия значения"/>
          <p:cNvSpPr/>
          <p:nvPr/>
        </p:nvSpPr>
        <p:spPr>
          <a:xfrm>
            <a:off x="992835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borby-before" descr="Фотография: Площадь Борьбы, 13А — ДО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02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5736336"/>
            <a:ext cx="12192000" cy="1121664"/>
          </a:xfrm>
          <a:prstGeom prst="rect">
            <a:avLst/>
          </a:prstGeom>
          <a:solidFill>
            <a:srgbClr val="1A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6016752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02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6211824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F2ECE3"/>
                </a:solidFill>
                <a:latin typeface="Cormorant Garamond Light"/>
                <a:ea typeface="Cormorant Garamond Light"/>
                <a:cs typeface="Cormorant Garamond Light"/>
              </a:rPr>
              <a:t>Площадь Борьбы, 13А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6059424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A9A092"/>
                </a:solidFill>
                <a:latin typeface="Noto Sans SemiBold"/>
                <a:ea typeface="Noto Sans SemiBold"/>
                <a:cs typeface="Noto Sans SemiBold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-ПЛЕЙСХОЛДЕР — borby-after" descr="Место под будущую фотографию: Площадь Борьбы, 13А — ПОСЛЕ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02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4956048"/>
            <a:ext cx="12192000" cy="1901952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5187696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02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5382768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1A1815"/>
                </a:solidFill>
                <a:latin typeface="Cormorant Garamond Light"/>
                <a:ea typeface="Cormorant Garamond Light"/>
                <a:cs typeface="Cormorant Garamond Light"/>
              </a:rPr>
              <a:t>Площадь Борьбы, 13А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5230368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ПОСЛЕ РЕСТАВРАЦИИ</a:t>
            </a:r>
          </a:p>
        </p:txBody>
      </p:sp>
      <p:sp>
        <p:nvSpPr>
          <p:cNvPr id="11" name="Разделитель-специф"/>
          <p:cNvSpPr/>
          <p:nvPr/>
        </p:nvSpPr>
        <p:spPr>
          <a:xfrm>
            <a:off x="560832" y="6065520"/>
            <a:ext cx="11070336" cy="6096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Характеристика — Площадь здания"/>
          <p:cNvSpPr txBox="1"/>
          <p:nvPr/>
        </p:nvSpPr>
        <p:spPr>
          <a:xfrm>
            <a:off x="56083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ПЛОЩАДЬ ЗДАНИЯ</a:t>
            </a:r>
          </a:p>
        </p:txBody>
      </p:sp>
      <p:sp>
        <p:nvSpPr>
          <p:cNvPr id="13" name="Линия значения"/>
          <p:cNvSpPr/>
          <p:nvPr/>
        </p:nvSpPr>
        <p:spPr>
          <a:xfrm>
            <a:off x="56083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Характеристика — Этажность"/>
          <p:cNvSpPr txBox="1"/>
          <p:nvPr/>
        </p:nvSpPr>
        <p:spPr>
          <a:xfrm>
            <a:off x="2434336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ЭТАЖНОСТЬ</a:t>
            </a:r>
          </a:p>
        </p:txBody>
      </p:sp>
      <p:sp>
        <p:nvSpPr>
          <p:cNvPr id="15" name="Линия значения"/>
          <p:cNvSpPr/>
          <p:nvPr/>
        </p:nvSpPr>
        <p:spPr>
          <a:xfrm>
            <a:off x="2434336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Характеристика — Год постройки"/>
          <p:cNvSpPr txBox="1"/>
          <p:nvPr/>
        </p:nvSpPr>
        <p:spPr>
          <a:xfrm>
            <a:off x="4307840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ГОД ПОСТРОЙКИ</a:t>
            </a:r>
          </a:p>
        </p:txBody>
      </p:sp>
      <p:sp>
        <p:nvSpPr>
          <p:cNvPr id="17" name="Линия значения"/>
          <p:cNvSpPr/>
          <p:nvPr/>
        </p:nvSpPr>
        <p:spPr>
          <a:xfrm>
            <a:off x="4307840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Характеристика — Состояние"/>
          <p:cNvSpPr txBox="1"/>
          <p:nvPr/>
        </p:nvSpPr>
        <p:spPr>
          <a:xfrm>
            <a:off x="6181344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СОСТОЯНИЕ</a:t>
            </a:r>
          </a:p>
        </p:txBody>
      </p:sp>
      <p:sp>
        <p:nvSpPr>
          <p:cNvPr id="19" name="Линия значения"/>
          <p:cNvSpPr/>
          <p:nvPr/>
        </p:nvSpPr>
        <p:spPr>
          <a:xfrm>
            <a:off x="6181344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Характеристика — Статус"/>
          <p:cNvSpPr txBox="1"/>
          <p:nvPr/>
        </p:nvSpPr>
        <p:spPr>
          <a:xfrm>
            <a:off x="8054848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СТАТУС</a:t>
            </a:r>
          </a:p>
        </p:txBody>
      </p:sp>
      <p:sp>
        <p:nvSpPr>
          <p:cNvPr id="21" name="Линия значения"/>
          <p:cNvSpPr/>
          <p:nvPr/>
        </p:nvSpPr>
        <p:spPr>
          <a:xfrm>
            <a:off x="8054848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Характеристика — Коммуникации"/>
          <p:cNvSpPr txBox="1"/>
          <p:nvPr/>
        </p:nvSpPr>
        <p:spPr>
          <a:xfrm>
            <a:off x="992835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КОММУНИКАЦИИ</a:t>
            </a:r>
          </a:p>
        </p:txBody>
      </p:sp>
      <p:sp>
        <p:nvSpPr>
          <p:cNvPr id="23" name="Линия значения"/>
          <p:cNvSpPr/>
          <p:nvPr/>
        </p:nvSpPr>
        <p:spPr>
          <a:xfrm>
            <a:off x="992835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myasnickaya-before" descr="Фотография: Мясницкая, 13 стр. 2 — ДО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03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5736336"/>
            <a:ext cx="12192000" cy="1121664"/>
          </a:xfrm>
          <a:prstGeom prst="rect">
            <a:avLst/>
          </a:prstGeom>
          <a:solidFill>
            <a:srgbClr val="1A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6016752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03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6211824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F2ECE3"/>
                </a:solidFill>
                <a:latin typeface="Cormorant Garamond Light"/>
                <a:ea typeface="Cormorant Garamond Light"/>
                <a:cs typeface="Cormorant Garamond Light"/>
              </a:rPr>
              <a:t>Мясницкая, 13 стр. 2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6059424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A9A092"/>
                </a:solidFill>
                <a:latin typeface="Noto Sans SemiBold"/>
                <a:ea typeface="Noto Sans SemiBold"/>
                <a:cs typeface="Noto Sans SemiBold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myasnickaya-after" descr="Фотография: Мясницкая, 13 стр. 2 — ПОСЛЕ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03 / 06</a:t>
            </a:r>
          </a:p>
        </p:txBody>
      </p:sp>
      <p:pic>
        <p:nvPicPr>
          <p:cNvPr id="7" name="ДЕТАЛЬ ФАСАДА — myasnickaya-after" descr="Фрагмент фасада — деталь для крупного плана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48" y="1036320"/>
            <a:ext cx="2011680" cy="2682240"/>
          </a:xfrm>
          <a:prstGeom prst="rect">
            <a:avLst/>
          </a:prstGeom>
          <a:ln w="6350">
            <a:solidFill>
              <a:srgbClr val="F2ECE3">
                <a:alpha val="40000"/>
              </a:srgbClr>
            </a:solidFill>
          </a:ln>
        </p:spPr>
      </p:pic>
      <p:sp>
        <p:nvSpPr>
          <p:cNvPr id="8" name="Подпись детали"/>
          <p:cNvSpPr txBox="1"/>
          <p:nvPr/>
        </p:nvSpPr>
        <p:spPr>
          <a:xfrm>
            <a:off x="9741408" y="3803904"/>
            <a:ext cx="1889760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ФРАГМЕНТ ФАСАДА</a:t>
            </a:r>
          </a:p>
        </p:txBody>
      </p:sp>
      <p:sp>
        <p:nvSpPr>
          <p:cNvPr id="9" name="Полоса-подпись"/>
          <p:cNvSpPr/>
          <p:nvPr/>
        </p:nvSpPr>
        <p:spPr>
          <a:xfrm>
            <a:off x="0" y="4956048"/>
            <a:ext cx="12192000" cy="1901952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Киккер объекта"/>
          <p:cNvSpPr txBox="1"/>
          <p:nvPr/>
        </p:nvSpPr>
        <p:spPr>
          <a:xfrm>
            <a:off x="560832" y="5187696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03</a:t>
            </a:r>
          </a:p>
        </p:txBody>
      </p:sp>
      <p:sp>
        <p:nvSpPr>
          <p:cNvPr id="11" name="Название объекта"/>
          <p:cNvSpPr txBox="1"/>
          <p:nvPr/>
        </p:nvSpPr>
        <p:spPr>
          <a:xfrm>
            <a:off x="560832" y="5382768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1A1815"/>
                </a:solidFill>
                <a:latin typeface="Cormorant Garamond Light"/>
                <a:ea typeface="Cormorant Garamond Light"/>
                <a:cs typeface="Cormorant Garamond Light"/>
              </a:rPr>
              <a:t>Мясницкая, 13 стр. 2</a:t>
            </a:r>
          </a:p>
        </p:txBody>
      </p:sp>
      <p:sp>
        <p:nvSpPr>
          <p:cNvPr id="12" name="Статус"/>
          <p:cNvSpPr txBox="1"/>
          <p:nvPr/>
        </p:nvSpPr>
        <p:spPr>
          <a:xfrm>
            <a:off x="6754368" y="5230368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ПОСЛЕ РЕСТАВРАЦИИ</a:t>
            </a:r>
          </a:p>
        </p:txBody>
      </p:sp>
      <p:sp>
        <p:nvSpPr>
          <p:cNvPr id="13" name="Разделитель-специф"/>
          <p:cNvSpPr/>
          <p:nvPr/>
        </p:nvSpPr>
        <p:spPr>
          <a:xfrm>
            <a:off x="560832" y="6065520"/>
            <a:ext cx="11070336" cy="6096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Характеристика — Площадь здания"/>
          <p:cNvSpPr txBox="1"/>
          <p:nvPr/>
        </p:nvSpPr>
        <p:spPr>
          <a:xfrm>
            <a:off x="56083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ПЛОЩАДЬ ЗДАНИЯ</a:t>
            </a:r>
          </a:p>
        </p:txBody>
      </p:sp>
      <p:sp>
        <p:nvSpPr>
          <p:cNvPr id="15" name="Линия значения"/>
          <p:cNvSpPr/>
          <p:nvPr/>
        </p:nvSpPr>
        <p:spPr>
          <a:xfrm>
            <a:off x="56083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Характеристика — Этажность"/>
          <p:cNvSpPr txBox="1"/>
          <p:nvPr/>
        </p:nvSpPr>
        <p:spPr>
          <a:xfrm>
            <a:off x="2434336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ЭТАЖНОСТЬ</a:t>
            </a:r>
          </a:p>
        </p:txBody>
      </p:sp>
      <p:sp>
        <p:nvSpPr>
          <p:cNvPr id="17" name="Линия значения"/>
          <p:cNvSpPr/>
          <p:nvPr/>
        </p:nvSpPr>
        <p:spPr>
          <a:xfrm>
            <a:off x="2434336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Характеристика — Год постройки"/>
          <p:cNvSpPr txBox="1"/>
          <p:nvPr/>
        </p:nvSpPr>
        <p:spPr>
          <a:xfrm>
            <a:off x="4307840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ГОД ПОСТРОЙКИ</a:t>
            </a:r>
          </a:p>
        </p:txBody>
      </p:sp>
      <p:sp>
        <p:nvSpPr>
          <p:cNvPr id="19" name="Линия значения"/>
          <p:cNvSpPr/>
          <p:nvPr/>
        </p:nvSpPr>
        <p:spPr>
          <a:xfrm>
            <a:off x="4307840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Характеристика — Состояние"/>
          <p:cNvSpPr txBox="1"/>
          <p:nvPr/>
        </p:nvSpPr>
        <p:spPr>
          <a:xfrm>
            <a:off x="6181344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СОСТОЯНИЕ</a:t>
            </a:r>
          </a:p>
        </p:txBody>
      </p:sp>
      <p:sp>
        <p:nvSpPr>
          <p:cNvPr id="21" name="Линия значения"/>
          <p:cNvSpPr/>
          <p:nvPr/>
        </p:nvSpPr>
        <p:spPr>
          <a:xfrm>
            <a:off x="6181344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Характеристика — Статус"/>
          <p:cNvSpPr txBox="1"/>
          <p:nvPr/>
        </p:nvSpPr>
        <p:spPr>
          <a:xfrm>
            <a:off x="8054848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СТАТУС</a:t>
            </a:r>
          </a:p>
        </p:txBody>
      </p:sp>
      <p:sp>
        <p:nvSpPr>
          <p:cNvPr id="23" name="Линия значения"/>
          <p:cNvSpPr/>
          <p:nvPr/>
        </p:nvSpPr>
        <p:spPr>
          <a:xfrm>
            <a:off x="8054848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Характеристика — Коммуникации"/>
          <p:cNvSpPr txBox="1"/>
          <p:nvPr/>
        </p:nvSpPr>
        <p:spPr>
          <a:xfrm>
            <a:off x="992835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КОММУНИКАЦИИ</a:t>
            </a:r>
          </a:p>
        </p:txBody>
      </p:sp>
      <p:sp>
        <p:nvSpPr>
          <p:cNvPr id="25" name="Линия значения"/>
          <p:cNvSpPr/>
          <p:nvPr/>
        </p:nvSpPr>
        <p:spPr>
          <a:xfrm>
            <a:off x="992835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-ПЛЕЙСХОЛДЕР — nikoloyamskaya-before" descr="Место под будущую фотографию: Николоямская, 51 стр. 2 — ДО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04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5736336"/>
            <a:ext cx="12192000" cy="1121664"/>
          </a:xfrm>
          <a:prstGeom prst="rect">
            <a:avLst/>
          </a:prstGeom>
          <a:solidFill>
            <a:srgbClr val="1A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6016752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04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6211824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F2ECE3"/>
                </a:solidFill>
                <a:latin typeface="Cormorant Garamond Light"/>
                <a:ea typeface="Cormorant Garamond Light"/>
                <a:cs typeface="Cormorant Garamond Light"/>
              </a:rPr>
              <a:t>Николоямская, 51 стр. 2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6059424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A9A092"/>
                </a:solidFill>
                <a:latin typeface="Noto Sans SemiBold"/>
                <a:ea typeface="Noto Sans SemiBold"/>
                <a:cs typeface="Noto Sans SemiBold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nikoloyamskaya-after" descr="Фотография: Николоямская, 51 стр. 2 — ПОСЛЕ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04 / 06</a:t>
            </a:r>
          </a:p>
        </p:txBody>
      </p:sp>
      <p:pic>
        <p:nvPicPr>
          <p:cNvPr id="7" name="ДЕТАЛЬ ФАСАДА — nikoloyamskaya-after" descr="Фрагмент фасада — деталь для крупного плана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48" y="1036320"/>
            <a:ext cx="2011680" cy="2682240"/>
          </a:xfrm>
          <a:prstGeom prst="rect">
            <a:avLst/>
          </a:prstGeom>
          <a:ln w="6350">
            <a:solidFill>
              <a:srgbClr val="F2ECE3">
                <a:alpha val="40000"/>
              </a:srgbClr>
            </a:solidFill>
          </a:ln>
        </p:spPr>
      </p:pic>
      <p:sp>
        <p:nvSpPr>
          <p:cNvPr id="8" name="Подпись детали"/>
          <p:cNvSpPr txBox="1"/>
          <p:nvPr/>
        </p:nvSpPr>
        <p:spPr>
          <a:xfrm>
            <a:off x="9741408" y="3803904"/>
            <a:ext cx="1889760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ФРАГМЕНТ ФАСАДА</a:t>
            </a:r>
          </a:p>
        </p:txBody>
      </p:sp>
      <p:sp>
        <p:nvSpPr>
          <p:cNvPr id="9" name="Полоса-подпись"/>
          <p:cNvSpPr/>
          <p:nvPr/>
        </p:nvSpPr>
        <p:spPr>
          <a:xfrm>
            <a:off x="0" y="4956048"/>
            <a:ext cx="12192000" cy="1901952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Киккер объекта"/>
          <p:cNvSpPr txBox="1"/>
          <p:nvPr/>
        </p:nvSpPr>
        <p:spPr>
          <a:xfrm>
            <a:off x="560832" y="5187696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04</a:t>
            </a:r>
          </a:p>
        </p:txBody>
      </p:sp>
      <p:sp>
        <p:nvSpPr>
          <p:cNvPr id="11" name="Название объекта"/>
          <p:cNvSpPr txBox="1"/>
          <p:nvPr/>
        </p:nvSpPr>
        <p:spPr>
          <a:xfrm>
            <a:off x="560832" y="5382768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1A1815"/>
                </a:solidFill>
                <a:latin typeface="Cormorant Garamond Light"/>
                <a:ea typeface="Cormorant Garamond Light"/>
                <a:cs typeface="Cormorant Garamond Light"/>
              </a:rPr>
              <a:t>Николоямская, 51 стр. 2</a:t>
            </a:r>
          </a:p>
        </p:txBody>
      </p:sp>
      <p:sp>
        <p:nvSpPr>
          <p:cNvPr id="12" name="Статус"/>
          <p:cNvSpPr txBox="1"/>
          <p:nvPr/>
        </p:nvSpPr>
        <p:spPr>
          <a:xfrm>
            <a:off x="6754368" y="5230368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ПОСЛЕ РЕСТАВРАЦИИ</a:t>
            </a:r>
          </a:p>
        </p:txBody>
      </p:sp>
      <p:sp>
        <p:nvSpPr>
          <p:cNvPr id="13" name="Разделитель-специф"/>
          <p:cNvSpPr/>
          <p:nvPr/>
        </p:nvSpPr>
        <p:spPr>
          <a:xfrm>
            <a:off x="560832" y="6065520"/>
            <a:ext cx="11070336" cy="6096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Характеристика — Площадь здания"/>
          <p:cNvSpPr txBox="1"/>
          <p:nvPr/>
        </p:nvSpPr>
        <p:spPr>
          <a:xfrm>
            <a:off x="56083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ПЛОЩАДЬ ЗДАНИЯ</a:t>
            </a:r>
          </a:p>
        </p:txBody>
      </p:sp>
      <p:sp>
        <p:nvSpPr>
          <p:cNvPr id="15" name="Линия значения"/>
          <p:cNvSpPr/>
          <p:nvPr/>
        </p:nvSpPr>
        <p:spPr>
          <a:xfrm>
            <a:off x="56083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Характеристика — Этажность"/>
          <p:cNvSpPr txBox="1"/>
          <p:nvPr/>
        </p:nvSpPr>
        <p:spPr>
          <a:xfrm>
            <a:off x="2434336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ЭТАЖНОСТЬ</a:t>
            </a:r>
          </a:p>
        </p:txBody>
      </p:sp>
      <p:sp>
        <p:nvSpPr>
          <p:cNvPr id="17" name="Линия значения"/>
          <p:cNvSpPr/>
          <p:nvPr/>
        </p:nvSpPr>
        <p:spPr>
          <a:xfrm>
            <a:off x="2434336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Характеристика — Год постройки"/>
          <p:cNvSpPr txBox="1"/>
          <p:nvPr/>
        </p:nvSpPr>
        <p:spPr>
          <a:xfrm>
            <a:off x="4307840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ГОД ПОСТРОЙКИ</a:t>
            </a:r>
          </a:p>
        </p:txBody>
      </p:sp>
      <p:sp>
        <p:nvSpPr>
          <p:cNvPr id="19" name="Линия значения"/>
          <p:cNvSpPr/>
          <p:nvPr/>
        </p:nvSpPr>
        <p:spPr>
          <a:xfrm>
            <a:off x="4307840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Характеристика — Состояние"/>
          <p:cNvSpPr txBox="1"/>
          <p:nvPr/>
        </p:nvSpPr>
        <p:spPr>
          <a:xfrm>
            <a:off x="6181344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СОСТОЯНИЕ</a:t>
            </a:r>
          </a:p>
        </p:txBody>
      </p:sp>
      <p:sp>
        <p:nvSpPr>
          <p:cNvPr id="21" name="Линия значения"/>
          <p:cNvSpPr/>
          <p:nvPr/>
        </p:nvSpPr>
        <p:spPr>
          <a:xfrm>
            <a:off x="6181344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Характеристика — Статус"/>
          <p:cNvSpPr txBox="1"/>
          <p:nvPr/>
        </p:nvSpPr>
        <p:spPr>
          <a:xfrm>
            <a:off x="8054848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СТАТУС</a:t>
            </a:r>
          </a:p>
        </p:txBody>
      </p:sp>
      <p:sp>
        <p:nvSpPr>
          <p:cNvPr id="23" name="Линия значения"/>
          <p:cNvSpPr/>
          <p:nvPr/>
        </p:nvSpPr>
        <p:spPr>
          <a:xfrm>
            <a:off x="8054848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Характеристика — Коммуникации"/>
          <p:cNvSpPr txBox="1"/>
          <p:nvPr/>
        </p:nvSpPr>
        <p:spPr>
          <a:xfrm>
            <a:off x="992835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КОММУНИКАЦИИ</a:t>
            </a:r>
          </a:p>
        </p:txBody>
      </p:sp>
      <p:sp>
        <p:nvSpPr>
          <p:cNvPr id="25" name="Линия значения"/>
          <p:cNvSpPr/>
          <p:nvPr/>
        </p:nvSpPr>
        <p:spPr>
          <a:xfrm>
            <a:off x="992835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okruzhnoy-before" descr="Фотография: Окружной проезд, 16 и 16 стр. 2 — ДО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05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5736336"/>
            <a:ext cx="12192000" cy="1121664"/>
          </a:xfrm>
          <a:prstGeom prst="rect">
            <a:avLst/>
          </a:prstGeom>
          <a:solidFill>
            <a:srgbClr val="1A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6016752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05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6211824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F2ECE3"/>
                </a:solidFill>
                <a:latin typeface="Cormorant Garamond Light"/>
                <a:ea typeface="Cormorant Garamond Light"/>
                <a:cs typeface="Cormorant Garamond Light"/>
              </a:rPr>
              <a:t>Окружной проезд, 16 и 16 стр. 2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6059424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A9A092"/>
                </a:solidFill>
                <a:latin typeface="Noto Sans SemiBold"/>
                <a:ea typeface="Noto Sans SemiBold"/>
                <a:cs typeface="Noto Sans SemiBold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okruzhnoy-after" descr="Фотография: Окружной проезд, 16 и 16 стр. 2 — ПОСЛЕ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05 / 06</a:t>
            </a:r>
          </a:p>
        </p:txBody>
      </p:sp>
      <p:pic>
        <p:nvPicPr>
          <p:cNvPr id="7" name="ДЕТАЛЬ ФАСАДА — okruzhnoy-after" descr="Фрагмент фасада — деталь для крупного плана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48" y="1036320"/>
            <a:ext cx="2011680" cy="2682240"/>
          </a:xfrm>
          <a:prstGeom prst="rect">
            <a:avLst/>
          </a:prstGeom>
          <a:ln w="6350">
            <a:solidFill>
              <a:srgbClr val="F2ECE3">
                <a:alpha val="40000"/>
              </a:srgbClr>
            </a:solidFill>
          </a:ln>
        </p:spPr>
      </p:pic>
      <p:sp>
        <p:nvSpPr>
          <p:cNvPr id="8" name="Подпись детали"/>
          <p:cNvSpPr txBox="1"/>
          <p:nvPr/>
        </p:nvSpPr>
        <p:spPr>
          <a:xfrm>
            <a:off x="9741408" y="3803904"/>
            <a:ext cx="1889760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ФРАГМЕНТ ФАСАДА</a:t>
            </a:r>
          </a:p>
        </p:txBody>
      </p:sp>
      <p:sp>
        <p:nvSpPr>
          <p:cNvPr id="9" name="Полоса-подпись"/>
          <p:cNvSpPr/>
          <p:nvPr/>
        </p:nvSpPr>
        <p:spPr>
          <a:xfrm>
            <a:off x="0" y="4956048"/>
            <a:ext cx="12192000" cy="1901952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Киккер объекта"/>
          <p:cNvSpPr txBox="1"/>
          <p:nvPr/>
        </p:nvSpPr>
        <p:spPr>
          <a:xfrm>
            <a:off x="560832" y="5187696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05</a:t>
            </a:r>
          </a:p>
        </p:txBody>
      </p:sp>
      <p:sp>
        <p:nvSpPr>
          <p:cNvPr id="11" name="Название объекта"/>
          <p:cNvSpPr txBox="1"/>
          <p:nvPr/>
        </p:nvSpPr>
        <p:spPr>
          <a:xfrm>
            <a:off x="560832" y="5382768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1A1815"/>
                </a:solidFill>
                <a:latin typeface="Cormorant Garamond Light"/>
                <a:ea typeface="Cormorant Garamond Light"/>
                <a:cs typeface="Cormorant Garamond Light"/>
              </a:rPr>
              <a:t>Окружной проезд, 16 и 16 стр. 2</a:t>
            </a:r>
          </a:p>
        </p:txBody>
      </p:sp>
      <p:sp>
        <p:nvSpPr>
          <p:cNvPr id="12" name="Статус"/>
          <p:cNvSpPr txBox="1"/>
          <p:nvPr/>
        </p:nvSpPr>
        <p:spPr>
          <a:xfrm>
            <a:off x="6754368" y="5230368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ПОСЛЕ РЕСТАВРАЦИИ</a:t>
            </a:r>
          </a:p>
        </p:txBody>
      </p:sp>
      <p:sp>
        <p:nvSpPr>
          <p:cNvPr id="13" name="Разделитель-специф"/>
          <p:cNvSpPr/>
          <p:nvPr/>
        </p:nvSpPr>
        <p:spPr>
          <a:xfrm>
            <a:off x="560832" y="6065520"/>
            <a:ext cx="11070336" cy="6096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Характеристика — Площадь здания"/>
          <p:cNvSpPr txBox="1"/>
          <p:nvPr/>
        </p:nvSpPr>
        <p:spPr>
          <a:xfrm>
            <a:off x="56083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ПЛОЩАДЬ ЗДАНИЯ</a:t>
            </a:r>
          </a:p>
        </p:txBody>
      </p:sp>
      <p:sp>
        <p:nvSpPr>
          <p:cNvPr id="15" name="Линия значения"/>
          <p:cNvSpPr/>
          <p:nvPr/>
        </p:nvSpPr>
        <p:spPr>
          <a:xfrm>
            <a:off x="56083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Характеристика — Этажность"/>
          <p:cNvSpPr txBox="1"/>
          <p:nvPr/>
        </p:nvSpPr>
        <p:spPr>
          <a:xfrm>
            <a:off x="2434336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ЭТАЖНОСТЬ</a:t>
            </a:r>
          </a:p>
        </p:txBody>
      </p:sp>
      <p:sp>
        <p:nvSpPr>
          <p:cNvPr id="17" name="Линия значения"/>
          <p:cNvSpPr/>
          <p:nvPr/>
        </p:nvSpPr>
        <p:spPr>
          <a:xfrm>
            <a:off x="2434336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Характеристика — Год постройки"/>
          <p:cNvSpPr txBox="1"/>
          <p:nvPr/>
        </p:nvSpPr>
        <p:spPr>
          <a:xfrm>
            <a:off x="4307840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ГОД ПОСТРОЙКИ</a:t>
            </a:r>
          </a:p>
        </p:txBody>
      </p:sp>
      <p:sp>
        <p:nvSpPr>
          <p:cNvPr id="19" name="Линия значения"/>
          <p:cNvSpPr/>
          <p:nvPr/>
        </p:nvSpPr>
        <p:spPr>
          <a:xfrm>
            <a:off x="4307840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Характеристика — Состояние"/>
          <p:cNvSpPr txBox="1"/>
          <p:nvPr/>
        </p:nvSpPr>
        <p:spPr>
          <a:xfrm>
            <a:off x="6181344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СОСТОЯНИЕ</a:t>
            </a:r>
          </a:p>
        </p:txBody>
      </p:sp>
      <p:sp>
        <p:nvSpPr>
          <p:cNvPr id="21" name="Линия значения"/>
          <p:cNvSpPr/>
          <p:nvPr/>
        </p:nvSpPr>
        <p:spPr>
          <a:xfrm>
            <a:off x="6181344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Характеристика — Статус"/>
          <p:cNvSpPr txBox="1"/>
          <p:nvPr/>
        </p:nvSpPr>
        <p:spPr>
          <a:xfrm>
            <a:off x="8054848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СТАТУС</a:t>
            </a:r>
          </a:p>
        </p:txBody>
      </p:sp>
      <p:sp>
        <p:nvSpPr>
          <p:cNvPr id="23" name="Линия значения"/>
          <p:cNvSpPr/>
          <p:nvPr/>
        </p:nvSpPr>
        <p:spPr>
          <a:xfrm>
            <a:off x="8054848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Характеристика — Коммуникации"/>
          <p:cNvSpPr txBox="1"/>
          <p:nvPr/>
        </p:nvSpPr>
        <p:spPr>
          <a:xfrm>
            <a:off x="992835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КОММУНИКАЦИИ</a:t>
            </a:r>
          </a:p>
        </p:txBody>
      </p:sp>
      <p:sp>
        <p:nvSpPr>
          <p:cNvPr id="25" name="Линия значения"/>
          <p:cNvSpPr/>
          <p:nvPr/>
        </p:nvSpPr>
        <p:spPr>
          <a:xfrm>
            <a:off x="992835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pochtovaya-before" descr="Фотография: Большая Почтовая, 18/20 стр. 15 — ДО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06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5736336"/>
            <a:ext cx="12192000" cy="1121664"/>
          </a:xfrm>
          <a:prstGeom prst="rect">
            <a:avLst/>
          </a:prstGeom>
          <a:solidFill>
            <a:srgbClr val="1A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6016752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06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6211824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F2ECE3"/>
                </a:solidFill>
                <a:latin typeface="Cormorant Garamond Light"/>
                <a:ea typeface="Cormorant Garamond Light"/>
                <a:cs typeface="Cormorant Garamond Light"/>
              </a:rPr>
              <a:t>Большая Почтовая, 18/20 стр. 15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6059424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A9A092"/>
                </a:solidFill>
                <a:latin typeface="Noto Sans SemiBold"/>
                <a:ea typeface="Noto Sans SemiBold"/>
                <a:cs typeface="Noto Sans SemiBold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-ПЛЕЙСХОЛДЕР — pochtovaya-after" descr="Место под будущую фотографию: Большая Почтовая, 18/20 стр. 15 — ПОСЛЕ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06 / 06</a:t>
            </a:r>
          </a:p>
        </p:txBody>
      </p:sp>
      <p:sp>
        <p:nvSpPr>
          <p:cNvPr id="7" name="Полоса-подпись"/>
          <p:cNvSpPr/>
          <p:nvPr/>
        </p:nvSpPr>
        <p:spPr>
          <a:xfrm>
            <a:off x="0" y="4956048"/>
            <a:ext cx="12192000" cy="1901952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Киккер объекта"/>
          <p:cNvSpPr txBox="1"/>
          <p:nvPr/>
        </p:nvSpPr>
        <p:spPr>
          <a:xfrm>
            <a:off x="560832" y="5187696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ОБЪЕКТ 06</a:t>
            </a:r>
          </a:p>
        </p:txBody>
      </p:sp>
      <p:sp>
        <p:nvSpPr>
          <p:cNvPr id="9" name="Название объекта"/>
          <p:cNvSpPr txBox="1"/>
          <p:nvPr/>
        </p:nvSpPr>
        <p:spPr>
          <a:xfrm>
            <a:off x="560832" y="5382768"/>
            <a:ext cx="7315200" cy="390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60" b="0">
                <a:solidFill>
                  <a:srgbClr val="1A1815"/>
                </a:solidFill>
                <a:latin typeface="Cormorant Garamond Light"/>
                <a:ea typeface="Cormorant Garamond Light"/>
                <a:cs typeface="Cormorant Garamond Light"/>
              </a:rPr>
              <a:t>Большая Почтовая, 18/20 стр. 15</a:t>
            </a:r>
          </a:p>
        </p:txBody>
      </p:sp>
      <p:sp>
        <p:nvSpPr>
          <p:cNvPr id="10" name="Статус"/>
          <p:cNvSpPr txBox="1"/>
          <p:nvPr/>
        </p:nvSpPr>
        <p:spPr>
          <a:xfrm>
            <a:off x="6754368" y="5230368"/>
            <a:ext cx="4876800" cy="1584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ПОСЛЕ РЕСТАВРАЦИИ</a:t>
            </a:r>
          </a:p>
        </p:txBody>
      </p:sp>
      <p:sp>
        <p:nvSpPr>
          <p:cNvPr id="11" name="Разделитель-специф"/>
          <p:cNvSpPr/>
          <p:nvPr/>
        </p:nvSpPr>
        <p:spPr>
          <a:xfrm>
            <a:off x="560832" y="6065520"/>
            <a:ext cx="11070336" cy="6096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Характеристика — Площадь здания"/>
          <p:cNvSpPr txBox="1"/>
          <p:nvPr/>
        </p:nvSpPr>
        <p:spPr>
          <a:xfrm>
            <a:off x="56083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ПЛОЩАДЬ ЗДАНИЯ</a:t>
            </a:r>
          </a:p>
        </p:txBody>
      </p:sp>
      <p:sp>
        <p:nvSpPr>
          <p:cNvPr id="13" name="Линия значения"/>
          <p:cNvSpPr/>
          <p:nvPr/>
        </p:nvSpPr>
        <p:spPr>
          <a:xfrm>
            <a:off x="56083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Характеристика — Этажность"/>
          <p:cNvSpPr txBox="1"/>
          <p:nvPr/>
        </p:nvSpPr>
        <p:spPr>
          <a:xfrm>
            <a:off x="2434336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ЭТАЖНОСТЬ</a:t>
            </a:r>
          </a:p>
        </p:txBody>
      </p:sp>
      <p:sp>
        <p:nvSpPr>
          <p:cNvPr id="15" name="Линия значения"/>
          <p:cNvSpPr/>
          <p:nvPr/>
        </p:nvSpPr>
        <p:spPr>
          <a:xfrm>
            <a:off x="2434336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Характеристика — Год постройки"/>
          <p:cNvSpPr txBox="1"/>
          <p:nvPr/>
        </p:nvSpPr>
        <p:spPr>
          <a:xfrm>
            <a:off x="4307840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ГОД ПОСТРОЙКИ</a:t>
            </a:r>
          </a:p>
        </p:txBody>
      </p:sp>
      <p:sp>
        <p:nvSpPr>
          <p:cNvPr id="17" name="Линия значения"/>
          <p:cNvSpPr/>
          <p:nvPr/>
        </p:nvSpPr>
        <p:spPr>
          <a:xfrm>
            <a:off x="4307840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Характеристика — Состояние"/>
          <p:cNvSpPr txBox="1"/>
          <p:nvPr/>
        </p:nvSpPr>
        <p:spPr>
          <a:xfrm>
            <a:off x="6181344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СОСТОЯНИЕ</a:t>
            </a:r>
          </a:p>
        </p:txBody>
      </p:sp>
      <p:sp>
        <p:nvSpPr>
          <p:cNvPr id="19" name="Линия значения"/>
          <p:cNvSpPr/>
          <p:nvPr/>
        </p:nvSpPr>
        <p:spPr>
          <a:xfrm>
            <a:off x="6181344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Характеристика — Статус"/>
          <p:cNvSpPr txBox="1"/>
          <p:nvPr/>
        </p:nvSpPr>
        <p:spPr>
          <a:xfrm>
            <a:off x="8054848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СТАТУС</a:t>
            </a:r>
          </a:p>
        </p:txBody>
      </p:sp>
      <p:sp>
        <p:nvSpPr>
          <p:cNvPr id="21" name="Линия значения"/>
          <p:cNvSpPr/>
          <p:nvPr/>
        </p:nvSpPr>
        <p:spPr>
          <a:xfrm>
            <a:off x="8054848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Характеристика — Коммуникации"/>
          <p:cNvSpPr txBox="1"/>
          <p:nvPr/>
        </p:nvSpPr>
        <p:spPr>
          <a:xfrm>
            <a:off x="9928352" y="6199632"/>
            <a:ext cx="1702816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" b="0" spc="58">
                <a:solidFill>
                  <a:srgbClr val="6E6459"/>
                </a:solidFill>
                <a:latin typeface="Noto Sans"/>
                <a:ea typeface="Noto Sans"/>
                <a:cs typeface="Noto Sans"/>
              </a:rPr>
              <a:t>КОММУНИКАЦИИ</a:t>
            </a:r>
          </a:p>
        </p:txBody>
      </p:sp>
      <p:sp>
        <p:nvSpPr>
          <p:cNvPr id="23" name="Линия значения"/>
          <p:cNvSpPr/>
          <p:nvPr/>
        </p:nvSpPr>
        <p:spPr>
          <a:xfrm>
            <a:off x="9928352" y="6376416"/>
            <a:ext cx="1702816" cy="5486"/>
          </a:xfrm>
          <a:prstGeom prst="rect">
            <a:avLst/>
          </a:prstGeom>
          <a:solidFill>
            <a:srgbClr val="26241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ТО — финал" descr="Итоговая фотография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ТЕМНЕНИЕ (VIGNETTE)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gradFill rotWithShape="1">
            <a:gsLst>
              <a:gs pos="0">
                <a:srgbClr val="0A0908">
                  <a:alpha val="44000"/>
                </a:srgbClr>
              </a:gs>
              <a:gs pos="100000">
                <a:srgbClr val="0A0908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Акцент-линия"/>
          <p:cNvSpPr/>
          <p:nvPr/>
        </p:nvSpPr>
        <p:spPr>
          <a:xfrm>
            <a:off x="560832" y="615696"/>
            <a:ext cx="292608" cy="6096"/>
          </a:xfrm>
          <a:prstGeom prst="rect">
            <a:avLst/>
          </a:prstGeom>
          <a:solidFill>
            <a:srgbClr val="9A7F5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арка"/>
          <p:cNvSpPr txBox="1"/>
          <p:nvPr/>
        </p:nvSpPr>
        <p:spPr>
          <a:xfrm>
            <a:off x="90220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00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РЕСТАВРАЦИЯ ОБЪЕКТОВ</a:t>
            </a:r>
          </a:p>
        </p:txBody>
      </p:sp>
      <p:sp>
        <p:nvSpPr>
          <p:cNvPr id="6" name="Фолио"/>
          <p:cNvSpPr txBox="1"/>
          <p:nvPr/>
        </p:nvSpPr>
        <p:spPr>
          <a:xfrm>
            <a:off x="7973568" y="560832"/>
            <a:ext cx="36576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530" b="0" spc="148">
                <a:solidFill>
                  <a:srgbClr val="F2ECE3"/>
                </a:solidFill>
                <a:latin typeface="Noto Sans SemiBold"/>
                <a:ea typeface="Noto Sans SemiBold"/>
                <a:cs typeface="Noto Sans SemiBold"/>
              </a:rPr>
              <a:t>ПОРТФОЛИО — 06 ОБЪЕКТОВ</a:t>
            </a:r>
          </a:p>
        </p:txBody>
      </p:sp>
      <p:sp>
        <p:nvSpPr>
          <p:cNvPr id="7" name="Полоса-индекс"/>
          <p:cNvSpPr/>
          <p:nvPr/>
        </p:nvSpPr>
        <p:spPr>
          <a:xfrm>
            <a:off x="0" y="5955792"/>
            <a:ext cx="12192000" cy="902208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Индекс — giliarovskogo"/>
          <p:cNvSpPr txBox="1"/>
          <p:nvPr/>
        </p:nvSpPr>
        <p:spPr>
          <a:xfrm>
            <a:off x="560832" y="6272784"/>
            <a:ext cx="1580896" cy="268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01  </a:t>
            </a:r>
            <a:r>
              <a:rPr sz="560" b="0" spc="28">
                <a:solidFill>
                  <a:srgbClr val="6E6459"/>
                </a:solidFill>
                <a:latin typeface="Noto Sans SemiBold"/>
                <a:ea typeface="Noto Sans SemiBold"/>
                <a:cs typeface="Noto Sans SemiBold"/>
              </a:rPr>
              <a:t>Гиляровского,</a:t>
            </a:r>
          </a:p>
        </p:txBody>
      </p:sp>
      <p:sp>
        <p:nvSpPr>
          <p:cNvPr id="9" name="Разделитель"/>
          <p:cNvSpPr/>
          <p:nvPr/>
        </p:nvSpPr>
        <p:spPr>
          <a:xfrm>
            <a:off x="2300224" y="6150864"/>
            <a:ext cx="6096" cy="512064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Индекс — borby"/>
          <p:cNvSpPr txBox="1"/>
          <p:nvPr/>
        </p:nvSpPr>
        <p:spPr>
          <a:xfrm>
            <a:off x="2458720" y="6272784"/>
            <a:ext cx="1580896" cy="268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02  </a:t>
            </a:r>
            <a:r>
              <a:rPr sz="560" b="0" spc="28">
                <a:solidFill>
                  <a:srgbClr val="6E6459"/>
                </a:solidFill>
                <a:latin typeface="Noto Sans SemiBold"/>
                <a:ea typeface="Noto Sans SemiBold"/>
                <a:cs typeface="Noto Sans SemiBold"/>
              </a:rPr>
              <a:t>Площадь Борьбы,</a:t>
            </a:r>
          </a:p>
        </p:txBody>
      </p:sp>
      <p:sp>
        <p:nvSpPr>
          <p:cNvPr id="11" name="Разделитель"/>
          <p:cNvSpPr/>
          <p:nvPr/>
        </p:nvSpPr>
        <p:spPr>
          <a:xfrm>
            <a:off x="4198112" y="6150864"/>
            <a:ext cx="6096" cy="512064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Индекс — myasnickaya"/>
          <p:cNvSpPr txBox="1"/>
          <p:nvPr/>
        </p:nvSpPr>
        <p:spPr>
          <a:xfrm>
            <a:off x="4356608" y="6272784"/>
            <a:ext cx="1580896" cy="268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03  </a:t>
            </a:r>
            <a:r>
              <a:rPr sz="560" b="0" spc="28">
                <a:solidFill>
                  <a:srgbClr val="6E6459"/>
                </a:solidFill>
                <a:latin typeface="Noto Sans SemiBold"/>
                <a:ea typeface="Noto Sans SemiBold"/>
                <a:cs typeface="Noto Sans SemiBold"/>
              </a:rPr>
              <a:t>Мясницкая,</a:t>
            </a:r>
          </a:p>
        </p:txBody>
      </p:sp>
      <p:sp>
        <p:nvSpPr>
          <p:cNvPr id="13" name="Разделитель"/>
          <p:cNvSpPr/>
          <p:nvPr/>
        </p:nvSpPr>
        <p:spPr>
          <a:xfrm>
            <a:off x="6096000" y="6150864"/>
            <a:ext cx="6096" cy="512064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Индекс — nikoloyamskaya"/>
          <p:cNvSpPr txBox="1"/>
          <p:nvPr/>
        </p:nvSpPr>
        <p:spPr>
          <a:xfrm>
            <a:off x="6254496" y="6272784"/>
            <a:ext cx="1580896" cy="268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04  </a:t>
            </a:r>
            <a:r>
              <a:rPr sz="560" b="0" spc="28">
                <a:solidFill>
                  <a:srgbClr val="6E6459"/>
                </a:solidFill>
                <a:latin typeface="Noto Sans SemiBold"/>
                <a:ea typeface="Noto Sans SemiBold"/>
                <a:cs typeface="Noto Sans SemiBold"/>
              </a:rPr>
              <a:t>Николоямская,</a:t>
            </a:r>
          </a:p>
        </p:txBody>
      </p:sp>
      <p:sp>
        <p:nvSpPr>
          <p:cNvPr id="15" name="Разделитель"/>
          <p:cNvSpPr/>
          <p:nvPr/>
        </p:nvSpPr>
        <p:spPr>
          <a:xfrm>
            <a:off x="7993888" y="6150864"/>
            <a:ext cx="6096" cy="512064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Индекс — okruzhnoy"/>
          <p:cNvSpPr txBox="1"/>
          <p:nvPr/>
        </p:nvSpPr>
        <p:spPr>
          <a:xfrm>
            <a:off x="8152384" y="6272784"/>
            <a:ext cx="1580896" cy="268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05  </a:t>
            </a:r>
            <a:r>
              <a:rPr sz="560" b="0" spc="28">
                <a:solidFill>
                  <a:srgbClr val="6E6459"/>
                </a:solidFill>
                <a:latin typeface="Noto Sans SemiBold"/>
                <a:ea typeface="Noto Sans SemiBold"/>
                <a:cs typeface="Noto Sans SemiBold"/>
              </a:rPr>
              <a:t>Окружной проезд,</a:t>
            </a:r>
          </a:p>
        </p:txBody>
      </p:sp>
      <p:sp>
        <p:nvSpPr>
          <p:cNvPr id="17" name="Разделитель"/>
          <p:cNvSpPr/>
          <p:nvPr/>
        </p:nvSpPr>
        <p:spPr>
          <a:xfrm>
            <a:off x="9891776" y="6150864"/>
            <a:ext cx="6096" cy="512064"/>
          </a:xfrm>
          <a:prstGeom prst="rect">
            <a:avLst/>
          </a:prstGeom>
          <a:solidFill>
            <a:srgbClr val="26241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Индекс — pochtovaya"/>
          <p:cNvSpPr txBox="1"/>
          <p:nvPr/>
        </p:nvSpPr>
        <p:spPr>
          <a:xfrm>
            <a:off x="10050272" y="6272784"/>
            <a:ext cx="1580896" cy="2682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60" b="0" spc="28">
                <a:solidFill>
                  <a:srgbClr val="9A7F5E"/>
                </a:solidFill>
                <a:latin typeface="Noto Sans SemiBold"/>
                <a:ea typeface="Noto Sans SemiBold"/>
                <a:cs typeface="Noto Sans SemiBold"/>
              </a:rPr>
              <a:t>06  </a:t>
            </a:r>
            <a:r>
              <a:rPr sz="560" b="0" spc="28">
                <a:solidFill>
                  <a:srgbClr val="6E6459"/>
                </a:solidFill>
                <a:latin typeface="Noto Sans SemiBold"/>
                <a:ea typeface="Noto Sans SemiBold"/>
                <a:cs typeface="Noto Sans SemiBold"/>
              </a:rPr>
              <a:t>Большая Почтовая,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