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3"/>
    <p:restoredTop sz="94699"/>
  </p:normalViewPr>
  <p:slideViewPr>
    <p:cSldViewPr snapToGrid="0">
      <p:cViewPr varScale="1">
        <p:scale>
          <a:sx n="187" d="100"/>
          <a:sy n="187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1. Визуал по ТЗ: фото посёлка в ЛО (осенний кадр), поверх — полупрозрачная плашка с текстом. Внизу: логотип агентства, имя спикера, название конференции.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2. Визуал по ТЗ: карта ЛО с точками посёлков + график роста стоимости лида (график добавить по своим цифрам). Три блока: конкуренция, сезонность,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3. Визуал по ТЗ: схема из трёх кругов, сходящихся в одну воронку.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4. Три колонки: Reels/клипы/сторис • мессенджеры • экспертный текст. Сноска про Instagram 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5. Визуал по ТЗ: атмосферные фото/видео от жителей.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6. Визуал по ТЗ: фото поста охраны / коменданта + образец визитки (в макете — условная визитка, заменить на реальную).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7. Левая колонка — чаты; правая — соседский маркетинг.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8. Визуал по ТЗ: образец открытки + скриншот CRM. В макете — условные мини-иллюстрации, заменить на реальную открытку и скриншот вашей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9. Визуал по ТЗ: макет партнёрской памятки (можно взять с собой). В макете — условный вид, заменить на реальную памятку А5.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10. Визуал по ТЗ: фото баннера с QR + образец дорхентера (кадры собраны из присланного триптиха).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11. Визуал по ТЗ: чек-лист в виде иконок (чекбоксы + номера).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12. Визуал по ТЗ: воронка продаж + цифры по вашей практике. Добавьте свои цифры (лиды → показы → сделки) в блоки воронки — в макете стоят только названия этапов.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13. Формула крупно + три вывода.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14. Два QR-кода крупно. Справа — QR на t.me/puzzlerealty (взято из контактов вашей прошлой презентации; проверьте, что это нужный канал). Слева — заглушка: вставить QR на материалы.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212B4-828C-29FD-C87D-6855C2991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62637E1-9054-8084-F269-416E9AC6A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836C1BB-CCF7-E042-5AFD-612F1C55A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16D074-8BAC-4D89-882D-CE66B1E8E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D035FE-AFFA-2FDD-C256-44889036B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361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29A522-A824-AB1C-D306-050C0CC8F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86EC4DA-A8BE-D44C-B5CB-695FE7CF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CC0B9F-C661-C123-1896-DB326453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0328C0-20E4-94C4-D629-3B12EE46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F0BCD5-876D-203E-60FC-B6BA74990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171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BC60B3-7243-4DC3-16D9-F5BDCC694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47A63C-046E-E1EF-AA1C-8E17A281A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A64610-5787-6F84-3676-3730EF2C6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D0DFDF-878B-FDE9-4807-70FC18B2B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4DFA9C-F237-1A6F-2C7E-8CEC42C9E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415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99E07-6416-CF83-BFF2-DA2D6956C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ED1F32-DF57-1EE4-5347-A3935A6A90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21C1E5F-66B2-DDD1-ED34-C88F68422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27B0607-5C7B-C97C-A0AA-84E6EC579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02953A2-D58E-9A10-546F-FB534E9C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D46A70-DCE4-5AEC-8B0E-A9BACE921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235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2C725B-EDAE-971F-6B56-0B60F89C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13791"/>
            <a:ext cx="10515600" cy="676897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E01A06-4ED7-C975-8688-F395CBF80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9C6B5F-BD94-F957-F98C-A6404376D9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CB52FF1-C137-BF43-C228-33B1B21028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7F11114-4B22-E34E-1F95-A729894F71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4CD0744-FDEE-3058-063A-3D4EA031D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91E1B0C-FD6B-30FF-3C39-046DB0FE8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0B379FC-C87C-3A68-5ED2-D5F8AB741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406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C26B19-F374-941F-055E-EE5269503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823C788-EA20-015F-93E7-19C72B642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BC31C02-9F37-3BE6-9628-5A8D5E0E3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EDBB82-5E01-18B3-4948-3CE8F0C0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40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95DFBD-15A4-DB3F-85BE-0D50EC056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D8EE76-4D0D-8DC0-896B-A5C92E55F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CB15FE9-1147-B58B-E43F-EA6389C0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181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6F24B5-5635-A7AE-CF7C-C316739CC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ADD381-57E6-01CC-0078-729BE0447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452FDF-B57A-0B73-DF8B-39FFAB10DE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2A6BE5-24A2-8158-AD58-24BE20A2F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3751D27-D143-53CC-462D-B1195B1CC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3AF0CB1-DB42-BFEB-6B9C-41E1F594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4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E9DE95-6C09-24D7-4DAC-6B8795C19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11955BE-CC26-67CB-7F2A-B299CEEF0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16D6E9-9634-DD08-3FEE-42D1205A29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ED1B4CD-6C2C-245C-8FB2-7C29CE857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06260B4-B52D-8512-75DC-BDE7896B8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14D5E31-7007-3548-70C2-9C2E48BA5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0244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F8FC4E-9715-0C46-57AF-23F970E2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741EE42-EE15-F6A7-45BE-24A45FE2A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1BCFF4F-65DB-17F0-12DD-6D3D13EB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8FEDAB-16A7-FCD3-409D-B4D336A37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650844-04FA-D290-5387-8B24A79B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3405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474B310-5219-9358-4A8D-0D090D610C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139685"/>
            <a:ext cx="2628900" cy="5037277"/>
          </a:xfrm>
        </p:spPr>
        <p:txBody>
          <a:bodyPr vert="eaVert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1C3054F-F9F0-E039-4555-27E6DF8BE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139687"/>
            <a:ext cx="7734300" cy="503727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BA0323-57BA-885D-3D2E-D71CFC9CA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B4792-FA15-CF09-5DE1-C809410AA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9262D8-E239-DA56-BFFA-291EB999C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5522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616418B-5303-A72D-F818-B86317F0F72E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ED0000-ADF5-84E8-D201-3D7C5559D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0174"/>
            <a:ext cx="10515600" cy="6305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F29A3F-B394-DBD4-C232-DB8C6B7932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711584-FB8C-0949-6F50-DE01CE597E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7A8441-1D27-874E-A0C6-3CD416A85B54}" type="datetimeFigureOut">
              <a:rPr lang="ru-RU" smtClean="0"/>
              <a:t>21.08.2026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A0594E-DE67-716C-13C2-3B7AB361EB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E20E65-5954-EE58-8538-C9AA7C8CE4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57437-5F8E-3041-A851-F94714F6C6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361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over_autumn.jpg"/>
          <p:cNvPicPr>
            <a:picLocks noChangeAspect="1"/>
          </p:cNvPicPr>
          <p:nvPr/>
        </p:nvPicPr>
        <p:blipFill>
          <a:blip r:embed="rId2"/>
          <a:srcRect t="8021" b="8021"/>
          <a:stretch>
            <a:fillRect/>
          </a:stretch>
        </p:blipFill>
        <p:spPr>
          <a:xfrm>
            <a:off x="0" y="1097280"/>
            <a:ext cx="12191695" cy="5760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1097280"/>
            <a:ext cx="3383280" cy="1325880"/>
          </a:xfrm>
          <a:prstGeom prst="rect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2560320" cy="10002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46120" y="3154680"/>
            <a:ext cx="8945575" cy="3703320"/>
          </a:xfrm>
          <a:prstGeom prst="rect">
            <a:avLst/>
          </a:prstGeom>
          <a:solidFill>
            <a:srgbClr val="E72F2A">
              <a:alpha val="9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03320" y="3474720"/>
            <a:ext cx="64008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3360" y="3429000"/>
            <a:ext cx="7680960" cy="11430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Gilroy"/>
              </a:rPr>
              <a:t>СИСТЕМНЫЙ ПОДХОД К ПРИВЛЕЧЕНИЮ КЛИЕНТОВ В ПОСЁЛОК БЕЗ МАРКЕТИНГОВОГО БЮДЖЕТА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4846320"/>
            <a:ext cx="76809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Gilroy"/>
              </a:rPr>
              <a:t>Система из трёх каналов: UGC-контент • агенты влияния • партнёрский трафик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57607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ilroy"/>
              </a:rPr>
              <a:t>ШКУРКО МАРИНА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Gilroy"/>
              </a:rPr>
              <a:t>управляющий партнёр, сооснователь Puzzle Realty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576072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Gilroy"/>
              </a:rPr>
              <a:t>Конференция «Маркетинг коттеджных посёлков», СПб / ЛО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822960" y="1124712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64008" cy="95402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17320"/>
            <a:ext cx="5760720" cy="8991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Gilroy"/>
              </a:rPr>
              <a:t>БЮДЖЕТ 0 ₽. ПОСЁЛОК ПРОДАВАТЬ НАДО.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5989320" cy="960120"/>
          </a:xfrm>
          <a:prstGeom prst="roundRect">
            <a:avLst>
              <a:gd name="adj" fmla="val 15238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60604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7373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ilroy"/>
              </a:rPr>
              <a:t>244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6974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Конкуренция КП в ЛО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6B6B6B"/>
                </a:solidFill>
                <a:latin typeface="Gilroy"/>
              </a:rPr>
              <a:t>в продаже 244 коттеджных посёлка от застройщика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5989320" cy="960120"/>
          </a:xfrm>
          <a:prstGeom prst="roundRect">
            <a:avLst>
              <a:gd name="adj" fmla="val 15238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70332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17373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ilroy"/>
              </a:rPr>
              <a:t>сезон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794759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Сезонность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6B6B6B"/>
                </a:solidFill>
                <a:latin typeface="Gilroy"/>
              </a:rPr>
              <a:t>короткий строительный сезон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5989320" cy="960120"/>
          </a:xfrm>
          <a:prstGeom prst="roundRect">
            <a:avLst>
              <a:gd name="adj" fmla="val 15238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8006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00600"/>
            <a:ext cx="17373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ilroy"/>
              </a:rPr>
              <a:t>CPL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89204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Digital: контекст, таргет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6B6B6B"/>
                </a:solidFill>
                <a:latin typeface="Gilroy"/>
              </a:rPr>
              <a:t>стоимость лида растёт каждый 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43600"/>
            <a:ext cx="5989320" cy="640080"/>
          </a:xfrm>
          <a:prstGeom prst="roundRect">
            <a:avLst>
              <a:gd name="adj" fmla="val 17142"/>
            </a:avLst>
          </a:prstGeom>
          <a:solidFill>
            <a:srgbClr val="1A1A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43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ilroy"/>
              </a:rPr>
              <a:t>Что делать, если платный трафик недоступен, а продажи нужны?</a:t>
            </a:r>
          </a:p>
        </p:txBody>
      </p:sp>
      <p:pic>
        <p:nvPicPr>
          <p:cNvPr id="19" name="Picture 18" descr="map_lo.jpg"/>
          <p:cNvPicPr>
            <a:picLocks noChangeAspect="1"/>
          </p:cNvPicPr>
          <p:nvPr/>
        </p:nvPicPr>
        <p:blipFill>
          <a:blip r:embed="rId2"/>
          <a:srcRect l="24960" r="24960"/>
          <a:stretch>
            <a:fillRect/>
          </a:stretch>
        </p:blipFill>
        <p:spPr>
          <a:xfrm>
            <a:off x="6903720" y="1188720"/>
            <a:ext cx="4800600" cy="53949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903720" y="1188720"/>
            <a:ext cx="4800600" cy="5394960"/>
          </a:xfrm>
          <a:prstGeom prst="rect">
            <a:avLst/>
          </a:prstGeom>
          <a:noFill/>
          <a:ln w="28575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91695" cy="576072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64008" cy="557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17320"/>
            <a:ext cx="10424160" cy="5029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Gilroy"/>
              </a:rPr>
              <a:t>НУЛЕВОЙ БЮДЖЕТ — ЭТО НЕ ОТСУТСТВИЕ МАРКЕТИНГА</a:t>
            </a:r>
          </a:p>
        </p:txBody>
      </p:sp>
      <p:sp>
        <p:nvSpPr>
          <p:cNvPr id="5" name="Oval 4"/>
          <p:cNvSpPr/>
          <p:nvPr/>
        </p:nvSpPr>
        <p:spPr>
          <a:xfrm>
            <a:off x="2926080" y="2286000"/>
            <a:ext cx="2286000" cy="2286000"/>
          </a:xfrm>
          <a:prstGeom prst="ellipse">
            <a:avLst/>
          </a:prstGeom>
          <a:solidFill>
            <a:srgbClr val="FFFFFF">
              <a:alpha val="18000"/>
            </a:srgbClr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228600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UGC-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КОНТЕНТ</a:t>
            </a:r>
          </a:p>
        </p:txBody>
      </p:sp>
      <p:sp>
        <p:nvSpPr>
          <p:cNvPr id="7" name="Oval 6"/>
          <p:cNvSpPr/>
          <p:nvPr/>
        </p:nvSpPr>
        <p:spPr>
          <a:xfrm>
            <a:off x="4937760" y="2286000"/>
            <a:ext cx="2286000" cy="2286000"/>
          </a:xfrm>
          <a:prstGeom prst="ellipse">
            <a:avLst/>
          </a:prstGeom>
          <a:solidFill>
            <a:srgbClr val="FFFFFF">
              <a:alpha val="26000"/>
            </a:srgbClr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28600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АГЕНТЫ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ВЛИЯНИЯ</a:t>
            </a:r>
          </a:p>
        </p:txBody>
      </p:sp>
      <p:sp>
        <p:nvSpPr>
          <p:cNvPr id="9" name="Oval 8"/>
          <p:cNvSpPr/>
          <p:nvPr/>
        </p:nvSpPr>
        <p:spPr>
          <a:xfrm>
            <a:off x="6949440" y="2286000"/>
            <a:ext cx="2286000" cy="2286000"/>
          </a:xfrm>
          <a:prstGeom prst="ellipse">
            <a:avLst/>
          </a:prstGeom>
          <a:solidFill>
            <a:srgbClr val="FFFFFF">
              <a:alpha val="18000"/>
            </a:srgbClr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ПАРТНЁРСКИЙ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ilroy"/>
              </a:rPr>
              <a:t>ТРАФИК</a:t>
            </a:r>
          </a:p>
        </p:txBody>
      </p:sp>
      <p:sp>
        <p:nvSpPr>
          <p:cNvPr id="11" name="Freeform 10"/>
          <p:cNvSpPr/>
          <p:nvPr/>
        </p:nvSpPr>
        <p:spPr>
          <a:xfrm>
            <a:off x="3794760" y="4617720"/>
            <a:ext cx="4572000" cy="548640"/>
          </a:xfrm>
          <a:custGeom>
            <a:avLst/>
            <a:gdLst/>
            <a:ahLst/>
            <a:cxnLst/>
            <a:rect l="l" t="t" r="r" b="b"/>
            <a:pathLst>
              <a:path w="4572000" h="548640">
                <a:moveTo>
                  <a:pt x="0" y="0"/>
                </a:moveTo>
                <a:lnTo>
                  <a:pt x="4572000" y="0"/>
                </a:lnTo>
                <a:lnTo>
                  <a:pt x="3246120" y="548640"/>
                </a:lnTo>
                <a:lnTo>
                  <a:pt x="1325880" y="5486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464515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E72F2A"/>
                </a:solidFill>
                <a:latin typeface="Gilroy"/>
              </a:rPr>
              <a:t>+ CRM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ilroy"/>
              </a:rPr>
              <a:t>UGC-контент + Агенты влияния + Партнёрский трафик + CRM = управляемый поток лидов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Gilroy"/>
              </a:rPr>
              <a:t>Три канала, которые работают бесплатно — если выстроить их в систему.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3749039" cy="576072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64008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ilroy"/>
              </a:rPr>
              <a:t>БЛОК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691640"/>
            <a:ext cx="2651760" cy="9601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Gilroy"/>
              </a:rPr>
              <a:t>UGC-КОНТЕНТ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2651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Gilroy"/>
              </a:rPr>
              <a:t>Контент создаёт не маркетолог, а локация и клиенты</a:t>
            </a:r>
          </a:p>
        </p:txBody>
      </p:sp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852160"/>
            <a:ext cx="1737360" cy="68131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06240" y="1371600"/>
            <a:ext cx="2514600" cy="4526280"/>
          </a:xfrm>
          <a:prstGeom prst="roundRect">
            <a:avLst>
              <a:gd name="adj" fmla="val 654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572768"/>
            <a:ext cx="2148840" cy="685800"/>
          </a:xfrm>
          <a:prstGeom prst="roundRect">
            <a:avLst>
              <a:gd name="adj" fmla="val 16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7276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ilroy"/>
              </a:rPr>
              <a:t>REELS / КЛИПЫ / СТОРИС*</a:t>
            </a:r>
          </a:p>
        </p:txBody>
      </p:sp>
      <p:sp>
        <p:nvSpPr>
          <p:cNvPr id="11" name="Diamond 10"/>
          <p:cNvSpPr/>
          <p:nvPr/>
        </p:nvSpPr>
        <p:spPr>
          <a:xfrm>
            <a:off x="4434840" y="267004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60604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Атмосфера: шум леса, вид из окна</a:t>
            </a:r>
          </a:p>
        </p:txBody>
      </p:sp>
      <p:sp>
        <p:nvSpPr>
          <p:cNvPr id="13" name="Diamond 12"/>
          <p:cNvSpPr/>
          <p:nvPr/>
        </p:nvSpPr>
        <p:spPr>
          <a:xfrm>
            <a:off x="4434840" y="342569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336169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Проверка объекта перед показом</a:t>
            </a:r>
          </a:p>
        </p:txBody>
      </p:sp>
      <p:sp>
        <p:nvSpPr>
          <p:cNvPr id="15" name="Diamond 14"/>
          <p:cNvSpPr/>
          <p:nvPr/>
        </p:nvSpPr>
        <p:spPr>
          <a:xfrm>
            <a:off x="4434840" y="418134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411734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«Директор отвечает на вопросы»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1371600"/>
            <a:ext cx="2514600" cy="4526280"/>
          </a:xfrm>
          <a:prstGeom prst="roundRect">
            <a:avLst>
              <a:gd name="adj" fmla="val 654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86600" y="1572768"/>
            <a:ext cx="2148840" cy="685800"/>
          </a:xfrm>
          <a:prstGeom prst="roundRect">
            <a:avLst>
              <a:gd name="adj" fmla="val 16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57276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ilroy"/>
              </a:rPr>
              <a:t>МЕССЕНДЖЕРЫ</a:t>
            </a:r>
          </a:p>
        </p:txBody>
      </p:sp>
      <p:sp>
        <p:nvSpPr>
          <p:cNvPr id="20" name="Diamond 19"/>
          <p:cNvSpPr/>
          <p:nvPr/>
        </p:nvSpPr>
        <p:spPr>
          <a:xfrm>
            <a:off x="7132320" y="267004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2606040"/>
            <a:ext cx="1847087" cy="714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Telegram-канал «горячих» предложений</a:t>
            </a:r>
          </a:p>
        </p:txBody>
      </p:sp>
      <p:sp>
        <p:nvSpPr>
          <p:cNvPr id="22" name="Diamond 21"/>
          <p:cNvSpPr/>
          <p:nvPr/>
        </p:nvSpPr>
        <p:spPr>
          <a:xfrm>
            <a:off x="7132320" y="3663823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3599815"/>
            <a:ext cx="1847087" cy="714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WhatsApp / Тг / Макс: поздравления с фото</a:t>
            </a:r>
          </a:p>
        </p:txBody>
      </p:sp>
      <p:sp>
        <p:nvSpPr>
          <p:cNvPr id="24" name="Diamond 23"/>
          <p:cNvSpPr/>
          <p:nvPr/>
        </p:nvSpPr>
        <p:spPr>
          <a:xfrm>
            <a:off x="7132320" y="465759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8352" y="459359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Рассылки только по согласию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1371600"/>
            <a:ext cx="2514600" cy="4526280"/>
          </a:xfrm>
          <a:prstGeom prst="roundRect">
            <a:avLst>
              <a:gd name="adj" fmla="val 654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84080" y="1572768"/>
            <a:ext cx="2148840" cy="685800"/>
          </a:xfrm>
          <a:prstGeom prst="roundRect">
            <a:avLst>
              <a:gd name="adj" fmla="val 16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157276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ilroy"/>
              </a:rPr>
              <a:t>ЭКСПЕРТНЫЙ ТЕКСТ</a:t>
            </a:r>
          </a:p>
        </p:txBody>
      </p:sp>
      <p:sp>
        <p:nvSpPr>
          <p:cNvPr id="29" name="Diamond 28"/>
          <p:cNvSpPr/>
          <p:nvPr/>
        </p:nvSpPr>
        <p:spPr>
          <a:xfrm>
            <a:off x="9829800" y="267004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85832" y="260604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Как выбрать участок</a:t>
            </a:r>
          </a:p>
        </p:txBody>
      </p:sp>
      <p:sp>
        <p:nvSpPr>
          <p:cNvPr id="31" name="Diamond 30"/>
          <p:cNvSpPr/>
          <p:nvPr/>
        </p:nvSpPr>
        <p:spPr>
          <a:xfrm>
            <a:off x="9829800" y="342569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5832" y="336169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Что проверить зимой</a:t>
            </a:r>
          </a:p>
        </p:txBody>
      </p:sp>
      <p:sp>
        <p:nvSpPr>
          <p:cNvPr id="33" name="Diamond 32"/>
          <p:cNvSpPr/>
          <p:nvPr/>
        </p:nvSpPr>
        <p:spPr>
          <a:xfrm>
            <a:off x="9829800" y="418134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4117340"/>
            <a:ext cx="1847087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Gilroy"/>
              </a:rPr>
              <a:t>Как проверить коммуникации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612648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6B6B6B"/>
                </a:solidFill>
                <a:latin typeface="Gilroy"/>
              </a:rPr>
              <a:t>* Instagram принадлежит Meta Platforms Inc., деятельность которой признана экстремистской и запрещена на территории РФ.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822960" y="112471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UGC РУКАМИ КЛИЕНТОВ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64008" cy="52730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17320"/>
            <a:ext cx="10607040" cy="4724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Gilroy"/>
              </a:rPr>
              <a:t>ЛУЧШИЙ КОНТЕНТ — ТОТ, КОТОРЫЙ СНЯЛИ ВАШИ КЛИЕНТЫ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49240" cy="1783080"/>
          </a:xfrm>
          <a:prstGeom prst="roundRect">
            <a:avLst>
              <a:gd name="adj" fmla="val 820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72F2A"/>
                </a:solidFill>
                <a:latin typeface="Gilroy"/>
              </a:rPr>
              <a:t>1. Видео-интервью после сделки (1 минута)</a:t>
            </a:r>
          </a:p>
        </p:txBody>
      </p:sp>
      <p:sp>
        <p:nvSpPr>
          <p:cNvPr id="7" name="Diamond 6"/>
          <p:cNvSpPr/>
          <p:nvPr/>
        </p:nvSpPr>
        <p:spPr>
          <a:xfrm>
            <a:off x="822960" y="276148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97480"/>
            <a:ext cx="4590288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«Почему выбрали этот посёлок?»</a:t>
            </a:r>
          </a:p>
        </p:txBody>
      </p:sp>
      <p:sp>
        <p:nvSpPr>
          <p:cNvPr id="9" name="Diamond 8"/>
          <p:cNvSpPr/>
          <p:nvPr/>
        </p:nvSpPr>
        <p:spPr>
          <a:xfrm>
            <a:off x="822960" y="3077400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013392"/>
            <a:ext cx="4590288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«Что понравилось в доме?»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3393313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29305"/>
            <a:ext cx="4590288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«Что бы сказали тем, кто сомневается?»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69080"/>
            <a:ext cx="5349240" cy="2514600"/>
          </a:xfrm>
          <a:prstGeom prst="roundRect">
            <a:avLst>
              <a:gd name="adj" fmla="val 5818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72F2A"/>
                </a:solidFill>
                <a:latin typeface="Gilroy"/>
              </a:rPr>
              <a:t>2. Контент из реальной жизни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6B6B6B"/>
                </a:solidFill>
                <a:latin typeface="Gilroy"/>
              </a:rPr>
              <a:t>Фото и короткие видео клиентов:</a:t>
            </a:r>
          </a:p>
        </p:txBody>
      </p:sp>
      <p:sp>
        <p:nvSpPr>
          <p:cNvPr id="16" name="Diamond 15"/>
          <p:cNvSpPr/>
          <p:nvPr/>
        </p:nvSpPr>
        <p:spPr>
          <a:xfrm>
            <a:off x="822960" y="491032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846320"/>
            <a:ext cx="4590288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первый день в новом доме</a:t>
            </a:r>
          </a:p>
        </p:txBody>
      </p:sp>
      <p:sp>
        <p:nvSpPr>
          <p:cNvPr id="18" name="Diamond 17"/>
          <p:cNvSpPr/>
          <p:nvPr/>
        </p:nvSpPr>
        <p:spPr>
          <a:xfrm>
            <a:off x="822960" y="5146865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082857"/>
            <a:ext cx="4590288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вид из окна и территория</a:t>
            </a:r>
          </a:p>
        </p:txBody>
      </p:sp>
      <p:sp>
        <p:nvSpPr>
          <p:cNvPr id="20" name="Diamond 19"/>
          <p:cNvSpPr/>
          <p:nvPr/>
        </p:nvSpPr>
        <p:spPr>
          <a:xfrm>
            <a:off x="822960" y="5383403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5319394"/>
            <a:ext cx="4590288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прогулка по посёлку</a:t>
            </a:r>
          </a:p>
        </p:txBody>
      </p:sp>
      <p:sp>
        <p:nvSpPr>
          <p:cNvPr id="22" name="Diamond 21"/>
          <p:cNvSpPr/>
          <p:nvPr/>
        </p:nvSpPr>
        <p:spPr>
          <a:xfrm>
            <a:off x="822960" y="5619940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555932"/>
            <a:ext cx="4590288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обустройство дома и участка</a:t>
            </a:r>
          </a:p>
        </p:txBody>
      </p:sp>
      <p:sp>
        <p:nvSpPr>
          <p:cNvPr id="24" name="Diamond 23"/>
          <p:cNvSpPr/>
          <p:nvPr/>
        </p:nvSpPr>
        <p:spPr>
          <a:xfrm>
            <a:off x="822960" y="5856477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792469"/>
            <a:ext cx="4590288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впечатления после переезда</a:t>
            </a:r>
          </a:p>
        </p:txBody>
      </p:sp>
      <p:pic>
        <p:nvPicPr>
          <p:cNvPr id="26" name="Picture 25" descr="ugc_collage.jp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6172200" y="2148840"/>
            <a:ext cx="5486400" cy="30861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172200" y="5349240"/>
            <a:ext cx="5486400" cy="123444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349240"/>
            <a:ext cx="493776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1" i="0">
                <a:solidFill>
                  <a:srgbClr val="FFFFFF"/>
                </a:solidFill>
                <a:latin typeface="Gilroy"/>
              </a:rPr>
              <a:t>Стоимость такого контента — 0 ₽.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Gilroy"/>
              </a:rPr>
              <a:t>Конверсия — выше, чем у рекламы.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FAD5D4"/>
                </a:solidFill>
                <a:latin typeface="Gilroy"/>
              </a:rPr>
              <a:t>Использовать — только с разрешения клиента.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guard_post.jpg"/>
          <p:cNvPicPr>
            <a:picLocks noChangeAspect="1"/>
          </p:cNvPicPr>
          <p:nvPr/>
        </p:nvPicPr>
        <p:blipFill>
          <a:blip r:embed="rId2"/>
          <a:srcRect l="37217"/>
          <a:stretch>
            <a:fillRect/>
          </a:stretch>
        </p:blipFill>
        <p:spPr>
          <a:xfrm>
            <a:off x="6766560" y="1097280"/>
            <a:ext cx="5425135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1704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БЛОК 2 · АГЕНТЫ ВЛИЯНИЯ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35608"/>
            <a:ext cx="64008" cy="89306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63040"/>
            <a:ext cx="5394960" cy="838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Gilroy"/>
              </a:rPr>
              <a:t>ХРАНИТЕЛИ ПОСЁЛКОВ — ВАШИ ВНЕШТАТНЫЕ АГЕНТЫ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5852160" cy="822960"/>
          </a:xfrm>
          <a:prstGeom prst="roundRect">
            <a:avLst>
              <a:gd name="adj" fmla="val 1555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83464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65176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охрана, коменданты, управляющие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5852160" cy="822960"/>
          </a:xfrm>
          <a:prstGeom prst="roundRect">
            <a:avLst>
              <a:gd name="adj" fmla="val 1555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947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ЧТО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61188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визитки + небольшой гостинец (кофе, конфеты)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72000"/>
            <a:ext cx="5852160" cy="822960"/>
          </a:xfrm>
          <a:prstGeom prst="roundRect">
            <a:avLst>
              <a:gd name="adj" fmla="val 1555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47548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548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МОТИВАЦИЯ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57200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10% от вознаграждения — озвучить сумму в рублях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32120"/>
            <a:ext cx="5852160" cy="822960"/>
          </a:xfrm>
          <a:prstGeom prst="roundRect">
            <a:avLst>
              <a:gd name="adj" fmla="val 1555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571500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71500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СКРИПТ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53212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Gilroy"/>
              </a:rPr>
              <a:t>«Если кто-то спросит, не продаётся ли дом рядом — дайте мою визитку»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5212080"/>
            <a:ext cx="2834640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5212080"/>
            <a:ext cx="109728" cy="137160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5349240"/>
            <a:ext cx="1554480" cy="6073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06640" y="58978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Gilroy"/>
              </a:rPr>
              <a:t>Имя Фамилия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Gilroy"/>
              </a:rPr>
              <a:t>+7 (___) ___-__-__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forest.jpg"/>
          <p:cNvPicPr>
            <a:picLocks noChangeAspect="1"/>
          </p:cNvPicPr>
          <p:nvPr/>
        </p:nvPicPr>
        <p:blipFill>
          <a:blip r:embed="rId2"/>
          <a:srcRect l="35087" r="35087"/>
          <a:stretch>
            <a:fillRect/>
          </a:stretch>
        </p:blipFill>
        <p:spPr>
          <a:xfrm>
            <a:off x="0" y="1097280"/>
            <a:ext cx="2286000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0" y="117043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МЕСТНЫЕ ЧАТЫ И СОСЕДСКИЙ МАРКЕТИНГ</a:t>
            </a:r>
          </a:p>
        </p:txBody>
      </p:sp>
      <p:sp>
        <p:nvSpPr>
          <p:cNvPr id="5" name="Rectangle 4"/>
          <p:cNvSpPr/>
          <p:nvPr/>
        </p:nvSpPr>
        <p:spPr>
          <a:xfrm>
            <a:off x="2670048" y="1435608"/>
            <a:ext cx="64008" cy="58826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6080" y="1463040"/>
            <a:ext cx="8686800" cy="5334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Gilroy"/>
              </a:rPr>
              <a:t>СНАЧАЛА ПОЛЬЗА. ПОТОМ ПРОДАЖА.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2240280"/>
            <a:ext cx="4526280" cy="2788920"/>
          </a:xfrm>
          <a:prstGeom prst="roundRect">
            <a:avLst>
              <a:gd name="adj" fmla="val 5901"/>
            </a:avLst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80360" y="24231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ilroy"/>
              </a:rPr>
              <a:t>ЧАТЫ ПОСЁЛКОВ</a:t>
            </a:r>
          </a:p>
        </p:txBody>
      </p:sp>
      <p:sp>
        <p:nvSpPr>
          <p:cNvPr id="9" name="Diamond 8"/>
          <p:cNvSpPr/>
          <p:nvPr/>
        </p:nvSpPr>
        <p:spPr>
          <a:xfrm>
            <a:off x="2926080" y="317296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3108960"/>
            <a:ext cx="3767328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Gilroy"/>
              </a:rPr>
              <a:t>Не рекламироваться в лоб</a:t>
            </a:r>
          </a:p>
        </p:txBody>
      </p:sp>
      <p:sp>
        <p:nvSpPr>
          <p:cNvPr id="11" name="Diamond 10"/>
          <p:cNvSpPr/>
          <p:nvPr/>
        </p:nvSpPr>
        <p:spPr>
          <a:xfrm>
            <a:off x="2926080" y="3522217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82112" y="3458209"/>
            <a:ext cx="3767328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Gilroy"/>
              </a:rPr>
              <a:t>Подсказать: стройматериалы, трактор, сантехник</a:t>
            </a:r>
          </a:p>
        </p:txBody>
      </p:sp>
      <p:sp>
        <p:nvSpPr>
          <p:cNvPr id="13" name="Diamond 12"/>
          <p:cNvSpPr/>
          <p:nvPr/>
        </p:nvSpPr>
        <p:spPr>
          <a:xfrm>
            <a:off x="2926080" y="409371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4029709"/>
            <a:ext cx="3767328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Gilroy"/>
              </a:rPr>
              <a:t>Стать авторитетом → сами спросят про участок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2240280"/>
            <a:ext cx="4343400" cy="2788920"/>
          </a:xfrm>
          <a:prstGeom prst="roundRect">
            <a:avLst>
              <a:gd name="adj" fmla="val 5901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5240" y="242316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4231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ilroy"/>
              </a:rPr>
              <a:t>СОСЕДСКИЙ МАРКЕТИНГ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063240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ilroy"/>
              </a:rPr>
              <a:t>Листовки в почтовые ящики / журнал Puzzle 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703320"/>
            <a:ext cx="3886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C4221E"/>
                </a:solidFill>
                <a:latin typeface="Gilroy"/>
              </a:rPr>
              <a:t>«Хотите, чтобы рядом поселились приятные люди? Посоветуйте наш посёлок друзьям — вам 10%»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6177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B6B6B"/>
                </a:solidFill>
                <a:latin typeface="Gilroy"/>
              </a:rPr>
              <a:t>Люди заинтересованы в хороших соседях и деньгах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5303520"/>
            <a:ext cx="9539935" cy="155448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5303520"/>
            <a:ext cx="8412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ilroy"/>
              </a:rPr>
              <a:t>Сосед — самый мотивированный продавец вашего посёлка.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4023360" cy="576072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3291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FFFFFF"/>
                </a:solidFill>
                <a:latin typeface="Gilroy"/>
              </a:rPr>
              <a:t>10%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63240"/>
            <a:ext cx="3291840" cy="100583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Gilroy"/>
              </a:rPr>
              <a:t>10% — НЕ СКИДКА. ЭТО ИНСТРУМЕНТ.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09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FAD5D4"/>
                </a:solidFill>
                <a:latin typeface="Gilroy"/>
              </a:rPr>
              <a:t>Программа лояльности</a:t>
            </a:r>
          </a:p>
        </p:txBody>
      </p:sp>
      <p:pic>
        <p:nvPicPr>
          <p:cNvPr id="6" name="Picture 5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0"/>
            <a:ext cx="1645920" cy="6454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480560" y="1325880"/>
            <a:ext cx="7269480" cy="1645920"/>
          </a:xfrm>
          <a:prstGeom prst="roundRect">
            <a:avLst>
              <a:gd name="adj" fmla="val 1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09160" y="152704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52704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ilro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508760"/>
            <a:ext cx="58521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E72F2A"/>
                </a:solidFill>
                <a:latin typeface="Gilroy"/>
              </a:rPr>
              <a:t>Скрипт для клиента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«Иван Иванович, если друзья захотят переехать за город — привезите их ко мне. Даже если сделка через год — 10% от нашего вознаграждения».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108960"/>
            <a:ext cx="7269480" cy="1645920"/>
          </a:xfrm>
          <a:prstGeom prst="roundRect">
            <a:avLst>
              <a:gd name="adj" fmla="val 1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60" y="331012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31012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ilro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291840"/>
            <a:ext cx="37947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E72F2A"/>
                </a:solidFill>
                <a:latin typeface="Gilroy"/>
              </a:rPr>
              <a:t>Digital-открытки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Не просто картинка: голосовое или видео-поздравление лично от менеджера — повод напомнить о себе.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333756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20" y="3456432"/>
            <a:ext cx="1463040" cy="566928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345643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Gilroy"/>
              </a:rPr>
              <a:t>С праздником!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  <a:latin typeface="Gilroy"/>
              </a:rPr>
              <a:t>▶  видео от менеджера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892040"/>
            <a:ext cx="7269480" cy="1645920"/>
          </a:xfrm>
          <a:prstGeom prst="roundRect">
            <a:avLst>
              <a:gd name="adj" fmla="val 1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09160" y="5093207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5093207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ilro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5074920"/>
            <a:ext cx="37947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E72F2A"/>
                </a:solidFill>
                <a:latin typeface="Gilroy"/>
              </a:rPr>
              <a:t>Фиксация в CRM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Лид закреплён за тем, кто привёл. Выплата — быстро, без сокращений.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512064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75520" y="5239512"/>
            <a:ext cx="1463040" cy="13716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5468112"/>
            <a:ext cx="1463040" cy="13716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0" y="5696712"/>
            <a:ext cx="1463040" cy="13716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5925312"/>
            <a:ext cx="1463040" cy="256032"/>
          </a:xfrm>
          <a:prstGeom prst="roundRect">
            <a:avLst>
              <a:gd name="adj" fmla="val 21428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592531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Gilroy"/>
              </a:rPr>
              <a:t>закреплён за: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822960" y="1170432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БЛОК 3 · ПАРТНЁРСКИЙ ТРАФИК (B2B)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35608"/>
            <a:ext cx="64008" cy="89306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63040"/>
            <a:ext cx="7498079" cy="838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Gilroy"/>
              </a:rPr>
              <a:t>ГОРОДСКИЕ АГЕНТЫ — ИСТОЧНИК КЛИЕНТОВ, КОТОРЫЕ УЖЕ ХОТЯТ КУПИТЬ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7680960" cy="960120"/>
          </a:xfrm>
          <a:prstGeom prst="roundRect">
            <a:avLst>
              <a:gd name="adj" fmla="val 1428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ПАРТНЁРСКАЯ ПАМЯТКА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606040"/>
            <a:ext cx="5212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Gilroy"/>
              </a:rPr>
              <a:t>контакты + УТП (10% от вознаграждения) + фраза «вы получаете 10% агентских без участия в сделке»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7680960" cy="960120"/>
          </a:xfrm>
          <a:prstGeom prst="roundRect">
            <a:avLst>
              <a:gd name="adj" fmla="val 1428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КАНАЛЫ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703320"/>
            <a:ext cx="5212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Gilroy"/>
              </a:rPr>
              <a:t>лично в 5–10 агентств • профессиональные чаты • напоминание на городских показах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7680960" cy="960120"/>
          </a:xfrm>
          <a:prstGeom prst="roundRect">
            <a:avLst>
              <a:gd name="adj" fmla="val 14285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ВЗАИМНОСТЬ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800600"/>
            <a:ext cx="5212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Gilroy"/>
              </a:rPr>
              <a:t>вы отдаёте «городских» клиентов — они загородных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97880"/>
            <a:ext cx="7680960" cy="68580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97880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ilroy"/>
              </a:rPr>
              <a:t>Сарафанное радио среди коллег работает быстрее, чем любой платный лид.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971800" cy="534924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22225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1371600"/>
            <a:ext cx="2697480" cy="109728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137160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ilroy"/>
              </a:rPr>
              <a:t>ПАРТНЁРСКАЯ ПАМЯТКА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9748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200" b="1" i="0">
                <a:solidFill>
                  <a:srgbClr val="E72F2A"/>
                </a:solidFill>
                <a:latin typeface="Gilroy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79476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Gilroy"/>
              </a:rPr>
              <a:t>агентских без участия в сделке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4754880"/>
            <a:ext cx="2148840" cy="27432"/>
          </a:xfrm>
          <a:prstGeom prst="rect">
            <a:avLst/>
          </a:prstGeom>
          <a:solidFill>
            <a:srgbClr val="FAD5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4892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6B6B6B"/>
                </a:solidFill>
                <a:latin typeface="Gilroy"/>
              </a:rPr>
              <a:t>Ваше имя • телефон • Telegram</a:t>
            </a:r>
          </a:p>
        </p:txBody>
      </p: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5532120"/>
            <a:ext cx="1417320" cy="553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566928" y="1344168"/>
            <a:ext cx="64008" cy="55778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5029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Gilroy"/>
              </a:rPr>
              <a:t>РАБОТАЕМ КАК «СВОЙ ПАРЕНЬ» НА ТЕРРИТОРИИ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E72F2A"/>
                </a:solidFill>
                <a:latin typeface="Gilroy"/>
              </a:rPr>
              <a:t>КОЛЛАБОРАЦИИ С БИЗНЕСАМИ ВОКРУГ</a:t>
            </a:r>
          </a:p>
        </p:txBody>
      </p:sp>
      <p:pic>
        <p:nvPicPr>
          <p:cNvPr id="5" name="Picture 4" descr="collab_a.jpg"/>
          <p:cNvPicPr>
            <a:picLocks noChangeAspect="1"/>
          </p:cNvPicPr>
          <p:nvPr/>
        </p:nvPicPr>
        <p:blipFill>
          <a:blip r:embed="rId2"/>
          <a:srcRect t="60938" b="10938"/>
          <a:stretch>
            <a:fillRect/>
          </a:stretch>
        </p:blipFill>
        <p:spPr>
          <a:xfrm>
            <a:off x="548640" y="2423160"/>
            <a:ext cx="5120640" cy="1783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43434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E72F2A"/>
                </a:solidFill>
                <a:latin typeface="Gilroy"/>
              </a:rPr>
              <a:t>КАФЕ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43434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43434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E72F2A"/>
                </a:solidFill>
                <a:latin typeface="Gilroy"/>
              </a:rPr>
              <a:t>БАННЫЙ КОМПЛЕКС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1888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81888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E72F2A"/>
                </a:solidFill>
                <a:latin typeface="Gilroy"/>
              </a:rPr>
              <a:t>МАГАЗИН ДЛЯ САДА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481888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481888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E72F2A"/>
                </a:solidFill>
                <a:latin typeface="Gilroy"/>
              </a:rPr>
              <a:t>ДЕТСКИЙ КЛУБ</a:t>
            </a:r>
          </a:p>
        </p:txBody>
      </p:sp>
      <p:sp>
        <p:nvSpPr>
          <p:cNvPr id="14" name="Diamond 13"/>
          <p:cNvSpPr/>
          <p:nvPr/>
        </p:nvSpPr>
        <p:spPr>
          <a:xfrm>
            <a:off x="548640" y="5504688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440680"/>
            <a:ext cx="4864607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Вы рекомендуете их клиентам после показов</a:t>
            </a:r>
          </a:p>
        </p:txBody>
      </p:sp>
      <p:sp>
        <p:nvSpPr>
          <p:cNvPr id="16" name="Diamond 15"/>
          <p:cNvSpPr/>
          <p:nvPr/>
        </p:nvSpPr>
        <p:spPr>
          <a:xfrm>
            <a:off x="548640" y="5766625"/>
            <a:ext cx="82296" cy="82296"/>
          </a:xfrm>
          <a:prstGeom prst="diamond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702617"/>
            <a:ext cx="4864607" cy="198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Они размещают ваши визитки / дают промокод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01168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E72F2A"/>
                </a:solidFill>
                <a:latin typeface="Gilroy"/>
              </a:rPr>
              <a:t>НАРУЖКА НА ДВА ФРОНТА</a:t>
            </a:r>
          </a:p>
        </p:txBody>
      </p:sp>
      <p:pic>
        <p:nvPicPr>
          <p:cNvPr id="19" name="Picture 18" descr="collab_b.jpg"/>
          <p:cNvPicPr>
            <a:picLocks noChangeAspect="1"/>
          </p:cNvPicPr>
          <p:nvPr/>
        </p:nvPicPr>
        <p:blipFill>
          <a:blip r:embed="rId3"/>
          <a:srcRect t="2795" b="2795"/>
          <a:stretch>
            <a:fillRect/>
          </a:stretch>
        </p:blipFill>
        <p:spPr>
          <a:xfrm>
            <a:off x="6126480" y="2423160"/>
            <a:ext cx="2697480" cy="4160520"/>
          </a:xfrm>
          <a:prstGeom prst="rect">
            <a:avLst/>
          </a:prstGeom>
        </p:spPr>
      </p:pic>
      <p:pic>
        <p:nvPicPr>
          <p:cNvPr id="20" name="Picture 19" descr="collab_c.jpg"/>
          <p:cNvPicPr>
            <a:picLocks noChangeAspect="1"/>
          </p:cNvPicPr>
          <p:nvPr/>
        </p:nvPicPr>
        <p:blipFill>
          <a:blip r:embed="rId4"/>
          <a:srcRect t="50544" b="26544"/>
          <a:stretch>
            <a:fillRect/>
          </a:stretch>
        </p:blipFill>
        <p:spPr>
          <a:xfrm>
            <a:off x="9006840" y="2423160"/>
            <a:ext cx="2697480" cy="18288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006840" y="43891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4498848"/>
            <a:ext cx="2423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E72F2A"/>
                </a:solidFill>
                <a:latin typeface="Gilroy"/>
              </a:rPr>
              <a:t>Дорхентеры — для продавцов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Gilroy"/>
              </a:rPr>
              <a:t>«Хотите выгодно продать дом? Агентское вознаграждение — за наш счёт» + 10% соседям за рекомендацию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5806440"/>
            <a:ext cx="2423160" cy="640080"/>
          </a:xfrm>
          <a:prstGeom prst="roundRect">
            <a:avLst>
              <a:gd name="adj" fmla="val 14285"/>
            </a:avLst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5806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72F2A"/>
                </a:solidFill>
                <a:latin typeface="Gilroy"/>
              </a:rPr>
              <a:t>Баннеры — для покупателей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ilroy"/>
              </a:rPr>
              <a:t>оффер + срочность + съёмный QR + стрелка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822960" y="117043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СИСТЕМА: ЧЕК-ЛИСТ МЕНЕДЖЕРА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35608"/>
            <a:ext cx="64008" cy="55778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63040"/>
            <a:ext cx="7315200" cy="5029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Gilroy"/>
              </a:rPr>
              <a:t>ТРИ КАНАЛА — ОДНА СИСТЕМА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532120" cy="2057400"/>
          </a:xfrm>
          <a:prstGeom prst="roundRect">
            <a:avLst>
              <a:gd name="adj" fmla="val 8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ilro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2316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Контент-план</a:t>
            </a:r>
            <a:r>
              <a:rPr sz="1200" b="1" i="0">
                <a:solidFill>
                  <a:srgbClr val="E72F2A"/>
                </a:solidFill>
                <a:latin typeface="Gilroy"/>
              </a:rPr>
              <a:t>  Digital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59" y="318211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315468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Снять 3 видео (атмосфера, объект, совет)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483864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19" y="345643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Разместить в соцсетях, Telegram и на видеоплатформах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3986784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395935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Рассылка в WhatsApp с открыткой и ссылкой на видео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240280"/>
            <a:ext cx="5532120" cy="20574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7959" y="24231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24231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ilroy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Агенты влияния</a:t>
            </a:r>
            <a:r>
              <a:rPr sz="1200" b="1" i="0">
                <a:solidFill>
                  <a:srgbClr val="E72F2A"/>
                </a:solidFill>
                <a:latin typeface="Gilroy"/>
              </a:rPr>
              <a:t> 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79" y="318211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15468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Объехать 3 посёлка, договориться с охраной / комендантами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79" y="368503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6576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Вступить в 2 местных чата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34840"/>
            <a:ext cx="5532120" cy="20574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46177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ilroy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1772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Работа с клиентами</a:t>
            </a:r>
            <a:r>
              <a:rPr sz="1200" b="1" i="0">
                <a:solidFill>
                  <a:srgbClr val="E72F2A"/>
                </a:solidFill>
                <a:latin typeface="Gilroy"/>
              </a:rPr>
              <a:t>  CRM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59" y="537667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19" y="534924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Обзвонить 5 клиентов, поздравить, напомнить про 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59" y="587959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19" y="5852159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Зафиксировать партнёров в таблице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59" y="4434840"/>
            <a:ext cx="5532120" cy="2057400"/>
          </a:xfrm>
          <a:prstGeom prst="roundRect">
            <a:avLst>
              <a:gd name="adj" fmla="val 8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37959" y="46177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59" y="46177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ilroy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61772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Физический якорь</a:t>
            </a:r>
            <a:r>
              <a:rPr sz="1200" b="1" i="0">
                <a:solidFill>
                  <a:srgbClr val="E72F2A"/>
                </a:solidFill>
                <a:latin typeface="Gilroy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583679" y="5376672"/>
            <a:ext cx="18288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2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34924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На каждую встречу — журнал Puzzle Media с подписанной визиткой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822960" y="117043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E72F2A"/>
                </a:solidFill>
                <a:latin typeface="Gilroy"/>
              </a:rPr>
              <a:t>ЭКОНОМИКА: СТОИМОСТЬ ЛИДА 0 ₽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35608"/>
            <a:ext cx="64008" cy="557784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463040"/>
            <a:ext cx="7315200" cy="5029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Gilroy"/>
              </a:rPr>
              <a:t>СКОЛЬКО СТОИТ ЛИД БЕЗ БЮДЖЕТА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233172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ilroy"/>
              </a:rPr>
              <a:t>КАНАЛ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2240280"/>
            <a:ext cx="25146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24028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ilroy"/>
              </a:rPr>
              <a:t>СТОИМОСТЬ ЛИДА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0280"/>
            <a:ext cx="196596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240280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ilroy"/>
              </a:rPr>
              <a:t>ИСТОЧНИК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2331720" cy="731520"/>
          </a:xfrm>
          <a:prstGeom prst="rect">
            <a:avLst/>
          </a:prstGeom>
          <a:solidFill>
            <a:srgbClr val="F4F4F6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6B6B6B"/>
                </a:solidFill>
                <a:latin typeface="Gilroy"/>
              </a:rPr>
              <a:t>Контекст / таргет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2743200"/>
            <a:ext cx="2514600" cy="731520"/>
          </a:xfrm>
          <a:prstGeom prst="rect">
            <a:avLst/>
          </a:prstGeom>
          <a:solidFill>
            <a:srgbClr val="F4F4F6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B6B6B"/>
                </a:solidFill>
                <a:latin typeface="Gilroy"/>
              </a:rPr>
              <a:t>от 3 000 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2743200"/>
            <a:ext cx="1965960" cy="731520"/>
          </a:xfrm>
          <a:prstGeom prst="rect">
            <a:avLst/>
          </a:prstGeom>
          <a:solidFill>
            <a:srgbClr val="F4F4F6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74320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6B6B"/>
                </a:solidFill>
                <a:latin typeface="Gilroy"/>
              </a:rPr>
              <a:t>Платно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33172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Gilroy"/>
              </a:rPr>
              <a:t>UGC-контент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3474720"/>
            <a:ext cx="251460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4747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72F2A"/>
                </a:solidFill>
                <a:latin typeface="Gilroy"/>
              </a:rPr>
              <a:t>0 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3474720"/>
            <a:ext cx="196596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347472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Свои силы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06240"/>
            <a:ext cx="233172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0624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Gilroy"/>
              </a:rPr>
              <a:t>Агенты влияния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4206240"/>
            <a:ext cx="251460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20624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72F2A"/>
                </a:solidFill>
                <a:latin typeface="Gilroy"/>
              </a:rPr>
              <a:t>0 ₽ (оплата по факту сделки)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4206240"/>
            <a:ext cx="196596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20624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Охрана, соседи, чаты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937759"/>
            <a:ext cx="233172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937759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Gilroy"/>
              </a:rPr>
              <a:t>Партнёрский трафик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4937759"/>
            <a:ext cx="251460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4937759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72F2A"/>
                </a:solidFill>
                <a:latin typeface="Gilroy"/>
              </a:rPr>
              <a:t>0 ₽ (10% от сделки)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94960" y="4937759"/>
            <a:ext cx="1965960" cy="731520"/>
          </a:xfrm>
          <a:prstGeom prst="rect">
            <a:avLst/>
          </a:prstGeom>
          <a:solidFill>
            <a:srgbClr val="FCE9E8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937759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Gilroy"/>
              </a:rPr>
              <a:t>Агентства, бизнесы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52160"/>
            <a:ext cx="6812279" cy="73152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852160"/>
            <a:ext cx="6355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ilroy"/>
              </a:rPr>
              <a:t>Воронка: контент + агенты + партнёры → лиды → показы → сделки.</a:t>
            </a:r>
          </a:p>
        </p:txBody>
      </p:sp>
      <p:sp>
        <p:nvSpPr>
          <p:cNvPr id="37" name="Freeform 36"/>
          <p:cNvSpPr/>
          <p:nvPr/>
        </p:nvSpPr>
        <p:spPr>
          <a:xfrm>
            <a:off x="8138160" y="2240280"/>
            <a:ext cx="3611880" cy="914400"/>
          </a:xfrm>
          <a:custGeom>
            <a:avLst/>
            <a:gdLst/>
            <a:ahLst/>
            <a:cxnLst/>
            <a:rect l="l" t="t" r="r" b="b"/>
            <a:pathLst>
              <a:path w="3611880" h="914400">
                <a:moveTo>
                  <a:pt x="0" y="0"/>
                </a:moveTo>
                <a:lnTo>
                  <a:pt x="3611880" y="0"/>
                </a:lnTo>
                <a:lnTo>
                  <a:pt x="3268980" y="914400"/>
                </a:lnTo>
                <a:lnTo>
                  <a:pt x="342900" y="914400"/>
                </a:lnTo>
                <a:close/>
              </a:path>
            </a:pathLst>
          </a:custGeom>
          <a:solidFill>
            <a:srgbClr val="E72F2A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224028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Gilroy"/>
              </a:rPr>
              <a:t>Контент + агенты + партнёры</a:t>
            </a:r>
          </a:p>
        </p:txBody>
      </p:sp>
      <p:sp>
        <p:nvSpPr>
          <p:cNvPr id="39" name="Freeform 38"/>
          <p:cNvSpPr/>
          <p:nvPr/>
        </p:nvSpPr>
        <p:spPr>
          <a:xfrm>
            <a:off x="8481060" y="3200400"/>
            <a:ext cx="2926080" cy="914400"/>
          </a:xfrm>
          <a:custGeom>
            <a:avLst/>
            <a:gdLst/>
            <a:ahLst/>
            <a:cxnLst/>
            <a:rect l="l" t="t" r="r" b="b"/>
            <a:pathLst>
              <a:path w="2926080" h="914400">
                <a:moveTo>
                  <a:pt x="0" y="0"/>
                </a:moveTo>
                <a:lnTo>
                  <a:pt x="2926080" y="0"/>
                </a:lnTo>
                <a:lnTo>
                  <a:pt x="2583180" y="914400"/>
                </a:lnTo>
                <a:lnTo>
                  <a:pt x="342900" y="914400"/>
                </a:lnTo>
                <a:close/>
              </a:path>
            </a:pathLst>
          </a:custGeom>
          <a:solidFill>
            <a:srgbClr val="C422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55380" y="320040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ilroy"/>
              </a:rPr>
              <a:t>ЛИДЫ</a:t>
            </a:r>
          </a:p>
        </p:txBody>
      </p:sp>
      <p:sp>
        <p:nvSpPr>
          <p:cNvPr id="41" name="Freeform 40"/>
          <p:cNvSpPr/>
          <p:nvPr/>
        </p:nvSpPr>
        <p:spPr>
          <a:xfrm>
            <a:off x="8823960" y="4160520"/>
            <a:ext cx="2240280" cy="914400"/>
          </a:xfrm>
          <a:custGeom>
            <a:avLst/>
            <a:gdLst/>
            <a:ahLst/>
            <a:cxnLst/>
            <a:rect l="l" t="t" r="r" b="b"/>
            <a:pathLst>
              <a:path w="2240280" h="914400">
                <a:moveTo>
                  <a:pt x="0" y="0"/>
                </a:moveTo>
                <a:lnTo>
                  <a:pt x="2240280" y="0"/>
                </a:lnTo>
                <a:lnTo>
                  <a:pt x="1897380" y="914400"/>
                </a:lnTo>
                <a:lnTo>
                  <a:pt x="342900" y="914400"/>
                </a:lnTo>
                <a:close/>
              </a:path>
            </a:pathLst>
          </a:custGeom>
          <a:solidFill>
            <a:srgbClr val="9C1A17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16052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ilroy"/>
              </a:rPr>
              <a:t>ПОКАЗЫ</a:t>
            </a:r>
          </a:p>
        </p:txBody>
      </p:sp>
      <p:sp>
        <p:nvSpPr>
          <p:cNvPr id="43" name="Freeform 42"/>
          <p:cNvSpPr/>
          <p:nvPr/>
        </p:nvSpPr>
        <p:spPr>
          <a:xfrm>
            <a:off x="9166860" y="5120640"/>
            <a:ext cx="1554480" cy="914400"/>
          </a:xfrm>
          <a:custGeom>
            <a:avLst/>
            <a:gdLst/>
            <a:ahLst/>
            <a:cxnLst/>
            <a:rect l="l" t="t" r="r" b="b"/>
            <a:pathLst>
              <a:path w="1554480" h="914400">
                <a:moveTo>
                  <a:pt x="0" y="0"/>
                </a:moveTo>
                <a:lnTo>
                  <a:pt x="1554480" y="0"/>
                </a:lnTo>
                <a:lnTo>
                  <a:pt x="1211580" y="914400"/>
                </a:lnTo>
                <a:lnTo>
                  <a:pt x="342900" y="914400"/>
                </a:lnTo>
                <a:close/>
              </a:path>
            </a:pathLst>
          </a:custGeom>
          <a:solidFill>
            <a:srgbClr val="1A1A1A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41180" y="5120640"/>
            <a:ext cx="10058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ilroy"/>
              </a:rPr>
              <a:t>СДЕЛКИ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6675120" cy="576072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1371600"/>
            <a:ext cx="5486400" cy="2743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Gilroy"/>
              </a:rPr>
              <a:t>ФОРМУЛА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ilroy"/>
              </a:rPr>
              <a:t>UGC-КОНТЕНТ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ilroy"/>
              </a:rPr>
              <a:t>+ АГЕНТЫ ВЛИЯНИЯ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ilroy"/>
              </a:rPr>
              <a:t>+ ПАРТНЁРСКИЙ ТРАФИК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ilroy"/>
              </a:rPr>
              <a:t>+ CRM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83479"/>
            <a:ext cx="5394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ilroy"/>
              </a:rPr>
              <a:t>= ПОТОК КЛИЕНТОВ БЕЗ БЮДЖЕТА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371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72F2A"/>
                </a:solidFill>
                <a:latin typeface="Gilroy"/>
              </a:rPr>
              <a:t>ВЫВОДЫ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874519"/>
            <a:ext cx="4526280" cy="1371600"/>
          </a:xfrm>
          <a:prstGeom prst="roundRect">
            <a:avLst>
              <a:gd name="adj" fmla="val 12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1965960"/>
            <a:ext cx="914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E72F2A"/>
                </a:solidFill>
                <a:latin typeface="Gilro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Нулевой бюджет — это система, а не разовые акции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429000"/>
            <a:ext cx="4526280" cy="1371600"/>
          </a:xfrm>
          <a:prstGeom prst="roundRect">
            <a:avLst>
              <a:gd name="adj" fmla="val 12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3520440"/>
            <a:ext cx="914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E72F2A"/>
                </a:solidFill>
                <a:latin typeface="Gilro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20440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Каждый канал усиливает другой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4983480"/>
            <a:ext cx="4526280" cy="1371600"/>
          </a:xfrm>
          <a:prstGeom prst="roundRect">
            <a:avLst>
              <a:gd name="adj" fmla="val 12000"/>
            </a:avLst>
          </a:prstGeom>
          <a:solidFill>
            <a:srgbClr val="FCE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5074920"/>
            <a:ext cx="9144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E72F2A"/>
                </a:solidFill>
                <a:latin typeface="Gilro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074920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Gilroy"/>
              </a:rPr>
              <a:t>Главное — фиксировать и быстро платить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over_autumn.jpg"/>
          <p:cNvPicPr>
            <a:picLocks noChangeAspect="1"/>
          </p:cNvPicPr>
          <p:nvPr/>
        </p:nvPicPr>
        <p:blipFill>
          <a:blip r:embed="rId2"/>
          <a:srcRect t="8021" b="8021"/>
          <a:stretch>
            <a:fillRect/>
          </a:stretch>
        </p:blipFill>
        <p:spPr>
          <a:xfrm>
            <a:off x="0" y="1097280"/>
            <a:ext cx="12191695" cy="5760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1097280"/>
            <a:ext cx="12191695" cy="5760720"/>
          </a:xfrm>
          <a:prstGeom prst="rect">
            <a:avLst/>
          </a:prstGeom>
          <a:solidFill>
            <a:srgbClr val="1A1A1A">
              <a:alpha val="6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2103120" cy="824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0" y="1463040"/>
            <a:ext cx="64008" cy="548640"/>
          </a:xfrm>
          <a:prstGeom prst="rect">
            <a:avLst/>
          </a:prstGeom>
          <a:solidFill>
            <a:srgbClr val="E72F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0" y="1463040"/>
            <a:ext cx="7772400" cy="5029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Gilroy"/>
              </a:rPr>
              <a:t>МАТЕРИАЛЫ И КОНТАКТЫ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606040"/>
            <a:ext cx="3108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65960" y="2834640"/>
            <a:ext cx="2651760" cy="2651760"/>
          </a:xfrm>
          <a:prstGeom prst="roundRect">
            <a:avLst>
              <a:gd name="adj" fmla="val 2758"/>
            </a:avLst>
          </a:prstGeom>
          <a:noFill/>
          <a:ln w="19050">
            <a:solidFill>
              <a:srgbClr val="E72F2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2834640"/>
            <a:ext cx="2651760" cy="2651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6B6B6B"/>
                </a:solidFill>
                <a:latin typeface="Gilroy"/>
              </a:rPr>
              <a:t>вставить QR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6B6B6B"/>
                </a:solidFill>
                <a:latin typeface="Gilroy"/>
              </a:rPr>
              <a:t>на материалы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2631" y="2606040"/>
            <a:ext cx="3108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qr_t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1" y="2834640"/>
            <a:ext cx="2651760" cy="2651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589788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ilroy"/>
              </a:rPr>
              <a:t>Материалы к выступлению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Gilroy"/>
              </a:rPr>
              <a:t>чек-лист менеджера • памятка А5 • шаблон дорхентера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589788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ilroy"/>
              </a:rPr>
              <a:t>Telegram-канал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Gilroy"/>
              </a:rPr>
              <a:t>скрипты, кейсы, шаблоны и материалы по загородной недвижимости в СПб и ЛО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A1A1A"/>
      </a:dk2>
      <a:lt2>
        <a:srgbClr val="FCE9E8"/>
      </a:lt2>
      <a:accent1>
        <a:srgbClr val="E72F2A"/>
      </a:accent1>
      <a:accent2>
        <a:srgbClr val="1B3A8C"/>
      </a:accent2>
      <a:accent3>
        <a:srgbClr val="E6C88F"/>
      </a:accent3>
      <a:accent4>
        <a:srgbClr val="FAD5D4"/>
      </a:accent4>
      <a:accent5>
        <a:srgbClr val="C4221E"/>
      </a:accent5>
      <a:accent6>
        <a:srgbClr val="6B6B6B"/>
      </a:accent6>
      <a:hlink>
        <a:srgbClr val="0563C1"/>
      </a:hlink>
      <a:folHlink>
        <a:srgbClr val="954F72"/>
      </a:folHlink>
    </a:clrScheme>
    <a:fontScheme name="Стандартная">
      <a:majorFont>
        <a:latin typeface="Gilro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ilroy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FD1A400E-B3A4-9943-91A7-935306E9B933}" vid="{41D8448F-F911-9F47-AA3D-C192C3EDB1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A1A1A"/>
      </a:dk2>
      <a:lt2>
        <a:srgbClr val="FCE9E8"/>
      </a:lt2>
      <a:accent1>
        <a:srgbClr val="E72F2A"/>
      </a:accent1>
      <a:accent2>
        <a:srgbClr val="1B3A8C"/>
      </a:accent2>
      <a:accent3>
        <a:srgbClr val="E6C88F"/>
      </a:accent3>
      <a:accent4>
        <a:srgbClr val="FAD5D4"/>
      </a:accent4>
      <a:accent5>
        <a:srgbClr val="C4221E"/>
      </a:accent5>
      <a:accent6>
        <a:srgbClr val="6B6B6B"/>
      </a:accent6>
      <a:hlink>
        <a:srgbClr val="0000FF"/>
      </a:hlink>
      <a:folHlink>
        <a:srgbClr val="800080"/>
      </a:folHlink>
    </a:clrScheme>
    <a:fontScheme name="Office">
      <a:majorFont>
        <a:latin typeface="Gilro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ro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0</Words>
  <Application>Microsoft Macintosh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Julia Seliavina</dc:creator>
  <cp:lastModifiedBy>Julia Seliavina</cp:lastModifiedBy>
  <cp:revision>1</cp:revision>
  <dcterms:created xsi:type="dcterms:W3CDTF">2026-08-21T06:59:26Z</dcterms:created>
  <dcterms:modified xsi:type="dcterms:W3CDTF">2026-08-21T07:03:02Z</dcterms:modified>
</cp:coreProperties>
</file>