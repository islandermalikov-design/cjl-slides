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1. Визуал по ТЗ: фото посёлка в ЛО (осенний кадр), поверх — полупрозрачная плашка с текстом. Внизу: логотип агентства, имя спикера, название конференции.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2. Визуал по ТЗ: карта ЛО с точками посёлков + график роста стоимости лида (график добавить по своим цифрам). Три блока: конкуренция, сезонность,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3. Визуал по ТЗ: схема из трёх кругов, сходящихся в одну воронку.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4. Три колонки: Reels/клипы/сторис • мессенджеры • экспертный текст. Сноска про Instagram обязательна.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5. Визуал по ТЗ: атмосферные фото/видео от жителей.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6. Визуал по ТЗ: фото поста охраны / коменданта + образец визитки (в макете — условная визитка, заменить на реальную).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7. Левая колонка — чаты; правая — соседский маркетинг.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8. Визуал по ТЗ: образец открытки + скриншот CRM. В макете — условные мини-иллюстрации, заменить на реальную открытку и скриншот вашей CRM.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9. Визуал по ТЗ: макет партнёрской памятки (можно взять с собой). В макете — условный вид, заменить на реальную памятку А5.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10. Визуал по ТЗ: фото баннера с QR + образец дорхентера (кадры собраны из присланного триптиха).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11. Визуал по ТЗ: чек-лист в виде иконок (чекбоксы + номера).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12. Визуал по ТЗ: воронка продаж + цифры по вашей практике. Добавьте свои цифры (лиды → показы → сделки) в блоки воронки — в макете стоят только названия этапов.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13. Формула крупно + три вывода.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14. Два QR-кода крупно. Справа — QR на t.me/puzzlerealty (взято из контактов вашей прошлой презентации; проверьте, что это нужный канал). Слева — заглушка: вставить QR на материалы к выступлению.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autumn.jp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3383280" cy="141732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2560320" cy="10002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46120" y="2788920"/>
            <a:ext cx="8945575" cy="4069080"/>
          </a:xfrm>
          <a:prstGeom prst="rect">
            <a:avLst/>
          </a:prstGeom>
          <a:solidFill>
            <a:srgbClr val="E72F2A">
              <a:alpha val="9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03320" y="3154680"/>
            <a:ext cx="64008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3108960"/>
            <a:ext cx="7680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Gilroy"/>
              </a:rPr>
              <a:t>СИСТЕМНЫЙ ПОДХОД К ПРИВЛЕЧЕНИЮ КЛИЕНТОВ В ПОСЁЛОК БЕЗ МАРКЕТИНГОВОГО БЮДЖЕТА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4572000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ilroy"/>
              </a:rPr>
              <a:t>Система из трёх каналов: UGC-контент • агенты влияния • партнёрский трафик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544068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ilroy"/>
              </a:rPr>
              <a:t>ШКУРКО МАРИНА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Gilroy"/>
              </a:rPr>
              <a:t>управляющий партнёр, сооснователь Puzzle Realty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54406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Gilroy"/>
              </a:rPr>
              <a:t>Конференция «Маркетинг коттеджных посёлков», СПб / ЛО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64008" cy="101498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760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Gilroy"/>
              </a:rPr>
              <a:t>БЮДЖЕТ 0 ₽. ПОСЁЛОК ПРОДАВАТЬ НАДО.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5989320" cy="1097280"/>
          </a:xfrm>
          <a:prstGeom prst="roundRect">
            <a:avLst>
              <a:gd name="adj" fmla="val 13333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737360" cy="1097280"/>
          </a:xfrm>
          <a:prstGeom prst="roundRect">
            <a:avLst>
              <a:gd name="adj" fmla="val 13333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ilroy"/>
              </a:rPr>
              <a:t>244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10312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Gilroy"/>
              </a:rPr>
              <a:t>Конкуренция КП в ЛО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Gilroy"/>
              </a:rPr>
              <a:t>в продаже 244 коттеджных посёлка от застройщика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27832"/>
            <a:ext cx="5989320" cy="1097280"/>
          </a:xfrm>
          <a:prstGeom prst="roundRect">
            <a:avLst>
              <a:gd name="adj" fmla="val 13333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227832"/>
            <a:ext cx="1737360" cy="1097280"/>
          </a:xfrm>
          <a:prstGeom prst="roundRect">
            <a:avLst>
              <a:gd name="adj" fmla="val 13333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27832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ilroy"/>
              </a:rPr>
              <a:t>сезон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364991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Gilroy"/>
              </a:rPr>
              <a:t>Сезонность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Gilroy"/>
              </a:rPr>
              <a:t>короткий строительный сезон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9704"/>
            <a:ext cx="5989320" cy="1097280"/>
          </a:xfrm>
          <a:prstGeom prst="roundRect">
            <a:avLst>
              <a:gd name="adj" fmla="val 13333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489704"/>
            <a:ext cx="1737360" cy="1097280"/>
          </a:xfrm>
          <a:prstGeom prst="roundRect">
            <a:avLst>
              <a:gd name="adj" fmla="val 13333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489704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ilroy"/>
              </a:rPr>
              <a:t>CPL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626864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 i="0">
                <a:solidFill>
                  <a:srgbClr val="1A1A1A"/>
                </a:solidFill>
                <a:latin typeface="Gilroy"/>
              </a:rPr>
              <a:t>Digital: контекст, таргет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B6B6B"/>
                </a:solidFill>
                <a:latin typeface="Gilroy"/>
              </a:rPr>
              <a:t>стоимость лида растёт каждый год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5989320" cy="6858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5577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Gilroy"/>
              </a:rPr>
              <a:t>Что делать, если платный трафик недоступен, а продажи нужны?</a:t>
            </a:r>
          </a:p>
        </p:txBody>
      </p:sp>
      <p:pic>
        <p:nvPicPr>
          <p:cNvPr id="19" name="Picture 18" descr="map_lo.jpg"/>
          <p:cNvPicPr>
            <a:picLocks noChangeAspect="1"/>
          </p:cNvPicPr>
          <p:nvPr/>
        </p:nvPicPr>
        <p:blipFill>
          <a:blip r:embed="rId2"/>
          <a:srcRect l="27445" r="27445"/>
          <a:stretch>
            <a:fillRect/>
          </a:stretch>
        </p:blipFill>
        <p:spPr>
          <a:xfrm>
            <a:off x="6903720" y="502920"/>
            <a:ext cx="4800600" cy="598932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903720" y="502920"/>
            <a:ext cx="4800600" cy="5989320"/>
          </a:xfrm>
          <a:prstGeom prst="rect">
            <a:avLst/>
          </a:prstGeom>
          <a:noFill/>
          <a:ln w="28575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2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21207"/>
            <a:ext cx="64008" cy="1075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424160" cy="1021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Gilroy"/>
              </a:rPr>
              <a:t>НУЛЕВОЙ БЮДЖЕТ — ЭТО НЕ ОТСУТСТВИЕ МАРКЕТИНГА</a:t>
            </a:r>
          </a:p>
        </p:txBody>
      </p:sp>
      <p:sp>
        <p:nvSpPr>
          <p:cNvPr id="4" name="Oval 3"/>
          <p:cNvSpPr/>
          <p:nvPr/>
        </p:nvSpPr>
        <p:spPr>
          <a:xfrm>
            <a:off x="2148840" y="1737360"/>
            <a:ext cx="2743200" cy="2743200"/>
          </a:xfrm>
          <a:prstGeom prst="ellipse">
            <a:avLst/>
          </a:prstGeom>
          <a:solidFill>
            <a:srgbClr val="FFFFFF">
              <a:alpha val="18000"/>
            </a:srgbClr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48840" y="173736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ilroy"/>
              </a:rPr>
              <a:t>UGC-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ilroy"/>
              </a:rPr>
              <a:t>КОНТЕНТ</a:t>
            </a:r>
          </a:p>
        </p:txBody>
      </p:sp>
      <p:sp>
        <p:nvSpPr>
          <p:cNvPr id="6" name="Oval 5"/>
          <p:cNvSpPr/>
          <p:nvPr/>
        </p:nvSpPr>
        <p:spPr>
          <a:xfrm>
            <a:off x="4709160" y="1737360"/>
            <a:ext cx="2743200" cy="2743200"/>
          </a:xfrm>
          <a:prstGeom prst="ellipse">
            <a:avLst/>
          </a:prstGeom>
          <a:solidFill>
            <a:srgbClr val="FFFFFF">
              <a:alpha val="26000"/>
            </a:srgbClr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73736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ilroy"/>
              </a:rPr>
              <a:t>АГЕНТЫ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ilroy"/>
              </a:rPr>
              <a:t>ВЛИЯНИЯ</a:t>
            </a:r>
          </a:p>
        </p:txBody>
      </p:sp>
      <p:sp>
        <p:nvSpPr>
          <p:cNvPr id="8" name="Oval 7"/>
          <p:cNvSpPr/>
          <p:nvPr/>
        </p:nvSpPr>
        <p:spPr>
          <a:xfrm>
            <a:off x="7269480" y="1737360"/>
            <a:ext cx="2743200" cy="2743200"/>
          </a:xfrm>
          <a:prstGeom prst="ellipse">
            <a:avLst/>
          </a:prstGeom>
          <a:solidFill>
            <a:srgbClr val="FFFFFF">
              <a:alpha val="18000"/>
            </a:srgbClr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73736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ilroy"/>
              </a:rPr>
              <a:t>ПАРТНЁРСКИЙ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ilroy"/>
              </a:rPr>
              <a:t>ТРАФИК</a:t>
            </a:r>
          </a:p>
        </p:txBody>
      </p:sp>
      <p:sp>
        <p:nvSpPr>
          <p:cNvPr id="10" name="Freeform 9"/>
          <p:cNvSpPr/>
          <p:nvPr/>
        </p:nvSpPr>
        <p:spPr>
          <a:xfrm>
            <a:off x="3657600" y="4526280"/>
            <a:ext cx="4846320" cy="640080"/>
          </a:xfrm>
          <a:custGeom>
            <a:avLst/>
            <a:gdLst/>
            <a:ahLst/>
            <a:cxnLst/>
            <a:rect l="l" t="t" r="r" b="b"/>
            <a:pathLst>
              <a:path w="4846320" h="640080">
                <a:moveTo>
                  <a:pt x="0" y="0"/>
                </a:moveTo>
                <a:lnTo>
                  <a:pt x="4846320" y="0"/>
                </a:lnTo>
                <a:lnTo>
                  <a:pt x="3429000" y="640080"/>
                </a:lnTo>
                <a:lnTo>
                  <a:pt x="1417320" y="6400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459028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E72F2A"/>
                </a:solidFill>
                <a:latin typeface="Gilroy"/>
              </a:rPr>
              <a:t>+ CRM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ilroy"/>
              </a:rPr>
              <a:t>UGC-контент + Агенты влияния + Партнёрский трафик + CRM = управляемый поток лидов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Gilroy"/>
              </a:rPr>
              <a:t>Три канала, которые работают бесплатно — если выстроить их в систему.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6400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Gilroy"/>
              </a:rPr>
              <a:t>БЛОК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2651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ilroy"/>
              </a:rPr>
              <a:t>UGC-КОНТЕНТ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2651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Gilroy"/>
              </a:rPr>
              <a:t>Контент создаёт не маркетолог, а локация и клиенты</a:t>
            </a:r>
          </a:p>
        </p:txBody>
      </p:sp>
      <p:pic>
        <p:nvPicPr>
          <p:cNvPr id="7" name="Picture 6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852160"/>
            <a:ext cx="1828800" cy="7171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06240" y="685800"/>
            <a:ext cx="2514600" cy="4846320"/>
          </a:xfrm>
          <a:prstGeom prst="roundRect">
            <a:avLst>
              <a:gd name="adj" fmla="val 6545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91440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91440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ilroy"/>
              </a:rPr>
              <a:t>REELS / КЛИПЫ / СТОРИС*</a:t>
            </a:r>
          </a:p>
        </p:txBody>
      </p:sp>
      <p:sp>
        <p:nvSpPr>
          <p:cNvPr id="11" name="Diamond 10"/>
          <p:cNvSpPr/>
          <p:nvPr/>
        </p:nvSpPr>
        <p:spPr>
          <a:xfrm>
            <a:off x="4434840" y="2029967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65960"/>
            <a:ext cx="184708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Gilroy"/>
              </a:rPr>
              <a:t>Атмосфера: шум леса, вид из окна</a:t>
            </a:r>
          </a:p>
        </p:txBody>
      </p:sp>
      <p:sp>
        <p:nvSpPr>
          <p:cNvPr id="13" name="Diamond 12"/>
          <p:cNvSpPr/>
          <p:nvPr/>
        </p:nvSpPr>
        <p:spPr>
          <a:xfrm>
            <a:off x="4434840" y="2785617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721610"/>
            <a:ext cx="184708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Gilroy"/>
              </a:rPr>
              <a:t>Проверка объекта перед показом</a:t>
            </a:r>
          </a:p>
        </p:txBody>
      </p:sp>
      <p:sp>
        <p:nvSpPr>
          <p:cNvPr id="15" name="Diamond 14"/>
          <p:cNvSpPr/>
          <p:nvPr/>
        </p:nvSpPr>
        <p:spPr>
          <a:xfrm>
            <a:off x="4434840" y="3541267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3477260"/>
            <a:ext cx="184708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Gilroy"/>
              </a:rPr>
              <a:t>«Директор отвечает на вопросы»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685800"/>
            <a:ext cx="2514600" cy="4846320"/>
          </a:xfrm>
          <a:prstGeom prst="roundRect">
            <a:avLst>
              <a:gd name="adj" fmla="val 6545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86600" y="91440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91440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ilroy"/>
              </a:rPr>
              <a:t>МЕССЕНДЖЕРЫ</a:t>
            </a:r>
          </a:p>
        </p:txBody>
      </p:sp>
      <p:sp>
        <p:nvSpPr>
          <p:cNvPr id="20" name="Diamond 19"/>
          <p:cNvSpPr/>
          <p:nvPr/>
        </p:nvSpPr>
        <p:spPr>
          <a:xfrm>
            <a:off x="7132320" y="2029967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1965960"/>
            <a:ext cx="1847087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Gilroy"/>
              </a:rPr>
              <a:t>Telegram-канал «горячих» предложений</a:t>
            </a:r>
          </a:p>
        </p:txBody>
      </p:sp>
      <p:sp>
        <p:nvSpPr>
          <p:cNvPr id="22" name="Diamond 21"/>
          <p:cNvSpPr/>
          <p:nvPr/>
        </p:nvSpPr>
        <p:spPr>
          <a:xfrm>
            <a:off x="7132320" y="3023743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2959735"/>
            <a:ext cx="1847087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Gilroy"/>
              </a:rPr>
              <a:t>WhatsApp / Тг / Макс: поздравления с фото</a:t>
            </a:r>
          </a:p>
        </p:txBody>
      </p:sp>
      <p:sp>
        <p:nvSpPr>
          <p:cNvPr id="24" name="Diamond 23"/>
          <p:cNvSpPr/>
          <p:nvPr/>
        </p:nvSpPr>
        <p:spPr>
          <a:xfrm>
            <a:off x="7132320" y="4017518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3953510"/>
            <a:ext cx="184708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Gilroy"/>
              </a:rPr>
              <a:t>Рассылки только по согласию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685800"/>
            <a:ext cx="2514600" cy="4846320"/>
          </a:xfrm>
          <a:prstGeom prst="roundRect">
            <a:avLst>
              <a:gd name="adj" fmla="val 6545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84080" y="91440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91440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ilroy"/>
              </a:rPr>
              <a:t>ЭКСПЕРТНЫЙ ТЕКСТ</a:t>
            </a:r>
          </a:p>
        </p:txBody>
      </p:sp>
      <p:sp>
        <p:nvSpPr>
          <p:cNvPr id="29" name="Diamond 28"/>
          <p:cNvSpPr/>
          <p:nvPr/>
        </p:nvSpPr>
        <p:spPr>
          <a:xfrm>
            <a:off x="9829800" y="2029967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85832" y="1965960"/>
            <a:ext cx="184708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Gilroy"/>
              </a:rPr>
              <a:t>Как выбрать участок</a:t>
            </a:r>
          </a:p>
        </p:txBody>
      </p:sp>
      <p:sp>
        <p:nvSpPr>
          <p:cNvPr id="31" name="Diamond 30"/>
          <p:cNvSpPr/>
          <p:nvPr/>
        </p:nvSpPr>
        <p:spPr>
          <a:xfrm>
            <a:off x="9829800" y="2785617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5832" y="2721610"/>
            <a:ext cx="184708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Gilroy"/>
              </a:rPr>
              <a:t>Что проверить зимой</a:t>
            </a:r>
          </a:p>
        </p:txBody>
      </p:sp>
      <p:sp>
        <p:nvSpPr>
          <p:cNvPr id="33" name="Diamond 32"/>
          <p:cNvSpPr/>
          <p:nvPr/>
        </p:nvSpPr>
        <p:spPr>
          <a:xfrm>
            <a:off x="9829800" y="3541267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3477260"/>
            <a:ext cx="184708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Gilroy"/>
              </a:rPr>
              <a:t>Как проверить коммуникации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6035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Gilroy"/>
              </a:rPr>
              <a:t>* Instagram принадлежит Meta Platforms Inc., деятельность которой признана экстремистской и запрещена на территории РФ.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UGC РУКАМИ КЛИЕНТОВ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64008" cy="95402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607040" cy="89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Gilroy"/>
              </a:rPr>
              <a:t>ЛУЧШИЙ КОНТЕНТ — ТОТ, КОТОРЫЙ СНЯЛИ ВАШИ КЛИЕНТЫ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49240" cy="1920240"/>
          </a:xfrm>
          <a:prstGeom prst="roundRect">
            <a:avLst>
              <a:gd name="adj" fmla="val 7619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E72F2A"/>
                </a:solidFill>
                <a:latin typeface="Gilroy"/>
              </a:rPr>
              <a:t>1. Видео-интервью после сделки (1 минута)</a:t>
            </a:r>
          </a:p>
        </p:txBody>
      </p:sp>
      <p:sp>
        <p:nvSpPr>
          <p:cNvPr id="7" name="Diamond 6"/>
          <p:cNvSpPr/>
          <p:nvPr/>
        </p:nvSpPr>
        <p:spPr>
          <a:xfrm>
            <a:off x="822960" y="2258568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94560"/>
            <a:ext cx="4590288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ilroy"/>
              </a:rPr>
              <a:t>«Почему выбрали этот посёлок?»</a:t>
            </a:r>
          </a:p>
        </p:txBody>
      </p:sp>
      <p:sp>
        <p:nvSpPr>
          <p:cNvPr id="9" name="Diamond 8"/>
          <p:cNvSpPr/>
          <p:nvPr/>
        </p:nvSpPr>
        <p:spPr>
          <a:xfrm>
            <a:off x="822960" y="2574480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510472"/>
            <a:ext cx="4590288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ilroy"/>
              </a:rPr>
              <a:t>«Что понравилось в доме?»</a:t>
            </a:r>
          </a:p>
        </p:txBody>
      </p:sp>
      <p:sp>
        <p:nvSpPr>
          <p:cNvPr id="11" name="Diamond 10"/>
          <p:cNvSpPr/>
          <p:nvPr/>
        </p:nvSpPr>
        <p:spPr>
          <a:xfrm>
            <a:off x="822960" y="2890393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826385"/>
            <a:ext cx="4590288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ilroy"/>
              </a:rPr>
              <a:t>«Что бы сказали тем, кто сомневается?»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5349240" cy="2788920"/>
          </a:xfrm>
          <a:prstGeom prst="roundRect">
            <a:avLst>
              <a:gd name="adj" fmla="val 5245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E72F2A"/>
                </a:solidFill>
                <a:latin typeface="Gilroy"/>
              </a:rPr>
              <a:t>2. Контент из реальной жизни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B6B6B"/>
                </a:solidFill>
                <a:latin typeface="Gilroy"/>
              </a:rPr>
              <a:t>Фото и короткие видео клиентов:</a:t>
            </a:r>
          </a:p>
        </p:txBody>
      </p:sp>
      <p:sp>
        <p:nvSpPr>
          <p:cNvPr id="16" name="Diamond 15"/>
          <p:cNvSpPr/>
          <p:nvPr/>
        </p:nvSpPr>
        <p:spPr>
          <a:xfrm>
            <a:off x="822960" y="4727448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663440"/>
            <a:ext cx="4590288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первый день в новом доме</a:t>
            </a:r>
          </a:p>
        </p:txBody>
      </p:sp>
      <p:sp>
        <p:nvSpPr>
          <p:cNvPr id="18" name="Diamond 17"/>
          <p:cNvSpPr/>
          <p:nvPr/>
        </p:nvSpPr>
        <p:spPr>
          <a:xfrm>
            <a:off x="822960" y="4997323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933315"/>
            <a:ext cx="4590288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вид из окна и территория</a:t>
            </a:r>
          </a:p>
        </p:txBody>
      </p:sp>
      <p:sp>
        <p:nvSpPr>
          <p:cNvPr id="20" name="Diamond 19"/>
          <p:cNvSpPr/>
          <p:nvPr/>
        </p:nvSpPr>
        <p:spPr>
          <a:xfrm>
            <a:off x="822960" y="5267198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203190"/>
            <a:ext cx="4590288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прогулка по посёлку</a:t>
            </a:r>
          </a:p>
        </p:txBody>
      </p:sp>
      <p:sp>
        <p:nvSpPr>
          <p:cNvPr id="22" name="Diamond 21"/>
          <p:cNvSpPr/>
          <p:nvPr/>
        </p:nvSpPr>
        <p:spPr>
          <a:xfrm>
            <a:off x="822960" y="5537073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473065"/>
            <a:ext cx="4590288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обустройство дома и участка</a:t>
            </a:r>
          </a:p>
        </p:txBody>
      </p:sp>
      <p:sp>
        <p:nvSpPr>
          <p:cNvPr id="24" name="Diamond 23"/>
          <p:cNvSpPr/>
          <p:nvPr/>
        </p:nvSpPr>
        <p:spPr>
          <a:xfrm>
            <a:off x="822960" y="5806948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742940"/>
            <a:ext cx="4590288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впечатления после переезда</a:t>
            </a:r>
          </a:p>
        </p:txBody>
      </p:sp>
      <p:pic>
        <p:nvPicPr>
          <p:cNvPr id="26" name="Picture 25" descr="ugc_collage.jp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6172200" y="1600200"/>
            <a:ext cx="5486400" cy="30861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172200" y="4846320"/>
            <a:ext cx="5486400" cy="164592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846320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Gilroy"/>
              </a:rPr>
              <a:t>Стоимость такого контента — 0 ₽.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Gilroy"/>
              </a:rPr>
              <a:t>Конверсия — выше, чем у рекламы.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FAD5D4"/>
                </a:solidFill>
                <a:latin typeface="Gilroy"/>
              </a:rPr>
              <a:t>Использовать — только с разрешения клиента.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uard_post.jpg"/>
          <p:cNvPicPr>
            <a:picLocks noChangeAspect="1"/>
          </p:cNvPicPr>
          <p:nvPr/>
        </p:nvPicPr>
        <p:blipFill>
          <a:blip r:embed="rId2"/>
          <a:srcRect l="45631" r="1631"/>
          <a:stretch>
            <a:fillRect/>
          </a:stretch>
        </p:blipFill>
        <p:spPr>
          <a:xfrm>
            <a:off x="6766560" y="0"/>
            <a:ext cx="542513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4747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БЛОК 2 · АГЕНТЫ ВЛИЯНИЯ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04088"/>
            <a:ext cx="64008" cy="89306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539496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Gilroy"/>
              </a:rPr>
              <a:t>ХРАНИТЕЛИ ПОСЁЛКОВ — ВАШИ ВНЕШТАТНЫЕ АГЕНТЫ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5852160" cy="868680"/>
          </a:xfrm>
          <a:prstGeom prst="roundRect">
            <a:avLst>
              <a:gd name="adj" fmla="val 14736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532888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3288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Gilroy"/>
              </a:rPr>
              <a:t>КТО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331720"/>
            <a:ext cx="3886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ilroy"/>
              </a:rPr>
              <a:t>охрана, коменданты, управляющие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5852160" cy="868680"/>
          </a:xfrm>
          <a:prstGeom prst="roundRect">
            <a:avLst>
              <a:gd name="adj" fmla="val 14736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538728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387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Gilroy"/>
              </a:rPr>
              <a:t>ЧТО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337560"/>
            <a:ext cx="3886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ilroy"/>
              </a:rPr>
              <a:t>визитки + небольшой гостинец (кофе, конфеты)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5852160" cy="868680"/>
          </a:xfrm>
          <a:prstGeom prst="roundRect">
            <a:avLst>
              <a:gd name="adj" fmla="val 14736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4544568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4456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Gilroy"/>
              </a:rPr>
              <a:t>МОТИВАЦИЯ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343400"/>
            <a:ext cx="3886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ilroy"/>
              </a:rPr>
              <a:t>10% от вознаграждения — озвучить сумму в рублях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5852160" cy="868680"/>
          </a:xfrm>
          <a:prstGeom prst="roundRect">
            <a:avLst>
              <a:gd name="adj" fmla="val 14736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5550407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50407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Gilroy"/>
              </a:rPr>
              <a:t>СКРИПТ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349240"/>
            <a:ext cx="3886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ilroy"/>
              </a:rPr>
              <a:t>«Если кто-то спросит, не продаётся ли дом рядом — дайте мою визитку»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507492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86600" y="5074920"/>
            <a:ext cx="109728" cy="146304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230368"/>
            <a:ext cx="1554480" cy="60730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06640" y="57607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Gilroy"/>
              </a:rPr>
              <a:t>Имя Фамилия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Gilroy"/>
              </a:rPr>
              <a:t>+7 (___) ___-__-__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rest.jpg"/>
          <p:cNvPicPr>
            <a:picLocks noChangeAspect="1"/>
          </p:cNvPicPr>
          <p:nvPr/>
        </p:nvPicPr>
        <p:blipFill>
          <a:blip r:embed="rId2"/>
          <a:srcRect l="37473" r="37473"/>
          <a:stretch>
            <a:fillRect/>
          </a:stretch>
        </p:blipFill>
        <p:spPr>
          <a:xfrm>
            <a:off x="0" y="0"/>
            <a:ext cx="228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1645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МЕСТНЫЕ ЧАТЫ И СОСЕДСКИЙ МАРКЕТИНГ</a:t>
            </a:r>
          </a:p>
        </p:txBody>
      </p:sp>
      <p:sp>
        <p:nvSpPr>
          <p:cNvPr id="4" name="Rectangle 3"/>
          <p:cNvSpPr/>
          <p:nvPr/>
        </p:nvSpPr>
        <p:spPr>
          <a:xfrm>
            <a:off x="2670048" y="521207"/>
            <a:ext cx="64008" cy="58826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548640"/>
            <a:ext cx="8686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Gilroy"/>
              </a:rPr>
              <a:t>СНАЧАЛА ПОЛЬЗА. ПОТОМ ПРОДАЖА.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737360"/>
            <a:ext cx="4526280" cy="31546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360" y="19202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9202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Gilroy"/>
              </a:rPr>
              <a:t>ЧАТЫ ПОСЁЛКОВ</a:t>
            </a:r>
          </a:p>
        </p:txBody>
      </p:sp>
      <p:sp>
        <p:nvSpPr>
          <p:cNvPr id="9" name="Diamond 8"/>
          <p:cNvSpPr/>
          <p:nvPr/>
        </p:nvSpPr>
        <p:spPr>
          <a:xfrm>
            <a:off x="2926080" y="2715768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2651760"/>
            <a:ext cx="3767328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Gilroy"/>
              </a:rPr>
              <a:t>Не рекламироваться в лоб</a:t>
            </a:r>
          </a:p>
        </p:txBody>
      </p:sp>
      <p:sp>
        <p:nvSpPr>
          <p:cNvPr id="11" name="Diamond 10"/>
          <p:cNvSpPr/>
          <p:nvPr/>
        </p:nvSpPr>
        <p:spPr>
          <a:xfrm>
            <a:off x="2926080" y="3065017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3001009"/>
            <a:ext cx="3767328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Gilroy"/>
              </a:rPr>
              <a:t>Подсказать: стройматериалы, трактор, сантехник</a:t>
            </a:r>
          </a:p>
        </p:txBody>
      </p:sp>
      <p:sp>
        <p:nvSpPr>
          <p:cNvPr id="13" name="Diamond 12"/>
          <p:cNvSpPr/>
          <p:nvPr/>
        </p:nvSpPr>
        <p:spPr>
          <a:xfrm>
            <a:off x="2926080" y="3636517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3572509"/>
            <a:ext cx="3767328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Gilroy"/>
              </a:rPr>
              <a:t>Стать авторитетом → сами спросят про участок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737360"/>
            <a:ext cx="4343400" cy="3154680"/>
          </a:xfrm>
          <a:prstGeom prst="roundRect">
            <a:avLst>
              <a:gd name="adj" fmla="val 5217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35240" y="19202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920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Gilroy"/>
              </a:rPr>
              <a:t>СОСЕДСКИЙ МАРКЕТИНГ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606040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Gilroy"/>
              </a:rPr>
              <a:t>Листовки в почтовые ящики / журнал Puzzle 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291840"/>
            <a:ext cx="3886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1">
                <a:solidFill>
                  <a:srgbClr val="C4221E"/>
                </a:solidFill>
                <a:latin typeface="Gilroy"/>
              </a:rPr>
              <a:t>«Хотите, чтобы рядом поселились приятные люди? Посоветуйте наш посёлок друзьям — вам 10%»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29768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Gilroy"/>
              </a:rPr>
              <a:t>Люди заинтересованы в хороших соседях и деньгах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5166360"/>
            <a:ext cx="9539935" cy="169164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5166360"/>
            <a:ext cx="841248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ilroy"/>
              </a:rPr>
              <a:t>Сосед — самый мотивированный продавец вашего посёлка.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0000" b="1" i="0">
                <a:solidFill>
                  <a:srgbClr val="FFFFFF"/>
                </a:solidFill>
                <a:latin typeface="Gilroy"/>
              </a:rPr>
              <a:t>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Gilroy"/>
              </a:rPr>
              <a:t>10% — НЕ СКИДКА. ЭТО ИНСТРУМЕНТ.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FAD5D4"/>
                </a:solidFill>
                <a:latin typeface="Gilroy"/>
              </a:rPr>
              <a:t>Программа лояльности</a:t>
            </a:r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852160"/>
            <a:ext cx="1828800" cy="7171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480560" y="594360"/>
            <a:ext cx="7269480" cy="1874519"/>
          </a:xfrm>
          <a:prstGeom prst="roundRect">
            <a:avLst>
              <a:gd name="adj" fmla="val 878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82296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8229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ilro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777240"/>
            <a:ext cx="5852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E72F2A"/>
                </a:solidFill>
                <a:latin typeface="Gilroy"/>
              </a:rPr>
              <a:t>Скрипт для клиента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«Иван Иванович, если друзья захотят переехать за город — привезите их ко мне. Даже если сделка через год — 10% от нашего вознаграждения».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651760"/>
            <a:ext cx="7269480" cy="1874519"/>
          </a:xfrm>
          <a:prstGeom prst="roundRect">
            <a:avLst>
              <a:gd name="adj" fmla="val 878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09160" y="288036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8803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ilro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834640"/>
            <a:ext cx="3794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E72F2A"/>
                </a:solidFill>
                <a:latin typeface="Gilroy"/>
              </a:rPr>
              <a:t>Digital-открытки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Не просто картинка: голосовое или видео-поздравление лично от менеджера — повод напомнить о себе.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2926079"/>
            <a:ext cx="1737360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75520" y="3063240"/>
            <a:ext cx="1463040" cy="64008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30632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Gilroy"/>
              </a:rPr>
              <a:t>С праздником!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7947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6B6B6B"/>
                </a:solidFill>
                <a:latin typeface="Gilroy"/>
              </a:rPr>
              <a:t>▶  видео от менеджера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4709160"/>
            <a:ext cx="7269480" cy="1874519"/>
          </a:xfrm>
          <a:prstGeom prst="roundRect">
            <a:avLst>
              <a:gd name="adj" fmla="val 878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09160" y="493776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4937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ilro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892040"/>
            <a:ext cx="3794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E72F2A"/>
                </a:solidFill>
                <a:latin typeface="Gilroy"/>
              </a:rPr>
              <a:t>Фиксация в CRM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Лид закреплён за тем, кто привёл. Выплата — быстро, без сокращений.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4983480"/>
            <a:ext cx="1737360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75520" y="5120640"/>
            <a:ext cx="1463040" cy="146304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75520" y="5367528"/>
            <a:ext cx="1463040" cy="146304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20" y="5614416"/>
            <a:ext cx="1463040" cy="146304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75520" y="589788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5897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Gilroy"/>
              </a:rPr>
              <a:t>закреплён за: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47472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БЛОК 3 · ПАРТНЁРСКИЙ ТРАФИК (B2B)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04088"/>
            <a:ext cx="64008" cy="92354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749807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Gilroy"/>
              </a:rPr>
              <a:t>ГОРОДСКИЕ АГЕНТЫ — ИСТОЧНИК КЛИЕНТОВ, КОТОРЫЕ УЖЕ ХОТЯТ КУПИТЬ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7680960" cy="1051560"/>
          </a:xfrm>
          <a:prstGeom prst="roundRect">
            <a:avLst>
              <a:gd name="adj" fmla="val 13043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Gilroy"/>
              </a:rPr>
              <a:t>ПАРТНЁРСКАЯ ПАМЯТКА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286000"/>
            <a:ext cx="52120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контакты + УТП (10% от вознаграждения) + фраза «вы получаете 10% агентских без участия в сделке»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7680960" cy="1051560"/>
          </a:xfrm>
          <a:prstGeom prst="roundRect">
            <a:avLst>
              <a:gd name="adj" fmla="val 13043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Gilroy"/>
              </a:rPr>
              <a:t>КАНАЛЫ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474720"/>
            <a:ext cx="52120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лично в 5–10 агентств • профессиональные чаты • напоминание на городских показах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7680960" cy="1051560"/>
          </a:xfrm>
          <a:prstGeom prst="roundRect">
            <a:avLst>
              <a:gd name="adj" fmla="val 13043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937759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37759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Gilroy"/>
              </a:rPr>
              <a:t>ВЗАИМНОСТЬ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663440"/>
            <a:ext cx="52120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вы отдаёте «городских» клиентов — они загородных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97880"/>
            <a:ext cx="7680960" cy="77724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Gilroy"/>
              </a:rPr>
              <a:t>Сарафанное радио среди коллег работает быстрее, чем любой платный лид.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640080"/>
            <a:ext cx="2971800" cy="603504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22225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777240"/>
            <a:ext cx="2697480" cy="123444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777240"/>
            <a:ext cx="269748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ilroy"/>
              </a:rPr>
              <a:t>ПАРТНЁРСКАЯ ПАМЯТКА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286000"/>
            <a:ext cx="2423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400" b="1" i="0">
                <a:solidFill>
                  <a:srgbClr val="E72F2A"/>
                </a:solidFill>
                <a:latin typeface="Gilroy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611880"/>
            <a:ext cx="2423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Gilroy"/>
              </a:rPr>
              <a:t>агентских без участия в сделке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4754880"/>
            <a:ext cx="2148840" cy="27432"/>
          </a:xfrm>
          <a:prstGeom prst="rect">
            <a:avLst/>
          </a:prstGeom>
          <a:solidFill>
            <a:srgbClr val="FAD5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493776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Gilroy"/>
              </a:rPr>
              <a:t>Ваше имя • телефон • Telegram</a:t>
            </a:r>
          </a:p>
        </p:txBody>
      </p:sp>
      <p:pic>
        <p:nvPicPr>
          <p:cNvPr id="26" name="Picture 25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5760720"/>
            <a:ext cx="1508760" cy="5894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64008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ilroy"/>
              </a:rPr>
              <a:t>РАБОТАЕМ КАК «СВОЙ ПАРЕНЬ» НА ТЕРРИТОРИИ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72F2A"/>
                </a:solidFill>
                <a:latin typeface="Gilroy"/>
              </a:rPr>
              <a:t>КОЛЛАБОРАЦИИ С БИЗНЕСАМИ ВОКРУГ</a:t>
            </a:r>
          </a:p>
        </p:txBody>
      </p:sp>
      <p:pic>
        <p:nvPicPr>
          <p:cNvPr id="6" name="Picture 5" descr="collab_a.jpg"/>
          <p:cNvPicPr>
            <a:picLocks noChangeAspect="1"/>
          </p:cNvPicPr>
          <p:nvPr/>
        </p:nvPicPr>
        <p:blipFill>
          <a:blip r:embed="rId2"/>
          <a:srcRect t="58054" b="8054"/>
          <a:stretch>
            <a:fillRect/>
          </a:stretch>
        </p:blipFill>
        <p:spPr>
          <a:xfrm>
            <a:off x="548640" y="2103120"/>
            <a:ext cx="5120640" cy="2148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43484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E72F2A"/>
                </a:solidFill>
                <a:latin typeface="Gilroy"/>
              </a:rPr>
              <a:t>КАФЕ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443484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4434840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E72F2A"/>
                </a:solidFill>
                <a:latin typeface="Gilroy"/>
              </a:rPr>
              <a:t>БАННЫЙ КОМПЛЕКС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37759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937759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E72F2A"/>
                </a:solidFill>
                <a:latin typeface="Gilroy"/>
              </a:rPr>
              <a:t>МАГАЗИН ДЛЯ САДА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937759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4937759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E72F2A"/>
                </a:solidFill>
                <a:latin typeface="Gilroy"/>
              </a:rPr>
              <a:t>ДЕТСКИЙ КЛУБ</a:t>
            </a:r>
          </a:p>
        </p:txBody>
      </p:sp>
      <p:sp>
        <p:nvSpPr>
          <p:cNvPr id="15" name="Diamond 14"/>
          <p:cNvSpPr/>
          <p:nvPr/>
        </p:nvSpPr>
        <p:spPr>
          <a:xfrm>
            <a:off x="548640" y="5596128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532120"/>
            <a:ext cx="4864607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Вы рекомендуете их клиентам после показов</a:t>
            </a:r>
          </a:p>
        </p:txBody>
      </p:sp>
      <p:sp>
        <p:nvSpPr>
          <p:cNvPr id="17" name="Diamond 16"/>
          <p:cNvSpPr/>
          <p:nvPr/>
        </p:nvSpPr>
        <p:spPr>
          <a:xfrm>
            <a:off x="548640" y="5858065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794057"/>
            <a:ext cx="4864607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Они размещают ваши визитки / дают промокод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6459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72F2A"/>
                </a:solidFill>
                <a:latin typeface="Gilroy"/>
              </a:rPr>
              <a:t>НАРУЖКА НА ДВА ФРОНТА</a:t>
            </a:r>
          </a:p>
        </p:txBody>
      </p:sp>
      <p:pic>
        <p:nvPicPr>
          <p:cNvPr id="20" name="Picture 19" descr="collab_b.jpg"/>
          <p:cNvPicPr>
            <a:picLocks noChangeAspect="1"/>
          </p:cNvPicPr>
          <p:nvPr/>
        </p:nvPicPr>
        <p:blipFill>
          <a:blip r:embed="rId3"/>
          <a:srcRect l="316" r="316"/>
          <a:stretch>
            <a:fillRect/>
          </a:stretch>
        </p:blipFill>
        <p:spPr>
          <a:xfrm>
            <a:off x="6126480" y="2103120"/>
            <a:ext cx="2697480" cy="4434840"/>
          </a:xfrm>
          <a:prstGeom prst="rect">
            <a:avLst/>
          </a:prstGeom>
        </p:spPr>
      </p:pic>
      <p:pic>
        <p:nvPicPr>
          <p:cNvPr id="21" name="Picture 20" descr="collab_c.jpg"/>
          <p:cNvPicPr>
            <a:picLocks noChangeAspect="1"/>
          </p:cNvPicPr>
          <p:nvPr/>
        </p:nvPicPr>
        <p:blipFill>
          <a:blip r:embed="rId4"/>
          <a:srcRect t="48826" b="24826"/>
          <a:stretch>
            <a:fillRect/>
          </a:stretch>
        </p:blipFill>
        <p:spPr>
          <a:xfrm>
            <a:off x="9006840" y="2103120"/>
            <a:ext cx="2697480" cy="21031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006840" y="434340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434840"/>
            <a:ext cx="24231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E72F2A"/>
                </a:solidFill>
                <a:latin typeface="Gilroy"/>
              </a:rPr>
              <a:t>Дорхентеры — для продавцов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Gilroy"/>
              </a:rPr>
              <a:t>«Хотите выгодно продать дом? Агентское вознаграждение — за наш счёт» + 10% соседям за рекомендацию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5760720"/>
            <a:ext cx="2423160" cy="658368"/>
          </a:xfrm>
          <a:prstGeom prst="roundRect">
            <a:avLst>
              <a:gd name="adj" fmla="val 13888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5760720"/>
            <a:ext cx="2240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72F2A"/>
                </a:solidFill>
                <a:latin typeface="Gilroy"/>
              </a:rPr>
              <a:t>Баннеры — для покупателей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Gilroy"/>
              </a:rPr>
              <a:t>оффер + срочность + съёмный QR + стрелка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1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СИСТЕМА: ЧЕК-ЛИСТ МЕНЕДЖЕРА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612647"/>
            <a:ext cx="64008" cy="58826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Gilroy"/>
              </a:rPr>
              <a:t>ТРИ КАНАЛА — ОДНА СИСТЕМА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532120" cy="2331720"/>
          </a:xfrm>
          <a:prstGeom prst="roundRect">
            <a:avLst>
              <a:gd name="adj" fmla="val 7058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ilro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20240"/>
            <a:ext cx="4297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Gilroy"/>
              </a:rPr>
              <a:t>Контент-план</a:t>
            </a:r>
            <a:r>
              <a:rPr sz="1200" b="1" i="0">
                <a:solidFill>
                  <a:srgbClr val="E72F2A"/>
                </a:solidFill>
                <a:latin typeface="Gilroy"/>
              </a:rPr>
              <a:t>  Digital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59" y="27249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6974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Снять 3 видео (атмосфера, объект, совет)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304495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017520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Разместить в соцсетях, Telegram и на видеоплатформах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56616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3538728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Рассылка в WhatsApp с открыткой и ссылкой на видео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691640"/>
            <a:ext cx="5532120" cy="2331720"/>
          </a:xfrm>
          <a:prstGeom prst="roundRect">
            <a:avLst>
              <a:gd name="adj" fmla="val 7058"/>
            </a:avLst>
          </a:prstGeom>
          <a:solidFill>
            <a:srgbClr val="F4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59" y="192024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19202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ilroy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920240"/>
            <a:ext cx="4297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Gilroy"/>
              </a:rPr>
              <a:t>Агенты влияния</a:t>
            </a:r>
            <a:r>
              <a:rPr sz="1200" b="1" i="0">
                <a:solidFill>
                  <a:srgbClr val="E72F2A"/>
                </a:solidFill>
                <a:latin typeface="Gilroy"/>
              </a:rPr>
              <a:t>  Offline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79" y="27249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697480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Объехать 3 посёлка, договориться с охраной / комендантами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79" y="32461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21868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Вступить в 2 местных чата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06240"/>
            <a:ext cx="5532120" cy="2331720"/>
          </a:xfrm>
          <a:prstGeom prst="roundRect">
            <a:avLst>
              <a:gd name="adj" fmla="val 7058"/>
            </a:avLst>
          </a:prstGeom>
          <a:solidFill>
            <a:srgbClr val="F4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443484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ilroy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434840"/>
            <a:ext cx="4297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Gilroy"/>
              </a:rPr>
              <a:t>Работа с клиентами</a:t>
            </a:r>
            <a:r>
              <a:rPr sz="1200" b="1" i="0">
                <a:solidFill>
                  <a:srgbClr val="E72F2A"/>
                </a:solidFill>
                <a:latin typeface="Gilroy"/>
              </a:rPr>
              <a:t>  CRM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" y="52395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19" y="5212079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Обзвонить 5 клиентов, поздравить, напомнить про 10%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" y="576072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19" y="573328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Зафиксировать партнёров в таблице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4206240"/>
            <a:ext cx="5532120" cy="2331720"/>
          </a:xfrm>
          <a:prstGeom prst="roundRect">
            <a:avLst>
              <a:gd name="adj" fmla="val 7058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37959" y="443484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59" y="44348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ilroy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434840"/>
            <a:ext cx="4297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Gilroy"/>
              </a:rPr>
              <a:t>Физический якорь</a:t>
            </a:r>
            <a:r>
              <a:rPr sz="1200" b="1" i="0">
                <a:solidFill>
                  <a:srgbClr val="E72F2A"/>
                </a:solidFill>
                <a:latin typeface="Gilroy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583679" y="52395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79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На каждую встречу — журнал Puzzle Media с подписанной визиткой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1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ЭКОНОМИКА: СТОИМОСТЬ ЛИДА 0 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612647"/>
            <a:ext cx="64008" cy="107594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1021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Gilroy"/>
              </a:rPr>
              <a:t>СКОЛЬКО СТОИТ ЛИД БЕЗ БЮДЖЕТА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33172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Gilroy"/>
              </a:rPr>
              <a:t>КАНАЛ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783080"/>
            <a:ext cx="251460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Gilroy"/>
              </a:rPr>
              <a:t>СТОИМОСТЬ ЛИДА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783080"/>
            <a:ext cx="196596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783080"/>
            <a:ext cx="16916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Gilroy"/>
              </a:rPr>
              <a:t>ИСТОЧНИК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2331720" cy="822960"/>
          </a:xfrm>
          <a:prstGeom prst="rect">
            <a:avLst/>
          </a:prstGeom>
          <a:solidFill>
            <a:srgbClr val="F4F4F6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6B6B6B"/>
                </a:solidFill>
                <a:latin typeface="Gilroy"/>
              </a:rPr>
              <a:t>Контекст / таргет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331720"/>
            <a:ext cx="2514600" cy="822960"/>
          </a:xfrm>
          <a:prstGeom prst="rect">
            <a:avLst/>
          </a:prstGeom>
          <a:solidFill>
            <a:srgbClr val="F4F4F6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33172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B6B6B"/>
                </a:solidFill>
                <a:latin typeface="Gilroy"/>
              </a:rPr>
              <a:t>от 3 000 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331720"/>
            <a:ext cx="1965960" cy="822960"/>
          </a:xfrm>
          <a:prstGeom prst="rect">
            <a:avLst/>
          </a:prstGeom>
          <a:solidFill>
            <a:srgbClr val="F4F4F6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331720"/>
            <a:ext cx="16916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6B"/>
                </a:solidFill>
                <a:latin typeface="Gilroy"/>
              </a:rPr>
              <a:t>Платно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54679"/>
            <a:ext cx="2331720" cy="82296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54679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Gilroy"/>
              </a:rPr>
              <a:t>UGC-контент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3154679"/>
            <a:ext cx="2514600" cy="82296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15467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72F2A"/>
                </a:solidFill>
                <a:latin typeface="Gilroy"/>
              </a:rPr>
              <a:t>0 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3154679"/>
            <a:ext cx="1965960" cy="82296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3154679"/>
            <a:ext cx="16916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Свои силы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77639"/>
            <a:ext cx="2331720" cy="82296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77639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Gilroy"/>
              </a:rPr>
              <a:t>Агенты влияния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3977639"/>
            <a:ext cx="2514600" cy="82296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397763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72F2A"/>
                </a:solidFill>
                <a:latin typeface="Gilroy"/>
              </a:rPr>
              <a:t>0 ₽ (оплата по факту сделки)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3977639"/>
            <a:ext cx="1965960" cy="82296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3977639"/>
            <a:ext cx="16916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Охрана, соседи, чаты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00600"/>
            <a:ext cx="2331720" cy="82296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8006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Gilroy"/>
              </a:rPr>
              <a:t>Партнёрский трафик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4800600"/>
            <a:ext cx="2514600" cy="82296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48006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72F2A"/>
                </a:solidFill>
                <a:latin typeface="Gilroy"/>
              </a:rPr>
              <a:t>0 ₽ (10% от сделки)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4800600"/>
            <a:ext cx="1965960" cy="82296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4800600"/>
            <a:ext cx="16916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Агентства, бизнесы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89320"/>
            <a:ext cx="6812279" cy="68580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989320"/>
            <a:ext cx="63550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ilroy"/>
              </a:rPr>
              <a:t>Воронка: контент + агенты + партнёры → лиды → показы → сделки.</a:t>
            </a:r>
          </a:p>
        </p:txBody>
      </p:sp>
      <p:sp>
        <p:nvSpPr>
          <p:cNvPr id="37" name="Freeform 36"/>
          <p:cNvSpPr/>
          <p:nvPr/>
        </p:nvSpPr>
        <p:spPr>
          <a:xfrm>
            <a:off x="8138160" y="1783080"/>
            <a:ext cx="3611880" cy="1024128"/>
          </a:xfrm>
          <a:custGeom>
            <a:avLst/>
            <a:gdLst/>
            <a:ahLst/>
            <a:cxnLst/>
            <a:rect l="l" t="t" r="r" b="b"/>
            <a:pathLst>
              <a:path w="3611880" h="1024128">
                <a:moveTo>
                  <a:pt x="0" y="0"/>
                </a:moveTo>
                <a:lnTo>
                  <a:pt x="3611880" y="0"/>
                </a:lnTo>
                <a:lnTo>
                  <a:pt x="3268980" y="1024128"/>
                </a:lnTo>
                <a:lnTo>
                  <a:pt x="342900" y="1024128"/>
                </a:lnTo>
                <a:close/>
              </a:path>
            </a:pathLst>
          </a:custGeom>
          <a:solidFill>
            <a:srgbClr val="E72F2A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1783080"/>
            <a:ext cx="306324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Gilroy"/>
              </a:rPr>
              <a:t>Контент + агенты + партнёры</a:t>
            </a:r>
          </a:p>
        </p:txBody>
      </p:sp>
      <p:sp>
        <p:nvSpPr>
          <p:cNvPr id="39" name="Freeform 38"/>
          <p:cNvSpPr/>
          <p:nvPr/>
        </p:nvSpPr>
        <p:spPr>
          <a:xfrm>
            <a:off x="8481060" y="2852928"/>
            <a:ext cx="2926080" cy="1024128"/>
          </a:xfrm>
          <a:custGeom>
            <a:avLst/>
            <a:gdLst/>
            <a:ahLst/>
            <a:cxnLst/>
            <a:rect l="l" t="t" r="r" b="b"/>
            <a:pathLst>
              <a:path w="2926080" h="1024128">
                <a:moveTo>
                  <a:pt x="0" y="0"/>
                </a:moveTo>
                <a:lnTo>
                  <a:pt x="2926080" y="0"/>
                </a:lnTo>
                <a:lnTo>
                  <a:pt x="2583180" y="1024128"/>
                </a:lnTo>
                <a:lnTo>
                  <a:pt x="342900" y="1024128"/>
                </a:lnTo>
                <a:close/>
              </a:path>
            </a:pathLst>
          </a:custGeom>
          <a:solidFill>
            <a:srgbClr val="C4221E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55380" y="2852928"/>
            <a:ext cx="237744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ЛИДЫ</a:t>
            </a:r>
          </a:p>
        </p:txBody>
      </p:sp>
      <p:sp>
        <p:nvSpPr>
          <p:cNvPr id="41" name="Freeform 40"/>
          <p:cNvSpPr/>
          <p:nvPr/>
        </p:nvSpPr>
        <p:spPr>
          <a:xfrm>
            <a:off x="8823960" y="3922776"/>
            <a:ext cx="2240280" cy="1024128"/>
          </a:xfrm>
          <a:custGeom>
            <a:avLst/>
            <a:gdLst/>
            <a:ahLst/>
            <a:cxnLst/>
            <a:rect l="l" t="t" r="r" b="b"/>
            <a:pathLst>
              <a:path w="2240280" h="1024128">
                <a:moveTo>
                  <a:pt x="0" y="0"/>
                </a:moveTo>
                <a:lnTo>
                  <a:pt x="2240280" y="0"/>
                </a:lnTo>
                <a:lnTo>
                  <a:pt x="1897380" y="1024128"/>
                </a:lnTo>
                <a:lnTo>
                  <a:pt x="342900" y="1024128"/>
                </a:lnTo>
                <a:close/>
              </a:path>
            </a:pathLst>
          </a:custGeom>
          <a:solidFill>
            <a:srgbClr val="9C1A17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3922776"/>
            <a:ext cx="169164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ПОКАЗЫ</a:t>
            </a:r>
          </a:p>
        </p:txBody>
      </p:sp>
      <p:sp>
        <p:nvSpPr>
          <p:cNvPr id="43" name="Freeform 42"/>
          <p:cNvSpPr/>
          <p:nvPr/>
        </p:nvSpPr>
        <p:spPr>
          <a:xfrm>
            <a:off x="9166860" y="4992624"/>
            <a:ext cx="1554480" cy="1024128"/>
          </a:xfrm>
          <a:custGeom>
            <a:avLst/>
            <a:gdLst/>
            <a:ahLst/>
            <a:cxnLst/>
            <a:rect l="l" t="t" r="r" b="b"/>
            <a:pathLst>
              <a:path w="1554480" h="1024128">
                <a:moveTo>
                  <a:pt x="0" y="0"/>
                </a:moveTo>
                <a:lnTo>
                  <a:pt x="1554480" y="0"/>
                </a:lnTo>
                <a:lnTo>
                  <a:pt x="1211580" y="1024128"/>
                </a:lnTo>
                <a:lnTo>
                  <a:pt x="342900" y="1024128"/>
                </a:lnTo>
                <a:close/>
              </a:path>
            </a:pathLst>
          </a:custGeom>
          <a:solidFill>
            <a:srgbClr val="1A1A1A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41180" y="4992624"/>
            <a:ext cx="100584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СДЕЛКИ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ilroy"/>
              </a:rPr>
              <a:t>ФОРМУЛА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Gilroy"/>
              </a:rPr>
              <a:t>UGC-КОНТЕНТ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78608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Gilroy"/>
              </a:rPr>
              <a:t>+ АГЕНТЫ ВЛИЯНИЯ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28415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Gilroy"/>
              </a:rPr>
              <a:t>+ ПАРТНЁРСКИЙ ТРАФИК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78224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Gilroy"/>
              </a:rPr>
              <a:t>+ CRM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73752"/>
            <a:ext cx="5394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02352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Gilroy"/>
              </a:rPr>
              <a:t>= ПОТОК КЛИЕНТОВ БЕЗ БЮДЖЕТА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594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72F2A"/>
                </a:solidFill>
                <a:latin typeface="Gilroy"/>
              </a:rPr>
              <a:t>ВЫВОДЫ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234440"/>
            <a:ext cx="4526280" cy="1508760"/>
          </a:xfrm>
          <a:prstGeom prst="roundRect">
            <a:avLst>
              <a:gd name="adj" fmla="val 10909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371600"/>
            <a:ext cx="914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E72F2A"/>
                </a:solidFill>
                <a:latin typeface="Gilroy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Gilroy"/>
              </a:rPr>
              <a:t>Нулевой бюджет — это система, а не разовые акции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926080"/>
            <a:ext cx="4526280" cy="1508760"/>
          </a:xfrm>
          <a:prstGeom prst="roundRect">
            <a:avLst>
              <a:gd name="adj" fmla="val 10909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3063240"/>
            <a:ext cx="914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E72F2A"/>
                </a:solidFill>
                <a:latin typeface="Gilro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063240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Gilroy"/>
              </a:rPr>
              <a:t>Каждый канал усиливает другой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4617720"/>
            <a:ext cx="4526280" cy="1508760"/>
          </a:xfrm>
          <a:prstGeom prst="roundRect">
            <a:avLst>
              <a:gd name="adj" fmla="val 10909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4754880"/>
            <a:ext cx="914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E72F2A"/>
                </a:solidFill>
                <a:latin typeface="Gilro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754880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Gilroy"/>
              </a:rPr>
              <a:t>Главное — фиксировать и быстро платить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autumn.jp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>
              <a:alpha val="6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2468880" cy="9681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600200"/>
            <a:ext cx="64008" cy="54864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Gilroy"/>
              </a:rPr>
              <a:t>МАТЕРИАЛЫ И КОНТАКТЫ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514600"/>
            <a:ext cx="365760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2788920"/>
            <a:ext cx="3108960" cy="3108960"/>
          </a:xfrm>
          <a:prstGeom prst="roundRect">
            <a:avLst>
              <a:gd name="adj" fmla="val 2352"/>
            </a:avLst>
          </a:prstGeom>
          <a:noFill/>
          <a:ln w="19050">
            <a:solidFill>
              <a:srgbClr val="E72F2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78892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Gilroy"/>
              </a:rPr>
              <a:t>вставить QR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Gilroy"/>
              </a:rPr>
              <a:t>на материалы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514600"/>
            <a:ext cx="365760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qr_t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788920"/>
            <a:ext cx="3108960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" y="63093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ilroy"/>
              </a:rPr>
              <a:t>Материалы к выступлению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Gilroy"/>
              </a:rPr>
              <a:t>чек-лист менеджера • памятка А5 • шаблон дорхентера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63093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ilroy"/>
              </a:rPr>
              <a:t>Telegram-канал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Gilroy"/>
              </a:rPr>
              <a:t>скрипты, кейсы, шаблоны и материалы по загородной недвижимости в СПб и ЛО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