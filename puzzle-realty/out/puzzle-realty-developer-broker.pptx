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93"/>
    <p:restoredTop sz="94699"/>
  </p:normalViewPr>
  <p:slideViewPr>
    <p:cSldViewPr snapToGrid="0">
      <p:cViewPr varScale="1">
        <p:scale>
          <a:sx n="187" d="100"/>
          <a:sy n="187" d="100"/>
        </p:scale>
        <p:origin x="8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1. Визуал по ТЗ: красивый современный дом по центру, слева рука брокера с папкой/планшетом, справа рука девелопера — будто две стороны одной сделки.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2. Визуал по ТЗ: два стула / две позиции (кадр разрезан на две половины — по одному креслу над каждой ролью).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3. Визуал по ТЗ: разделённый экран. Слева — боли девелопера, справа — боли брокера, по центру — разрыв.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4. Визуал по ТЗ: схема из трёх разорванных звеньев (звенья-кольца + молнии-разрывы). Нижняя строка — связка для докладчика, её можно убрать. Тексты звеньев 2 и 3 в ТЗ даны без расшифровки.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5. Визуал по ТЗ: три вертикальные колонны / опоры под общей крышей.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6. Визуал по ТЗ: без визуала (схема «отказ → переход → результат» на нативных фигурах).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7. Визуал по ТЗ: архитектор + застройщик + брокер над планировкой/генпланом.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8. Визуал по ТЗ: customer journey Лид → брокер → показ → застройщик → бронь → сделка, но вместо разных блоков — одна непрерывная линия.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9. Визуал по ТЗ: без визуала (сравнение двух цепочек: старая модель vs новая модель).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10. Визуал по ТЗ: три большие карточки.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11. Визуал по ТЗ: большие цифры, карточки «до / после». ТЗ к блоку «Кейсы и цифры»: покажите здесь или на слайде 12 одну реальную ситуацию из практики — как конфликт по клиенту стоил сделки в элитном сегменте (в ТЗ самой истории нет — добавить).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12. Визуал по ТЗ: без визуала (таблица). Сюда же можно вставить реальную историю из практики про потерянную по конфликту сделку — см. примечание к слайду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13. Визуал по ТЗ: без визуала. Формула крупно + три вывода.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14. Визуал по ТЗ: три большие цифры (номера тезисов) + акцент внизу.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15. Справа — QR на t.me/puzzlerealty (из контактов прежней презентации; проверьте, что это нужный канал). Слева — заглушка под QR на шаблоны. В ТЗ «что дать» ещё не решено: в подписи предложен набор из материалов этой презентации (матрица ответственности, правило первого касания, чек-лист продуктового совета) — подтвердите или замените.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3212B4-828C-29FD-C87D-6855C2991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62637E1-9054-8084-F269-416E9AC6A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36C1BB-CCF7-E042-5AFD-612F1C55A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A8441-1D27-874E-A0C6-3CD416A85B54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16D074-8BAC-4D89-882D-CE66B1E8E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D035FE-AFFA-2FDD-C256-44889036B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7437-5F8E-3041-A851-F94714F6C6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361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29A522-A824-AB1C-D306-050C0CC8F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6EC4DA-A8BE-D44C-B5CB-695FE7CF0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CC0B9F-C661-C123-1896-DB3264531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A8441-1D27-874E-A0C6-3CD416A85B54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0328C0-20E4-94C4-D629-3B12EE46C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F0BCD5-876D-203E-60FC-B6BA74990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7437-5F8E-3041-A851-F94714F6C6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7171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BC60B3-7243-4DC3-16D9-F5BDCC694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47A63C-046E-E1EF-AA1C-8E17A281A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A64610-5787-6F84-3676-3730EF2C6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A8441-1D27-874E-A0C6-3CD416A85B54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D0DFDF-878B-FDE9-4807-70FC18B2B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4DFA9C-F237-1A6F-2C7E-8CEC42C9E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7437-5F8E-3041-A851-F94714F6C6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4150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C99E07-6416-CF83-BFF2-DA2D6956C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ED1F32-DF57-1EE4-5347-A3935A6A90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21C1E5F-66B2-DDD1-ED34-C88F68422B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27B0607-5C7B-C97C-A0AA-84E6EC579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A8441-1D27-874E-A0C6-3CD416A85B54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02953A2-D58E-9A10-546F-FB534E9C2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D46A70-DCE4-5AEC-8B0E-A9BACE921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7437-5F8E-3041-A851-F94714F6C6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2358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2C725B-EDAE-971F-6B56-0B60F89C9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013791"/>
            <a:ext cx="10515600" cy="676897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5E01A06-4ED7-C975-8688-F395CBF80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C9C6B5F-BD94-F957-F98C-A6404376D9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CB52FF1-C137-BF43-C228-33B1B21028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7F11114-4B22-E34E-1F95-A729894F71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4CD0744-FDEE-3058-063A-3D4EA031D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A8441-1D27-874E-A0C6-3CD416A85B54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91E1B0C-FD6B-30FF-3C39-046DB0FE8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0B379FC-C87C-3A68-5ED2-D5F8AB741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7437-5F8E-3041-A851-F94714F6C6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4406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C26B19-F374-941F-055E-EE5269503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823C788-EA20-015F-93E7-19C72B642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A8441-1D27-874E-A0C6-3CD416A85B54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BC31C02-9F37-3BE6-9628-5A8D5E0E3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EEDBB82-5E01-18B3-4948-3CE8F0C0F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7437-5F8E-3041-A851-F94714F6C6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2840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A95DFBD-15A4-DB3F-85BE-0D50EC056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A8441-1D27-874E-A0C6-3CD416A85B54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DD8EE76-4D0D-8DC0-896B-A5C92E55F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B15FE9-1147-B58B-E43F-EA6389C06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7437-5F8E-3041-A851-F94714F6C6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181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6F24B5-5635-A7AE-CF7C-C316739CC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ADD381-57E6-01CC-0078-729BE0447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452FDF-B57A-0B73-DF8B-39FFAB10DE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2A6BE5-24A2-8158-AD58-24BE20A2F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A8441-1D27-874E-A0C6-3CD416A85B54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3751D27-D143-53CC-462D-B1195B1CC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3AF0CB1-DB42-BFEB-6B9C-41E1F5942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7437-5F8E-3041-A851-F94714F6C6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5460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E9DE95-6C09-24D7-4DAC-6B8795C19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11955BE-CC26-67CB-7F2A-B299CEEF05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D16D6E9-9634-DD08-3FEE-42D1205A29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ED1B4CD-6C2C-245C-8FB2-7C29CE857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A8441-1D27-874E-A0C6-3CD416A85B54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6260B4-B52D-8512-75DC-BDE7896B8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14D5E31-7007-3548-70C2-9C2E48BA5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7437-5F8E-3041-A851-F94714F6C6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0244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F8FC4E-9715-0C46-57AF-23F970E24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741EE42-EE15-F6A7-45BE-24A45FE2A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BCFF4F-65DB-17F0-12DD-6D3D13EB4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A8441-1D27-874E-A0C6-3CD416A85B54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8FEDAB-16A7-FCD3-409D-B4D336A37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650844-04FA-D290-5387-8B24A79BA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7437-5F8E-3041-A851-F94714F6C6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3405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474B310-5219-9358-4A8D-0D090D610C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139685"/>
            <a:ext cx="2628900" cy="5037277"/>
          </a:xfrm>
        </p:spPr>
        <p:txBody>
          <a:bodyPr vert="eaVert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1C3054F-F9F0-E039-4555-27E6DF8BE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139687"/>
            <a:ext cx="7734300" cy="5037276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BA0323-57BA-885D-3D2E-D71CFC9CA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A8441-1D27-874E-A0C6-3CD416A85B54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2B4792-FA15-CF09-5DE1-C809410AA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9262D8-E239-DA56-BFFA-291EB999C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57437-5F8E-3041-A851-F94714F6C6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755227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616418B-5303-A72D-F818-B86317F0F72E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ED0000-ADF5-84E8-D201-3D7C5559D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0174"/>
            <a:ext cx="10515600" cy="6305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F29A3F-B394-DBD4-C232-DB8C6B793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711584-FB8C-0949-6F50-DE01CE597E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7A8441-1D27-874E-A0C6-3CD416A85B54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A0594E-DE67-716C-13C2-3B7AB361EB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E20E65-5954-EE58-8538-C9AA7C8CE4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57437-5F8E-3041-A851-F94714F6C6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361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dev_house_hands.jpg"/>
          <p:cNvPicPr>
            <a:picLocks noChangeAspect="1"/>
          </p:cNvPicPr>
          <p:nvPr/>
        </p:nvPicPr>
        <p:blipFill>
          <a:blip r:embed="rId2"/>
          <a:srcRect t="23014" b="23014"/>
          <a:stretch>
            <a:fillRect/>
          </a:stretch>
        </p:blipFill>
        <p:spPr>
          <a:xfrm>
            <a:off x="0" y="1097280"/>
            <a:ext cx="12191695" cy="3703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800600"/>
            <a:ext cx="12191695" cy="2057400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074920"/>
            <a:ext cx="64008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29200"/>
            <a:ext cx="7772400" cy="11430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Gilroy"/>
              </a:rPr>
              <a:t>КАК ДЕВЕЛОПЕРУ И БРОКЕРУ НЕ ПЕРЕГРЫЗТЬ ДРУГ ДРУГУ ГОРЛО И УДВОИТЬ ПРОДАЖИ?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Gilroy"/>
              </a:rPr>
              <a:t>Опыт работы со стороны агентства и со стороны отдела продаж застройщика</a:t>
            </a:r>
          </a:p>
        </p:txBody>
      </p:sp>
      <p:pic>
        <p:nvPicPr>
          <p:cNvPr id="7" name="Picture 6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029200"/>
            <a:ext cx="2194560" cy="8606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52560" y="594360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Gilroy"/>
              </a:rPr>
              <a:t>ФЕДОРОВА МАРИЯ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Gilroy"/>
              </a:rPr>
              <a:t>управляющий партнёр, сооснователь агентства недвижимости Puzzle Realty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822960" y="1124712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E72F2A"/>
                </a:solidFill>
                <a:latin typeface="Gilroy"/>
              </a:rPr>
              <a:t>КТО МЫ И ПОЧЕМУ ИМЕЕМ ПРАВО ГОВОРИТЬ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64008" cy="527304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417320"/>
            <a:ext cx="10607040" cy="4724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1A1A"/>
                </a:solidFill>
                <a:latin typeface="Gilroy"/>
              </a:rPr>
              <a:t>МЫ СИДИМ НА ДВУХ СТУЛЬЯХ. И ЭТО НАША СУПЕРСИЛА.</a:t>
            </a:r>
          </a:p>
        </p:txBody>
      </p:sp>
      <p:pic>
        <p:nvPicPr>
          <p:cNvPr id="5" name="Picture 4" descr="arm_l.jpg"/>
          <p:cNvPicPr>
            <a:picLocks noChangeAspect="1"/>
          </p:cNvPicPr>
          <p:nvPr/>
        </p:nvPicPr>
        <p:blipFill>
          <a:blip r:embed="rId2"/>
          <a:srcRect t="50619" b="26619"/>
          <a:stretch>
            <a:fillRect/>
          </a:stretch>
        </p:blipFill>
        <p:spPr>
          <a:xfrm>
            <a:off x="548640" y="2148840"/>
            <a:ext cx="5532120" cy="1417320"/>
          </a:xfrm>
          <a:prstGeom prst="rect">
            <a:avLst/>
          </a:prstGeom>
        </p:spPr>
      </p:pic>
      <p:pic>
        <p:nvPicPr>
          <p:cNvPr id="6" name="Picture 5" descr="arm_r.jpg"/>
          <p:cNvPicPr>
            <a:picLocks noChangeAspect="1"/>
          </p:cNvPicPr>
          <p:nvPr/>
        </p:nvPicPr>
        <p:blipFill>
          <a:blip r:embed="rId3"/>
          <a:srcRect t="50619" b="26619"/>
          <a:stretch>
            <a:fillRect/>
          </a:stretch>
        </p:blipFill>
        <p:spPr>
          <a:xfrm>
            <a:off x="6263640" y="2148840"/>
            <a:ext cx="5532120" cy="1417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3703320"/>
            <a:ext cx="5532120" cy="2194560"/>
          </a:xfrm>
          <a:prstGeom prst="roundRect">
            <a:avLst>
              <a:gd name="adj" fmla="val 6666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Gilroy"/>
              </a:rPr>
              <a:t>РОЛЬ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794760"/>
            <a:ext cx="39776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Gilroy"/>
              </a:rPr>
              <a:t>Мы — отдел продаж застройщика и эксклюзивный брокер проектов</a:t>
            </a:r>
          </a:p>
        </p:txBody>
      </p:sp>
      <p:sp>
        <p:nvSpPr>
          <p:cNvPr id="11" name="Diamond 10"/>
          <p:cNvSpPr/>
          <p:nvPr/>
        </p:nvSpPr>
        <p:spPr>
          <a:xfrm>
            <a:off x="822959" y="4590288"/>
            <a:ext cx="82296" cy="82296"/>
          </a:xfrm>
          <a:prstGeom prst="diamond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526280"/>
            <a:ext cx="4773168" cy="39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Gilroy"/>
              </a:rPr>
              <a:t>Видим, как брокер теряет деньги из-за конфликтов с застройщиком</a:t>
            </a:r>
          </a:p>
        </p:txBody>
      </p:sp>
      <p:sp>
        <p:nvSpPr>
          <p:cNvPr id="13" name="Diamond 12"/>
          <p:cNvSpPr/>
          <p:nvPr/>
        </p:nvSpPr>
        <p:spPr>
          <a:xfrm>
            <a:off x="822959" y="5050663"/>
            <a:ext cx="82296" cy="82296"/>
          </a:xfrm>
          <a:prstGeom prst="diamond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986655"/>
            <a:ext cx="4773168" cy="198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Gilroy"/>
              </a:rPr>
              <a:t>Знаем, где рвётся коммуникация</a:t>
            </a:r>
          </a:p>
        </p:txBody>
      </p:sp>
      <p:sp>
        <p:nvSpPr>
          <p:cNvPr id="15" name="Diamond 14"/>
          <p:cNvSpPr/>
          <p:nvPr/>
        </p:nvSpPr>
        <p:spPr>
          <a:xfrm>
            <a:off x="822959" y="5312600"/>
            <a:ext cx="82296" cy="82296"/>
          </a:xfrm>
          <a:prstGeom prst="diamond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5248592"/>
            <a:ext cx="4773168" cy="198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Gilroy"/>
              </a:rPr>
              <a:t>Понимаем мотивацию брокера изнутри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703320"/>
            <a:ext cx="5532120" cy="2194560"/>
          </a:xfrm>
          <a:prstGeom prst="roundRect">
            <a:avLst>
              <a:gd name="adj" fmla="val 6666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6520" y="384048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84048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Gilroy"/>
              </a:rPr>
              <a:t>РОЛЬ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794760"/>
            <a:ext cx="39776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Gilroy"/>
              </a:rPr>
              <a:t>Мы — агентство, работающее с застройщиком</a:t>
            </a:r>
          </a:p>
        </p:txBody>
      </p:sp>
      <p:sp>
        <p:nvSpPr>
          <p:cNvPr id="21" name="Diamond 20"/>
          <p:cNvSpPr/>
          <p:nvPr/>
        </p:nvSpPr>
        <p:spPr>
          <a:xfrm>
            <a:off x="6537959" y="4590288"/>
            <a:ext cx="82296" cy="82296"/>
          </a:xfrm>
          <a:prstGeom prst="diamond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93992" y="4526280"/>
            <a:ext cx="4773168" cy="39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Gilroy"/>
              </a:rPr>
              <a:t>Видим, как девелопер теряет клиентов из-за несистемной работы с брокерами</a:t>
            </a:r>
          </a:p>
        </p:txBody>
      </p:sp>
      <p:sp>
        <p:nvSpPr>
          <p:cNvPr id="23" name="Diamond 22"/>
          <p:cNvSpPr/>
          <p:nvPr/>
        </p:nvSpPr>
        <p:spPr>
          <a:xfrm>
            <a:off x="6537959" y="5050663"/>
            <a:ext cx="82296" cy="82296"/>
          </a:xfrm>
          <a:prstGeom prst="diamond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93992" y="4986655"/>
            <a:ext cx="4773168" cy="198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Gilroy"/>
              </a:rPr>
              <a:t>Знаем, где застройщик недополучает продажи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035040"/>
            <a:ext cx="11247120" cy="594360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035040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Gilroy"/>
              </a:rPr>
              <a:t>Поэтому сегодня говорим не «с одной стороны», а честно — с двух.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dev_conflict.jpg"/>
          <p:cNvPicPr>
            <a:picLocks noChangeAspect="1"/>
          </p:cNvPicPr>
          <p:nvPr/>
        </p:nvPicPr>
        <p:blipFill>
          <a:blip r:embed="rId2"/>
          <a:srcRect t="8021" b="8021"/>
          <a:stretch>
            <a:fillRect/>
          </a:stretch>
        </p:blipFill>
        <p:spPr>
          <a:xfrm>
            <a:off x="0" y="1097280"/>
            <a:ext cx="12191695" cy="57607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097280"/>
            <a:ext cx="12191695" cy="5760720"/>
          </a:xfrm>
          <a:prstGeom prst="rect">
            <a:avLst/>
          </a:prstGeom>
          <a:solidFill>
            <a:srgbClr val="1A1A1A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44168"/>
            <a:ext cx="64008" cy="557784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371600"/>
            <a:ext cx="10607040" cy="5029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Gilroy"/>
              </a:rPr>
              <a:t>МЫ ТРАТИМ ЭНЕРГИЮ НА ВОЙНУ ВМЕСТО ПРОДАЖ.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572000"/>
            <a:ext cx="4069080" cy="1828800"/>
          </a:xfrm>
          <a:prstGeom prst="roundRect">
            <a:avLst>
              <a:gd name="adj" fmla="val 8000"/>
            </a:avLst>
          </a:prstGeom>
          <a:solidFill>
            <a:srgbClr val="1A1A1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470916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FAD5D4"/>
                </a:solidFill>
                <a:latin typeface="Gilroy"/>
              </a:rPr>
              <a:t>ДЕВЕЛОПЕР ВИДИТ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5120640"/>
            <a:ext cx="35204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Gilroy"/>
              </a:rPr>
              <a:t>«Дорогой и нестабильный канал»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71231" y="4572000"/>
            <a:ext cx="4069080" cy="1828800"/>
          </a:xfrm>
          <a:prstGeom prst="roundRect">
            <a:avLst>
              <a:gd name="adj" fmla="val 8000"/>
            </a:avLst>
          </a:prstGeom>
          <a:solidFill>
            <a:srgbClr val="1A1A1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45552" y="470916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FAD5D4"/>
                </a:solidFill>
                <a:latin typeface="Gilroy"/>
              </a:rPr>
              <a:t>БРОКЕР ВИДИТ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5552" y="5120640"/>
            <a:ext cx="35204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Gilroy"/>
              </a:rPr>
              <a:t>«Неповоротливого гиганта»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4892040"/>
            <a:ext cx="2606040" cy="1508760"/>
          </a:xfrm>
          <a:prstGeom prst="roundRect">
            <a:avLst>
              <a:gd name="adj" fmla="val 9696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4937760"/>
            <a:ext cx="233172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FAD5D4"/>
                </a:solidFill>
                <a:latin typeface="Gilroy"/>
              </a:rPr>
              <a:t>РЕЗУЛЬТАТ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Gilroy"/>
              </a:rPr>
              <a:t>Суды из-за комиссий, споры о лидах, слив сделок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822960" y="11704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E72F2A"/>
                </a:solidFill>
                <a:latin typeface="Gilroy"/>
              </a:rPr>
              <a:t>ДИАГНОСТИКА: ПОЧЕМУ МЕХАНИЗМ ЛОМАЕТСЯ?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35608"/>
            <a:ext cx="64008" cy="588264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463040"/>
            <a:ext cx="7315200" cy="5334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A1A1A"/>
                </a:solidFill>
                <a:latin typeface="Gilroy"/>
              </a:rPr>
              <a:t>ТРИ ТОЧКИ РАЗРЫВА.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3246120" cy="3246120"/>
          </a:xfrm>
          <a:prstGeom prst="roundRect">
            <a:avLst>
              <a:gd name="adj" fmla="val 19718"/>
            </a:avLst>
          </a:prstGeom>
          <a:solidFill>
            <a:srgbClr val="FFFFFF"/>
          </a:solidFill>
          <a:ln w="63500">
            <a:solidFill>
              <a:srgbClr val="E72F2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5400" b="1" i="0">
                <a:solidFill>
                  <a:srgbClr val="E72F2A"/>
                </a:solidFill>
                <a:latin typeface="Gilroy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40480"/>
            <a:ext cx="260603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1A1A1A"/>
                </a:solidFill>
                <a:latin typeface="Gilroy"/>
              </a:rPr>
              <a:t>ПРОДУКТ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Gilroy"/>
              </a:rPr>
              <a:t>Ожидания рынка ≠ Реальность стройки</a:t>
            </a:r>
          </a:p>
        </p:txBody>
      </p:sp>
      <p:sp>
        <p:nvSpPr>
          <p:cNvPr id="8" name="Lightning Bolt 7"/>
          <p:cNvSpPr/>
          <p:nvPr/>
        </p:nvSpPr>
        <p:spPr>
          <a:xfrm>
            <a:off x="3867911" y="3246120"/>
            <a:ext cx="603503" cy="1691640"/>
          </a:xfrm>
          <a:prstGeom prst="lightningBol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44568" y="2468880"/>
            <a:ext cx="3246120" cy="3246120"/>
          </a:xfrm>
          <a:prstGeom prst="roundRect">
            <a:avLst>
              <a:gd name="adj" fmla="val 19718"/>
            </a:avLst>
          </a:prstGeom>
          <a:solidFill>
            <a:srgbClr val="FFFFFF"/>
          </a:solidFill>
          <a:ln w="63500">
            <a:solidFill>
              <a:srgbClr val="1A1A1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274320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5400" b="1" i="0">
                <a:solidFill>
                  <a:srgbClr val="E72F2A"/>
                </a:solidFill>
                <a:latin typeface="Gilroy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7" y="3840480"/>
            <a:ext cx="260603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1A1A1A"/>
                </a:solidFill>
                <a:latin typeface="Gilroy"/>
              </a:rPr>
              <a:t>РЕПУТАЦИОННЫЕ ПОТЕРИ</a:t>
            </a:r>
          </a:p>
        </p:txBody>
      </p:sp>
      <p:sp>
        <p:nvSpPr>
          <p:cNvPr id="12" name="Lightning Bolt 11"/>
          <p:cNvSpPr/>
          <p:nvPr/>
        </p:nvSpPr>
        <p:spPr>
          <a:xfrm>
            <a:off x="7863840" y="3246120"/>
            <a:ext cx="603503" cy="1691640"/>
          </a:xfrm>
          <a:prstGeom prst="lightningBol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40496" y="2468880"/>
            <a:ext cx="3246120" cy="3246120"/>
          </a:xfrm>
          <a:prstGeom prst="roundRect">
            <a:avLst>
              <a:gd name="adj" fmla="val 19718"/>
            </a:avLst>
          </a:prstGeom>
          <a:solidFill>
            <a:srgbClr val="FFFFFF"/>
          </a:solidFill>
          <a:ln w="63500">
            <a:solidFill>
              <a:srgbClr val="E72F2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0496" y="274320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5400" b="1" i="0">
                <a:solidFill>
                  <a:srgbClr val="E72F2A"/>
                </a:solidFill>
                <a:latin typeface="Gilroy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0536" y="3840480"/>
            <a:ext cx="260603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1A1A1A"/>
                </a:solidFill>
                <a:latin typeface="Gilroy"/>
              </a:rPr>
              <a:t>РАЗРОЗНЕННЫЕ ДАННЫЕ CRM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989320"/>
            <a:ext cx="11247120" cy="548640"/>
          </a:xfrm>
          <a:prstGeom prst="rect">
            <a:avLst/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98932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Gilroy"/>
              </a:rPr>
              <a:t>Каждое звено держит цепочку продаж — рвётся одно, останавливается вся сделка.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822960" y="1170432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E72F2A"/>
                </a:solidFill>
                <a:latin typeface="Gilroy"/>
              </a:rPr>
              <a:t>РЕШЕНИЕ: ТРИ СТОЛПА СИНЕРГИИ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35608"/>
            <a:ext cx="64008" cy="527304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463040"/>
            <a:ext cx="10607040" cy="4724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1A1A"/>
                </a:solidFill>
                <a:latin typeface="Gilroy"/>
              </a:rPr>
              <a:t>МОДЕЛЬ WIN-WIN: СИСТЕМНЫЙ КОНВЕЙЕР ПРОДАЖ.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77440"/>
            <a:ext cx="1124712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Gilroy"/>
              </a:rPr>
              <a:t>WIN-WIN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880360"/>
            <a:ext cx="3383279" cy="182880"/>
          </a:xfrm>
          <a:prstGeom prst="rect">
            <a:avLst/>
          </a:prstGeom>
          <a:solidFill>
            <a:srgbClr val="C422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3063240"/>
            <a:ext cx="3108960" cy="2834640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20040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AD5D4"/>
                </a:solidFill>
                <a:latin typeface="Gilro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069080"/>
            <a:ext cx="265176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Gilroy"/>
              </a:rPr>
              <a:t>ПРОЗРАЧНОСТЬ ДАННЫХ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897880"/>
            <a:ext cx="3383279" cy="182880"/>
          </a:xfrm>
          <a:prstGeom prst="rect">
            <a:avLst/>
          </a:prstGeom>
          <a:solidFill>
            <a:srgbClr val="C422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2880360"/>
            <a:ext cx="3383279" cy="182880"/>
          </a:xfrm>
          <a:prstGeom prst="rect">
            <a:avLst/>
          </a:prstGeom>
          <a:solidFill>
            <a:srgbClr val="C422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7720" y="3063240"/>
            <a:ext cx="3108960" cy="2834640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320040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AD5D4"/>
                </a:solidFill>
                <a:latin typeface="Gilroy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069080"/>
            <a:ext cx="265176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Gilroy"/>
              </a:rPr>
              <a:t>СИНХРОНИЗАЦИЯ ПРОДУКТА И МАРКЕТИНГА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59" y="5897880"/>
            <a:ext cx="3383279" cy="182880"/>
          </a:xfrm>
          <a:prstGeom prst="rect">
            <a:avLst/>
          </a:prstGeom>
          <a:solidFill>
            <a:srgbClr val="C422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880360"/>
            <a:ext cx="3383279" cy="182880"/>
          </a:xfrm>
          <a:prstGeom prst="rect">
            <a:avLst/>
          </a:prstGeom>
          <a:solidFill>
            <a:srgbClr val="C422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3063240"/>
            <a:ext cx="3108960" cy="2834640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320040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AD5D4"/>
                </a:solidFill>
                <a:latin typeface="Gilroy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069080"/>
            <a:ext cx="265176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Gilroy"/>
              </a:rPr>
              <a:t>ЕДИНЫЙ СТАНДАРТ СЕРВИСА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5897880"/>
            <a:ext cx="3383279" cy="182880"/>
          </a:xfrm>
          <a:prstGeom prst="rect">
            <a:avLst/>
          </a:prstGeom>
          <a:solidFill>
            <a:srgbClr val="C422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6080760"/>
            <a:ext cx="1124712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97280"/>
            <a:ext cx="4023360" cy="5760720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AD5D4"/>
                </a:solidFill>
                <a:latin typeface="Gilroy"/>
              </a:rPr>
              <a:t>СТОЛП №1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Gilroy"/>
              </a:rPr>
              <a:t>Прозрачность данных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0"/>
            <a:ext cx="3291840" cy="163068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Gilroy"/>
              </a:rPr>
              <a:t>ДАННЫЕ ДОЛЖНЫ ЗАМЕНИТЬ ЭМОЦИИ.</a:t>
            </a:r>
          </a:p>
        </p:txBody>
      </p:sp>
      <p:pic>
        <p:nvPicPr>
          <p:cNvPr id="6" name="Picture 5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00"/>
            <a:ext cx="1645920" cy="64545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480560" y="1371600"/>
            <a:ext cx="7269480" cy="1325880"/>
          </a:xfrm>
          <a:prstGeom prst="roundRect">
            <a:avLst>
              <a:gd name="adj" fmla="val 12413"/>
            </a:avLst>
          </a:prstGeom>
          <a:solidFill>
            <a:srgbClr val="F4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1371600"/>
            <a:ext cx="201168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E72F2A"/>
                </a:solidFill>
                <a:latin typeface="Gilroy"/>
              </a:rPr>
              <a:t>ОТКАЗ ОТ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371600"/>
            <a:ext cx="46634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6B6B6B"/>
                </a:solidFill>
                <a:latin typeface="Gilroy"/>
              </a:rPr>
              <a:t>Excel-таблиц и переписок в WhatsApp</a:t>
            </a:r>
          </a:p>
        </p:txBody>
      </p:sp>
      <p:sp>
        <p:nvSpPr>
          <p:cNvPr id="10" name="Down Arrow 9"/>
          <p:cNvSpPr/>
          <p:nvPr/>
        </p:nvSpPr>
        <p:spPr>
          <a:xfrm>
            <a:off x="7818120" y="2743200"/>
            <a:ext cx="457200" cy="329184"/>
          </a:xfrm>
          <a:prstGeom prst="downArrow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3154680"/>
            <a:ext cx="7269480" cy="1325880"/>
          </a:xfrm>
          <a:prstGeom prst="roundRect">
            <a:avLst>
              <a:gd name="adj" fmla="val 12413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3154680"/>
            <a:ext cx="201168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E72F2A"/>
                </a:solidFill>
                <a:latin typeface="Gilroy"/>
              </a:rPr>
              <a:t>ПЕРЕХОД 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154680"/>
            <a:ext cx="46634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Gilroy"/>
              </a:rPr>
              <a:t>Единому информационному полю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7818120" y="4526280"/>
            <a:ext cx="457200" cy="329184"/>
          </a:xfrm>
          <a:prstGeom prst="downArrow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80560" y="4937760"/>
            <a:ext cx="7269480" cy="1325880"/>
          </a:xfrm>
          <a:prstGeom prst="roundRect">
            <a:avLst>
              <a:gd name="adj" fmla="val 12413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4937760"/>
            <a:ext cx="201168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AD5D4"/>
                </a:solidFill>
                <a:latin typeface="Gilroy"/>
              </a:rPr>
              <a:t>ЧТО ЭТО ДАЁТ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937760"/>
            <a:ext cx="46634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ilroy"/>
              </a:rPr>
              <a:t>Брокер видит актуальный стоп-лист → Девелопер видит реальную воронку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dev_masterplan.jpg"/>
          <p:cNvPicPr>
            <a:picLocks noChangeAspect="1"/>
          </p:cNvPicPr>
          <p:nvPr/>
        </p:nvPicPr>
        <p:blipFill>
          <a:blip r:embed="rId2"/>
          <a:srcRect l="26266" r="16266"/>
          <a:stretch>
            <a:fillRect/>
          </a:stretch>
        </p:blipFill>
        <p:spPr>
          <a:xfrm>
            <a:off x="6309360" y="1097280"/>
            <a:ext cx="5882335" cy="5760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170432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E72F2A"/>
                </a:solidFill>
                <a:latin typeface="Gilroy"/>
              </a:rPr>
              <a:t>СТОЛП №2. СОВМЕСТНОЕ ПРОЕКТИРОВАНИЕ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35608"/>
            <a:ext cx="64008" cy="1014984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463040"/>
            <a:ext cx="5120640" cy="9601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Gilroy"/>
              </a:rPr>
              <a:t>ПРОДУКТ, КОТОРЫЙ ХОЧЕТ РЫНОК.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926080"/>
            <a:ext cx="5486400" cy="914400"/>
          </a:xfrm>
          <a:prstGeom prst="roundRect">
            <a:avLst>
              <a:gd name="adj" fmla="val 15000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31546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1546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Gilroy"/>
              </a:rPr>
              <a:t>БРОКЕР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92608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Gilroy"/>
              </a:rPr>
              <a:t>это «глаза и уши» рынка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23360"/>
            <a:ext cx="5486400" cy="914400"/>
          </a:xfrm>
          <a:prstGeom prst="roundRect">
            <a:avLst>
              <a:gd name="adj" fmla="val 15000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425196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2519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Gilroy"/>
              </a:rPr>
              <a:t>ИНСТРУМЕНТ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402336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Gilroy"/>
              </a:rPr>
              <a:t>Продуктовый совет (раз в квартал)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120640"/>
            <a:ext cx="5486400" cy="914400"/>
          </a:xfrm>
          <a:prstGeom prst="roundRect">
            <a:avLst>
              <a:gd name="adj" fmla="val 15000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534924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34924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Gilroy"/>
              </a:rPr>
              <a:t>ЦЕЛЬ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512064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Gilroy"/>
              </a:rPr>
              <a:t>внедрение планировок и фишек на основе реального спроса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822960" y="11704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E72F2A"/>
                </a:solidFill>
                <a:latin typeface="Gilroy"/>
              </a:rPr>
              <a:t>СТОЛП №3. ЕДИНЫЙ СТАНДАРТ СЕРВИСА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35608"/>
            <a:ext cx="64008" cy="557784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463040"/>
            <a:ext cx="7315200" cy="5029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Gilroy"/>
              </a:rPr>
              <a:t>БЕСШОВНЫЙ КЛИЕНТСКИЙ ПУТЬ.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2423160"/>
            <a:ext cx="4023360" cy="1691640"/>
          </a:xfrm>
          <a:prstGeom prst="roundRect">
            <a:avLst>
              <a:gd name="adj" fmla="val 13513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6120" y="24688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1" i="0">
                <a:solidFill>
                  <a:srgbClr val="E72F2A"/>
                </a:solidFill>
                <a:latin typeface="Gilroy"/>
              </a:rPr>
              <a:t>здесь клиент не должен заметить переход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200400"/>
            <a:ext cx="10515600" cy="128016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2990088"/>
            <a:ext cx="493776" cy="493776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72F2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990088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E72F2A"/>
                </a:solidFill>
                <a:latin typeface="Gilro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79" y="3611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Gilroy"/>
              </a:rPr>
              <a:t>ЛИД</a:t>
            </a:r>
          </a:p>
        </p:txBody>
      </p:sp>
      <p:sp>
        <p:nvSpPr>
          <p:cNvPr id="11" name="Oval 10"/>
          <p:cNvSpPr/>
          <p:nvPr/>
        </p:nvSpPr>
        <p:spPr>
          <a:xfrm>
            <a:off x="2843784" y="2990088"/>
            <a:ext cx="493776" cy="493776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72F2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43784" y="2990088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E72F2A"/>
                </a:solidFill>
                <a:latin typeface="Gilroy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76272" y="3611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Gilroy"/>
              </a:rPr>
              <a:t>БРОКЕР</a:t>
            </a:r>
          </a:p>
        </p:txBody>
      </p:sp>
      <p:sp>
        <p:nvSpPr>
          <p:cNvPr id="14" name="Oval 13"/>
          <p:cNvSpPr/>
          <p:nvPr/>
        </p:nvSpPr>
        <p:spPr>
          <a:xfrm>
            <a:off x="4837176" y="2990088"/>
            <a:ext cx="493776" cy="493776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72F2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37176" y="2990088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E72F2A"/>
                </a:solidFill>
                <a:latin typeface="Gilroy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9664" y="3611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Gilroy"/>
              </a:rPr>
              <a:t>ПОКАЗ</a:t>
            </a:r>
          </a:p>
        </p:txBody>
      </p:sp>
      <p:sp>
        <p:nvSpPr>
          <p:cNvPr id="17" name="Oval 16"/>
          <p:cNvSpPr/>
          <p:nvPr/>
        </p:nvSpPr>
        <p:spPr>
          <a:xfrm>
            <a:off x="6830568" y="2990088"/>
            <a:ext cx="493776" cy="493776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72F2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0568" y="2990088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E72F2A"/>
                </a:solidFill>
                <a:latin typeface="Gilroy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3611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Gilroy"/>
              </a:rPr>
              <a:t>ЗАСТРОЙЩИК</a:t>
            </a:r>
          </a:p>
        </p:txBody>
      </p:sp>
      <p:sp>
        <p:nvSpPr>
          <p:cNvPr id="20" name="Oval 19"/>
          <p:cNvSpPr/>
          <p:nvPr/>
        </p:nvSpPr>
        <p:spPr>
          <a:xfrm>
            <a:off x="8823960" y="2990088"/>
            <a:ext cx="493776" cy="493776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72F2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2990088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E72F2A"/>
                </a:solidFill>
                <a:latin typeface="Gilroy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3611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Gilroy"/>
              </a:rPr>
              <a:t>БРОНЬ</a:t>
            </a:r>
          </a:p>
        </p:txBody>
      </p:sp>
      <p:sp>
        <p:nvSpPr>
          <p:cNvPr id="23" name="Oval 22"/>
          <p:cNvSpPr/>
          <p:nvPr/>
        </p:nvSpPr>
        <p:spPr>
          <a:xfrm>
            <a:off x="10817352" y="2990088"/>
            <a:ext cx="493776" cy="493776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72F2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17352" y="2990088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E72F2A"/>
                </a:solidFill>
                <a:latin typeface="Gilroy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3611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Gilroy"/>
              </a:rPr>
              <a:t>СДЕЛКА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63440"/>
            <a:ext cx="3611880" cy="1737360"/>
          </a:xfrm>
          <a:prstGeom prst="roundRect">
            <a:avLst>
              <a:gd name="adj" fmla="val 9473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4663440"/>
            <a:ext cx="306324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Gilroy"/>
              </a:rPr>
              <a:t>Клиент не должен чувствовать переход «Брокер → Застройщик»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663440"/>
            <a:ext cx="3611880" cy="1737360"/>
          </a:xfrm>
          <a:prstGeom prst="roundRect">
            <a:avLst>
              <a:gd name="adj" fmla="val 9473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4663440"/>
            <a:ext cx="306324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Gilroy"/>
              </a:rPr>
              <a:t>Синхронизация скриптов и сервисных стандартов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663440"/>
            <a:ext cx="3611880" cy="1737360"/>
          </a:xfrm>
          <a:prstGeom prst="roundRect">
            <a:avLst>
              <a:gd name="adj" fmla="val 9473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4663440"/>
            <a:ext cx="306324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Gilroy"/>
              </a:rPr>
              <a:t>Общий контроль качества на каждом этапе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822960" y="1170432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E72F2A"/>
                </a:solidFill>
                <a:latin typeface="Gilroy"/>
              </a:rPr>
              <a:t>ЭКОНОМИКА ПАРТНЁРСТВА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35608"/>
            <a:ext cx="64008" cy="893064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463040"/>
            <a:ext cx="10607040" cy="838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A"/>
                </a:solidFill>
                <a:latin typeface="Gilroy"/>
              </a:rPr>
              <a:t>ОТ «ТОРГОВЛИ ЗА ПРОЦЕНТ» К «СОВМЕСТНОМУ УПРАВЛЕНИЮ СПРОСОМ».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33756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6B6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3375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Gilroy"/>
              </a:rPr>
              <a:t>СТАРАЯ МОДЕЛЬ</a:t>
            </a:r>
          </a:p>
        </p:txBody>
      </p:sp>
      <p:sp>
        <p:nvSpPr>
          <p:cNvPr id="7" name="Chevron 6"/>
          <p:cNvSpPr/>
          <p:nvPr/>
        </p:nvSpPr>
        <p:spPr>
          <a:xfrm>
            <a:off x="2926080" y="3017520"/>
            <a:ext cx="3063240" cy="1188720"/>
          </a:xfrm>
          <a:prstGeom prst="chevron">
            <a:avLst>
              <a:gd name="adj" fmla="val 28000"/>
            </a:avLst>
          </a:prstGeom>
          <a:solidFill>
            <a:srgbClr val="1A1A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301752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Gilroy"/>
              </a:rPr>
              <a:t>БОРЬБА ЗА МАРЖУ</a:t>
            </a:r>
          </a:p>
        </p:txBody>
      </p:sp>
      <p:sp>
        <p:nvSpPr>
          <p:cNvPr id="9" name="Chevron 8"/>
          <p:cNvSpPr/>
          <p:nvPr/>
        </p:nvSpPr>
        <p:spPr>
          <a:xfrm>
            <a:off x="5897880" y="3017520"/>
            <a:ext cx="3063240" cy="1188720"/>
          </a:xfrm>
          <a:prstGeom prst="chevron">
            <a:avLst>
              <a:gd name="adj" fmla="val 28000"/>
            </a:avLst>
          </a:prstGeom>
          <a:solidFill>
            <a:srgbClr val="1A1A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301752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Gilroy"/>
              </a:rPr>
              <a:t>СНИЖЕНИЕ КАЧЕСТВА</a:t>
            </a:r>
          </a:p>
        </p:txBody>
      </p:sp>
      <p:sp>
        <p:nvSpPr>
          <p:cNvPr id="11" name="Pentagon 10"/>
          <p:cNvSpPr/>
          <p:nvPr/>
        </p:nvSpPr>
        <p:spPr>
          <a:xfrm>
            <a:off x="8869680" y="3017520"/>
            <a:ext cx="3063240" cy="1188720"/>
          </a:xfrm>
          <a:prstGeom prst="homePlate">
            <a:avLst>
              <a:gd name="adj" fmla="val 28000"/>
            </a:avLst>
          </a:prstGeom>
          <a:solidFill>
            <a:srgbClr val="1A1A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301752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Gilroy"/>
              </a:rPr>
              <a:t>ПАДЕНИЕ ПРОДАЖ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37759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937759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Gilroy"/>
              </a:rPr>
              <a:t>НОВАЯ МОДЕЛЬ</a:t>
            </a:r>
          </a:p>
        </p:txBody>
      </p:sp>
      <p:sp>
        <p:nvSpPr>
          <p:cNvPr id="15" name="Chevron 14"/>
          <p:cNvSpPr/>
          <p:nvPr/>
        </p:nvSpPr>
        <p:spPr>
          <a:xfrm>
            <a:off x="2926080" y="4617720"/>
            <a:ext cx="3063240" cy="1188720"/>
          </a:xfrm>
          <a:prstGeom prst="chevron">
            <a:avLst>
              <a:gd name="adj" fmla="val 28000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461772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Gilroy"/>
              </a:rPr>
              <a:t>СИНЕРГИЯ</a:t>
            </a:r>
          </a:p>
        </p:txBody>
      </p:sp>
      <p:sp>
        <p:nvSpPr>
          <p:cNvPr id="17" name="Chevron 16"/>
          <p:cNvSpPr/>
          <p:nvPr/>
        </p:nvSpPr>
        <p:spPr>
          <a:xfrm>
            <a:off x="5897880" y="4617720"/>
            <a:ext cx="3063240" cy="1188720"/>
          </a:xfrm>
          <a:prstGeom prst="chevron">
            <a:avLst>
              <a:gd name="adj" fmla="val 28000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61772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Gilroy"/>
              </a:rPr>
              <a:t>УВЕЛИЧЕНИЕ ОБОРОТА</a:t>
            </a:r>
          </a:p>
        </p:txBody>
      </p:sp>
      <p:sp>
        <p:nvSpPr>
          <p:cNvPr id="19" name="Pentagon 18"/>
          <p:cNvSpPr/>
          <p:nvPr/>
        </p:nvSpPr>
        <p:spPr>
          <a:xfrm>
            <a:off x="8869680" y="4617720"/>
            <a:ext cx="3063240" cy="1188720"/>
          </a:xfrm>
          <a:prstGeom prst="homePlate">
            <a:avLst>
              <a:gd name="adj" fmla="val 28000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461772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Gilroy"/>
              </a:rPr>
              <a:t>УДВОЕНИЕ ПРИБЫЛИ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822960" y="11704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E72F2A"/>
                </a:solidFill>
                <a:latin typeface="Gilroy"/>
              </a:rPr>
              <a:t>ЧТО ДЕЛАТЬ ЗАВТРА?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35608"/>
            <a:ext cx="64008" cy="588264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463040"/>
            <a:ext cx="7315200" cy="5334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A1A1A"/>
                </a:solidFill>
                <a:latin typeface="Gilroy"/>
              </a:rPr>
              <a:t>3 ШАГА К ИЗМЕНЕНИЯМ.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611880" cy="4206240"/>
          </a:xfrm>
          <a:prstGeom prst="roundRect">
            <a:avLst>
              <a:gd name="adj" fmla="val 5569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0" b="1" i="0">
                <a:solidFill>
                  <a:srgbClr val="E72F2A"/>
                </a:solidFill>
                <a:latin typeface="Gilroy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77639"/>
            <a:ext cx="29718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 i="0">
                <a:solidFill>
                  <a:srgbClr val="1A1A1A"/>
                </a:solidFill>
                <a:latin typeface="Gilroy"/>
              </a:rPr>
              <a:t>АУДИТ ДАННЫХ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Gilroy"/>
              </a:rPr>
              <a:t>Найти способ синхронизировать остатки и воронку (API / интеграция).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86000"/>
            <a:ext cx="3611880" cy="4206240"/>
          </a:xfrm>
          <a:prstGeom prst="roundRect">
            <a:avLst>
              <a:gd name="adj" fmla="val 5569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468880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0" b="1" i="0">
                <a:solidFill>
                  <a:srgbClr val="FAD5D4"/>
                </a:solidFill>
                <a:latin typeface="Gilroy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977639"/>
            <a:ext cx="29718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 i="0">
                <a:solidFill>
                  <a:srgbClr val="FFFFFF"/>
                </a:solidFill>
                <a:latin typeface="Gilroy"/>
              </a:rPr>
              <a:t>СОЗДАТЬ КОММУНИКАЦИЮ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Gilroy"/>
              </a:rPr>
              <a:t>Назначить дату первого «Продуктового совета».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286000"/>
            <a:ext cx="3611880" cy="4206240"/>
          </a:xfrm>
          <a:prstGeom prst="roundRect">
            <a:avLst>
              <a:gd name="adj" fmla="val 5569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2468880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0" b="1" i="0">
                <a:solidFill>
                  <a:srgbClr val="E72F2A"/>
                </a:solidFill>
                <a:latin typeface="Gilroy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3977639"/>
            <a:ext cx="29718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 i="0">
                <a:solidFill>
                  <a:srgbClr val="1A1A1A"/>
                </a:solidFill>
                <a:latin typeface="Gilroy"/>
              </a:rPr>
              <a:t>ВЫРОВНЯТЬ СТАНДАРТЫ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Gilroy"/>
              </a:rPr>
              <a:t>Сверить скрипты и представления о сервисе.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822960" y="1124712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E72F2A"/>
                </a:solidFill>
                <a:latin typeface="Gilroy"/>
              </a:rPr>
              <a:t>КЕЙС: ЭЛИТНЫЙ ПОСЁЛОК В ЛО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64008" cy="512063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417320"/>
            <a:ext cx="10607040" cy="457199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A1A1A"/>
                </a:solidFill>
                <a:latin typeface="Gilroy"/>
              </a:rPr>
              <a:t>КАК СИСТЕМА ДАЛА +15% ПРОДАЖ В ЭЛИТНОМ ПОСЁЛКЕ ЛО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657600" cy="4480560"/>
          </a:xfrm>
          <a:prstGeom prst="roundRect">
            <a:avLst>
              <a:gd name="adj" fmla="val 4500"/>
            </a:avLst>
          </a:prstGeom>
          <a:solidFill>
            <a:srgbClr val="F4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6B6B6B"/>
                </a:solidFill>
                <a:latin typeface="Gilroy"/>
              </a:rPr>
              <a:t>СИТУАЦИЯ</a:t>
            </a:r>
          </a:p>
        </p:txBody>
      </p:sp>
      <p:sp>
        <p:nvSpPr>
          <p:cNvPr id="7" name="Diamond 6"/>
          <p:cNvSpPr/>
          <p:nvPr/>
        </p:nvSpPr>
        <p:spPr>
          <a:xfrm>
            <a:off x="822960" y="2761488"/>
            <a:ext cx="82296" cy="82296"/>
          </a:xfrm>
          <a:prstGeom prst="diamond">
            <a:avLst/>
          </a:prstGeom>
          <a:solidFill>
            <a:srgbClr val="6B6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697480"/>
            <a:ext cx="2898648" cy="365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Gilroy"/>
              </a:rPr>
              <a:t>Элитный посёлок в Ленинградской области</a:t>
            </a:r>
          </a:p>
        </p:txBody>
      </p:sp>
      <p:sp>
        <p:nvSpPr>
          <p:cNvPr id="9" name="Diamond 8"/>
          <p:cNvSpPr/>
          <p:nvPr/>
        </p:nvSpPr>
        <p:spPr>
          <a:xfrm>
            <a:off x="822960" y="3202813"/>
            <a:ext cx="82296" cy="82296"/>
          </a:xfrm>
          <a:prstGeom prst="diamond">
            <a:avLst/>
          </a:prstGeom>
          <a:solidFill>
            <a:srgbClr val="6B6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138805"/>
            <a:ext cx="2898648" cy="365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Gilroy"/>
              </a:rPr>
              <a:t>Застройщик работал напрямую и с несколькими брокерами</a:t>
            </a:r>
          </a:p>
        </p:txBody>
      </p:sp>
      <p:sp>
        <p:nvSpPr>
          <p:cNvPr id="11" name="Diamond 10"/>
          <p:cNvSpPr/>
          <p:nvPr/>
        </p:nvSpPr>
        <p:spPr>
          <a:xfrm>
            <a:off x="822960" y="3644138"/>
            <a:ext cx="82296" cy="82296"/>
          </a:xfrm>
          <a:prstGeom prst="diamond">
            <a:avLst/>
          </a:prstGeom>
          <a:solidFill>
            <a:srgbClr val="6B6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580130"/>
            <a:ext cx="2898648" cy="365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Gilroy"/>
              </a:rPr>
              <a:t>Постоянные конфликты по клиентам, комиссиям, зонам ответственности</a:t>
            </a:r>
          </a:p>
        </p:txBody>
      </p:sp>
      <p:sp>
        <p:nvSpPr>
          <p:cNvPr id="13" name="Diamond 12"/>
          <p:cNvSpPr/>
          <p:nvPr/>
        </p:nvSpPr>
        <p:spPr>
          <a:xfrm>
            <a:off x="822960" y="4085463"/>
            <a:ext cx="82296" cy="82296"/>
          </a:xfrm>
          <a:prstGeom prst="diamond">
            <a:avLst/>
          </a:prstGeom>
          <a:solidFill>
            <a:srgbClr val="6B6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021455"/>
            <a:ext cx="2898648" cy="365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Gilroy"/>
              </a:rPr>
              <a:t>Негативный фон в агентском сообществе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103120"/>
            <a:ext cx="3703320" cy="4480560"/>
          </a:xfrm>
          <a:prstGeom prst="roundRect">
            <a:avLst>
              <a:gd name="adj" fmla="val 4444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2402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E72F2A"/>
                </a:solidFill>
                <a:latin typeface="Gilroy"/>
              </a:rPr>
              <a:t>ЧТО СДЕЛАЛИ</a:t>
            </a:r>
          </a:p>
        </p:txBody>
      </p:sp>
      <p:sp>
        <p:nvSpPr>
          <p:cNvPr id="17" name="Diamond 16"/>
          <p:cNvSpPr/>
          <p:nvPr/>
        </p:nvSpPr>
        <p:spPr>
          <a:xfrm>
            <a:off x="4663440" y="2761488"/>
            <a:ext cx="82296" cy="82296"/>
          </a:xfrm>
          <a:prstGeom prst="diamond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9472" y="2697480"/>
            <a:ext cx="2944368" cy="182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Gilroy"/>
              </a:rPr>
              <a:t>Внедрили матрицу ответственности</a:t>
            </a:r>
          </a:p>
        </p:txBody>
      </p:sp>
      <p:sp>
        <p:nvSpPr>
          <p:cNvPr id="19" name="Diamond 18"/>
          <p:cNvSpPr/>
          <p:nvPr/>
        </p:nvSpPr>
        <p:spPr>
          <a:xfrm>
            <a:off x="4663440" y="3020250"/>
            <a:ext cx="82296" cy="82296"/>
          </a:xfrm>
          <a:prstGeom prst="diamond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9472" y="2956242"/>
            <a:ext cx="2944368" cy="365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Gilroy"/>
              </a:rPr>
              <a:t>Настроили CRM с фиксацией первого касания</a:t>
            </a:r>
          </a:p>
        </p:txBody>
      </p:sp>
      <p:sp>
        <p:nvSpPr>
          <p:cNvPr id="21" name="Diamond 20"/>
          <p:cNvSpPr/>
          <p:nvPr/>
        </p:nvSpPr>
        <p:spPr>
          <a:xfrm>
            <a:off x="4663440" y="3461575"/>
            <a:ext cx="82296" cy="82296"/>
          </a:xfrm>
          <a:prstGeom prst="diamond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19472" y="3397567"/>
            <a:ext cx="2944368" cy="365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Gilroy"/>
              </a:rPr>
              <a:t>Ввели единую мотивацию: МОП застройщика получает %</a:t>
            </a:r>
          </a:p>
        </p:txBody>
      </p:sp>
      <p:sp>
        <p:nvSpPr>
          <p:cNvPr id="23" name="Diamond 22"/>
          <p:cNvSpPr/>
          <p:nvPr/>
        </p:nvSpPr>
        <p:spPr>
          <a:xfrm>
            <a:off x="4663440" y="3902900"/>
            <a:ext cx="82296" cy="82296"/>
          </a:xfrm>
          <a:prstGeom prst="diamond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9472" y="3838892"/>
            <a:ext cx="2944368" cy="73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Gilroy"/>
              </a:rPr>
              <a:t>Провели совместное обучение: «продукт» от продавца и блок от брокеров (конъюнктура рынка, УТП, воронка клиента)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2103120"/>
            <a:ext cx="3520440" cy="4480560"/>
          </a:xfrm>
          <a:prstGeom prst="roundRect">
            <a:avLst>
              <a:gd name="adj" fmla="val 4675"/>
            </a:avLst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224028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FAD5D4"/>
                </a:solidFill>
                <a:latin typeface="Gilroy"/>
              </a:rPr>
              <a:t>РЕЗУЛЬТАТ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269748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Gilroy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4747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FAD5D4"/>
                </a:solidFill>
                <a:latin typeface="Gilroy"/>
              </a:rPr>
              <a:t>споров по клиентам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3959352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Gilroy"/>
              </a:rPr>
              <a:t>+12%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473659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FAD5D4"/>
                </a:solidFill>
                <a:latin typeface="Gilroy"/>
              </a:rPr>
              <a:t>конверсия из показа в сделку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5221224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Gilroy"/>
              </a:rPr>
              <a:t>+15%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5998464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FAD5D4"/>
                </a:solidFill>
                <a:latin typeface="Gilroy"/>
              </a:rPr>
              <a:t>к выручке за квартал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822960" y="1170432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E72F2A"/>
                </a:solidFill>
                <a:latin typeface="Gilroy"/>
              </a:rPr>
              <a:t>ЭКОНОМИКА: СКОЛЬКО СТОИТ КОНФЛИКТ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35608"/>
            <a:ext cx="64008" cy="557784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463040"/>
            <a:ext cx="10058400" cy="5029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Gilroy"/>
              </a:rPr>
              <a:t>СКОЛЬКО ТЕРЯЮТ ОБЕ СТОРОНЫ, КОГДА ВОЮЮТ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292608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Gilroy"/>
              </a:rPr>
              <a:t>ПОТЕРЯ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2240280"/>
            <a:ext cx="420624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240280"/>
            <a:ext cx="384047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Gilroy"/>
              </a:rPr>
              <a:t>ДЕВЕЛОПЕР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2240280"/>
            <a:ext cx="41148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224028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Gilroy"/>
              </a:rPr>
              <a:t>БРОКЕР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43200"/>
            <a:ext cx="2926080" cy="777240"/>
          </a:xfrm>
          <a:prstGeom prst="rect">
            <a:avLst/>
          </a:prstGeom>
          <a:solidFill>
            <a:srgbClr val="FCE9E8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E72F2A"/>
                </a:solidFill>
                <a:latin typeface="Gilroy"/>
              </a:rPr>
              <a:t>Пересечение клиентов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743200"/>
            <a:ext cx="4206240" cy="777240"/>
          </a:xfrm>
          <a:prstGeom prst="rect">
            <a:avLst/>
          </a:prstGeom>
          <a:solidFill>
            <a:srgbClr val="FCE9E8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743200"/>
            <a:ext cx="38404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Gilroy"/>
              </a:rPr>
              <a:t>Тратит бюджет на «своего» клиента повторно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2743200"/>
            <a:ext cx="4114800" cy="777240"/>
          </a:xfrm>
          <a:prstGeom prst="rect">
            <a:avLst/>
          </a:prstGeom>
          <a:solidFill>
            <a:srgbClr val="FCE9E8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74320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Gilroy"/>
              </a:rPr>
              <a:t>Теряет комиссию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20440"/>
            <a:ext cx="2926080" cy="777240"/>
          </a:xfrm>
          <a:prstGeom prst="rect">
            <a:avLst/>
          </a:prstGeom>
          <a:solidFill>
            <a:srgbClr val="F4F4F6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20440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E72F2A"/>
                </a:solidFill>
                <a:latin typeface="Gilroy"/>
              </a:rPr>
              <a:t>Спор о комиссии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3520440"/>
            <a:ext cx="4206240" cy="777240"/>
          </a:xfrm>
          <a:prstGeom prst="rect">
            <a:avLst/>
          </a:prstGeom>
          <a:solidFill>
            <a:srgbClr val="F4F4F6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3520440"/>
            <a:ext cx="38404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Gilroy"/>
              </a:rPr>
              <a:t>Затягивает сделку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3520440"/>
            <a:ext cx="4114800" cy="777240"/>
          </a:xfrm>
          <a:prstGeom prst="rect">
            <a:avLst/>
          </a:prstGeom>
          <a:solidFill>
            <a:srgbClr val="F4F4F6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352044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Gilroy"/>
              </a:rPr>
              <a:t>Ждёт выплату месяцами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97680"/>
            <a:ext cx="2926080" cy="777240"/>
          </a:xfrm>
          <a:prstGeom prst="rect">
            <a:avLst/>
          </a:prstGeom>
          <a:solidFill>
            <a:srgbClr val="FCE9E8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297680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E72F2A"/>
                </a:solidFill>
                <a:latin typeface="Gilroy"/>
              </a:rPr>
              <a:t>Размытая ответственность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4297680"/>
            <a:ext cx="4206240" cy="777240"/>
          </a:xfrm>
          <a:prstGeom prst="rect">
            <a:avLst/>
          </a:prstGeom>
          <a:solidFill>
            <a:srgbClr val="FCE9E8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4297680"/>
            <a:ext cx="38404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Gilroy"/>
              </a:rPr>
              <a:t>Клиент уходит к конкуренту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4297680"/>
            <a:ext cx="4114800" cy="777240"/>
          </a:xfrm>
          <a:prstGeom prst="rect">
            <a:avLst/>
          </a:prstGeom>
          <a:solidFill>
            <a:srgbClr val="FCE9E8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429768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Gilroy"/>
              </a:rPr>
              <a:t>Репутация падает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074920"/>
            <a:ext cx="2926080" cy="777240"/>
          </a:xfrm>
          <a:prstGeom prst="rect">
            <a:avLst/>
          </a:prstGeom>
          <a:solidFill>
            <a:srgbClr val="F4F4F6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074920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E72F2A"/>
                </a:solidFill>
                <a:latin typeface="Gilroy"/>
              </a:rPr>
              <a:t>Отсутствие CRM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5074920"/>
            <a:ext cx="4206240" cy="777240"/>
          </a:xfrm>
          <a:prstGeom prst="rect">
            <a:avLst/>
          </a:prstGeom>
          <a:solidFill>
            <a:srgbClr val="F4F4F6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5074920"/>
            <a:ext cx="384047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Gilroy"/>
              </a:rPr>
              <a:t>Не видит источник лида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0" y="5074920"/>
            <a:ext cx="4114800" cy="777240"/>
          </a:xfrm>
          <a:prstGeom prst="rect">
            <a:avLst/>
          </a:prstGeom>
          <a:solidFill>
            <a:srgbClr val="F4F4F6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507492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Gilroy"/>
              </a:rPr>
              <a:t>Не может доказать своё участие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989320"/>
            <a:ext cx="11247120" cy="640080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98932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Gilroy"/>
              </a:rPr>
              <a:t>Одна потерянная сделка в элитном сегменте = стоимость года работы менеджера.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97280"/>
            <a:ext cx="6858000" cy="5760720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371600"/>
            <a:ext cx="5669280" cy="5029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Gilroy"/>
              </a:rPr>
              <a:t>ФОРМУЛА ПАРТНЁРСТВА ДЕВЕЛОПЕРА И БРОКЕРА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Gilroy"/>
              </a:rPr>
              <a:t>МАТРИЦА ОТВЕТСТВЕННОСТИ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07208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Gilroy"/>
              </a:rPr>
              <a:t>+ ПРАВИЛО ПЕРВОГО КАСАНИЯ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65576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Gilroy"/>
              </a:rPr>
              <a:t>+ ЕДИНАЯ МОТИВАЦИЯ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23944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Gilroy"/>
              </a:rPr>
              <a:t>+ CRM + ОБУЧЕНИЕ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828031"/>
            <a:ext cx="54864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056631"/>
            <a:ext cx="5943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Gilroy"/>
              </a:rPr>
              <a:t>= УДВОЕНИЕ ПРОДАЖ БЕЗ ВОЙНЫ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3716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E72F2A"/>
                </a:solidFill>
                <a:latin typeface="Gilroy"/>
              </a:rPr>
              <a:t>ВЫВОДЫ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874519"/>
            <a:ext cx="4389120" cy="1371600"/>
          </a:xfrm>
          <a:prstGeom prst="roundRect">
            <a:avLst>
              <a:gd name="adj" fmla="val 12000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965960"/>
            <a:ext cx="9144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E72F2A"/>
                </a:solidFill>
                <a:latin typeface="Gilroy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96596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Gilroy"/>
              </a:rPr>
              <a:t>Конфликт — это не характер, это отсутствие системы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3429000"/>
            <a:ext cx="4389120" cy="1371600"/>
          </a:xfrm>
          <a:prstGeom prst="roundRect">
            <a:avLst>
              <a:gd name="adj" fmla="val 12000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3520440"/>
            <a:ext cx="9144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E72F2A"/>
                </a:solidFill>
                <a:latin typeface="Gilroy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52044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Gilroy"/>
              </a:rPr>
              <a:t>Система защищает и брокера, и девелопера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4983480"/>
            <a:ext cx="4389120" cy="1371600"/>
          </a:xfrm>
          <a:prstGeom prst="roundRect">
            <a:avLst>
              <a:gd name="adj" fmla="val 12000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5074920"/>
            <a:ext cx="9144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E72F2A"/>
                </a:solidFill>
                <a:latin typeface="Gilroy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507492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Gilroy"/>
              </a:rPr>
              <a:t>Клиент выигрывает — и возвращается с рекомендацией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822960" y="11704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E72F2A"/>
                </a:solidFill>
                <a:latin typeface="Gilroy"/>
              </a:rPr>
              <a:t>ВЫВОДЫ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35608"/>
            <a:ext cx="64008" cy="588264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463040"/>
            <a:ext cx="7315200" cy="5334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A1A1A"/>
                </a:solidFill>
                <a:latin typeface="Gilroy"/>
              </a:rPr>
              <a:t>ЧТО ЗАБРАТЬ С СОБОЙ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3611880" cy="3200400"/>
          </a:xfrm>
          <a:prstGeom prst="roundRect">
            <a:avLst>
              <a:gd name="adj" fmla="val 6285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0" b="1" i="0">
                <a:solidFill>
                  <a:srgbClr val="E72F2A"/>
                </a:solidFill>
                <a:latin typeface="Gilroy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1A1A1A"/>
                </a:solidFill>
                <a:latin typeface="Gilroy"/>
              </a:rPr>
              <a:t>ЗОНЫ ОТВЕТСТВЕННОСТИ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Gilroy"/>
              </a:rPr>
              <a:t>расписать до старта, а не после конфликта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194560"/>
            <a:ext cx="3611880" cy="3200400"/>
          </a:xfrm>
          <a:prstGeom prst="roundRect">
            <a:avLst>
              <a:gd name="adj" fmla="val 6285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286000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0" b="1" i="0">
                <a:solidFill>
                  <a:srgbClr val="E72F2A"/>
                </a:solidFill>
                <a:latin typeface="Gilroy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70332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1A1A1A"/>
                </a:solidFill>
                <a:latin typeface="Gilroy"/>
              </a:rPr>
              <a:t>CRM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Gilroy"/>
              </a:rPr>
              <a:t>единственный источник правды, без неё партнёрства не будет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194560"/>
            <a:ext cx="3611880" cy="3200400"/>
          </a:xfrm>
          <a:prstGeom prst="roundRect">
            <a:avLst>
              <a:gd name="adj" fmla="val 6285"/>
            </a:avLst>
          </a:prstGeom>
          <a:solidFill>
            <a:srgbClr val="FCE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2286000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0" b="1" i="0">
                <a:solidFill>
                  <a:srgbClr val="E72F2A"/>
                </a:solidFill>
                <a:latin typeface="Gilroy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370332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1A1A1A"/>
                </a:solidFill>
                <a:latin typeface="Gilroy"/>
              </a:rPr>
              <a:t>ЕДИНАЯ МОТИВАЦИЯ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Gilroy"/>
              </a:rPr>
              <a:t>комиссия не режется при передаче клиента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623560"/>
            <a:ext cx="12191695" cy="1234439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623560"/>
            <a:ext cx="10789920" cy="1234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50" b="1" i="0">
                <a:solidFill>
                  <a:srgbClr val="FFFFFF"/>
                </a:solidFill>
                <a:latin typeface="Gilroy"/>
              </a:rPr>
              <a:t>В элитном сегменте побеждает не тот, кто громче торгуется. А тот, кто выстроил систему.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dev_armchairs.jpg"/>
          <p:cNvPicPr>
            <a:picLocks noChangeAspect="1"/>
          </p:cNvPicPr>
          <p:nvPr/>
        </p:nvPicPr>
        <p:blipFill>
          <a:blip r:embed="rId2"/>
          <a:srcRect t="13021" b="3021"/>
          <a:stretch>
            <a:fillRect/>
          </a:stretch>
        </p:blipFill>
        <p:spPr>
          <a:xfrm>
            <a:off x="0" y="1097280"/>
            <a:ext cx="12191695" cy="57607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097280"/>
            <a:ext cx="12191695" cy="5760720"/>
          </a:xfrm>
          <a:prstGeom prst="rect">
            <a:avLst/>
          </a:prstGeom>
          <a:solidFill>
            <a:srgbClr val="1A1A1A">
              <a:alpha val="6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2103120" cy="82475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00400" y="1417319"/>
            <a:ext cx="64008" cy="777240"/>
          </a:xfrm>
          <a:prstGeom prst="rect">
            <a:avLst/>
          </a:prstGeom>
          <a:solidFill>
            <a:srgbClr val="E72F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0" y="1417319"/>
            <a:ext cx="8229600" cy="89916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Gilroy"/>
              </a:rPr>
              <a:t>ЗАБИРАЙТЕ ШАБЛОНЫ И ОСТАВАЙТЕСЬ НА СВЯЗИ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37360" y="2606040"/>
            <a:ext cx="3108960" cy="31089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65960" y="2834640"/>
            <a:ext cx="2651760" cy="2651760"/>
          </a:xfrm>
          <a:prstGeom prst="roundRect">
            <a:avLst>
              <a:gd name="adj" fmla="val 2758"/>
            </a:avLst>
          </a:prstGeom>
          <a:noFill/>
          <a:ln w="19050">
            <a:solidFill>
              <a:srgbClr val="E72F2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2834640"/>
            <a:ext cx="2651760" cy="2651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Gilroy"/>
              </a:rPr>
              <a:t>вставить QR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Gilroy"/>
              </a:rPr>
              <a:t>на шаблоны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42631" y="2606040"/>
            <a:ext cx="3108960" cy="31089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qr_t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1" y="2834640"/>
            <a:ext cx="2651760" cy="2651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585216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Gilroy"/>
              </a:rPr>
              <a:t>Шаблоны и материалы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Gilroy"/>
              </a:rPr>
              <a:t>матрица ответственности • правило первого касания • чек-лист продуктового совета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585216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Gilroy"/>
              </a:rPr>
              <a:t>Подпишитесь на наш Telegram-канал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Gilroy"/>
              </a:rPr>
              <a:t>анонсы объектов по СПб и ЛО • скрипты, кейсы, шаблоны и материалы по загородной недвижимости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A1A1A"/>
      </a:dk2>
      <a:lt2>
        <a:srgbClr val="FCE9E8"/>
      </a:lt2>
      <a:accent1>
        <a:srgbClr val="E72F2A"/>
      </a:accent1>
      <a:accent2>
        <a:srgbClr val="1B3A8C"/>
      </a:accent2>
      <a:accent3>
        <a:srgbClr val="E6C88F"/>
      </a:accent3>
      <a:accent4>
        <a:srgbClr val="FAD5D4"/>
      </a:accent4>
      <a:accent5>
        <a:srgbClr val="C4221E"/>
      </a:accent5>
      <a:accent6>
        <a:srgbClr val="6B6B6B"/>
      </a:accent6>
      <a:hlink>
        <a:srgbClr val="0563C1"/>
      </a:hlink>
      <a:folHlink>
        <a:srgbClr val="954F72"/>
      </a:folHlink>
    </a:clrScheme>
    <a:fontScheme name="Стандартная">
      <a:majorFont>
        <a:latin typeface="Gilroy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ilroy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1" id="{FD1A400E-B3A4-9943-91A7-935306E9B933}" vid="{41D8448F-F911-9F47-AA3D-C192C3EDB1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A1A1A"/>
      </a:dk2>
      <a:lt2>
        <a:srgbClr val="FCE9E8"/>
      </a:lt2>
      <a:accent1>
        <a:srgbClr val="E72F2A"/>
      </a:accent1>
      <a:accent2>
        <a:srgbClr val="1B3A8C"/>
      </a:accent2>
      <a:accent3>
        <a:srgbClr val="E6C88F"/>
      </a:accent3>
      <a:accent4>
        <a:srgbClr val="FAD5D4"/>
      </a:accent4>
      <a:accent5>
        <a:srgbClr val="C4221E"/>
      </a:accent5>
      <a:accent6>
        <a:srgbClr val="6B6B6B"/>
      </a:accent6>
      <a:hlink>
        <a:srgbClr val="0000FF"/>
      </a:hlink>
      <a:folHlink>
        <a:srgbClr val="800080"/>
      </a:folHlink>
    </a:clrScheme>
    <a:fontScheme name="Office">
      <a:majorFont>
        <a:latin typeface="Gilro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ro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0</Words>
  <Application>Microsoft Macintosh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Julia Seliavina</dc:creator>
  <cp:lastModifiedBy>Julia Seliavina</cp:lastModifiedBy>
  <cp:revision>1</cp:revision>
  <dcterms:created xsi:type="dcterms:W3CDTF">2026-08-21T06:59:26Z</dcterms:created>
  <dcterms:modified xsi:type="dcterms:W3CDTF">2026-08-21T07:03:02Z</dcterms:modified>
</cp:coreProperties>
</file>