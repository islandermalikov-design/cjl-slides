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Визуал: дом по центру, слева рука брокера с папкой, справа рука девелопера с чертежами.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Визуал: два кресла / две позиции.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Визуал: разделённый экран. Слева — боли девелопера, справа — боли брокера, по центру — разрыв.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Визуал: схема из трёх разорванных звеньев цепи.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Визуал: три вертикальные колонны / опоры.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без визуала (по ТЗ).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Визуал: архитектор + застройщик + брокер над планировкой/генпланом.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Визуал: customer journey Лид → брокер → показ → застройщик → бронь → сделка, но вместо разных блоков — одна непрерывная линия.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без визуала (по ТЗ): сравнение старой и новой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Визуал: 3 большие карточки.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Визуал: большие цифры, карточки до/после.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без визуала (по ТЗ).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без визуала (по ТЗ): формула крупно в центре и три вывода.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Визуал: три большие цифры.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QR-код ведёт на Telegram-канал: https://t.me/puzzlerealty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jl-slides/dc4b3785-bf11-502a-8a99-927e98445714/scratchpad/pp/hou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18" y="3267448"/>
            <a:ext cx="10728933" cy="17068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девелоперу и брокеру не перегрызть друг другу горло и удвоить продажи?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1706876" y="5145011"/>
            <a:ext cx="8778218" cy="56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4DF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работы со стороны агентства и со стороны отдела продаж застройщика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60831" y="5803377"/>
            <a:ext cx="11070308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0831" y="5998449"/>
            <a:ext cx="1511804" cy="63398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/tmp/claude-0/-home-user-cjl-slides/dc4b3785-bf11-502a-8a99-927e98445714/scratchpad/pp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8" y="6108177"/>
            <a:ext cx="1292349" cy="5051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64467" y="5998449"/>
            <a:ext cx="6266672" cy="63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Федорова Мария</a:t>
            </a:r>
            <a:endParaRPr lang="en-US" sz="14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8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управляющий партнёр, сооснователь агентства недвижимости Puzzle Realty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jl-slides/dc4b3785-bf11-502a-8a99-927e98445714/scratchpad/pp/chai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0831" y="512063"/>
            <a:ext cx="8534379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МЫ И ПОЧЕМУ ИМЕЕМ ПРАВО ГОВОРИТЬ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0831" y="926590"/>
            <a:ext cx="9753576" cy="1706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сидим на двух стульях.</a:t>
            </a:r>
            <a:endParaRPr lang="en-US" sz="4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000" b="1" i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это наша суперсила.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60831" y="2926073"/>
            <a:ext cx="5364467" cy="2560314"/>
          </a:xfrm>
          <a:prstGeom prst="rect">
            <a:avLst/>
          </a:prstGeom>
          <a:solidFill>
            <a:srgbClr val="0C0A09">
              <a:alpha val="78000"/>
            </a:srgbClr>
          </a:solidFill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3438" y="3133336"/>
            <a:ext cx="3657591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3438" y="3413751"/>
            <a:ext cx="4779252" cy="75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— отдел продаж застройщика и эксклюзивный брокер проектов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53438" y="4340341"/>
            <a:ext cx="4779252" cy="109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Видим, как брокер теряет деньги из-за конфликтов с застройщиком</a:t>
            </a:r>
            <a:endParaRPr lang="en-US" sz="1300" dirty="0"/>
          </a:p>
          <a:p>
            <a:pPr algn="l"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Знаем, где рвётся коммуникация</a:t>
            </a:r>
            <a:endParaRPr lang="en-US" sz="1300" dirty="0"/>
          </a:p>
          <a:p>
            <a:pPr algn="l"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Понимаем мотивацию брокера изнутри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6672" y="2926073"/>
            <a:ext cx="5364467" cy="2560314"/>
          </a:xfrm>
          <a:prstGeom prst="rect">
            <a:avLst/>
          </a:prstGeom>
          <a:solidFill>
            <a:srgbClr val="0C0A09">
              <a:alpha val="78000"/>
            </a:srgbClr>
          </a:solidFill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59280" y="3133336"/>
            <a:ext cx="3657591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559280" y="3413751"/>
            <a:ext cx="4779252" cy="75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— агентство, работающее с застройщиком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6559280" y="4340341"/>
            <a:ext cx="4779252" cy="109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Видим, как девелопер теряет клиентов из-за несистемной работы с брокерами</a:t>
            </a:r>
            <a:endParaRPr lang="en-US" sz="1300" dirty="0"/>
          </a:p>
          <a:p>
            <a:pPr algn="l"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Знаем, где застройщик недополучает продажи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0831" y="5778994"/>
            <a:ext cx="10972773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Поэтому сегодня говорим не «с одной стороны», а честно — с двух.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jl-slides/dc4b3785-bf11-502a-8a99-927e98445714/scratchpad/pp/spl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0831" y="512063"/>
            <a:ext cx="7315182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ГОРЬКАЯ ПРАВДА РЫНКА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0831" y="902206"/>
            <a:ext cx="10972773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тратим энергию на войну вместо продаж.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0831" y="4169654"/>
            <a:ext cx="4998708" cy="1377693"/>
          </a:xfrm>
          <a:prstGeom prst="rect">
            <a:avLst/>
          </a:prstGeom>
          <a:solidFill>
            <a:srgbClr val="0C0A09">
              <a:alpha val="75000"/>
            </a:srgbClr>
          </a:solidFill>
          <a:ln w="9525">
            <a:solidFill>
              <a:srgbClr val="C9A96E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9054" y="4340341"/>
            <a:ext cx="4389109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ДЕВЕЛОПЕР ВИДИТ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9054" y="4657332"/>
            <a:ext cx="4511029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«Дорогой и нестабильный канал»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632431" y="4169654"/>
            <a:ext cx="4998708" cy="1377693"/>
          </a:xfrm>
          <a:prstGeom prst="rect">
            <a:avLst/>
          </a:prstGeom>
          <a:solidFill>
            <a:srgbClr val="0C0A09">
              <a:alpha val="75000"/>
            </a:srgbClr>
          </a:solidFill>
          <a:ln w="9525">
            <a:solidFill>
              <a:srgbClr val="C9A96E">
                <a:alpha val="4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0655" y="4340341"/>
            <a:ext cx="4389109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 ВИДИТ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900655" y="4657332"/>
            <a:ext cx="4511029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«Неповоротливого гиганта»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60831" y="5742418"/>
            <a:ext cx="11070308" cy="63398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0" y="5742418"/>
            <a:ext cx="10607013" cy="63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Суды из-за комиссий, споры о лидах, слив сделок.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34379" y="-731518"/>
            <a:ext cx="4876788" cy="4876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0" dirty="0">
                <a:solidFill>
                  <a:srgbClr val="C9A96E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38000" dirty="0"/>
          </a:p>
        </p:txBody>
      </p:sp>
      <p:sp>
        <p:nvSpPr>
          <p:cNvPr id="3" name="Text 1"/>
          <p:cNvSpPr txBox="1"/>
          <p:nvPr/>
        </p:nvSpPr>
        <p:spPr>
          <a:xfrm>
            <a:off x="560831" y="512063"/>
            <a:ext cx="8534379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ДИАГНОСТИКА: ПОЧЕМУ МЕХАНИЗМ ЛОМАЕТСЯ?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0831" y="902206"/>
            <a:ext cx="9753576" cy="975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точки разрыва.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560831" y="3730743"/>
            <a:ext cx="3230872" cy="2560314"/>
          </a:xfrm>
          <a:prstGeom prst="roundRect">
            <a:avLst>
              <a:gd name="adj" fmla="val 32143"/>
            </a:avLst>
          </a:prstGeom>
          <a:solidFill>
            <a:srgbClr val="0C0A09"/>
          </a:solidFill>
          <a:ln w="28575">
            <a:solidFill>
              <a:srgbClr val="C9A9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4" y="4047734"/>
            <a:ext cx="2438394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50974" y="4901172"/>
            <a:ext cx="2560314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50974" y="5437618"/>
            <a:ext cx="2511546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Ожидания рынка ≠ реальность стройки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74453" y="3096760"/>
            <a:ext cx="3230872" cy="2560314"/>
          </a:xfrm>
          <a:prstGeom prst="roundRect">
            <a:avLst>
              <a:gd name="adj" fmla="val 32143"/>
            </a:avLst>
          </a:prstGeom>
          <a:solidFill>
            <a:srgbClr val="0C0A09"/>
          </a:solidFill>
          <a:ln w="28575">
            <a:solidFill>
              <a:srgbClr val="C9A9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596" y="3413751"/>
            <a:ext cx="2438394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64596" y="4267189"/>
            <a:ext cx="2560314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Репутация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864596" y="4803636"/>
            <a:ext cx="2511546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Репутационные потери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88075" y="3413751"/>
            <a:ext cx="3230872" cy="2560314"/>
          </a:xfrm>
          <a:prstGeom prst="roundRect">
            <a:avLst>
              <a:gd name="adj" fmla="val 32143"/>
            </a:avLst>
          </a:prstGeom>
          <a:solidFill>
            <a:srgbClr val="0C0A09"/>
          </a:solidFill>
          <a:ln w="28575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18" y="3730743"/>
            <a:ext cx="2438394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778218" y="4584181"/>
            <a:ext cx="2560314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778218" y="5120627"/>
            <a:ext cx="2511546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Разрозненные данные CRM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25814" y="4389109"/>
            <a:ext cx="414527" cy="853438"/>
          </a:xfrm>
          <a:prstGeom prst="lightningBolt">
            <a:avLst/>
          </a:prstGeom>
          <a:ln w="19050">
            <a:solidFill>
              <a:srgbClr val="C9A9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39436" y="4047734"/>
            <a:ext cx="414527" cy="853438"/>
          </a:xfrm>
          <a:prstGeom prst="lightningBolt">
            <a:avLst/>
          </a:prstGeom>
          <a:ln w="19050">
            <a:solidFill>
              <a:srgbClr val="C9A96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0831" y="1414268"/>
            <a:ext cx="2926073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8F7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0831" y="1828795"/>
            <a:ext cx="3230872" cy="268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</a:t>
            </a:r>
            <a:endParaRPr lang="en-US" sz="2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Win-Win:</a:t>
            </a:r>
            <a:endParaRPr lang="en-US" sz="2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системный конвейер продаж.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0831" y="4754868"/>
            <a:ext cx="2804153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столпа синергии — на них держится вся конструкция.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901430" y="1804411"/>
            <a:ext cx="7851628" cy="658366"/>
          </a:xfrm>
          <a:prstGeom prst="rect">
            <a:avLst/>
          </a:prstGeom>
          <a:solidFill>
            <a:srgbClr val="0C0A0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01430" y="1804411"/>
            <a:ext cx="7851628" cy="65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И Н Е Р Г И Я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096502" y="2511546"/>
            <a:ext cx="2292090" cy="4023350"/>
          </a:xfrm>
          <a:prstGeom prst="rect">
            <a:avLst/>
          </a:prstGeom>
          <a:solidFill>
            <a:srgbClr val="0C0A09"/>
          </a:solidFill>
          <a:ln/>
        </p:spPr>
      </p:sp>
      <p:sp>
        <p:nvSpPr>
          <p:cNvPr id="8" name="Shape 6"/>
          <p:cNvSpPr/>
          <p:nvPr/>
        </p:nvSpPr>
        <p:spPr>
          <a:xfrm>
            <a:off x="4096502" y="2511546"/>
            <a:ext cx="2292090" cy="7315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15957" y="4511029"/>
            <a:ext cx="1828795" cy="85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315957" y="5510770"/>
            <a:ext cx="1853179" cy="902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Прозрачность данных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81199" y="2511546"/>
            <a:ext cx="2292090" cy="4023350"/>
          </a:xfrm>
          <a:prstGeom prst="rect">
            <a:avLst/>
          </a:prstGeom>
          <a:solidFill>
            <a:srgbClr val="0C0A09"/>
          </a:solidFill>
          <a:ln/>
        </p:spPr>
      </p:sp>
      <p:sp>
        <p:nvSpPr>
          <p:cNvPr id="12" name="Shape 10"/>
          <p:cNvSpPr/>
          <p:nvPr/>
        </p:nvSpPr>
        <p:spPr>
          <a:xfrm>
            <a:off x="6681199" y="2511546"/>
            <a:ext cx="2292090" cy="7315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0655" y="4511029"/>
            <a:ext cx="1828795" cy="85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900655" y="5510770"/>
            <a:ext cx="1853179" cy="902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Синхронизация продукта и маркетинга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265897" y="2511546"/>
            <a:ext cx="2292090" cy="4023350"/>
          </a:xfrm>
          <a:prstGeom prst="rect">
            <a:avLst/>
          </a:prstGeom>
          <a:solidFill>
            <a:srgbClr val="0C0A09"/>
          </a:solidFill>
          <a:ln/>
        </p:spPr>
      </p:sp>
      <p:sp>
        <p:nvSpPr>
          <p:cNvPr id="16" name="Shape 14"/>
          <p:cNvSpPr/>
          <p:nvPr/>
        </p:nvSpPr>
        <p:spPr>
          <a:xfrm>
            <a:off x="9265897" y="2511546"/>
            <a:ext cx="2292090" cy="7315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85352" y="4511029"/>
            <a:ext cx="1828795" cy="85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485352" y="5510770"/>
            <a:ext cx="1853179" cy="9022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Единый стандарт сервиса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3901430" y="6534896"/>
            <a:ext cx="7851628" cy="323087"/>
          </a:xfrm>
          <a:prstGeom prst="rect">
            <a:avLst/>
          </a:prstGeom>
          <a:solidFill>
            <a:srgbClr val="C9A96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14" y="0"/>
            <a:ext cx="6595856" cy="6857983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59" y="3657591"/>
            <a:ext cx="3657591" cy="365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0" dirty="0">
                <a:solidFill>
                  <a:srgbClr val="C9A96E">
                    <a:alpha val="9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0" dirty="0"/>
          </a:p>
        </p:txBody>
      </p:sp>
      <p:sp>
        <p:nvSpPr>
          <p:cNvPr id="4" name="Text 2"/>
          <p:cNvSpPr txBox="1"/>
          <p:nvPr/>
        </p:nvSpPr>
        <p:spPr>
          <a:xfrm>
            <a:off x="560831" y="1463036"/>
            <a:ext cx="4876788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СТОЛП №1 · ПРОЗРАЧНОСТЬ ДАННЫХ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0831" y="1950715"/>
            <a:ext cx="4632948" cy="316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должны заменить эмоции.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108177" y="1146045"/>
            <a:ext cx="5120627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ОТ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08177" y="1511804"/>
            <a:ext cx="5559538" cy="1341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300" b="1" strike="sngStrike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Excel-таблиц</a:t>
            </a:r>
            <a:pPr algn="l"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 </a:t>
            </a:r>
            <a:pPr algn="l" indent="0" marL="0">
              <a:lnSpc>
                <a:spcPct val="98000"/>
              </a:lnSpc>
              <a:buNone/>
            </a:pPr>
            <a:r>
              <a:rPr lang="en-US" sz="2300" b="1" strike="sngStrike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переписок в WhatsApp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08177" y="2999225"/>
            <a:ext cx="5559538" cy="0"/>
          </a:xfrm>
          <a:prstGeom prst="line">
            <a:avLst/>
          </a:prstGeom>
          <a:noFill/>
          <a:ln w="9525">
            <a:solidFill>
              <a:srgbClr val="0C0A09">
                <a:alpha val="4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08177" y="3291832"/>
            <a:ext cx="5120627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108177" y="3657591"/>
            <a:ext cx="5559538" cy="1341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Единому информационному полю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108177" y="4486645"/>
            <a:ext cx="5559538" cy="0"/>
          </a:xfrm>
          <a:prstGeom prst="line">
            <a:avLst/>
          </a:prstGeom>
          <a:noFill/>
          <a:ln w="9525">
            <a:solidFill>
              <a:srgbClr val="0C0A09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08177" y="4779252"/>
            <a:ext cx="5120627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ДАЁТ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08177" y="5145011"/>
            <a:ext cx="5559538" cy="1341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Брокер видит актуальный стоп-лист → Девелопер видит реальную воронку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jl-slides/dc4b3785-bf11-502a-8a99-927e98445714/scratchpad/pp/tab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5270" y="0"/>
            <a:ext cx="80467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12063" y="1097277"/>
            <a:ext cx="3291832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СТОЛП №2 · СОВМЕСТНОЕ ПРОЕКТИРОВАНИЕ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12063" y="1755644"/>
            <a:ext cx="3364984" cy="182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Продукт, который хочет рынок.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3" y="3877046"/>
            <a:ext cx="3340600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3" y="4023350"/>
            <a:ext cx="3291832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БРОКЕРА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12063" y="4315957"/>
            <a:ext cx="3291832" cy="65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«Глаза и уши» рынка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2063" y="4706100"/>
            <a:ext cx="3340600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3" y="4852404"/>
            <a:ext cx="3291832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12063" y="5145011"/>
            <a:ext cx="3291832" cy="65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Продуктовый совет — раз в квартал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3" y="5535154"/>
            <a:ext cx="3340600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2063" y="5681458"/>
            <a:ext cx="3291832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12063" y="5974065"/>
            <a:ext cx="3291832" cy="65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планировок и фишек на основе реального спроса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0831" y="512063"/>
            <a:ext cx="8534379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СТОЛП №3 · ЕДИНЫЙ СТАНДАРТ СЕРВИСА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0831" y="902206"/>
            <a:ext cx="10363174" cy="975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Бесшовный клиентский путь.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3204050" y="2186752"/>
            <a:ext cx="3701482" cy="2961186"/>
          </a:xfrm>
          <a:prstGeom prst="rect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4050" y="2186752"/>
            <a:ext cx="3701482" cy="2961186"/>
          </a:xfrm>
          <a:prstGeom prst="rect">
            <a:avLst/>
          </a:prstGeom>
          <a:ln w="9525">
            <a:solidFill>
              <a:srgbClr val="C9A96E">
                <a:alpha val="65000"/>
              </a:srgbClr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204050" y="2276485"/>
            <a:ext cx="3701482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НЕ ЗАМЕЧАЕТ ПЕРЕДАЧИ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V="1">
            <a:off x="960727" y="4559009"/>
            <a:ext cx="115905" cy="5004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6632" y="4553652"/>
            <a:ext cx="115905" cy="535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92537" y="4547920"/>
            <a:ext cx="115905" cy="5732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308442" y="4541790"/>
            <a:ext cx="115905" cy="6130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424347" y="4535236"/>
            <a:ext cx="115905" cy="6554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540252" y="4528234"/>
            <a:ext cx="115905" cy="7002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656157" y="4520757"/>
            <a:ext cx="115905" cy="747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772062" y="4512776"/>
            <a:ext cx="115905" cy="7980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887967" y="4504264"/>
            <a:ext cx="115905" cy="8512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003872" y="4495192"/>
            <a:ext cx="115905" cy="9073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119777" y="4485528"/>
            <a:ext cx="115905" cy="9663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235682" y="4475243"/>
            <a:ext cx="115905" cy="10285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351587" y="4464306"/>
            <a:ext cx="115905" cy="1093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467492" y="4452684"/>
            <a:ext cx="115905" cy="11622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583397" y="4440347"/>
            <a:ext cx="115905" cy="1233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699302" y="4427263"/>
            <a:ext cx="115905" cy="13084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815207" y="4413400"/>
            <a:ext cx="115905" cy="13862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931112" y="4398730"/>
            <a:ext cx="115905" cy="14671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3047017" y="4383221"/>
            <a:ext cx="115905" cy="1550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162922" y="4366847"/>
            <a:ext cx="115905" cy="16374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278827" y="4349582"/>
            <a:ext cx="115905" cy="17266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394732" y="4331401"/>
            <a:ext cx="115905" cy="18181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510637" y="4312282"/>
            <a:ext cx="115905" cy="1911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626542" y="4292209"/>
            <a:ext cx="115905" cy="20073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742447" y="4271166"/>
            <a:ext cx="115905" cy="21043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858352" y="4249142"/>
            <a:ext cx="115905" cy="22023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3974257" y="4226133"/>
            <a:ext cx="115905" cy="23010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4090162" y="4202136"/>
            <a:ext cx="115905" cy="2399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4206067" y="4177157"/>
            <a:ext cx="115905" cy="24979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321972" y="4151206"/>
            <a:ext cx="115905" cy="25951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437877" y="4124300"/>
            <a:ext cx="115905" cy="26906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553782" y="4096463"/>
            <a:ext cx="115905" cy="2783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669687" y="4067725"/>
            <a:ext cx="115905" cy="2873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785592" y="4038123"/>
            <a:ext cx="115905" cy="29601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901497" y="4007703"/>
            <a:ext cx="115905" cy="30420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017402" y="3976517"/>
            <a:ext cx="115905" cy="3118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5133307" y="3944622"/>
            <a:ext cx="115905" cy="31895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5249212" y="3912084"/>
            <a:ext cx="115905" cy="3253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5365117" y="3878975"/>
            <a:ext cx="115905" cy="33109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5481022" y="3845372"/>
            <a:ext cx="115905" cy="33603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596927" y="3811357"/>
            <a:ext cx="115905" cy="34015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5712832" y="3777017"/>
            <a:ext cx="115905" cy="34340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5828737" y="3742441"/>
            <a:ext cx="115905" cy="34576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5944642" y="3707722"/>
            <a:ext cx="115905" cy="34719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6060547" y="3672955"/>
            <a:ext cx="115905" cy="3476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6176452" y="3638233"/>
            <a:ext cx="115905" cy="34722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292357" y="3603651"/>
            <a:ext cx="115905" cy="34582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6408262" y="3569301"/>
            <a:ext cx="115905" cy="34349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6524167" y="3535274"/>
            <a:ext cx="115905" cy="3402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6640072" y="3501657"/>
            <a:ext cx="115905" cy="3361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755977" y="3468530"/>
            <a:ext cx="115905" cy="33126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6871882" y="3435973"/>
            <a:ext cx="115905" cy="3255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6987787" y="3404057"/>
            <a:ext cx="115905" cy="3191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7103692" y="3372846"/>
            <a:ext cx="115905" cy="31210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7219597" y="3342401"/>
            <a:ext cx="115905" cy="30445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7335502" y="3312772"/>
            <a:ext cx="115905" cy="2962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7451407" y="3284006"/>
            <a:ext cx="115905" cy="28766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7567312" y="3256139"/>
            <a:ext cx="115905" cy="2786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7683217" y="3229203"/>
            <a:ext cx="115905" cy="26936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7799122" y="3203221"/>
            <a:ext cx="115905" cy="25982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7915027" y="3178210"/>
            <a:ext cx="115905" cy="25011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8030932" y="3154181"/>
            <a:ext cx="115905" cy="24029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8146837" y="3131140"/>
            <a:ext cx="115905" cy="23042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8262742" y="3109085"/>
            <a:ext cx="115905" cy="22055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8378647" y="3088010"/>
            <a:ext cx="115905" cy="21075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8494552" y="3067906"/>
            <a:ext cx="115905" cy="20104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8610457" y="3048757"/>
            <a:ext cx="115905" cy="19149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8726362" y="3030546"/>
            <a:ext cx="115905" cy="18211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8842267" y="3013251"/>
            <a:ext cx="115905" cy="17295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8958172" y="2996849"/>
            <a:ext cx="115905" cy="16402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9074077" y="2981313"/>
            <a:ext cx="115905" cy="15536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9189982" y="2966616"/>
            <a:ext cx="115905" cy="1469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9305886" y="2952728"/>
            <a:ext cx="115905" cy="1388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9421791" y="2939619"/>
            <a:ext cx="115905" cy="13109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9537696" y="2927258"/>
            <a:ext cx="115905" cy="12361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9653601" y="2915614"/>
            <a:ext cx="115905" cy="11644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9769506" y="2904655"/>
            <a:ext cx="115905" cy="10959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9885411" y="2894349"/>
            <a:ext cx="115905" cy="10305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10001316" y="2884666"/>
            <a:ext cx="115905" cy="9683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10117221" y="2875575"/>
            <a:ext cx="115905" cy="9091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10233126" y="2867045"/>
            <a:ext cx="115905" cy="8530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10349031" y="2859048"/>
            <a:ext cx="115905" cy="799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10464936" y="2851555"/>
            <a:ext cx="115905" cy="7493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10580841" y="2844538"/>
            <a:ext cx="115905" cy="7017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10696746" y="2837970"/>
            <a:ext cx="115905" cy="6568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10812651" y="2831826"/>
            <a:ext cx="115905" cy="6144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10928556" y="2826082"/>
            <a:ext cx="115905" cy="5744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11044461" y="2820713"/>
            <a:ext cx="115905" cy="5369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11160366" y="2815698"/>
            <a:ext cx="115905" cy="5015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11276271" y="2811015"/>
            <a:ext cx="115905" cy="4683"/>
          </a:xfrm>
          <a:prstGeom prst="line">
            <a:avLst/>
          </a:prstGeom>
          <a:noFill/>
          <a:ln w="57150">
            <a:solidFill>
              <a:srgbClr val="C9A96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291617" y="4424830"/>
            <a:ext cx="235549" cy="235549"/>
          </a:xfrm>
          <a:prstGeom prst="ellipse">
            <a:avLst/>
          </a:prstGeom>
          <a:solidFill>
            <a:srgbClr val="0C0A09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12114" y="3737934"/>
            <a:ext cx="2194555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Лид</a:t>
            </a:r>
            <a:endParaRPr lang="en-US" sz="2100" dirty="0"/>
          </a:p>
        </p:txBody>
      </p:sp>
      <p:sp>
        <p:nvSpPr>
          <p:cNvPr id="99" name="Shape 97"/>
          <p:cNvSpPr/>
          <p:nvPr/>
        </p:nvSpPr>
        <p:spPr>
          <a:xfrm>
            <a:off x="3086275" y="4259737"/>
            <a:ext cx="235549" cy="235549"/>
          </a:xfrm>
          <a:prstGeom prst="ellipse">
            <a:avLst/>
          </a:prstGeom>
          <a:solidFill>
            <a:srgbClr val="0C0A09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2106772" y="4645735"/>
            <a:ext cx="2194555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Брокер</a:t>
            </a:r>
            <a:endParaRPr lang="en-US" sz="2100" dirty="0"/>
          </a:p>
        </p:txBody>
      </p:sp>
      <p:sp>
        <p:nvSpPr>
          <p:cNvPr id="101" name="Shape 99"/>
          <p:cNvSpPr/>
          <p:nvPr/>
        </p:nvSpPr>
        <p:spPr>
          <a:xfrm>
            <a:off x="4880933" y="3894889"/>
            <a:ext cx="235549" cy="235549"/>
          </a:xfrm>
          <a:prstGeom prst="ellipse">
            <a:avLst/>
          </a:prstGeom>
          <a:solidFill>
            <a:srgbClr val="0C0A09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901430" y="3207993"/>
            <a:ext cx="2194555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Показ</a:t>
            </a:r>
            <a:endParaRPr lang="en-US" sz="2100" dirty="0"/>
          </a:p>
        </p:txBody>
      </p:sp>
      <p:sp>
        <p:nvSpPr>
          <p:cNvPr id="103" name="Shape 101"/>
          <p:cNvSpPr/>
          <p:nvPr/>
        </p:nvSpPr>
        <p:spPr>
          <a:xfrm>
            <a:off x="6787757" y="3341242"/>
            <a:ext cx="235549" cy="235549"/>
          </a:xfrm>
          <a:prstGeom prst="ellipse">
            <a:avLst/>
          </a:prstGeom>
          <a:solidFill>
            <a:srgbClr val="0C0A09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808254" y="3727240"/>
            <a:ext cx="2194555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Застройщик</a:t>
            </a:r>
            <a:endParaRPr lang="en-US" sz="2100" dirty="0"/>
          </a:p>
        </p:txBody>
      </p:sp>
      <p:sp>
        <p:nvSpPr>
          <p:cNvPr id="105" name="Shape 103"/>
          <p:cNvSpPr/>
          <p:nvPr/>
        </p:nvSpPr>
        <p:spPr>
          <a:xfrm>
            <a:off x="8694581" y="2917382"/>
            <a:ext cx="235549" cy="235549"/>
          </a:xfrm>
          <a:prstGeom prst="ellipse">
            <a:avLst/>
          </a:prstGeom>
          <a:solidFill>
            <a:srgbClr val="0C0A09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715078" y="2230487"/>
            <a:ext cx="2194555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Бронь</a:t>
            </a:r>
            <a:endParaRPr lang="en-US" sz="2100" dirty="0"/>
          </a:p>
        </p:txBody>
      </p:sp>
      <p:sp>
        <p:nvSpPr>
          <p:cNvPr id="107" name="Shape 105"/>
          <p:cNvSpPr/>
          <p:nvPr/>
        </p:nvSpPr>
        <p:spPr>
          <a:xfrm>
            <a:off x="10550930" y="2674983"/>
            <a:ext cx="336498" cy="336498"/>
          </a:xfrm>
          <a:prstGeom prst="ellipse">
            <a:avLst/>
          </a:prstGeom>
          <a:solidFill>
            <a:srgbClr val="C9A96E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9621902" y="3111456"/>
            <a:ext cx="2194555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Сделка</a:t>
            </a:r>
            <a:endParaRPr lang="en-US" sz="2400" dirty="0"/>
          </a:p>
        </p:txBody>
      </p:sp>
      <p:sp>
        <p:nvSpPr>
          <p:cNvPr id="109" name="Shape 107"/>
          <p:cNvSpPr/>
          <p:nvPr/>
        </p:nvSpPr>
        <p:spPr>
          <a:xfrm>
            <a:off x="560831" y="5657074"/>
            <a:ext cx="3523479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60831" y="5803377"/>
            <a:ext cx="3523479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не должен чувствовать переход «Брокер → Застройщик»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4450069" y="5657074"/>
            <a:ext cx="3523479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4450069" y="5803377"/>
            <a:ext cx="3523479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скриптов и сервисных стандартов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8339307" y="5657074"/>
            <a:ext cx="3523479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339307" y="5803377"/>
            <a:ext cx="3523479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контроль качества на каждом этапе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0831" y="512063"/>
            <a:ext cx="7315182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8F7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ПАРТНЁРСТВА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0831" y="902206"/>
            <a:ext cx="9997415" cy="128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«торговли за процент» к «совместному управлению спросом».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2279898"/>
            <a:ext cx="5754610" cy="4578085"/>
          </a:xfrm>
          <a:prstGeom prst="rect">
            <a:avLst/>
          </a:prstGeom>
          <a:solidFill>
            <a:srgbClr val="282524"/>
          </a:solidFill>
          <a:ln/>
        </p:spPr>
      </p:sp>
      <p:sp>
        <p:nvSpPr>
          <p:cNvPr id="5" name="Shape 3"/>
          <p:cNvSpPr/>
          <p:nvPr/>
        </p:nvSpPr>
        <p:spPr>
          <a:xfrm>
            <a:off x="5754610" y="2279898"/>
            <a:ext cx="6437360" cy="4578085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0831" y="2584698"/>
            <a:ext cx="3657591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Старая модель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632948" y="2584698"/>
            <a:ext cx="731518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9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120369" y="2584698"/>
            <a:ext cx="3657591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Новая модель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899621" y="2584698"/>
            <a:ext cx="731518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C0A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0831" y="3873389"/>
            <a:ext cx="1528060" cy="2472531"/>
          </a:xfrm>
          <a:prstGeom prst="rect">
            <a:avLst/>
          </a:prstGeom>
          <a:solidFill>
            <a:srgbClr val="3B3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18" y="4019692"/>
            <a:ext cx="487679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18" y="5516866"/>
            <a:ext cx="1235453" cy="682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6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Борьба за маржу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10810" y="4507371"/>
            <a:ext cx="1528060" cy="1838549"/>
          </a:xfrm>
          <a:prstGeom prst="rect">
            <a:avLst/>
          </a:prstGeom>
          <a:solidFill>
            <a:srgbClr val="3B39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381498" y="4653675"/>
            <a:ext cx="487679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381498" y="5516866"/>
            <a:ext cx="1235453" cy="682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6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качества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60790" y="5141354"/>
            <a:ext cx="1528060" cy="1204567"/>
          </a:xfrm>
          <a:prstGeom prst="rect">
            <a:avLst/>
          </a:prstGeom>
          <a:solidFill>
            <a:srgbClr val="3B393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031478" y="5287657"/>
            <a:ext cx="487679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31478" y="5516866"/>
            <a:ext cx="1235453" cy="682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6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продаж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0369" y="5141354"/>
            <a:ext cx="1755644" cy="1204567"/>
          </a:xfrm>
          <a:prstGeom prst="rect">
            <a:avLst/>
          </a:prstGeom>
          <a:solidFill>
            <a:srgbClr val="0C0A0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91056" y="5287657"/>
            <a:ext cx="487679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91056" y="5516866"/>
            <a:ext cx="1463036" cy="682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Синергия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97932" y="4253778"/>
            <a:ext cx="1755644" cy="2092142"/>
          </a:xfrm>
          <a:prstGeom prst="rect">
            <a:avLst/>
          </a:prstGeom>
          <a:solidFill>
            <a:srgbClr val="0C0A0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68620" y="4400082"/>
            <a:ext cx="487679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168620" y="5516866"/>
            <a:ext cx="1463036" cy="682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Увеличение оборота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875495" y="3176008"/>
            <a:ext cx="1755644" cy="3169912"/>
          </a:xfrm>
          <a:prstGeom prst="rect">
            <a:avLst/>
          </a:prstGeom>
          <a:solidFill>
            <a:srgbClr val="0C0A0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46183" y="3322312"/>
            <a:ext cx="487679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046183" y="5516866"/>
            <a:ext cx="1463036" cy="682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Удвоение прибыли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0831" y="512063"/>
            <a:ext cx="2682233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 ЗАВТРА?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38911" y="2072635"/>
            <a:ext cx="2682233" cy="268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0" dirty="0"/>
          </a:p>
        </p:txBody>
      </p:sp>
      <p:sp>
        <p:nvSpPr>
          <p:cNvPr id="4" name="Text 2"/>
          <p:cNvSpPr txBox="1"/>
          <p:nvPr/>
        </p:nvSpPr>
        <p:spPr>
          <a:xfrm>
            <a:off x="560831" y="5120627"/>
            <a:ext cx="2682233" cy="1219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шага к изменениям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62519" y="512063"/>
            <a:ext cx="2572506" cy="5827761"/>
          </a:xfrm>
          <a:prstGeom prst="rect">
            <a:avLst/>
          </a:prstGeom>
          <a:solidFill>
            <a:srgbClr val="F3EE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730743" y="780286"/>
            <a:ext cx="1828795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8F7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730743" y="1682492"/>
            <a:ext cx="2097019" cy="117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5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Аудит данных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3730743" y="2974841"/>
            <a:ext cx="2048251" cy="1706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способ синхронизировать остатки и воронку — через API или интеграцию.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730743" y="5754610"/>
            <a:ext cx="1950715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8F7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4480" y="512063"/>
            <a:ext cx="2572506" cy="5827761"/>
          </a:xfrm>
          <a:prstGeom prst="rect">
            <a:avLst/>
          </a:prstGeom>
          <a:solidFill>
            <a:srgbClr val="F3EE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22704" y="780286"/>
            <a:ext cx="1828795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8F7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522704" y="1682492"/>
            <a:ext cx="2097019" cy="117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5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Создать коммуникацию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6522704" y="2974841"/>
            <a:ext cx="2048251" cy="1706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Назначить дату первого «Продуктового совета».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22704" y="5754610"/>
            <a:ext cx="1950715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8F7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46441" y="512063"/>
            <a:ext cx="2572506" cy="5827761"/>
          </a:xfrm>
          <a:prstGeom prst="rect">
            <a:avLst/>
          </a:prstGeom>
          <a:solidFill>
            <a:srgbClr val="F3EEE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14665" y="780286"/>
            <a:ext cx="1828795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8F7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314665" y="1682492"/>
            <a:ext cx="2097019" cy="117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5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Выровнять стандарты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9314665" y="2974841"/>
            <a:ext cx="2048251" cy="1706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Сверить скрипты и представления о сервисе.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314665" y="5754610"/>
            <a:ext cx="1950715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8F7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7101" y="0"/>
            <a:ext cx="4754868" cy="6857983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0831" y="463295"/>
            <a:ext cx="6583664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· ЭЛИТНЫЙ ПОСЁЛОК В ЛЕНИНГРАДСКОЙ ОБЛАСТИ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0831" y="902206"/>
            <a:ext cx="6583664" cy="117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система дала </a:t>
            </a:r>
            <a:pPr algn="l" indent="0" marL="0">
              <a:lnSpc>
                <a:spcPct val="98000"/>
              </a:lnSpc>
              <a:buNone/>
            </a:pPr>
            <a:r>
              <a:rPr lang="en-US" sz="2600" b="1" i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 продаж</a:t>
            </a:r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в элитном посёлке ЛО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0831" y="2365242"/>
            <a:ext cx="6534896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0831" y="2535930"/>
            <a:ext cx="1341117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75099" y="2535930"/>
            <a:ext cx="5120627" cy="1755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0000"/>
              </a:lnSpc>
              <a:spcAft>
                <a:spcPts val="350"/>
              </a:spcAft>
              <a:buSzPct val="100000"/>
              <a:buChar char="•"/>
            </a:pPr>
            <a:r>
              <a:rPr lang="en-US" sz="1300" dirty="0">
                <a:solidFill>
                  <a:srgbClr val="EA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Застройщик работал напрямую и с несколькими брокерами</a:t>
            </a:r>
            <a:endParaRPr lang="en-US" sz="1300" dirty="0"/>
          </a:p>
          <a:p>
            <a:pPr algn="l" marL="127000" indent="-127000">
              <a:lnSpc>
                <a:spcPct val="100000"/>
              </a:lnSpc>
              <a:spcAft>
                <a:spcPts val="350"/>
              </a:spcAft>
              <a:buSzPct val="100000"/>
              <a:buChar char="•"/>
            </a:pPr>
            <a:r>
              <a:rPr lang="en-US" sz="1300" dirty="0">
                <a:solidFill>
                  <a:srgbClr val="EA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Постоянные конфликты: клиенты, комиссии, зоны ответственности</a:t>
            </a:r>
            <a:endParaRPr lang="en-US" sz="1300" dirty="0"/>
          </a:p>
          <a:p>
            <a:pPr algn="l" marL="127000" indent="-127000">
              <a:lnSpc>
                <a:spcPct val="100000"/>
              </a:lnSpc>
              <a:spcAft>
                <a:spcPts val="350"/>
              </a:spcAft>
              <a:buSzPct val="100000"/>
              <a:buChar char="•"/>
            </a:pPr>
            <a:r>
              <a:rPr lang="en-US" sz="1300" dirty="0">
                <a:solidFill>
                  <a:srgbClr val="EA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Негатив агентского сообщества — со стороны тех, с кем не работали или чьих клиентов не зафиксировали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0831" y="4340341"/>
            <a:ext cx="6534896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0831" y="4511029"/>
            <a:ext cx="1341117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СДЕЛАЛИ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975099" y="4511029"/>
            <a:ext cx="5120627" cy="2048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0000"/>
              </a:lnSpc>
              <a:spcAft>
                <a:spcPts val="350"/>
              </a:spcAft>
              <a:buSzPct val="100000"/>
              <a:buChar char="•"/>
            </a:pPr>
            <a:r>
              <a:rPr lang="en-US" sz="1300" dirty="0">
                <a:solidFill>
                  <a:srgbClr val="EA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Внедрили матрицу ответственности</a:t>
            </a:r>
            <a:endParaRPr lang="en-US" sz="1300" dirty="0"/>
          </a:p>
          <a:p>
            <a:pPr algn="l" marL="127000" indent="-127000">
              <a:lnSpc>
                <a:spcPct val="100000"/>
              </a:lnSpc>
              <a:spcAft>
                <a:spcPts val="350"/>
              </a:spcAft>
              <a:buSzPct val="100000"/>
              <a:buChar char="•"/>
            </a:pPr>
            <a:r>
              <a:rPr lang="en-US" sz="1300" dirty="0">
                <a:solidFill>
                  <a:srgbClr val="EA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Настроили CRM с фиксацией первого касания</a:t>
            </a:r>
            <a:endParaRPr lang="en-US" sz="1300" dirty="0"/>
          </a:p>
          <a:p>
            <a:pPr algn="l" marL="127000" indent="-127000">
              <a:lnSpc>
                <a:spcPct val="100000"/>
              </a:lnSpc>
              <a:spcAft>
                <a:spcPts val="350"/>
              </a:spcAft>
              <a:buSzPct val="100000"/>
              <a:buChar char="•"/>
            </a:pPr>
            <a:r>
              <a:rPr lang="en-US" sz="1300" dirty="0">
                <a:solidFill>
                  <a:srgbClr val="EA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Ввели единую мотивацию: МОП застройщика тоже получает процент</a:t>
            </a:r>
            <a:endParaRPr lang="en-US" sz="1300" dirty="0"/>
          </a:p>
          <a:p>
            <a:pPr algn="l" marL="127000" indent="-127000">
              <a:lnSpc>
                <a:spcPct val="100000"/>
              </a:lnSpc>
              <a:spcAft>
                <a:spcPts val="350"/>
              </a:spcAft>
              <a:buSzPct val="100000"/>
              <a:buChar char="•"/>
            </a:pPr>
            <a:r>
              <a:rPr lang="en-US" sz="1300" dirty="0">
                <a:solidFill>
                  <a:srgbClr val="EA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Провели совместное обучение: блок «продукт» — от продавца; конъюнктура рынка, УТП глазами клиента и воронка клиента — от брокеров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24780" y="633982"/>
            <a:ext cx="3657591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24780" y="950974"/>
            <a:ext cx="3779511" cy="109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400" dirty="0"/>
          </a:p>
        </p:txBody>
      </p:sp>
      <p:sp>
        <p:nvSpPr>
          <p:cNvPr id="13" name="Text 11"/>
          <p:cNvSpPr txBox="1"/>
          <p:nvPr/>
        </p:nvSpPr>
        <p:spPr>
          <a:xfrm>
            <a:off x="7924780" y="2097019"/>
            <a:ext cx="3779511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споров по клиентам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924780" y="2462778"/>
            <a:ext cx="3779511" cy="292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постоянные конфликты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24780" y="2901689"/>
            <a:ext cx="3755127" cy="0"/>
          </a:xfrm>
          <a:prstGeom prst="line">
            <a:avLst/>
          </a:prstGeom>
          <a:noFill/>
          <a:ln w="9525">
            <a:solidFill>
              <a:srgbClr val="0C0A09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24780" y="3096760"/>
            <a:ext cx="3779511" cy="109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+12%</a:t>
            </a:r>
            <a:endParaRPr lang="en-US" sz="6400" dirty="0"/>
          </a:p>
        </p:txBody>
      </p:sp>
      <p:sp>
        <p:nvSpPr>
          <p:cNvPr id="17" name="Text 15"/>
          <p:cNvSpPr txBox="1"/>
          <p:nvPr/>
        </p:nvSpPr>
        <p:spPr>
          <a:xfrm>
            <a:off x="7924780" y="4242805"/>
            <a:ext cx="3779511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из показа в сделку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24780" y="4730484"/>
            <a:ext cx="3755127" cy="0"/>
          </a:xfrm>
          <a:prstGeom prst="line">
            <a:avLst/>
          </a:prstGeom>
          <a:noFill/>
          <a:ln w="9525">
            <a:solidFill>
              <a:srgbClr val="0C0A09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24780" y="4925556"/>
            <a:ext cx="3779511" cy="109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6400" dirty="0"/>
          </a:p>
        </p:txBody>
      </p:sp>
      <p:sp>
        <p:nvSpPr>
          <p:cNvPr id="20" name="Text 18"/>
          <p:cNvSpPr txBox="1"/>
          <p:nvPr/>
        </p:nvSpPr>
        <p:spPr>
          <a:xfrm>
            <a:off x="7924780" y="6071601"/>
            <a:ext cx="3779511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выручке за квартал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01430" cy="6857983"/>
          </a:xfrm>
          <a:prstGeom prst="rect">
            <a:avLst/>
          </a:prstGeom>
          <a:solidFill>
            <a:srgbClr val="0C0A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2063" y="512063"/>
            <a:ext cx="2926073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3" y="926590"/>
            <a:ext cx="3096760" cy="292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теряют обе стороны, когда воюют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2063" y="4949940"/>
            <a:ext cx="3072376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3" y="5169395"/>
            <a:ext cx="3096760" cy="1341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i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потерянная сделка в элитном сегменте = стоимость года работы менеджера.</a:t>
            </a:r>
            <a:endParaRPr lang="en-US" sz="1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0341" y="1048509"/>
          <a:ext cx="7315182" cy="914400"/>
        </p:xfrm>
        <a:graphic>
          <a:graphicData uri="http://schemas.openxmlformats.org/drawingml/2006/table">
            <a:tbl>
              <a:tblPr/>
              <a:tblGrid>
                <a:gridCol w="2438394"/>
                <a:gridCol w="2560314"/>
                <a:gridCol w="2316474"/>
              </a:tblGrid>
              <a:tr h="682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50" kern="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ПОТЕРЯ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0C0A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50" kern="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ДЕВЕЛОПЕР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0C0A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50" kern="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БРОКЕР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0C0A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C0A0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Пересечение клиентов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Тратит бюджет на «своего» клиента повторно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Теряет комиссию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C0A0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Спор о комиссии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Затягивает сделку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Ждёт выплату месяцами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C0A0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Размытая ответственность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 уходит к конкуренту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Репутация падает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DB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C0A0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Отсутствие CRM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видит источник лида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0A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может доказать своё участие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7068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0831" y="512063"/>
            <a:ext cx="4876788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8F7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СИСТЕМЫ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0831" y="902206"/>
            <a:ext cx="10972773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Формула партнёрства девелопера и брокера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1024125" y="2023867"/>
            <a:ext cx="5608306" cy="56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 ответственности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60831" y="2657849"/>
            <a:ext cx="316991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F7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24125" y="2621273"/>
            <a:ext cx="5608306" cy="56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Правило первого касания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60831" y="3255256"/>
            <a:ext cx="316991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F7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24125" y="3218680"/>
            <a:ext cx="5608306" cy="56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Единая мотивация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60831" y="3852662"/>
            <a:ext cx="316991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F7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24125" y="3816086"/>
            <a:ext cx="5608306" cy="56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0831" y="4450069"/>
            <a:ext cx="316991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F7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5" y="4413493"/>
            <a:ext cx="5608306" cy="56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7107918" y="1877563"/>
            <a:ext cx="5084051" cy="3243064"/>
          </a:xfrm>
          <a:prstGeom prst="rect">
            <a:avLst/>
          </a:prstGeom>
          <a:solidFill>
            <a:srgbClr val="0C0A0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07789" y="2097019"/>
            <a:ext cx="1219197" cy="85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7607789" y="3047992"/>
            <a:ext cx="4023350" cy="182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удвоение продаж без войны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0831" y="5657074"/>
            <a:ext cx="3523479" cy="0"/>
          </a:xfrm>
          <a:prstGeom prst="line">
            <a:avLst/>
          </a:prstGeom>
          <a:noFill/>
          <a:ln w="25400">
            <a:solidFill>
              <a:srgbClr val="0C0A0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831" y="5827761"/>
            <a:ext cx="3523479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8F7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— это не характер, это отсутствие системы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450069" y="5657074"/>
            <a:ext cx="3523479" cy="0"/>
          </a:xfrm>
          <a:prstGeom prst="line">
            <a:avLst/>
          </a:prstGeom>
          <a:noFill/>
          <a:ln w="25400">
            <a:solidFill>
              <a:srgbClr val="0C0A0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50069" y="5827761"/>
            <a:ext cx="3523479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8F7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защищает и брокера, и девелопера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339307" y="5657074"/>
            <a:ext cx="3523479" cy="0"/>
          </a:xfrm>
          <a:prstGeom prst="line">
            <a:avLst/>
          </a:prstGeom>
          <a:noFill/>
          <a:ln w="25400">
            <a:solidFill>
              <a:srgbClr val="0C0A0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9307" y="5827761"/>
            <a:ext cx="3523479" cy="73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8F7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выигрывает — и возвращается с рекомендацией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0831" y="512063"/>
            <a:ext cx="4876788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0831" y="902206"/>
            <a:ext cx="9753576" cy="85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забрать с собой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60831" y="1901947"/>
            <a:ext cx="11070308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0831" y="1999483"/>
            <a:ext cx="1706876" cy="87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2365242" y="1999483"/>
            <a:ext cx="9265897" cy="87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Зоны ответственности — </a:t>
            </a:r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расписать до старта</a:t>
            </a:r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а не после конфликта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0831" y="2974841"/>
            <a:ext cx="11070308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0831" y="3072376"/>
            <a:ext cx="1706876" cy="87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2365242" y="3072376"/>
            <a:ext cx="9265897" cy="87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— </a:t>
            </a:r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единственный источник правды</a:t>
            </a:r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без неё партнёрства не будет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60831" y="4047734"/>
            <a:ext cx="11070308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0831" y="4145270"/>
            <a:ext cx="1706876" cy="87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2365242" y="4145270"/>
            <a:ext cx="9265897" cy="87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Единая мотивация — </a:t>
            </a:r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комиссия не режется</a:t>
            </a:r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при передаче клиента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60831" y="5120627"/>
            <a:ext cx="11070308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13234"/>
            <a:ext cx="12191970" cy="144474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0831" y="5413234"/>
            <a:ext cx="11070308" cy="144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элитном сегменте побеждает не тот, кто громче торгуется. </a:t>
            </a:r>
            <a:pPr algn="l" indent="0" marL="0">
              <a:lnSpc>
                <a:spcPct val="98000"/>
              </a:lnSpc>
              <a:buNone/>
            </a:pPr>
            <a:r>
              <a:rPr lang="en-US" sz="2600" b="1" i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тот, кто выстроил систему.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788" cy="6857983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0831" y="512063"/>
            <a:ext cx="3657591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0831" y="950974"/>
            <a:ext cx="4072118" cy="365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Забирайте шаблоны и оставайтесь на связи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0831" y="4949940"/>
            <a:ext cx="1731260" cy="75590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cjl-slides/dc4b3785-bf11-502a-8a99-927e98445714/scratchpad/p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750" y="5071859"/>
            <a:ext cx="1487420" cy="5813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0831" y="5900913"/>
            <a:ext cx="3901430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C0A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Федорова Мария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C0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управляющий партнёр, Puzzle Realty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93779" y="512063"/>
            <a:ext cx="6486128" cy="5827761"/>
          </a:xfrm>
          <a:prstGeom prst="rect">
            <a:avLst/>
          </a:prstGeom>
          <a:solidFill>
            <a:srgbClr val="161412"/>
          </a:solidFill>
          <a:ln w="9525">
            <a:solidFill>
              <a:srgbClr val="C9A96E">
                <a:alpha val="4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08306" y="1901947"/>
            <a:ext cx="2999225" cy="29992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QR-код: t.me/puzzlereal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994" y="2072635"/>
            <a:ext cx="2657849" cy="26578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070825" y="1487420"/>
            <a:ext cx="2292090" cy="26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ПОДПИШИТЕСЬ НА НАШ TELEGRAM-КАНАЛ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9070825" y="2121403"/>
            <a:ext cx="2292090" cy="90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3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Оставайтесь на связи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9070825" y="3243064"/>
            <a:ext cx="2292090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070825" y="3364984"/>
            <a:ext cx="2292090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АНОНСЫ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9070825" y="3657591"/>
            <a:ext cx="2292090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по СПб и ЛО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070825" y="4096502"/>
            <a:ext cx="2292090" cy="0"/>
          </a:xfrm>
          <a:prstGeom prst="line">
            <a:avLst/>
          </a:prstGeom>
          <a:noFill/>
          <a:ln w="9525">
            <a:solidFill>
              <a:srgbClr val="C9A96E">
                <a:alpha val="5000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70825" y="4218421"/>
            <a:ext cx="2292090" cy="2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9070825" y="4511029"/>
            <a:ext cx="2292090" cy="109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Скрипты, кейсы, шаблоны и материалы по загородной недвижимости в СПб и ЛО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608306" y="5266931"/>
            <a:ext cx="2999225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t.me/puzzlerealty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девелоперу и брокеру не перегрызть друг другу горло и удвоить продажи</dc:title>
  <dc:subject>PptxGenJS Presentation</dc:subject>
  <dc:creator>Федорова Мария</dc:creator>
  <cp:lastModifiedBy>Федорова Мария</cp:lastModifiedBy>
  <cp:revision>1</cp:revision>
  <dcterms:created xsi:type="dcterms:W3CDTF">2026-10-01T15:20:02Z</dcterms:created>
  <dcterms:modified xsi:type="dcterms:W3CDTF">2026-10-01T15:20:02Z</dcterms:modified>
</cp:coreProperties>
</file>