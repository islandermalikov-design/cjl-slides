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6858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Обложка. Фото: чёрный GLS. Фраза «Mercedes-Benz. Управляй комфортом.» — статусная строка из брифа.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Имиджевый вход. Фото: белый S-Class.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Кованые диски. Детали колёс — кадрированные фрагменты фото GLS и S-Class. Если пришлёт предметные фото дисков GRANDRIMS — заменить этими кадрами.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Технологии и преимущества. Все факты — из исходного КП: 6061-T6, 18–24″, 3D, от 15 рабочих дней, пожизненная гарантия на целостность конструкции, сервис, готовые комплекты.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Дизайн дисков. Все четыре кадра — предметные фото комплектов: строгий Mercedes-Benz, Maybach-style, AMG-style, G-Class.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Maybach / luxury. Фото: белый Maybach GLS с полированными дисками; круглая вставка — фрагмент колеса.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AMG / Performance. Фото: серый Mercedes-AMG E-Class, вид сзади, ночь. Водяной знак с исходного фото убран кадрированием.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G-Class. Водяной знак с исходного фото убран кадрированием.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Тормозные комплекты AMG Carbon Ceramic. Водяной знак с исходного фото убран кадрированием.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ТРЕБУЕТСЯ: внести цену вместо «…» в текстовом поле «Price text». Цена не придумана.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Процесс: автомобиль → разработка дизайна → 3D → производство → готовый комплект.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Прайс-лист перенесён без изменений из исходного КП (значения «от», моноблоки и 2-составные, 18–24″). Единица цены (за диск / за комплект) в исходнике не указана — при необходимости уточнить и добавить.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Финал. Фото: чёрный V-Class. Контакты — из исходного КП.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pic>
        <p:nvPicPr>
          <p:cNvPr id="3" name="GRANDRIMS logo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09600"/>
            <a:ext cx="1498600" cy="3475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685800"/>
            <a:ext cx="2667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000" lang="ru-RU" spc="20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КОММЕРЧЕСКОЕ ПРЕДЛОЖЕНИЕ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33400" y="1968500"/>
            <a:ext cx="5842000" cy="2413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000"/>
              </a:lnSpc>
              <a:spcBef>
                <a:spcPts val="0"/>
              </a:spcBef>
            </a:pPr>
            <a:r>
              <a:rPr sz="46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Индивидуальные</a:t>
            </a:r>
          </a:p>
          <a:p>
            <a:pPr algn="l">
              <a:lnSpc>
                <a:spcPts val="5000"/>
              </a:lnSpc>
              <a:spcBef>
                <a:spcPts val="0"/>
              </a:spcBef>
            </a:pPr>
            <a:r>
              <a:rPr sz="46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решения</a:t>
            </a:r>
          </a:p>
          <a:p>
            <a:pPr algn="l">
              <a:lnSpc>
                <a:spcPts val="5000"/>
              </a:lnSpc>
              <a:spcBef>
                <a:spcPts val="0"/>
              </a:spcBef>
            </a:pPr>
            <a:r>
              <a:rPr sz="46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для автомобилей</a:t>
            </a:r>
          </a:p>
          <a:p>
            <a:pPr algn="l">
              <a:lnSpc>
                <a:spcPts val="5000"/>
              </a:lnSpc>
              <a:spcBef>
                <a:spcPts val="0"/>
              </a:spcBef>
            </a:pPr>
            <a:r>
              <a:rPr sz="4600" lang="ru-RU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Mercedes-Benz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0718800"/>
            <a:ext cx="5791200" cy="6350"/>
          </a:xfrm>
          <a:prstGeom prst="rect">
            <a:avLst/>
          </a:prstGeom>
          <a:solidFill>
            <a:srgbClr val="C4C9CE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3400" y="10712450"/>
            <a:ext cx="381000" cy="1905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109347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600" lang="ru-RU" spc="5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Mercedes-Benz. Управляй комфортом.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685800"/>
            <a:ext cx="215900" cy="127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200">
                <a:solidFill>
                  <a:srgbClr val="4A5058"/>
                </a:solidFill>
                <a:latin typeface="Montserrat Medium"/>
                <a:ea typeface="Montserrat Medium"/>
                <a:cs typeface="Montserrat Medium"/>
              </a:rPr>
              <a:t>ФИЛОСОФИЯ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33400" y="1270000"/>
            <a:ext cx="5715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200"/>
              </a:lnSpc>
              <a:spcBef>
                <a:spcPts val="0"/>
              </a:spcBef>
            </a:pPr>
            <a:r>
              <a:rPr sz="48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Создано под</a:t>
            </a:r>
          </a:p>
          <a:p>
            <a:pPr algn="l">
              <a:lnSpc>
                <a:spcPts val="5200"/>
              </a:lnSpc>
              <a:spcBef>
                <a:spcPts val="0"/>
              </a:spcBef>
            </a:pPr>
            <a:r>
              <a:rPr sz="48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характер</a:t>
            </a:r>
          </a:p>
          <a:p>
            <a:pPr algn="l">
              <a:lnSpc>
                <a:spcPts val="5200"/>
              </a:lnSpc>
              <a:spcBef>
                <a:spcPts val="0"/>
              </a:spcBef>
            </a:pPr>
            <a:r>
              <a:rPr sz="48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автомобиля</a:t>
            </a:r>
          </a:p>
        </p:txBody>
      </p:sp>
      <p:sp>
        <p:nvSpPr>
          <p:cNvPr id="6" name="Body"/>
          <p:cNvSpPr txBox="1"/>
          <p:nvPr/>
        </p:nvSpPr>
        <p:spPr>
          <a:xfrm>
            <a:off x="533400" y="3937000"/>
            <a:ext cx="5080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sz="1800" lang="ru-RU">
                <a:solidFill>
                  <a:srgbClr val="4A5058"/>
                </a:solidFill>
                <a:latin typeface="Montserrat Light"/>
                <a:ea typeface="Montserrat Light"/>
                <a:cs typeface="Montserrat Light"/>
              </a:rPr>
              <a:t>GRANDRIMS создаёт индивидуальные колёсные решения для автомобилей Mercedes-Benz с учётом дизайна, параметров и характера конкретной модели.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12395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00">
                <a:solidFill>
                  <a:srgbClr val="4A5058"/>
                </a:solidFill>
                <a:latin typeface="Montserrat Medium"/>
                <a:ea typeface="Montserrat Medium"/>
                <a:cs typeface="Montserrat Medium"/>
              </a:rPr>
              <a:t>S-Class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16713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50">
                <a:solidFill>
                  <a:srgbClr val="6E747A"/>
                </a:solidFill>
                <a:latin typeface="Montserrat Medium"/>
                <a:ea typeface="Montserrat Medium"/>
                <a:cs typeface="Montserrat Medium"/>
              </a:rPr>
              <a:t>GRANDRIMS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400" y="11722100"/>
            <a:ext cx="50800" cy="508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9600" y="1167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000" lang="ru-RU" spc="150">
                <a:solidFill>
                  <a:srgbClr val="0B0D10"/>
                </a:solidFill>
                <a:latin typeface="Montserrat Medium"/>
                <a:ea typeface="Montserrat Medium"/>
                <a:cs typeface="Montserrat Medium"/>
              </a:rPr>
              <a:t>02</a:t>
            </a:r>
            <a:r>
              <a:rPr sz="1000" lang="ru-RU" spc="150">
                <a:solidFill>
                  <a:srgbClr val="6E747A"/>
                </a:solidFill>
                <a:latin typeface="Montserrat Medium"/>
                <a:ea typeface="Montserrat Medium"/>
                <a:cs typeface="Montserrat Medium"/>
              </a:rPr>
              <a:t>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685800"/>
            <a:ext cx="215900" cy="127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200">
                <a:solidFill>
                  <a:srgbClr val="C4C9CE"/>
                </a:solidFill>
                <a:latin typeface="Montserrat Medium"/>
                <a:ea typeface="Montserrat Medium"/>
                <a:cs typeface="Montserrat Medium"/>
              </a:rPr>
              <a:t>КОВАНЫЕ ДИСКИ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33400" y="1206500"/>
            <a:ext cx="584200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</a:pPr>
            <a:r>
              <a:rPr sz="42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Кованые диски</a:t>
            </a:r>
          </a:p>
          <a:p>
            <a:pPr algn="l">
              <a:lnSpc>
                <a:spcPts val="4600"/>
              </a:lnSpc>
              <a:spcBef>
                <a:spcPts val="0"/>
              </a:spcBef>
            </a:pPr>
            <a:r>
              <a:rPr sz="42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для Mercedes-Benz</a:t>
            </a:r>
          </a:p>
          <a:p>
            <a:pPr algn="l">
              <a:lnSpc>
                <a:spcPts val="4600"/>
              </a:lnSpc>
              <a:spcBef>
                <a:spcPts val="0"/>
              </a:spcBef>
            </a:pPr>
            <a:r>
              <a:rPr sz="42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под любые задачи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3225800"/>
            <a:ext cx="5588000" cy="76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  <a:spcBef>
                <a:spcPts val="0"/>
              </a:spcBef>
            </a:pPr>
            <a:r>
              <a:rPr sz="18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Инженерная точность, высокая прочность и сниженный вес.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4381500"/>
            <a:ext cx="5791200" cy="6350"/>
          </a:xfrm>
          <a:prstGeom prst="rect">
            <a:avLst/>
          </a:prstGeom>
          <a:solidFill>
            <a:srgbClr val="C4C9CE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izes"/>
          <p:cNvSpPr txBox="1"/>
          <p:nvPr/>
        </p:nvSpPr>
        <p:spPr>
          <a:xfrm>
            <a:off x="533400" y="4445000"/>
            <a:ext cx="3556000" cy="1397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9500"/>
              </a:lnSpc>
              <a:spcBef>
                <a:spcPts val="0"/>
              </a:spcBef>
            </a:pPr>
            <a:r>
              <a:rPr sz="84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18–24″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7500" y="4686300"/>
            <a:ext cx="21971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0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ДОСТУПНЫЕ РАЗМЕРЫ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7500" y="5016500"/>
            <a:ext cx="21971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</a:pPr>
            <a:r>
              <a:rPr sz="135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Индивидуальное исполнение с учётом дизайна, параметров и нагрузок автомобиля.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10795000"/>
            <a:ext cx="2794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0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GLS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0600" y="11239500"/>
            <a:ext cx="2794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0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S-CLASS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116713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5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GRANDRIMS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400" y="11722100"/>
            <a:ext cx="50800" cy="508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1167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000" lang="ru-RU" spc="15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03</a:t>
            </a:r>
            <a:r>
              <a:rPr sz="1000" lang="ru-RU" spc="15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685800"/>
            <a:ext cx="215900" cy="127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200">
                <a:solidFill>
                  <a:srgbClr val="C4C9CE"/>
                </a:solidFill>
                <a:latin typeface="Montserrat Medium"/>
                <a:ea typeface="Montserrat Medium"/>
                <a:cs typeface="Montserrat Medium"/>
              </a:rPr>
              <a:t>ТЕХНОЛОГИИ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33400" y="1206500"/>
            <a:ext cx="5842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</a:pPr>
            <a:r>
              <a:rPr sz="42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Технология</a:t>
            </a:r>
          </a:p>
          <a:p>
            <a:pPr algn="l">
              <a:lnSpc>
                <a:spcPts val="4600"/>
              </a:lnSpc>
              <a:spcBef>
                <a:spcPts val="0"/>
              </a:spcBef>
            </a:pPr>
            <a:r>
              <a:rPr sz="42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в основе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921000"/>
            <a:ext cx="5791200" cy="6350"/>
          </a:xfrm>
          <a:prstGeom prst="rect">
            <a:avLst/>
          </a:prstGeom>
          <a:solidFill>
            <a:srgbClr val="C4C9CE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3086100"/>
            <a:ext cx="3302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500"/>
              </a:lnSpc>
              <a:spcBef>
                <a:spcPts val="0"/>
              </a:spcBef>
            </a:pPr>
            <a:r>
              <a:rPr sz="56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6061-T6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6500" y="3175000"/>
            <a:ext cx="25781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</a:pPr>
            <a:r>
              <a:rPr sz="14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Кованый алюминиевый сплав авиационного класса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4216400"/>
            <a:ext cx="5791200" cy="6350"/>
          </a:xfrm>
          <a:prstGeom prst="rect">
            <a:avLst/>
          </a:prstGeom>
          <a:solidFill>
            <a:srgbClr val="C4C9CE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" y="4381500"/>
            <a:ext cx="3302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500"/>
              </a:lnSpc>
              <a:spcBef>
                <a:spcPts val="0"/>
              </a:spcBef>
            </a:pPr>
            <a:r>
              <a:rPr sz="56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18–24″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6500" y="4470400"/>
            <a:ext cx="25781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</a:pPr>
            <a:r>
              <a:rPr sz="14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Размеры от 18 до 24 дюймов под параметры автомобиля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5511800"/>
            <a:ext cx="5791200" cy="6350"/>
          </a:xfrm>
          <a:prstGeom prst="rect">
            <a:avLst/>
          </a:prstGeom>
          <a:solidFill>
            <a:srgbClr val="C4C9CE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400" y="5676900"/>
            <a:ext cx="3302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500"/>
              </a:lnSpc>
              <a:spcBef>
                <a:spcPts val="0"/>
              </a:spcBef>
            </a:pPr>
            <a:r>
              <a:rPr sz="56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3D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6500" y="5765800"/>
            <a:ext cx="25781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</a:pPr>
            <a:r>
              <a:rPr sz="14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Визуализация и точная подгонка до запуска в производство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6807200"/>
            <a:ext cx="5791200" cy="6350"/>
          </a:xfrm>
          <a:prstGeom prst="rect">
            <a:avLst/>
          </a:prstGeom>
          <a:solidFill>
            <a:srgbClr val="C4C9CE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400" y="6972300"/>
            <a:ext cx="3302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500"/>
              </a:lnSpc>
              <a:spcBef>
                <a:spcPts val="0"/>
              </a:spcBef>
            </a:pPr>
            <a:r>
              <a:rPr sz="56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от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6500" y="7061200"/>
            <a:ext cx="25781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</a:pPr>
            <a:r>
              <a:rPr sz="14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рабочих дней — производство индивидуального комплекта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8102600"/>
            <a:ext cx="5791200" cy="6350"/>
          </a:xfrm>
          <a:prstGeom prst="rect">
            <a:avLst/>
          </a:prstGeom>
          <a:solidFill>
            <a:srgbClr val="C4C9CE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" y="8318500"/>
            <a:ext cx="3302000" cy="889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</a:pPr>
            <a:r>
              <a:rPr sz="32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Пожизненная</a:t>
            </a:r>
          </a:p>
          <a:p>
            <a:pPr algn="l">
              <a:lnSpc>
                <a:spcPts val="3600"/>
              </a:lnSpc>
              <a:spcBef>
                <a:spcPts val="0"/>
              </a:spcBef>
            </a:pPr>
            <a:r>
              <a:rPr sz="32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гарантия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6500" y="8356600"/>
            <a:ext cx="25781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</a:pPr>
            <a:r>
              <a:rPr sz="14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Гарантия на целостность конструкции дисков на весь срок эксплуатации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9398000"/>
            <a:ext cx="5791200" cy="6350"/>
          </a:xfrm>
          <a:prstGeom prst="rect">
            <a:avLst/>
          </a:prstGeom>
          <a:solidFill>
            <a:srgbClr val="C4C9CE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" y="9677400"/>
            <a:ext cx="2667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lang="ru-RU" spc="20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СЕРВИС</a:t>
            </a:r>
          </a:p>
          <a:p>
            <a:pPr algn="l">
              <a:lnSpc>
                <a:spcPts val="1850"/>
              </a:lnSpc>
              <a:spcBef>
                <a:spcPts val="0"/>
              </a:spcBef>
            </a:pPr>
            <a:r>
              <a:rPr sz="13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Сопровождение на этапах дизайна, производства и установки.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6000" y="9677400"/>
            <a:ext cx="27686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000" lang="ru-RU" spc="20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ГОТОВЫЕ КОМПЛЕКТЫ</a:t>
            </a:r>
          </a:p>
          <a:p>
            <a:pPr algn="l">
              <a:lnSpc>
                <a:spcPts val="1850"/>
              </a:lnSpc>
              <a:spcBef>
                <a:spcPts val="0"/>
              </a:spcBef>
            </a:pPr>
            <a:r>
              <a:rPr sz="13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Шины, датчики давления и аксессуары — в сборе.*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11125200"/>
            <a:ext cx="57912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00"/>
              </a:lnSpc>
              <a:spcBef>
                <a:spcPts val="0"/>
              </a:spcBef>
            </a:pPr>
            <a:r>
              <a:rPr sz="1000" lang="ru-RU">
                <a:solidFill>
                  <a:srgbClr val="8C939A"/>
                </a:solidFill>
                <a:latin typeface="Montserrat Light"/>
                <a:ea typeface="Montserrat Light"/>
                <a:cs typeface="Montserrat Light"/>
              </a:rPr>
              <a:t>* Актуальные цены на шины, колёсные датчики и аксессуары предоставляются менеджером по запросу.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400" y="116713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5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GRANDRIMS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400" y="11722100"/>
            <a:ext cx="50800" cy="508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9600" y="1167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000" lang="ru-RU" spc="15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04</a:t>
            </a:r>
            <a:r>
              <a:rPr sz="1000" lang="ru-RU" spc="15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685800"/>
            <a:ext cx="215900" cy="127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200">
                <a:solidFill>
                  <a:srgbClr val="4A5058"/>
                </a:solidFill>
                <a:latin typeface="Montserrat Medium"/>
                <a:ea typeface="Montserrat Medium"/>
                <a:cs typeface="Montserrat Medium"/>
              </a:rPr>
              <a:t>ДИЗАЙН ДИСКОВ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33400" y="1206500"/>
            <a:ext cx="58420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</a:pPr>
            <a:r>
              <a:rPr sz="42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Дизайн в характере</a:t>
            </a:r>
          </a:p>
          <a:p>
            <a:pPr algn="l">
              <a:lnSpc>
                <a:spcPts val="4600"/>
              </a:lnSpc>
              <a:spcBef>
                <a:spcPts val="0"/>
              </a:spcBef>
            </a:pPr>
            <a:r>
              <a:rPr sz="42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автомобиля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667000"/>
            <a:ext cx="419100" cy="279400"/>
          </a:xfrm>
          <a:prstGeom prst="rect">
            <a:avLst/>
          </a:prstGeom>
          <a:solidFill>
            <a:srgbClr val="0B0D10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000" y="272415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15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7213600"/>
            <a:ext cx="419100" cy="279400"/>
          </a:xfrm>
          <a:prstGeom prst="rect">
            <a:avLst/>
          </a:prstGeom>
          <a:solidFill>
            <a:srgbClr val="0B0D10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000" y="727075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15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7213600"/>
            <a:ext cx="419100" cy="279400"/>
          </a:xfrm>
          <a:prstGeom prst="rect">
            <a:avLst/>
          </a:prstGeom>
          <a:solidFill>
            <a:srgbClr val="0B0D10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16200" y="727075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15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95800" y="7213600"/>
            <a:ext cx="419100" cy="279400"/>
          </a:xfrm>
          <a:prstGeom prst="rect">
            <a:avLst/>
          </a:prstGeom>
          <a:solidFill>
            <a:srgbClr val="0B0D10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400" y="727075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15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8915400"/>
            <a:ext cx="5791200" cy="6350"/>
          </a:xfrm>
          <a:prstGeom prst="rect">
            <a:avLst/>
          </a:prstGeom>
          <a:solidFill>
            <a:srgbClr val="0B0D1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" y="9029700"/>
            <a:ext cx="571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150">
                <a:solidFill>
                  <a:srgbClr val="4A5058"/>
                </a:solidFill>
                <a:latin typeface="Montserrat Medium"/>
                <a:ea typeface="Montserrat Medium"/>
                <a:cs typeface="Montserrat Medium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6500" y="89789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00" lang="ru-RU">
                <a:solidFill>
                  <a:srgbClr val="0B0D10"/>
                </a:solidFill>
                <a:latin typeface="Montserrat Medium"/>
                <a:ea typeface="Montserrat Medium"/>
                <a:cs typeface="Montserrat Medium"/>
              </a:rPr>
              <a:t>Строгий Mercedes-Benz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6500" y="9207500"/>
            <a:ext cx="4953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lang="ru-RU">
                <a:solidFill>
                  <a:srgbClr val="4A5058"/>
                </a:solidFill>
                <a:latin typeface="Montserrat Light"/>
                <a:ea typeface="Montserrat Light"/>
                <a:cs typeface="Montserrat Light"/>
              </a:rPr>
              <a:t>чёрный лак и полированная кромка спиц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9474200"/>
            <a:ext cx="5791200" cy="6350"/>
          </a:xfrm>
          <a:prstGeom prst="rect">
            <a:avLst/>
          </a:prstGeom>
          <a:solidFill>
            <a:srgbClr val="0B0D1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" y="9588500"/>
            <a:ext cx="571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150">
                <a:solidFill>
                  <a:srgbClr val="4A5058"/>
                </a:solidFill>
                <a:latin typeface="Montserrat Medium"/>
                <a:ea typeface="Montserrat Medium"/>
                <a:cs typeface="Montserrat Medium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6500" y="95377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00" lang="ru-RU">
                <a:solidFill>
                  <a:srgbClr val="0B0D10"/>
                </a:solidFill>
                <a:latin typeface="Montserrat Medium"/>
                <a:ea typeface="Montserrat Medium"/>
                <a:cs typeface="Montserrat Medium"/>
              </a:rPr>
              <a:t>Maybach-style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6500" y="9766300"/>
            <a:ext cx="4953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lang="ru-RU">
                <a:solidFill>
                  <a:srgbClr val="4A5058"/>
                </a:solidFill>
                <a:latin typeface="Montserrat Light"/>
                <a:ea typeface="Montserrat Light"/>
                <a:cs typeface="Montserrat Light"/>
              </a:rPr>
              <a:t>полированные поверхности и объём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10033000"/>
            <a:ext cx="5791200" cy="6350"/>
          </a:xfrm>
          <a:prstGeom prst="rect">
            <a:avLst/>
          </a:prstGeom>
          <a:solidFill>
            <a:srgbClr val="0B0D1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10147300"/>
            <a:ext cx="571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150">
                <a:solidFill>
                  <a:srgbClr val="4A5058"/>
                </a:solidFill>
                <a:latin typeface="Montserrat Medium"/>
                <a:ea typeface="Montserrat Medium"/>
                <a:cs typeface="Montserrat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6500" y="100965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00" lang="ru-RU">
                <a:solidFill>
                  <a:srgbClr val="0B0D10"/>
                </a:solidFill>
                <a:latin typeface="Montserrat Medium"/>
                <a:ea typeface="Montserrat Medium"/>
                <a:cs typeface="Montserrat Medium"/>
              </a:rPr>
              <a:t>AMG-style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6500" y="10325100"/>
            <a:ext cx="4953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lang="ru-RU">
                <a:solidFill>
                  <a:srgbClr val="4A5058"/>
                </a:solidFill>
                <a:latin typeface="Montserrat Light"/>
                <a:ea typeface="Montserrat Light"/>
                <a:cs typeface="Montserrat Light"/>
              </a:rPr>
              <a:t>многоспицевый рисунок, матовый графит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10591800"/>
            <a:ext cx="5791200" cy="6350"/>
          </a:xfrm>
          <a:prstGeom prst="rect">
            <a:avLst/>
          </a:prstGeom>
          <a:solidFill>
            <a:srgbClr val="0B0D1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400" y="10706100"/>
            <a:ext cx="5715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150">
                <a:solidFill>
                  <a:srgbClr val="4A5058"/>
                </a:solidFill>
                <a:latin typeface="Montserrat Medium"/>
                <a:ea typeface="Montserrat Medium"/>
                <a:cs typeface="Montserrat Medium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6500" y="106553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500" lang="ru-RU">
                <a:solidFill>
                  <a:srgbClr val="0B0D10"/>
                </a:solidFill>
                <a:latin typeface="Montserrat Medium"/>
                <a:ea typeface="Montserrat Medium"/>
                <a:cs typeface="Montserrat Medium"/>
              </a:rPr>
              <a:t>G-Class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6500" y="10883900"/>
            <a:ext cx="4953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200" lang="ru-RU">
                <a:solidFill>
                  <a:srgbClr val="4A5058"/>
                </a:solidFill>
                <a:latin typeface="Montserrat Light"/>
                <a:ea typeface="Montserrat Light"/>
                <a:cs typeface="Montserrat Light"/>
              </a:rPr>
              <a:t>массивный моноблок, матовый чёрный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116713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50">
                <a:solidFill>
                  <a:srgbClr val="6E747A"/>
                </a:solidFill>
                <a:latin typeface="Montserrat Medium"/>
                <a:ea typeface="Montserrat Medium"/>
                <a:cs typeface="Montserrat Medium"/>
              </a:rPr>
              <a:t>GRANDRIMS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6400" y="11722100"/>
            <a:ext cx="50800" cy="508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19600" y="1167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000" lang="ru-RU" spc="150">
                <a:solidFill>
                  <a:srgbClr val="0B0D10"/>
                </a:solidFill>
                <a:latin typeface="Montserrat Medium"/>
                <a:ea typeface="Montserrat Medium"/>
                <a:cs typeface="Montserrat Medium"/>
              </a:rPr>
              <a:t>05</a:t>
            </a:r>
            <a:r>
              <a:rPr sz="1000" lang="ru-RU" spc="150">
                <a:solidFill>
                  <a:srgbClr val="6E747A"/>
                </a:solidFill>
                <a:latin typeface="Montserrat Medium"/>
                <a:ea typeface="Montserrat Medium"/>
                <a:cs typeface="Montserrat Medium"/>
              </a:rPr>
              <a:t>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685800"/>
            <a:ext cx="215900" cy="127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200">
                <a:solidFill>
                  <a:srgbClr val="C4C9CE"/>
                </a:solidFill>
                <a:latin typeface="Montserrat Medium"/>
                <a:ea typeface="Montserrat Medium"/>
                <a:cs typeface="Montserrat Medium"/>
              </a:rPr>
              <a:t>MAYBACH-STYLE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33400" y="1143000"/>
            <a:ext cx="584200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00"/>
              </a:lnSpc>
              <a:spcBef>
                <a:spcPts val="0"/>
              </a:spcBef>
            </a:pPr>
            <a:r>
              <a:rPr sz="50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Сдержанная</a:t>
            </a:r>
          </a:p>
          <a:p>
            <a:pPr algn="l">
              <a:lnSpc>
                <a:spcPts val="5400"/>
              </a:lnSpc>
              <a:spcBef>
                <a:spcPts val="0"/>
              </a:spcBef>
            </a:pPr>
            <a:r>
              <a:rPr sz="50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роскошь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10134600"/>
            <a:ext cx="2984500" cy="6350"/>
          </a:xfrm>
          <a:prstGeom prst="rect">
            <a:avLst/>
          </a:prstGeom>
          <a:solidFill>
            <a:srgbClr val="C4C9C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10325100"/>
            <a:ext cx="3429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sz="15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Полированный металл и монолитный рисунок. Фактура в главной роли.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16713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5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GRANDRIMS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400" y="11722100"/>
            <a:ext cx="50800" cy="508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9600" y="1167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000" lang="ru-RU" spc="15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06</a:t>
            </a:r>
            <a:r>
              <a:rPr sz="1000" lang="ru-RU" spc="15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685800"/>
            <a:ext cx="215900" cy="127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200">
                <a:solidFill>
                  <a:srgbClr val="C4C9CE"/>
                </a:solidFill>
                <a:latin typeface="Montserrat Medium"/>
                <a:ea typeface="Montserrat Medium"/>
                <a:cs typeface="Montserrat Medium"/>
              </a:rPr>
              <a:t>PERFORMANCE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33400" y="1143000"/>
            <a:ext cx="5842000" cy="2095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500"/>
              </a:lnSpc>
              <a:spcBef>
                <a:spcPts val="0"/>
              </a:spcBef>
            </a:pPr>
            <a:r>
              <a:rPr sz="52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Динамика</a:t>
            </a:r>
          </a:p>
          <a:p>
            <a:pPr algn="l">
              <a:lnSpc>
                <a:spcPts val="5500"/>
              </a:lnSpc>
              <a:spcBef>
                <a:spcPts val="0"/>
              </a:spcBef>
            </a:pPr>
            <a:r>
              <a:rPr sz="52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в каждой</a:t>
            </a:r>
          </a:p>
          <a:p>
            <a:pPr algn="l">
              <a:lnSpc>
                <a:spcPts val="5500"/>
              </a:lnSpc>
              <a:spcBef>
                <a:spcPts val="0"/>
              </a:spcBef>
            </a:pPr>
            <a:r>
              <a:rPr sz="52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детали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3429000"/>
            <a:ext cx="4445000" cy="698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sz="15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Многоспицевые и спортивные рисунки — с характером, но без излишеств.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16713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5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GRANDRIMS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400" y="11722100"/>
            <a:ext cx="50800" cy="508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9600" y="1167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000" lang="ru-RU" spc="15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07</a:t>
            </a:r>
            <a:r>
              <a:rPr sz="1000" lang="ru-RU" spc="15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685800"/>
            <a:ext cx="215900" cy="127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200">
                <a:solidFill>
                  <a:srgbClr val="C4C9CE"/>
                </a:solidFill>
                <a:latin typeface="Montserrat Medium"/>
                <a:ea typeface="Montserrat Medium"/>
                <a:cs typeface="Montserrat Medium"/>
              </a:rPr>
              <a:t>G-CLASS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33400" y="8255000"/>
            <a:ext cx="5842000" cy="152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00"/>
              </a:lnSpc>
              <a:spcBef>
                <a:spcPts val="0"/>
              </a:spcBef>
            </a:pPr>
            <a:r>
              <a:rPr sz="44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Характер</a:t>
            </a:r>
          </a:p>
          <a:p>
            <a:pPr algn="l">
              <a:lnSpc>
                <a:spcPts val="4900"/>
              </a:lnSpc>
              <a:spcBef>
                <a:spcPts val="0"/>
              </a:spcBef>
            </a:pPr>
            <a:r>
              <a:rPr sz="44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без компромиссов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9842500"/>
            <a:ext cx="3556000" cy="1079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0"/>
              </a:lnSpc>
              <a:spcBef>
                <a:spcPts val="0"/>
              </a:spcBef>
            </a:pPr>
            <a:r>
              <a:rPr sz="15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Массивные кованые диски, рассчитанные на нагрузки и характер G-Class.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16713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5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GRANDRIMS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400" y="11722100"/>
            <a:ext cx="50800" cy="508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9600" y="1167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000" lang="ru-RU" spc="15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08</a:t>
            </a:r>
            <a:r>
              <a:rPr sz="1000" lang="ru-RU" spc="15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685800"/>
            <a:ext cx="215900" cy="127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200">
                <a:solidFill>
                  <a:srgbClr val="C4C9CE"/>
                </a:solidFill>
                <a:latin typeface="Montserrat Medium"/>
                <a:ea typeface="Montserrat Medium"/>
                <a:cs typeface="Montserrat Medium"/>
              </a:rPr>
              <a:t>ТОРМОЗНЫЕ СИСТЕМЫ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33400" y="1181100"/>
            <a:ext cx="5842000" cy="25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</a:pPr>
            <a:r>
              <a:rPr sz="34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Тормозные комплекты</a:t>
            </a:r>
          </a:p>
          <a:p>
            <a:pPr algn="l">
              <a:lnSpc>
                <a:spcPts val="3900"/>
              </a:lnSpc>
              <a:spcBef>
                <a:spcPts val="0"/>
              </a:spcBef>
            </a:pPr>
            <a:r>
              <a:rPr sz="34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на оригинальных</a:t>
            </a:r>
          </a:p>
          <a:p>
            <a:pPr algn="l">
              <a:lnSpc>
                <a:spcPts val="3900"/>
              </a:lnSpc>
              <a:spcBef>
                <a:spcPts val="0"/>
              </a:spcBef>
            </a:pPr>
            <a:r>
              <a:rPr sz="34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компонентах</a:t>
            </a:r>
          </a:p>
          <a:p>
            <a:pPr algn="l">
              <a:lnSpc>
                <a:spcPts val="3900"/>
              </a:lnSpc>
              <a:spcBef>
                <a:spcPts val="0"/>
              </a:spcBef>
            </a:pPr>
            <a:r>
              <a:rPr sz="3400" lang="ru-RU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Mercedes-Benz</a:t>
            </a:r>
          </a:p>
        </p:txBody>
      </p:sp>
      <p:pic>
        <p:nvPicPr>
          <p:cNvPr id="6" name="Photo — brake set" descr="brakes_se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64000"/>
            <a:ext cx="6858000" cy="5461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4064000"/>
            <a:ext cx="6858000" cy="6350"/>
          </a:xfrm>
          <a:prstGeom prst="rect">
            <a:avLst/>
          </a:prstGeom>
          <a:solidFill>
            <a:srgbClr val="C4C9C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525000"/>
            <a:ext cx="6858000" cy="6350"/>
          </a:xfrm>
          <a:prstGeom prst="rect">
            <a:avLst/>
          </a:prstGeom>
          <a:solidFill>
            <a:srgbClr val="C4C9C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9969500"/>
            <a:ext cx="1778000" cy="6350"/>
          </a:xfrm>
          <a:prstGeom prst="rect">
            <a:avLst/>
          </a:prstGeom>
          <a:solidFill>
            <a:srgbClr val="C4C9C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" y="10109200"/>
            <a:ext cx="1778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0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СУППОРТЫ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10350500"/>
            <a:ext cx="18669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sz="16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AMG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3800" y="9969500"/>
            <a:ext cx="1778000" cy="6350"/>
          </a:xfrm>
          <a:prstGeom prst="rect">
            <a:avLst/>
          </a:prstGeom>
          <a:solidFill>
            <a:srgbClr val="C4C9C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3800" y="10109200"/>
            <a:ext cx="1778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0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ДИСКИ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3800" y="10350500"/>
            <a:ext cx="18669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sz="16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Карбон-керамика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94200" y="9969500"/>
            <a:ext cx="1778000" cy="6350"/>
          </a:xfrm>
          <a:prstGeom prst="rect">
            <a:avLst/>
          </a:prstGeom>
          <a:solidFill>
            <a:srgbClr val="C4C9C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4200" y="10109200"/>
            <a:ext cx="1778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0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КОМПОНЕНТЫ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4200" y="10350500"/>
            <a:ext cx="1866900" cy="50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sz="16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Оригинальные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116713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5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GRANDRIMS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400" y="11722100"/>
            <a:ext cx="50800" cy="508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9600" y="1167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000" lang="ru-RU" spc="15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09</a:t>
            </a:r>
            <a:r>
              <a:rPr sz="1000" lang="ru-RU" spc="15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685800"/>
            <a:ext cx="215900" cy="127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200">
                <a:solidFill>
                  <a:srgbClr val="C4C9CE"/>
                </a:solidFill>
                <a:latin typeface="Montserrat Medium"/>
                <a:ea typeface="Montserrat Medium"/>
                <a:cs typeface="Montserrat Medium"/>
              </a:rPr>
              <a:t>ОТДЕЛЬНОЕ ПРЕДЛОЖЕНИЕ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33400" y="1117600"/>
            <a:ext cx="584200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</a:pPr>
            <a:r>
              <a:rPr sz="33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Карбон-керамическая</a:t>
            </a:r>
          </a:p>
          <a:p>
            <a:pPr algn="l">
              <a:lnSpc>
                <a:spcPts val="3800"/>
              </a:lnSpc>
              <a:spcBef>
                <a:spcPts val="0"/>
              </a:spcBef>
            </a:pPr>
            <a:r>
              <a:rPr sz="33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тормозная система</a:t>
            </a:r>
          </a:p>
          <a:p>
            <a:pPr algn="l">
              <a:lnSpc>
                <a:spcPts val="3800"/>
              </a:lnSpc>
              <a:spcBef>
                <a:spcPts val="0"/>
              </a:spcBef>
            </a:pPr>
            <a:r>
              <a:rPr sz="3300" lang="ru-RU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Mercedes-Benz G 63</a:t>
            </a:r>
          </a:p>
        </p:txBody>
      </p:sp>
      <p:pic>
        <p:nvPicPr>
          <p:cNvPr id="6" name="Photo — G 63 carbon ceramic" descr="brake_g6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94000"/>
            <a:ext cx="68580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2794000"/>
            <a:ext cx="6858000" cy="6350"/>
          </a:xfrm>
          <a:prstGeom prst="rect">
            <a:avLst/>
          </a:prstGeom>
          <a:solidFill>
            <a:srgbClr val="C4C9C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7366000"/>
            <a:ext cx="6858000" cy="6350"/>
          </a:xfrm>
          <a:prstGeom prst="rect">
            <a:avLst/>
          </a:prstGeom>
          <a:solidFill>
            <a:srgbClr val="C4C9CE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ice text"/>
          <p:cNvSpPr txBox="1"/>
          <p:nvPr/>
        </p:nvSpPr>
        <p:spPr>
          <a:xfrm>
            <a:off x="533400" y="7594600"/>
            <a:ext cx="5842000" cy="25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7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Стоимость представленного на фотографии комплекта карбон-керамической тормозной системы для Mercedes-Benz G 63 составляет</a:t>
            </a:r>
            <a:br/>
            <a:r>
              <a:rPr sz="7500" lang="ru-RU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… ₽.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10223500"/>
            <a:ext cx="762000" cy="6350"/>
          </a:xfrm>
          <a:prstGeom prst="rect">
            <a:avLst/>
          </a:prstGeom>
          <a:solidFill>
            <a:srgbClr val="C4C9C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ote"/>
          <p:cNvSpPr txBox="1"/>
          <p:nvPr/>
        </p:nvSpPr>
        <p:spPr>
          <a:xfrm>
            <a:off x="533400" y="10375900"/>
            <a:ext cx="57912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</a:pPr>
            <a:r>
              <a:rPr sz="1250" lang="ru-RU">
                <a:solidFill>
                  <a:srgbClr val="8C939A"/>
                </a:solidFill>
                <a:latin typeface="Montserrat Light"/>
                <a:ea typeface="Montserrat Light"/>
                <a:cs typeface="Montserrat Light"/>
              </a:rPr>
              <a:t>Стоимость тормозной системы для конкретной модели автомобиля рассчитывается индивидуально с учётом конфигурации и необходимых компонентов.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116713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5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GRANDRIMS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400" y="11722100"/>
            <a:ext cx="50800" cy="508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9600" y="1167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000" lang="ru-RU" spc="15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10</a:t>
            </a:r>
            <a:r>
              <a:rPr sz="1000" lang="ru-RU" spc="15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685800"/>
            <a:ext cx="215900" cy="127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200">
                <a:solidFill>
                  <a:srgbClr val="C4C9CE"/>
                </a:solidFill>
                <a:latin typeface="Montserrat Medium"/>
                <a:ea typeface="Montserrat Medium"/>
                <a:cs typeface="Montserrat Medium"/>
              </a:rPr>
              <a:t>ПРОЦЕСС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33400" y="1206500"/>
            <a:ext cx="584200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</a:pPr>
            <a:r>
              <a:rPr sz="42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От концепции</a:t>
            </a:r>
          </a:p>
          <a:p>
            <a:pPr algn="l">
              <a:lnSpc>
                <a:spcPts val="4600"/>
              </a:lnSpc>
              <a:spcBef>
                <a:spcPts val="0"/>
              </a:spcBef>
            </a:pPr>
            <a:r>
              <a:rPr sz="42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до готового</a:t>
            </a:r>
          </a:p>
          <a:p>
            <a:pPr algn="l">
              <a:lnSpc>
                <a:spcPts val="4600"/>
              </a:lnSpc>
              <a:spcBef>
                <a:spcPts val="0"/>
              </a:spcBef>
            </a:pPr>
            <a:r>
              <a:rPr sz="42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комплекта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1079500" y="3873500"/>
            <a:ext cx="6350" cy="6477000"/>
          </a:xfrm>
          <a:prstGeom prst="rect">
            <a:avLst/>
          </a:prstGeom>
          <a:solidFill>
            <a:srgbClr val="C4C9CE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3683000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300" lang="ru-RU" spc="150">
                <a:solidFill>
                  <a:srgbClr val="C4C9CE"/>
                </a:solidFill>
                <a:latin typeface="Montserrat Medium"/>
                <a:ea typeface="Montserrat Medium"/>
                <a:cs typeface="Montserrat Medium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4100" y="3759200"/>
            <a:ext cx="57150" cy="57150"/>
          </a:xfrm>
          <a:prstGeom prst="rect">
            <a:avLst/>
          </a:prstGeom>
          <a:solidFill>
            <a:srgbClr val="C4C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0500" y="3632200"/>
            <a:ext cx="4953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sz="26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Автомобиль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0500" y="4076700"/>
            <a:ext cx="4826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sz="1400" lang="ru-RU">
                <a:solidFill>
                  <a:srgbClr val="A8AEB4"/>
                </a:solidFill>
                <a:latin typeface="Montserrat Light"/>
                <a:ea typeface="Montserrat Light"/>
                <a:cs typeface="Montserrat Light"/>
              </a:rPr>
              <a:t>Модель, параметры и задачи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5270500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300" lang="ru-RU" spc="150">
                <a:solidFill>
                  <a:srgbClr val="C4C9CE"/>
                </a:solidFill>
                <a:latin typeface="Montserrat Medium"/>
                <a:ea typeface="Montserrat Medium"/>
                <a:cs typeface="Montserrat Medium"/>
              </a:rP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4100" y="5346700"/>
            <a:ext cx="57150" cy="57150"/>
          </a:xfrm>
          <a:prstGeom prst="rect">
            <a:avLst/>
          </a:prstGeom>
          <a:solidFill>
            <a:srgbClr val="C4C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0500" y="5219700"/>
            <a:ext cx="4953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sz="26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Разработка дизайна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0500" y="5664200"/>
            <a:ext cx="4826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sz="1400" lang="ru-RU">
                <a:solidFill>
                  <a:srgbClr val="A8AEB4"/>
                </a:solidFill>
                <a:latin typeface="Montserrat Light"/>
                <a:ea typeface="Montserrat Light"/>
                <a:cs typeface="Montserrat Light"/>
              </a:rPr>
              <a:t>Рисунок диска под характер модели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858000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300" lang="ru-RU" spc="150">
                <a:solidFill>
                  <a:srgbClr val="C4C9CE"/>
                </a:solidFill>
                <a:latin typeface="Montserrat Medium"/>
                <a:ea typeface="Montserrat Medium"/>
                <a:cs typeface="Montserrat Medium"/>
              </a:rP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4100" y="6934200"/>
            <a:ext cx="57150" cy="57150"/>
          </a:xfrm>
          <a:prstGeom prst="rect">
            <a:avLst/>
          </a:prstGeom>
          <a:solidFill>
            <a:srgbClr val="C4C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0500" y="6807200"/>
            <a:ext cx="4953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sz="26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3D-моделирование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0500" y="7251700"/>
            <a:ext cx="4826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sz="1400" lang="ru-RU">
                <a:solidFill>
                  <a:srgbClr val="A8AEB4"/>
                </a:solidFill>
                <a:latin typeface="Montserrat Light"/>
                <a:ea typeface="Montserrat Light"/>
                <a:cs typeface="Montserrat Light"/>
              </a:rPr>
              <a:t>Визуализация и точная подгонка параметров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8445500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300" lang="ru-RU" spc="150">
                <a:solidFill>
                  <a:srgbClr val="C4C9CE"/>
                </a:solidFill>
                <a:latin typeface="Montserrat Medium"/>
                <a:ea typeface="Montserrat Medium"/>
                <a:cs typeface="Montserrat Medium"/>
              </a:rP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4100" y="8521700"/>
            <a:ext cx="57150" cy="57150"/>
          </a:xfrm>
          <a:prstGeom prst="rect">
            <a:avLst/>
          </a:prstGeom>
          <a:solidFill>
            <a:srgbClr val="C4C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0500" y="8394700"/>
            <a:ext cx="4953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sz="26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Производство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0500" y="8839200"/>
            <a:ext cx="4826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sz="1400" lang="ru-RU">
                <a:solidFill>
                  <a:srgbClr val="A8AEB4"/>
                </a:solidFill>
                <a:latin typeface="Montserrat Light"/>
                <a:ea typeface="Montserrat Light"/>
                <a:cs typeface="Montserrat Light"/>
              </a:rPr>
              <a:t>Сплав 6061-T6, от 15 рабочих дней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10033000"/>
            <a:ext cx="5715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300" lang="ru-RU" spc="150">
                <a:solidFill>
                  <a:srgbClr val="C4C9CE"/>
                </a:solidFill>
                <a:latin typeface="Montserrat Medium"/>
                <a:ea typeface="Montserrat Medium"/>
                <a:cs typeface="Montserrat Medium"/>
              </a:rPr>
              <a:t>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54100" y="10109200"/>
            <a:ext cx="57150" cy="5715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0500" y="9982200"/>
            <a:ext cx="4953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000"/>
              </a:lnSpc>
              <a:spcBef>
                <a:spcPts val="0"/>
              </a:spcBef>
            </a:pPr>
            <a:r>
              <a:rPr sz="26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Готовый комплект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0500" y="10426700"/>
            <a:ext cx="4826000" cy="571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</a:pPr>
            <a:r>
              <a:rPr sz="1400" lang="ru-RU">
                <a:solidFill>
                  <a:srgbClr val="A8AEB4"/>
                </a:solidFill>
                <a:latin typeface="Montserrat Light"/>
                <a:ea typeface="Montserrat Light"/>
                <a:cs typeface="Montserrat Light"/>
              </a:rPr>
              <a:t>С шинами, датчиками давления и аксессуарами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116713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5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GRANDRIMS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400" y="11722100"/>
            <a:ext cx="50800" cy="508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9600" y="1167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000" lang="ru-RU" spc="15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11</a:t>
            </a:r>
            <a:r>
              <a:rPr sz="1000" lang="ru-RU" spc="150">
                <a:solidFill>
                  <a:srgbClr val="8C939A"/>
                </a:solidFill>
                <a:latin typeface="Montserrat Medium"/>
                <a:ea typeface="Montserrat Medium"/>
                <a:cs typeface="Montserrat Medium"/>
              </a:rPr>
              <a:t>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3400" y="685800"/>
            <a:ext cx="215900" cy="127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6300" y="6096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200">
                <a:solidFill>
                  <a:srgbClr val="4A5058"/>
                </a:solidFill>
                <a:latin typeface="Montserrat Medium"/>
                <a:ea typeface="Montserrat Medium"/>
                <a:cs typeface="Montserrat Medium"/>
              </a:rPr>
              <a:t>ПРЕДЛОЖЕНИЕ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533400" y="1143000"/>
            <a:ext cx="5842000" cy="158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800"/>
              </a:lnSpc>
              <a:spcBef>
                <a:spcPts val="0"/>
              </a:spcBef>
            </a:pPr>
            <a:r>
              <a:rPr sz="33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Индивидуальные условия</a:t>
            </a:r>
          </a:p>
          <a:p>
            <a:pPr algn="l">
              <a:lnSpc>
                <a:spcPts val="3800"/>
              </a:lnSpc>
              <a:spcBef>
                <a:spcPts val="0"/>
              </a:spcBef>
            </a:pPr>
            <a:r>
              <a:rPr sz="33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сотрудничества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540000"/>
            <a:ext cx="5791200" cy="6350"/>
          </a:xfrm>
          <a:prstGeom prst="rect">
            <a:avLst/>
          </a:prstGeom>
          <a:solidFill>
            <a:srgbClr val="0B0D1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27051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150">
                <a:solidFill>
                  <a:srgbClr val="4A5058"/>
                </a:solidFill>
                <a:latin typeface="Montserrat Medium"/>
                <a:ea typeface="Montserrat Medium"/>
                <a:cs typeface="Montserrat Medium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6500" y="2628900"/>
            <a:ext cx="508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9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Подбор решений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3035300"/>
            <a:ext cx="5791200" cy="6350"/>
          </a:xfrm>
          <a:prstGeom prst="rect">
            <a:avLst/>
          </a:prstGeom>
          <a:solidFill>
            <a:srgbClr val="0B0D1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" y="32004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150">
                <a:solidFill>
                  <a:srgbClr val="4A5058"/>
                </a:solidFill>
                <a:latin typeface="Montserrat Medium"/>
                <a:ea typeface="Montserrat Medium"/>
                <a:cs typeface="Montserrat Medium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6500" y="3124200"/>
            <a:ext cx="508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9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Визуализация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400" y="3530600"/>
            <a:ext cx="5791200" cy="6350"/>
          </a:xfrm>
          <a:prstGeom prst="rect">
            <a:avLst/>
          </a:prstGeom>
          <a:solidFill>
            <a:srgbClr val="0B0D1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400" y="36957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150">
                <a:solidFill>
                  <a:srgbClr val="4A5058"/>
                </a:solidFill>
                <a:latin typeface="Montserrat Medium"/>
                <a:ea typeface="Montserrat Medium"/>
                <a:cs typeface="Montserrat Medium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6500" y="3619500"/>
            <a:ext cx="508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9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Производство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3400" y="4025900"/>
            <a:ext cx="5791200" cy="6350"/>
          </a:xfrm>
          <a:prstGeom prst="rect">
            <a:avLst/>
          </a:prstGeom>
          <a:solidFill>
            <a:srgbClr val="0B0D1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400" y="41910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150">
                <a:solidFill>
                  <a:srgbClr val="4A5058"/>
                </a:solidFill>
                <a:latin typeface="Montserrat Medium"/>
                <a:ea typeface="Montserrat Medium"/>
                <a:cs typeface="Montserrat Medium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6500" y="4114800"/>
            <a:ext cx="508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9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Комплектация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4521200"/>
            <a:ext cx="5791200" cy="6350"/>
          </a:xfrm>
          <a:prstGeom prst="rect">
            <a:avLst/>
          </a:prstGeom>
          <a:solidFill>
            <a:srgbClr val="0B0D1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" y="4686300"/>
            <a:ext cx="508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150">
                <a:solidFill>
                  <a:srgbClr val="4A5058"/>
                </a:solidFill>
                <a:latin typeface="Montserrat Medium"/>
                <a:ea typeface="Montserrat Medium"/>
                <a:cs typeface="Montserrat Medium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6500" y="4610100"/>
            <a:ext cx="5080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9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Сопровождение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5016500"/>
            <a:ext cx="5791200" cy="6350"/>
          </a:xfrm>
          <a:prstGeom prst="rect">
            <a:avLst/>
          </a:prstGeom>
          <a:solidFill>
            <a:srgbClr val="0B0D10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" y="5372100"/>
            <a:ext cx="444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100" lang="ru-RU" spc="200">
                <a:solidFill>
                  <a:srgbClr val="4A5058"/>
                </a:solidFill>
                <a:latin typeface="Montserrat Medium"/>
                <a:ea typeface="Montserrat Medium"/>
                <a:cs typeface="Montserrat Medium"/>
              </a:rPr>
              <a:t>КОВАНЫЕ ДИСКИ · ПРАЙС-ЛИСТ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568960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150">
                <a:solidFill>
                  <a:srgbClr val="4A5058"/>
                </a:solidFill>
                <a:latin typeface="Montserrat Medium"/>
                <a:ea typeface="Montserrat Medium"/>
                <a:cs typeface="Montserrat Medium"/>
              </a:rPr>
              <a:t>РАЗМЕР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0000" y="5689600"/>
            <a:ext cx="1651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000" lang="ru-RU" spc="150">
                <a:solidFill>
                  <a:srgbClr val="4A5058"/>
                </a:solidFill>
                <a:latin typeface="Montserrat Medium"/>
                <a:ea typeface="Montserrat Medium"/>
                <a:cs typeface="Montserrat Medium"/>
              </a:rPr>
              <a:t>МОНОБЛОК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5000" y="5689600"/>
            <a:ext cx="18796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000" lang="ru-RU" spc="150">
                <a:solidFill>
                  <a:srgbClr val="4A5058"/>
                </a:solidFill>
                <a:latin typeface="Montserrat Medium"/>
                <a:ea typeface="Montserrat Medium"/>
                <a:cs typeface="Montserrat Medium"/>
              </a:rPr>
              <a:t>2-СОСТАВНЫЕ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3400" y="5981700"/>
            <a:ext cx="5791200" cy="6350"/>
          </a:xfrm>
          <a:prstGeom prst="rect">
            <a:avLst/>
          </a:prstGeom>
          <a:solidFill>
            <a:srgbClr val="0B0D1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400" y="60960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Medium"/>
                <a:ea typeface="Montserrat Medium"/>
                <a:cs typeface="Montserrat Medium"/>
              </a:rPr>
              <a:t>18″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95500" y="61087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от 190 500 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9100" y="61087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от 320 000 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3400" y="6502400"/>
            <a:ext cx="5791200" cy="6350"/>
          </a:xfrm>
          <a:prstGeom prst="rect">
            <a:avLst/>
          </a:prstGeom>
          <a:solidFill>
            <a:srgbClr val="0B0D1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3400" y="66167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Medium"/>
                <a:ea typeface="Montserrat Medium"/>
                <a:cs typeface="Montserrat Medium"/>
              </a:rPr>
              <a:t>19″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95500" y="66294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от 201 500 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29100" y="66294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от 341 500 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3400" y="7023100"/>
            <a:ext cx="5791200" cy="6350"/>
          </a:xfrm>
          <a:prstGeom prst="rect">
            <a:avLst/>
          </a:prstGeom>
          <a:solidFill>
            <a:srgbClr val="0B0D1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3400" y="71374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Medium"/>
                <a:ea typeface="Montserrat Medium"/>
                <a:cs typeface="Montserrat Medium"/>
              </a:rPr>
              <a:t>20″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95500" y="71501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от 213 000 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9100" y="71501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от 364 000 ₽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7543800"/>
            <a:ext cx="5791200" cy="6350"/>
          </a:xfrm>
          <a:prstGeom prst="rect">
            <a:avLst/>
          </a:prstGeom>
          <a:solidFill>
            <a:srgbClr val="0B0D1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3400" y="76581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Medium"/>
                <a:ea typeface="Montserrat Medium"/>
                <a:cs typeface="Montserrat Medium"/>
              </a:rPr>
              <a:t>21″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95500" y="76708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от 235 000 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29100" y="76708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от 397 500 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3400" y="8064500"/>
            <a:ext cx="5791200" cy="6350"/>
          </a:xfrm>
          <a:prstGeom prst="rect">
            <a:avLst/>
          </a:prstGeom>
          <a:solidFill>
            <a:srgbClr val="0B0D1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3400" y="81788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Medium"/>
                <a:ea typeface="Montserrat Medium"/>
                <a:cs typeface="Montserrat Medium"/>
              </a:rPr>
              <a:t>22″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95500" y="81915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от 257 500 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29100" y="81915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от 442 500 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3400" y="8585200"/>
            <a:ext cx="5791200" cy="6350"/>
          </a:xfrm>
          <a:prstGeom prst="rect">
            <a:avLst/>
          </a:prstGeom>
          <a:solidFill>
            <a:srgbClr val="0B0D1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3400" y="86995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Medium"/>
                <a:ea typeface="Montserrat Medium"/>
                <a:cs typeface="Montserrat Medium"/>
              </a:rPr>
              <a:t>23″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95500" y="87122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от 280 000 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9100" y="87122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от 504 000 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3400" y="9105900"/>
            <a:ext cx="5791200" cy="6350"/>
          </a:xfrm>
          <a:prstGeom prst="rect">
            <a:avLst/>
          </a:prstGeom>
          <a:solidFill>
            <a:srgbClr val="0B0D1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3400" y="9220200"/>
            <a:ext cx="1270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Medium"/>
                <a:ea typeface="Montserrat Medium"/>
                <a:cs typeface="Montserrat Medium"/>
              </a:rPr>
              <a:t>24″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95500" y="92329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от 313 000 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29100" y="9232900"/>
            <a:ext cx="20955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700" lang="ru-RU">
                <a:solidFill>
                  <a:srgbClr val="0B0D10"/>
                </a:solidFill>
                <a:latin typeface="Montserrat Light"/>
                <a:ea typeface="Montserrat Light"/>
                <a:cs typeface="Montserrat Light"/>
              </a:rPr>
              <a:t>от 543 000 ₽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3400" y="9626600"/>
            <a:ext cx="5791200" cy="6350"/>
          </a:xfrm>
          <a:prstGeom prst="rect">
            <a:avLst/>
          </a:prstGeom>
          <a:solidFill>
            <a:srgbClr val="0B0D10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3400" y="9791700"/>
            <a:ext cx="5791200" cy="63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00"/>
              </a:lnSpc>
              <a:spcBef>
                <a:spcPts val="0"/>
              </a:spcBef>
            </a:pPr>
            <a:r>
              <a:rPr sz="1200" lang="ru-RU">
                <a:solidFill>
                  <a:srgbClr val="4A5058"/>
                </a:solidFill>
                <a:latin typeface="Montserrat Light"/>
                <a:ea typeface="Montserrat Light"/>
                <a:cs typeface="Montserrat Light"/>
              </a:rPr>
              <a:t>* Актуальные цены на шины, колёсные датчики и аксессуары предоставляются менеджером по запросу. Стоимость тормозных систем рассчитывается индивидуально.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3400" y="116713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000" lang="ru-RU" spc="250">
                <a:solidFill>
                  <a:srgbClr val="6E747A"/>
                </a:solidFill>
                <a:latin typeface="Montserrat Medium"/>
                <a:ea typeface="Montserrat Medium"/>
                <a:cs typeface="Montserrat Medium"/>
              </a:rPr>
              <a:t>GRANDRIMS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6400" y="11722100"/>
            <a:ext cx="50800" cy="5080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19600" y="11671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000" lang="ru-RU" spc="150">
                <a:solidFill>
                  <a:srgbClr val="0B0D10"/>
                </a:solidFill>
                <a:latin typeface="Montserrat Medium"/>
                <a:ea typeface="Montserrat Medium"/>
                <a:cs typeface="Montserrat Medium"/>
              </a:rPr>
              <a:t>12</a:t>
            </a:r>
            <a:r>
              <a:rPr sz="1000" lang="ru-RU" spc="150">
                <a:solidFill>
                  <a:srgbClr val="6E747A"/>
                </a:solidFill>
                <a:latin typeface="Montserrat Medium"/>
                <a:ea typeface="Montserrat Medium"/>
                <a:cs typeface="Montserrat Medium"/>
              </a:rPr>
              <a:t>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  <p:pic>
        <p:nvPicPr>
          <p:cNvPr id="3" name="GRANDRIMS logo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09600"/>
            <a:ext cx="1498600" cy="347501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33400" y="1333500"/>
            <a:ext cx="5842000" cy="254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900"/>
              </a:lnSpc>
              <a:spcBef>
                <a:spcPts val="0"/>
              </a:spcBef>
            </a:pPr>
            <a:r>
              <a:rPr sz="44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Создаём решения,</a:t>
            </a:r>
          </a:p>
          <a:p>
            <a:pPr algn="l">
              <a:lnSpc>
                <a:spcPts val="4900"/>
              </a:lnSpc>
              <a:spcBef>
                <a:spcPts val="0"/>
              </a:spcBef>
            </a:pPr>
            <a:r>
              <a:rPr sz="4400" lang="ru-RU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</a:rPr>
              <a:t>достойные</a:t>
            </a:r>
          </a:p>
          <a:p>
            <a:pPr algn="l">
              <a:lnSpc>
                <a:spcPts val="4900"/>
              </a:lnSpc>
              <a:spcBef>
                <a:spcPts val="0"/>
              </a:spcBef>
            </a:pPr>
            <a:r>
              <a:rPr sz="44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автомобиля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9334500"/>
            <a:ext cx="5791200" cy="6350"/>
          </a:xfrm>
          <a:prstGeom prst="rect">
            <a:avLst/>
          </a:prstGeom>
          <a:solidFill>
            <a:srgbClr val="C4C9CE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3400" y="9328150"/>
            <a:ext cx="381000" cy="19050"/>
          </a:xfrm>
          <a:prstGeom prst="rect">
            <a:avLst/>
          </a:prstGeom>
          <a:solidFill>
            <a:srgbClr val="D6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" y="95504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600" lang="ru-RU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г. Москва, ул. Барвихинская, д.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9969500"/>
            <a:ext cx="5715000" cy="279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600" lang="ru-RU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8 800 201-72-94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0401300"/>
            <a:ext cx="2921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4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Telegram: @grand_rims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6000" y="10401300"/>
            <a:ext cx="27686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</a:pPr>
            <a:r>
              <a:rPr sz="14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info@grandrims.ru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10718800"/>
            <a:ext cx="57912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sz="1400" lang="ru-RU">
                <a:solidFill>
                  <a:srgbClr val="C4C9CE"/>
                </a:solidFill>
                <a:latin typeface="Montserrat Light"/>
                <a:ea typeface="Montserrat Light"/>
                <a:cs typeface="Montserrat Light"/>
              </a:rPr>
              <a:t>www.grandrims.ru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