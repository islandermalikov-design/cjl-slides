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6858000" cy="121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Обложка. Фото: чёрный GLS. Фраза «Mercedes-Benz. Управляй комфортом.» — статусная строка из брифа.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Имиджевый вход. Фото: белый S-Class.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Кованые диски. Детали колёс — кадрированные фрагменты фото GLS и S-Class. Если пришлёт предметные фото дисков GRANDRIMS — заменить этими кадрами.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Технологии и преимущества. Все факты — из исходного КП: 6061-T6, 18–24″, 3D, от 15 рабочих дней, пожизненная гарантия на целостность конструкции, сервис, готовые комплекты.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Дизайн дисков. 01 — предметное фото комплекта GRANDRIMS; 02–04 — фрагменты фото автомобилей (S-Class, Maybach GLS, GLS).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Maybach / luxury. Фото: белый Maybach GLS с полированными дисками; круглая вставка — фрагмент колеса.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AMG / Performance. Фото: красный W124 с пятилучевыми дисками. Для более «AMG»-подачи можно заменить на фото с AMG-автомобилем.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G-Class. Водяной знак с исходного фото убран кадрированием.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Тормозные комплекты AMG Carbon Ceramic. Водяной знак с исходного фото убран кадрированием.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ТРЕБУЕТСЯ: внести цену вместо «…» в текстовом поле «Price text». Цена не придумана.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Процесс: автомобиль → разработка дизайна → 3D → производство → готовый комплект.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Прайс-лист перенесён без изменений из исходного КП (значения «от», моноблоки и 2-составные, 18–24″). Единица цены (за диск / за комплект) в исходнике не указана — при необходимости уточнить и добавить.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Финал. Фото: чёрный V-Class. Контакты — из исходного КП.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image" Target="../media/image11.jp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image" Target="../media/image13.jpg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12192000"/>
          </a:xfrm>
          <a:prstGeom prst="rect">
            <a:avLst/>
          </a:prstGeom>
        </p:spPr>
      </p:pic>
      <p:pic>
        <p:nvPicPr>
          <p:cNvPr id="3" name="GRANDRIMS logo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400" y="609600"/>
            <a:ext cx="1498600" cy="34750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0" y="685800"/>
            <a:ext cx="2667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</a:pPr>
            <a:r>
              <a:rPr sz="1000" lang="ru-RU" spc="200">
                <a:solidFill>
                  <a:srgbClr val="8C939A"/>
                </a:solidFill>
                <a:latin typeface="Montserrat Medium"/>
                <a:ea typeface="Montserrat Medium"/>
                <a:cs typeface="Montserrat Medium"/>
              </a:rPr>
              <a:t>КОММЕРЧЕСКОЕ ПРЕДЛОЖЕНИЕ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533400" y="1968500"/>
            <a:ext cx="5842000" cy="2413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000"/>
              </a:lnSpc>
              <a:spcBef>
                <a:spcPts val="0"/>
              </a:spcBef>
            </a:pPr>
            <a:r>
              <a:rPr sz="46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Индивидуальные</a:t>
            </a:r>
          </a:p>
          <a:p>
            <a:pPr algn="l">
              <a:lnSpc>
                <a:spcPts val="5000"/>
              </a:lnSpc>
              <a:spcBef>
                <a:spcPts val="0"/>
              </a:spcBef>
            </a:pPr>
            <a:r>
              <a:rPr sz="46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решения</a:t>
            </a:r>
          </a:p>
          <a:p>
            <a:pPr algn="l">
              <a:lnSpc>
                <a:spcPts val="5000"/>
              </a:lnSpc>
              <a:spcBef>
                <a:spcPts val="0"/>
              </a:spcBef>
            </a:pPr>
            <a:r>
              <a:rPr sz="4600" lang="ru-RU">
                <a:solidFill>
                  <a:srgbClr val="C4C9CE"/>
                </a:solidFill>
                <a:latin typeface="Montserrat Light"/>
                <a:ea typeface="Montserrat Light"/>
                <a:cs typeface="Montserrat Light"/>
              </a:rPr>
              <a:t>для автомобилей</a:t>
            </a:r>
          </a:p>
          <a:p>
            <a:pPr algn="l">
              <a:lnSpc>
                <a:spcPts val="5000"/>
              </a:lnSpc>
              <a:spcBef>
                <a:spcPts val="0"/>
              </a:spcBef>
            </a:pPr>
            <a:r>
              <a:rPr sz="4600" lang="ru-RU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</a:rPr>
              <a:t>Mercedes-Benz</a:t>
            </a:r>
          </a:p>
        </p:txBody>
      </p:sp>
      <p:sp>
        <p:nvSpPr>
          <p:cNvPr id="6" name="Rectangle 5"/>
          <p:cNvSpPr/>
          <p:nvPr/>
        </p:nvSpPr>
        <p:spPr>
          <a:xfrm>
            <a:off x="533400" y="10718800"/>
            <a:ext cx="5791200" cy="6350"/>
          </a:xfrm>
          <a:prstGeom prst="rect">
            <a:avLst/>
          </a:prstGeom>
          <a:solidFill>
            <a:srgbClr val="C4C9CE">
              <a:alpha val="3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33400" y="10712450"/>
            <a:ext cx="381000" cy="19050"/>
          </a:xfrm>
          <a:prstGeom prst="rect">
            <a:avLst/>
          </a:prstGeom>
          <a:solidFill>
            <a:srgbClr val="D614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3400" y="10934700"/>
            <a:ext cx="5715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600" lang="ru-RU" spc="50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</a:rPr>
              <a:t>Mercedes-Benz. Управляй комфортом.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0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12192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33400" y="685800"/>
            <a:ext cx="215900" cy="12700"/>
          </a:xfrm>
          <a:prstGeom prst="rect">
            <a:avLst/>
          </a:prstGeom>
          <a:solidFill>
            <a:srgbClr val="D614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76300" y="609600"/>
            <a:ext cx="4445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100" lang="ru-RU" spc="200">
                <a:solidFill>
                  <a:srgbClr val="4A5058"/>
                </a:solidFill>
                <a:latin typeface="Montserrat Medium"/>
                <a:ea typeface="Montserrat Medium"/>
                <a:cs typeface="Montserrat Medium"/>
              </a:rPr>
              <a:t>ФИЛОСОФИЯ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533400" y="1270000"/>
            <a:ext cx="5715000" cy="2095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200"/>
              </a:lnSpc>
              <a:spcBef>
                <a:spcPts val="0"/>
              </a:spcBef>
            </a:pPr>
            <a:r>
              <a:rPr sz="4800" lang="ru-RU">
                <a:solidFill>
                  <a:srgbClr val="0B0D10"/>
                </a:solidFill>
                <a:latin typeface="Montserrat Light"/>
                <a:ea typeface="Montserrat Light"/>
                <a:cs typeface="Montserrat Light"/>
              </a:rPr>
              <a:t>Создано под</a:t>
            </a:r>
          </a:p>
          <a:p>
            <a:pPr algn="l">
              <a:lnSpc>
                <a:spcPts val="5200"/>
              </a:lnSpc>
              <a:spcBef>
                <a:spcPts val="0"/>
              </a:spcBef>
            </a:pPr>
            <a:r>
              <a:rPr sz="4800" lang="ru-RU">
                <a:solidFill>
                  <a:srgbClr val="0B0D10"/>
                </a:solidFill>
                <a:latin typeface="Montserrat Light"/>
                <a:ea typeface="Montserrat Light"/>
                <a:cs typeface="Montserrat Light"/>
              </a:rPr>
              <a:t>характер</a:t>
            </a:r>
          </a:p>
          <a:p>
            <a:pPr algn="l">
              <a:lnSpc>
                <a:spcPts val="5200"/>
              </a:lnSpc>
              <a:spcBef>
                <a:spcPts val="0"/>
              </a:spcBef>
            </a:pPr>
            <a:r>
              <a:rPr sz="4800" lang="ru-RU">
                <a:solidFill>
                  <a:srgbClr val="0B0D10"/>
                </a:solidFill>
                <a:latin typeface="Montserrat Light"/>
                <a:ea typeface="Montserrat Light"/>
                <a:cs typeface="Montserrat Light"/>
              </a:rPr>
              <a:t>автомобиля</a:t>
            </a:r>
          </a:p>
        </p:txBody>
      </p:sp>
      <p:sp>
        <p:nvSpPr>
          <p:cNvPr id="6" name="Body"/>
          <p:cNvSpPr txBox="1"/>
          <p:nvPr/>
        </p:nvSpPr>
        <p:spPr>
          <a:xfrm>
            <a:off x="533400" y="3937000"/>
            <a:ext cx="5080000" cy="2095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00"/>
              </a:lnSpc>
              <a:spcBef>
                <a:spcPts val="0"/>
              </a:spcBef>
            </a:pPr>
            <a:r>
              <a:rPr sz="1800" lang="ru-RU">
                <a:solidFill>
                  <a:srgbClr val="4A5058"/>
                </a:solidFill>
                <a:latin typeface="Montserrat Light"/>
                <a:ea typeface="Montserrat Light"/>
                <a:cs typeface="Montserrat Light"/>
              </a:rPr>
              <a:t>GRANDRIMS создаёт индивидуальные колёсные решения для автомобилей Mercedes-Benz с учётом дизайна, параметров и характера конкретной модели.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11239500"/>
            <a:ext cx="3810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000" lang="ru-RU" spc="200">
                <a:solidFill>
                  <a:srgbClr val="4A5058"/>
                </a:solidFill>
                <a:latin typeface="Montserrat Medium"/>
                <a:ea typeface="Montserrat Medium"/>
                <a:cs typeface="Montserrat Medium"/>
              </a:rPr>
              <a:t>S-Class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11671300"/>
            <a:ext cx="3175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000" lang="ru-RU" spc="250">
                <a:solidFill>
                  <a:srgbClr val="6E747A"/>
                </a:solidFill>
                <a:latin typeface="Montserrat Medium"/>
                <a:ea typeface="Montserrat Medium"/>
                <a:cs typeface="Montserrat Medium"/>
              </a:rPr>
              <a:t>GRANDRIMS</a:t>
            </a:r>
          </a:p>
        </p:txBody>
      </p:sp>
      <p:sp>
        <p:nvSpPr>
          <p:cNvPr id="9" name="Rectangle 8"/>
          <p:cNvSpPr/>
          <p:nvPr/>
        </p:nvSpPr>
        <p:spPr>
          <a:xfrm>
            <a:off x="406400" y="11722100"/>
            <a:ext cx="50800" cy="50800"/>
          </a:xfrm>
          <a:prstGeom prst="rect">
            <a:avLst/>
          </a:prstGeom>
          <a:solidFill>
            <a:srgbClr val="D614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19600" y="11671300"/>
            <a:ext cx="1905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</a:pPr>
            <a:r>
              <a:rPr sz="1000" lang="ru-RU" spc="150">
                <a:solidFill>
                  <a:srgbClr val="0B0D10"/>
                </a:solidFill>
                <a:latin typeface="Montserrat Medium"/>
                <a:ea typeface="Montserrat Medium"/>
                <a:cs typeface="Montserrat Medium"/>
              </a:rPr>
              <a:t>02</a:t>
            </a:r>
            <a:r>
              <a:rPr sz="1000" lang="ru-RU" spc="150">
                <a:solidFill>
                  <a:srgbClr val="6E747A"/>
                </a:solidFill>
                <a:latin typeface="Montserrat Medium"/>
                <a:ea typeface="Montserrat Medium"/>
                <a:cs typeface="Montserrat Medium"/>
              </a:rPr>
              <a:t> / 13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0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12192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33400" y="685800"/>
            <a:ext cx="215900" cy="12700"/>
          </a:xfrm>
          <a:prstGeom prst="rect">
            <a:avLst/>
          </a:prstGeom>
          <a:solidFill>
            <a:srgbClr val="D614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76300" y="609600"/>
            <a:ext cx="4445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100" lang="ru-RU" spc="200">
                <a:solidFill>
                  <a:srgbClr val="C4C9CE"/>
                </a:solidFill>
                <a:latin typeface="Montserrat Medium"/>
                <a:ea typeface="Montserrat Medium"/>
                <a:cs typeface="Montserrat Medium"/>
              </a:rPr>
              <a:t>КОВАНЫЕ ДИСКИ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533400" y="1206500"/>
            <a:ext cx="5842000" cy="190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600"/>
              </a:lnSpc>
              <a:spcBef>
                <a:spcPts val="0"/>
              </a:spcBef>
            </a:pPr>
            <a:r>
              <a:rPr sz="42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Кованые диски</a:t>
            </a:r>
          </a:p>
          <a:p>
            <a:pPr algn="l">
              <a:lnSpc>
                <a:spcPts val="4600"/>
              </a:lnSpc>
              <a:spcBef>
                <a:spcPts val="0"/>
              </a:spcBef>
            </a:pPr>
            <a:r>
              <a:rPr sz="42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для Mercedes-Benz</a:t>
            </a:r>
          </a:p>
          <a:p>
            <a:pPr algn="l">
              <a:lnSpc>
                <a:spcPts val="4600"/>
              </a:lnSpc>
              <a:spcBef>
                <a:spcPts val="0"/>
              </a:spcBef>
            </a:pPr>
            <a:r>
              <a:rPr sz="4200" lang="ru-RU">
                <a:solidFill>
                  <a:srgbClr val="C4C9CE"/>
                </a:solidFill>
                <a:latin typeface="Montserrat Light"/>
                <a:ea typeface="Montserrat Light"/>
                <a:cs typeface="Montserrat Light"/>
              </a:rPr>
              <a:t>под любые задачи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3225800"/>
            <a:ext cx="5588000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00"/>
              </a:lnSpc>
              <a:spcBef>
                <a:spcPts val="0"/>
              </a:spcBef>
            </a:pPr>
            <a:r>
              <a:rPr sz="1800" lang="ru-RU">
                <a:solidFill>
                  <a:srgbClr val="C4C9CE"/>
                </a:solidFill>
                <a:latin typeface="Montserrat Light"/>
                <a:ea typeface="Montserrat Light"/>
                <a:cs typeface="Montserrat Light"/>
              </a:rPr>
              <a:t>Инженерная точность, высокая прочность и сниженный вес.</a:t>
            </a:r>
          </a:p>
        </p:txBody>
      </p:sp>
      <p:sp>
        <p:nvSpPr>
          <p:cNvPr id="7" name="Rectangle 6"/>
          <p:cNvSpPr/>
          <p:nvPr/>
        </p:nvSpPr>
        <p:spPr>
          <a:xfrm>
            <a:off x="533400" y="4381500"/>
            <a:ext cx="5791200" cy="6350"/>
          </a:xfrm>
          <a:prstGeom prst="rect">
            <a:avLst/>
          </a:prstGeom>
          <a:solidFill>
            <a:srgbClr val="C4C9CE">
              <a:alpha val="3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Sizes"/>
          <p:cNvSpPr txBox="1"/>
          <p:nvPr/>
        </p:nvSpPr>
        <p:spPr>
          <a:xfrm>
            <a:off x="533400" y="4445000"/>
            <a:ext cx="3556000" cy="1397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500"/>
              </a:lnSpc>
              <a:spcBef>
                <a:spcPts val="0"/>
              </a:spcBef>
            </a:pPr>
            <a:r>
              <a:rPr sz="84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18–24″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27500" y="4686300"/>
            <a:ext cx="21971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000" lang="ru-RU" spc="200">
                <a:solidFill>
                  <a:srgbClr val="8C939A"/>
                </a:solidFill>
                <a:latin typeface="Montserrat Medium"/>
                <a:ea typeface="Montserrat Medium"/>
                <a:cs typeface="Montserrat Medium"/>
              </a:rPr>
              <a:t>ДОСТУПНЫЕ РАЗМЕРЫ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27500" y="5016500"/>
            <a:ext cx="2197100" cy="952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</a:pPr>
            <a:r>
              <a:rPr sz="1350" lang="ru-RU">
                <a:solidFill>
                  <a:srgbClr val="C4C9CE"/>
                </a:solidFill>
                <a:latin typeface="Montserrat Light"/>
                <a:ea typeface="Montserrat Light"/>
                <a:cs typeface="Montserrat Light"/>
              </a:rPr>
              <a:t>Индивидуальное исполнение с учётом дизайна, параметров и нагрузок автомобиля.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3400" y="10795000"/>
            <a:ext cx="2794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000" lang="ru-RU" spc="200">
                <a:solidFill>
                  <a:srgbClr val="8C939A"/>
                </a:solidFill>
                <a:latin typeface="Montserrat Medium"/>
                <a:ea typeface="Montserrat Medium"/>
                <a:cs typeface="Montserrat Medium"/>
              </a:rPr>
              <a:t>GLS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30600" y="11239500"/>
            <a:ext cx="2794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000" lang="ru-RU" spc="200">
                <a:solidFill>
                  <a:srgbClr val="8C939A"/>
                </a:solidFill>
                <a:latin typeface="Montserrat Medium"/>
                <a:ea typeface="Montserrat Medium"/>
                <a:cs typeface="Montserrat Medium"/>
              </a:rPr>
              <a:t>S-CLASS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3400" y="11671300"/>
            <a:ext cx="3175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000" lang="ru-RU" spc="250">
                <a:solidFill>
                  <a:srgbClr val="8C939A"/>
                </a:solidFill>
                <a:latin typeface="Montserrat Medium"/>
                <a:ea typeface="Montserrat Medium"/>
                <a:cs typeface="Montserrat Medium"/>
              </a:rPr>
              <a:t>GRANDRIMS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6400" y="11722100"/>
            <a:ext cx="50800" cy="50800"/>
          </a:xfrm>
          <a:prstGeom prst="rect">
            <a:avLst/>
          </a:prstGeom>
          <a:solidFill>
            <a:srgbClr val="D614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9600" y="11671300"/>
            <a:ext cx="1905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</a:pPr>
            <a:r>
              <a:rPr sz="1000" lang="ru-RU" spc="150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</a:rPr>
              <a:t>03</a:t>
            </a:r>
            <a:r>
              <a:rPr sz="1000" lang="ru-RU" spc="150">
                <a:solidFill>
                  <a:srgbClr val="8C939A"/>
                </a:solidFill>
                <a:latin typeface="Montserrat Medium"/>
                <a:ea typeface="Montserrat Medium"/>
                <a:cs typeface="Montserrat Medium"/>
              </a:rPr>
              <a:t> / 13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0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12192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33400" y="685800"/>
            <a:ext cx="215900" cy="12700"/>
          </a:xfrm>
          <a:prstGeom prst="rect">
            <a:avLst/>
          </a:prstGeom>
          <a:solidFill>
            <a:srgbClr val="D614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76300" y="609600"/>
            <a:ext cx="4445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100" lang="ru-RU" spc="200">
                <a:solidFill>
                  <a:srgbClr val="C4C9CE"/>
                </a:solidFill>
                <a:latin typeface="Montserrat Medium"/>
                <a:ea typeface="Montserrat Medium"/>
                <a:cs typeface="Montserrat Medium"/>
              </a:rPr>
              <a:t>ТЕХНОЛОГИИ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533400" y="1206500"/>
            <a:ext cx="5842000" cy="127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600"/>
              </a:lnSpc>
              <a:spcBef>
                <a:spcPts val="0"/>
              </a:spcBef>
            </a:pPr>
            <a:r>
              <a:rPr sz="42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Технология</a:t>
            </a:r>
          </a:p>
          <a:p>
            <a:pPr algn="l">
              <a:lnSpc>
                <a:spcPts val="4600"/>
              </a:lnSpc>
              <a:spcBef>
                <a:spcPts val="0"/>
              </a:spcBef>
            </a:pPr>
            <a:r>
              <a:rPr sz="4200" lang="ru-RU">
                <a:solidFill>
                  <a:srgbClr val="C4C9CE"/>
                </a:solidFill>
                <a:latin typeface="Montserrat Light"/>
                <a:ea typeface="Montserrat Light"/>
                <a:cs typeface="Montserrat Light"/>
              </a:rPr>
              <a:t>в основе</a:t>
            </a:r>
          </a:p>
        </p:txBody>
      </p:sp>
      <p:sp>
        <p:nvSpPr>
          <p:cNvPr id="6" name="Rectangle 5"/>
          <p:cNvSpPr/>
          <p:nvPr/>
        </p:nvSpPr>
        <p:spPr>
          <a:xfrm>
            <a:off x="533400" y="2921000"/>
            <a:ext cx="5791200" cy="6350"/>
          </a:xfrm>
          <a:prstGeom prst="rect">
            <a:avLst/>
          </a:prstGeom>
          <a:solidFill>
            <a:srgbClr val="C4C9CE">
              <a:alpha val="2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3400" y="3086100"/>
            <a:ext cx="3302000" cy="952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6500"/>
              </a:lnSpc>
              <a:spcBef>
                <a:spcPts val="0"/>
              </a:spcBef>
            </a:pPr>
            <a:r>
              <a:rPr sz="56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6061-T6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46500" y="3175000"/>
            <a:ext cx="2578100" cy="952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</a:pPr>
            <a:r>
              <a:rPr sz="1400" lang="ru-RU">
                <a:solidFill>
                  <a:srgbClr val="C4C9CE"/>
                </a:solidFill>
                <a:latin typeface="Montserrat Light"/>
                <a:ea typeface="Montserrat Light"/>
                <a:cs typeface="Montserrat Light"/>
              </a:rPr>
              <a:t>Кованый алюминиевый сплав авиационного класса</a:t>
            </a:r>
          </a:p>
        </p:txBody>
      </p:sp>
      <p:sp>
        <p:nvSpPr>
          <p:cNvPr id="9" name="Rectangle 8"/>
          <p:cNvSpPr/>
          <p:nvPr/>
        </p:nvSpPr>
        <p:spPr>
          <a:xfrm>
            <a:off x="533400" y="4216400"/>
            <a:ext cx="5791200" cy="6350"/>
          </a:xfrm>
          <a:prstGeom prst="rect">
            <a:avLst/>
          </a:prstGeom>
          <a:solidFill>
            <a:srgbClr val="C4C9CE">
              <a:alpha val="2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3400" y="4381500"/>
            <a:ext cx="3302000" cy="952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6500"/>
              </a:lnSpc>
              <a:spcBef>
                <a:spcPts val="0"/>
              </a:spcBef>
            </a:pPr>
            <a:r>
              <a:rPr sz="56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18–24″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6500" y="4470400"/>
            <a:ext cx="2578100" cy="952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</a:pPr>
            <a:r>
              <a:rPr sz="1400" lang="ru-RU">
                <a:solidFill>
                  <a:srgbClr val="C4C9CE"/>
                </a:solidFill>
                <a:latin typeface="Montserrat Light"/>
                <a:ea typeface="Montserrat Light"/>
                <a:cs typeface="Montserrat Light"/>
              </a:rPr>
              <a:t>Размеры от 18 до 24 дюймов под параметры автомобиля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3400" y="5511800"/>
            <a:ext cx="5791200" cy="6350"/>
          </a:xfrm>
          <a:prstGeom prst="rect">
            <a:avLst/>
          </a:prstGeom>
          <a:solidFill>
            <a:srgbClr val="C4C9CE">
              <a:alpha val="2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3400" y="5676900"/>
            <a:ext cx="3302000" cy="952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6500"/>
              </a:lnSpc>
              <a:spcBef>
                <a:spcPts val="0"/>
              </a:spcBef>
            </a:pPr>
            <a:r>
              <a:rPr sz="56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3D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46500" y="5765800"/>
            <a:ext cx="2578100" cy="952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</a:pPr>
            <a:r>
              <a:rPr sz="1400" lang="ru-RU">
                <a:solidFill>
                  <a:srgbClr val="C4C9CE"/>
                </a:solidFill>
                <a:latin typeface="Montserrat Light"/>
                <a:ea typeface="Montserrat Light"/>
                <a:cs typeface="Montserrat Light"/>
              </a:rPr>
              <a:t>Визуализация и точная подгонка до запуска в производство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3400" y="6807200"/>
            <a:ext cx="5791200" cy="6350"/>
          </a:xfrm>
          <a:prstGeom prst="rect">
            <a:avLst/>
          </a:prstGeom>
          <a:solidFill>
            <a:srgbClr val="C4C9CE">
              <a:alpha val="2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3400" y="6972300"/>
            <a:ext cx="3302000" cy="952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6500"/>
              </a:lnSpc>
              <a:spcBef>
                <a:spcPts val="0"/>
              </a:spcBef>
            </a:pPr>
            <a:r>
              <a:rPr sz="56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от 15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6500" y="7061200"/>
            <a:ext cx="2578100" cy="952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</a:pPr>
            <a:r>
              <a:rPr sz="1400" lang="ru-RU">
                <a:solidFill>
                  <a:srgbClr val="C4C9CE"/>
                </a:solidFill>
                <a:latin typeface="Montserrat Light"/>
                <a:ea typeface="Montserrat Light"/>
                <a:cs typeface="Montserrat Light"/>
              </a:rPr>
              <a:t>рабочих дней — производство индивидуального комплекта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33400" y="8102600"/>
            <a:ext cx="5791200" cy="6350"/>
          </a:xfrm>
          <a:prstGeom prst="rect">
            <a:avLst/>
          </a:prstGeom>
          <a:solidFill>
            <a:srgbClr val="C4C9CE">
              <a:alpha val="2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3400" y="8318500"/>
            <a:ext cx="3302000" cy="889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00"/>
              </a:lnSpc>
              <a:spcBef>
                <a:spcPts val="0"/>
              </a:spcBef>
            </a:pPr>
            <a:r>
              <a:rPr sz="32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Пожизненная</a:t>
            </a:r>
          </a:p>
          <a:p>
            <a:pPr algn="l">
              <a:lnSpc>
                <a:spcPts val="3600"/>
              </a:lnSpc>
              <a:spcBef>
                <a:spcPts val="0"/>
              </a:spcBef>
            </a:pPr>
            <a:r>
              <a:rPr sz="32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гарантия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46500" y="8356600"/>
            <a:ext cx="2578100" cy="952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</a:pPr>
            <a:r>
              <a:rPr sz="1400" lang="ru-RU">
                <a:solidFill>
                  <a:srgbClr val="C4C9CE"/>
                </a:solidFill>
                <a:latin typeface="Montserrat Light"/>
                <a:ea typeface="Montserrat Light"/>
                <a:cs typeface="Montserrat Light"/>
              </a:rPr>
              <a:t>Гарантия на целостность конструкции дисков на весь срок эксплуатации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3400" y="9398000"/>
            <a:ext cx="5791200" cy="6350"/>
          </a:xfrm>
          <a:prstGeom prst="rect">
            <a:avLst/>
          </a:prstGeom>
          <a:solidFill>
            <a:srgbClr val="C4C9CE">
              <a:alpha val="2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3400" y="9677400"/>
            <a:ext cx="2667000" cy="127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000" lang="ru-RU" spc="200">
                <a:solidFill>
                  <a:srgbClr val="8C939A"/>
                </a:solidFill>
                <a:latin typeface="Montserrat Medium"/>
                <a:ea typeface="Montserrat Medium"/>
                <a:cs typeface="Montserrat Medium"/>
              </a:rPr>
              <a:t>СЕРВИС</a:t>
            </a:r>
          </a:p>
          <a:p>
            <a:pPr algn="l">
              <a:lnSpc>
                <a:spcPts val="1850"/>
              </a:lnSpc>
              <a:spcBef>
                <a:spcPts val="0"/>
              </a:spcBef>
            </a:pPr>
            <a:r>
              <a:rPr sz="1300" lang="ru-RU">
                <a:solidFill>
                  <a:srgbClr val="C4C9CE"/>
                </a:solidFill>
                <a:latin typeface="Montserrat Light"/>
                <a:ea typeface="Montserrat Light"/>
                <a:cs typeface="Montserrat Light"/>
              </a:rPr>
              <a:t>Сопровождение на этапах дизайна, производства и установки.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56000" y="9677400"/>
            <a:ext cx="2768600" cy="127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000" lang="ru-RU" spc="200">
                <a:solidFill>
                  <a:srgbClr val="8C939A"/>
                </a:solidFill>
                <a:latin typeface="Montserrat Medium"/>
                <a:ea typeface="Montserrat Medium"/>
                <a:cs typeface="Montserrat Medium"/>
              </a:rPr>
              <a:t>ГОТОВЫЕ КОМПЛЕКТЫ</a:t>
            </a:r>
          </a:p>
          <a:p>
            <a:pPr algn="l">
              <a:lnSpc>
                <a:spcPts val="1850"/>
              </a:lnSpc>
              <a:spcBef>
                <a:spcPts val="0"/>
              </a:spcBef>
            </a:pPr>
            <a:r>
              <a:rPr sz="1300" lang="ru-RU">
                <a:solidFill>
                  <a:srgbClr val="C4C9CE"/>
                </a:solidFill>
                <a:latin typeface="Montserrat Light"/>
                <a:ea typeface="Montserrat Light"/>
                <a:cs typeface="Montserrat Light"/>
              </a:rPr>
              <a:t>Шины, датчики давления и аксессуары — в сборе.*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3400" y="11125200"/>
            <a:ext cx="579120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</a:pPr>
            <a:r>
              <a:rPr sz="1000" lang="ru-RU">
                <a:solidFill>
                  <a:srgbClr val="8C939A"/>
                </a:solidFill>
                <a:latin typeface="Montserrat Light"/>
                <a:ea typeface="Montserrat Light"/>
                <a:cs typeface="Montserrat Light"/>
              </a:rPr>
              <a:t>* Актуальные цены на шины, колёсные датчики и аксессуары предоставляются менеджером по запросу.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3400" y="11671300"/>
            <a:ext cx="3175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000" lang="ru-RU" spc="250">
                <a:solidFill>
                  <a:srgbClr val="8C939A"/>
                </a:solidFill>
                <a:latin typeface="Montserrat Medium"/>
                <a:ea typeface="Montserrat Medium"/>
                <a:cs typeface="Montserrat Medium"/>
              </a:rPr>
              <a:t>GRANDRIMS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06400" y="11722100"/>
            <a:ext cx="50800" cy="50800"/>
          </a:xfrm>
          <a:prstGeom prst="rect">
            <a:avLst/>
          </a:prstGeom>
          <a:solidFill>
            <a:srgbClr val="D614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19600" y="11671300"/>
            <a:ext cx="1905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</a:pPr>
            <a:r>
              <a:rPr sz="1000" lang="ru-RU" spc="150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</a:rPr>
              <a:t>04</a:t>
            </a:r>
            <a:r>
              <a:rPr sz="1000" lang="ru-RU" spc="150">
                <a:solidFill>
                  <a:srgbClr val="8C939A"/>
                </a:solidFill>
                <a:latin typeface="Montserrat Medium"/>
                <a:ea typeface="Montserrat Medium"/>
                <a:cs typeface="Montserrat Medium"/>
              </a:rPr>
              <a:t> / 13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0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12192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33400" y="685800"/>
            <a:ext cx="215900" cy="12700"/>
          </a:xfrm>
          <a:prstGeom prst="rect">
            <a:avLst/>
          </a:prstGeom>
          <a:solidFill>
            <a:srgbClr val="D614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76300" y="609600"/>
            <a:ext cx="4445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100" lang="ru-RU" spc="200">
                <a:solidFill>
                  <a:srgbClr val="4A5058"/>
                </a:solidFill>
                <a:latin typeface="Montserrat Medium"/>
                <a:ea typeface="Montserrat Medium"/>
                <a:cs typeface="Montserrat Medium"/>
              </a:rPr>
              <a:t>ДИЗАЙН ДИСКОВ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533400" y="1206500"/>
            <a:ext cx="5842000" cy="152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600"/>
              </a:lnSpc>
              <a:spcBef>
                <a:spcPts val="0"/>
              </a:spcBef>
            </a:pPr>
            <a:r>
              <a:rPr sz="4200" lang="ru-RU">
                <a:solidFill>
                  <a:srgbClr val="0B0D10"/>
                </a:solidFill>
                <a:latin typeface="Montserrat Light"/>
                <a:ea typeface="Montserrat Light"/>
                <a:cs typeface="Montserrat Light"/>
              </a:rPr>
              <a:t>Дизайн в характере</a:t>
            </a:r>
          </a:p>
          <a:p>
            <a:pPr algn="l">
              <a:lnSpc>
                <a:spcPts val="4600"/>
              </a:lnSpc>
              <a:spcBef>
                <a:spcPts val="0"/>
              </a:spcBef>
            </a:pPr>
            <a:r>
              <a:rPr sz="4200" lang="ru-RU">
                <a:solidFill>
                  <a:srgbClr val="0B0D10"/>
                </a:solidFill>
                <a:latin typeface="Montserrat Light"/>
                <a:ea typeface="Montserrat Light"/>
                <a:cs typeface="Montserrat Light"/>
              </a:rPr>
              <a:t>автомобиля</a:t>
            </a:r>
          </a:p>
        </p:txBody>
      </p:sp>
      <p:sp>
        <p:nvSpPr>
          <p:cNvPr id="6" name="Rectangle 5"/>
          <p:cNvSpPr/>
          <p:nvPr/>
        </p:nvSpPr>
        <p:spPr>
          <a:xfrm>
            <a:off x="533400" y="2667000"/>
            <a:ext cx="419100" cy="279400"/>
          </a:xfrm>
          <a:prstGeom prst="rect">
            <a:avLst/>
          </a:prstGeom>
          <a:solidFill>
            <a:srgbClr val="0B0D10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5000" y="2724150"/>
            <a:ext cx="508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100" lang="ru-RU" spc="150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533400" y="7588250"/>
            <a:ext cx="419100" cy="279400"/>
          </a:xfrm>
          <a:prstGeom prst="rect">
            <a:avLst/>
          </a:prstGeom>
          <a:solidFill>
            <a:srgbClr val="0B0D10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5000" y="7645400"/>
            <a:ext cx="508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100" lang="ru-RU" spc="150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14600" y="7588250"/>
            <a:ext cx="419100" cy="279400"/>
          </a:xfrm>
          <a:prstGeom prst="rect">
            <a:avLst/>
          </a:prstGeom>
          <a:solidFill>
            <a:srgbClr val="0B0D10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16200" y="7645400"/>
            <a:ext cx="508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100" lang="ru-RU" spc="150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95800" y="7588250"/>
            <a:ext cx="419100" cy="279400"/>
          </a:xfrm>
          <a:prstGeom prst="rect">
            <a:avLst/>
          </a:prstGeom>
          <a:solidFill>
            <a:srgbClr val="0B0D10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97400" y="7645400"/>
            <a:ext cx="508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100" lang="ru-RU" spc="150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33400" y="9258300"/>
            <a:ext cx="5791200" cy="6350"/>
          </a:xfrm>
          <a:prstGeom prst="rect">
            <a:avLst/>
          </a:prstGeom>
          <a:solidFill>
            <a:srgbClr val="0B0D10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3400" y="9372600"/>
            <a:ext cx="5715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100" lang="ru-RU" spc="150">
                <a:solidFill>
                  <a:srgbClr val="4A5058"/>
                </a:solidFill>
                <a:latin typeface="Montserrat Medium"/>
                <a:ea typeface="Montserrat Medium"/>
                <a:cs typeface="Montserrat Medium"/>
              </a:rP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06500" y="9321800"/>
            <a:ext cx="4445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500" lang="ru-RU">
                <a:solidFill>
                  <a:srgbClr val="0B0D10"/>
                </a:solidFill>
                <a:latin typeface="Montserrat Medium"/>
                <a:ea typeface="Montserrat Medium"/>
                <a:cs typeface="Montserrat Medium"/>
              </a:rPr>
              <a:t>Кованый комплект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06500" y="9550400"/>
            <a:ext cx="4953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200" lang="ru-RU">
                <a:solidFill>
                  <a:srgbClr val="4A5058"/>
                </a:solidFill>
                <a:latin typeface="Montserrat Light"/>
                <a:ea typeface="Montserrat Light"/>
                <a:cs typeface="Montserrat Light"/>
              </a:rPr>
              <a:t>чёрный лак, контрастная кромка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33400" y="9817100"/>
            <a:ext cx="5791200" cy="6350"/>
          </a:xfrm>
          <a:prstGeom prst="rect">
            <a:avLst/>
          </a:prstGeom>
          <a:solidFill>
            <a:srgbClr val="0B0D10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3400" y="9931400"/>
            <a:ext cx="5715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100" lang="ru-RU" spc="150">
                <a:solidFill>
                  <a:srgbClr val="4A5058"/>
                </a:solidFill>
                <a:latin typeface="Montserrat Medium"/>
                <a:ea typeface="Montserrat Medium"/>
                <a:cs typeface="Montserrat Medium"/>
              </a:rPr>
              <a:t>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6500" y="9880600"/>
            <a:ext cx="4445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500" lang="ru-RU">
                <a:solidFill>
                  <a:srgbClr val="0B0D10"/>
                </a:solidFill>
                <a:latin typeface="Montserrat Medium"/>
                <a:ea typeface="Montserrat Medium"/>
                <a:cs typeface="Montserrat Medium"/>
              </a:rPr>
              <a:t>Многоспицевый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06500" y="10109200"/>
            <a:ext cx="4953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200" lang="ru-RU">
                <a:solidFill>
                  <a:srgbClr val="4A5058"/>
                </a:solidFill>
                <a:latin typeface="Montserrat Light"/>
                <a:ea typeface="Montserrat Light"/>
                <a:cs typeface="Montserrat Light"/>
              </a:rPr>
              <a:t>турбинный рисунок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33400" y="10375900"/>
            <a:ext cx="5791200" cy="6350"/>
          </a:xfrm>
          <a:prstGeom prst="rect">
            <a:avLst/>
          </a:prstGeom>
          <a:solidFill>
            <a:srgbClr val="0B0D10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3400" y="10490200"/>
            <a:ext cx="5715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100" lang="ru-RU" spc="150">
                <a:solidFill>
                  <a:srgbClr val="4A5058"/>
                </a:solidFill>
                <a:latin typeface="Montserrat Medium"/>
                <a:ea typeface="Montserrat Medium"/>
                <a:cs typeface="Montserrat Medium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06500" y="10439400"/>
            <a:ext cx="4445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500" lang="ru-RU">
                <a:solidFill>
                  <a:srgbClr val="0B0D10"/>
                </a:solidFill>
                <a:latin typeface="Montserrat Medium"/>
                <a:ea typeface="Montserrat Medium"/>
                <a:cs typeface="Montserrat Medium"/>
              </a:rPr>
              <a:t>Maybach-style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06500" y="10668000"/>
            <a:ext cx="4953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200" lang="ru-RU">
                <a:solidFill>
                  <a:srgbClr val="4A5058"/>
                </a:solidFill>
                <a:latin typeface="Montserrat Light"/>
                <a:ea typeface="Montserrat Light"/>
                <a:cs typeface="Montserrat Light"/>
              </a:rPr>
              <a:t>хром и объём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33400" y="10934700"/>
            <a:ext cx="5791200" cy="6350"/>
          </a:xfrm>
          <a:prstGeom prst="rect">
            <a:avLst/>
          </a:prstGeom>
          <a:solidFill>
            <a:srgbClr val="0B0D10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33400" y="11049000"/>
            <a:ext cx="5715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100" lang="ru-RU" spc="150">
                <a:solidFill>
                  <a:srgbClr val="4A5058"/>
                </a:solidFill>
                <a:latin typeface="Montserrat Medium"/>
                <a:ea typeface="Montserrat Medium"/>
                <a:cs typeface="Montserrat Medium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06500" y="10998200"/>
            <a:ext cx="4445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500" lang="ru-RU">
                <a:solidFill>
                  <a:srgbClr val="0B0D10"/>
                </a:solidFill>
                <a:latin typeface="Montserrat Medium"/>
                <a:ea typeface="Montserrat Medium"/>
                <a:cs typeface="Montserrat Medium"/>
              </a:rPr>
              <a:t>Массивный моноблок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06500" y="11226800"/>
            <a:ext cx="4953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200" lang="ru-RU">
                <a:solidFill>
                  <a:srgbClr val="4A5058"/>
                </a:solidFill>
                <a:latin typeface="Montserrat Light"/>
                <a:ea typeface="Montserrat Light"/>
                <a:cs typeface="Montserrat Light"/>
              </a:rPr>
              <a:t>чёрный лак, полированная кромка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3400" y="11671300"/>
            <a:ext cx="3175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000" lang="ru-RU" spc="250">
                <a:solidFill>
                  <a:srgbClr val="6E747A"/>
                </a:solidFill>
                <a:latin typeface="Montserrat Medium"/>
                <a:ea typeface="Montserrat Medium"/>
                <a:cs typeface="Montserrat Medium"/>
              </a:rPr>
              <a:t>GRANDRIMS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06400" y="11722100"/>
            <a:ext cx="50800" cy="50800"/>
          </a:xfrm>
          <a:prstGeom prst="rect">
            <a:avLst/>
          </a:prstGeom>
          <a:solidFill>
            <a:srgbClr val="D614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419600" y="11671300"/>
            <a:ext cx="1905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</a:pPr>
            <a:r>
              <a:rPr sz="1000" lang="ru-RU" spc="150">
                <a:solidFill>
                  <a:srgbClr val="0B0D10"/>
                </a:solidFill>
                <a:latin typeface="Montserrat Medium"/>
                <a:ea typeface="Montserrat Medium"/>
                <a:cs typeface="Montserrat Medium"/>
              </a:rPr>
              <a:t>05</a:t>
            </a:r>
            <a:r>
              <a:rPr sz="1000" lang="ru-RU" spc="150">
                <a:solidFill>
                  <a:srgbClr val="6E747A"/>
                </a:solidFill>
                <a:latin typeface="Montserrat Medium"/>
                <a:ea typeface="Montserrat Medium"/>
                <a:cs typeface="Montserrat Medium"/>
              </a:rPr>
              <a:t> / 13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0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12192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33400" y="685800"/>
            <a:ext cx="215900" cy="12700"/>
          </a:xfrm>
          <a:prstGeom prst="rect">
            <a:avLst/>
          </a:prstGeom>
          <a:solidFill>
            <a:srgbClr val="D614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76300" y="609600"/>
            <a:ext cx="4445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100" lang="ru-RU" spc="200">
                <a:solidFill>
                  <a:srgbClr val="C4C9CE"/>
                </a:solidFill>
                <a:latin typeface="Montserrat Medium"/>
                <a:ea typeface="Montserrat Medium"/>
                <a:cs typeface="Montserrat Medium"/>
              </a:rPr>
              <a:t>MAYBACH-STYLE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533400" y="1143000"/>
            <a:ext cx="5842000" cy="190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400"/>
              </a:lnSpc>
              <a:spcBef>
                <a:spcPts val="0"/>
              </a:spcBef>
            </a:pPr>
            <a:r>
              <a:rPr sz="50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Сдержанная</a:t>
            </a:r>
          </a:p>
          <a:p>
            <a:pPr algn="l">
              <a:lnSpc>
                <a:spcPts val="5400"/>
              </a:lnSpc>
              <a:spcBef>
                <a:spcPts val="0"/>
              </a:spcBef>
            </a:pPr>
            <a:r>
              <a:rPr sz="50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роскошь</a:t>
            </a:r>
          </a:p>
        </p:txBody>
      </p:sp>
      <p:sp>
        <p:nvSpPr>
          <p:cNvPr id="6" name="Rectangle 5"/>
          <p:cNvSpPr/>
          <p:nvPr/>
        </p:nvSpPr>
        <p:spPr>
          <a:xfrm>
            <a:off x="533400" y="10134600"/>
            <a:ext cx="2984500" cy="6350"/>
          </a:xfrm>
          <a:prstGeom prst="rect">
            <a:avLst/>
          </a:prstGeom>
          <a:solidFill>
            <a:srgbClr val="C4C9CE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3400" y="10325100"/>
            <a:ext cx="3429000" cy="952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0"/>
              </a:lnSpc>
              <a:spcBef>
                <a:spcPts val="0"/>
              </a:spcBef>
            </a:pPr>
            <a:r>
              <a:rPr sz="1500" lang="ru-RU">
                <a:solidFill>
                  <a:srgbClr val="C4C9CE"/>
                </a:solidFill>
                <a:latin typeface="Montserrat Light"/>
                <a:ea typeface="Montserrat Light"/>
                <a:cs typeface="Montserrat Light"/>
              </a:rPr>
              <a:t>Полированный металл и монолитный рисунок. Фактура в главной роли.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11671300"/>
            <a:ext cx="3175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000" lang="ru-RU" spc="250">
                <a:solidFill>
                  <a:srgbClr val="8C939A"/>
                </a:solidFill>
                <a:latin typeface="Montserrat Medium"/>
                <a:ea typeface="Montserrat Medium"/>
                <a:cs typeface="Montserrat Medium"/>
              </a:rPr>
              <a:t>GRANDRIMS</a:t>
            </a:r>
          </a:p>
        </p:txBody>
      </p:sp>
      <p:sp>
        <p:nvSpPr>
          <p:cNvPr id="9" name="Rectangle 8"/>
          <p:cNvSpPr/>
          <p:nvPr/>
        </p:nvSpPr>
        <p:spPr>
          <a:xfrm>
            <a:off x="406400" y="11722100"/>
            <a:ext cx="50800" cy="50800"/>
          </a:xfrm>
          <a:prstGeom prst="rect">
            <a:avLst/>
          </a:prstGeom>
          <a:solidFill>
            <a:srgbClr val="D614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19600" y="11671300"/>
            <a:ext cx="1905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</a:pPr>
            <a:r>
              <a:rPr sz="1000" lang="ru-RU" spc="150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</a:rPr>
              <a:t>06</a:t>
            </a:r>
            <a:r>
              <a:rPr sz="1000" lang="ru-RU" spc="150">
                <a:solidFill>
                  <a:srgbClr val="8C939A"/>
                </a:solidFill>
                <a:latin typeface="Montserrat Medium"/>
                <a:ea typeface="Montserrat Medium"/>
                <a:cs typeface="Montserrat Medium"/>
              </a:rPr>
              <a:t> / 13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0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12192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33400" y="685800"/>
            <a:ext cx="215900" cy="12700"/>
          </a:xfrm>
          <a:prstGeom prst="rect">
            <a:avLst/>
          </a:prstGeom>
          <a:solidFill>
            <a:srgbClr val="D614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76300" y="609600"/>
            <a:ext cx="4445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100" lang="ru-RU" spc="200">
                <a:solidFill>
                  <a:srgbClr val="C4C9CE"/>
                </a:solidFill>
                <a:latin typeface="Montserrat Medium"/>
                <a:ea typeface="Montserrat Medium"/>
                <a:cs typeface="Montserrat Medium"/>
              </a:rPr>
              <a:t>PERFORMANCE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533400" y="8712200"/>
            <a:ext cx="5842000" cy="2095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500"/>
              </a:lnSpc>
              <a:spcBef>
                <a:spcPts val="0"/>
              </a:spcBef>
            </a:pPr>
            <a:r>
              <a:rPr sz="52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Динамика</a:t>
            </a:r>
          </a:p>
          <a:p>
            <a:pPr algn="l">
              <a:lnSpc>
                <a:spcPts val="5500"/>
              </a:lnSpc>
              <a:spcBef>
                <a:spcPts val="0"/>
              </a:spcBef>
            </a:pPr>
            <a:r>
              <a:rPr sz="52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в каждой</a:t>
            </a:r>
          </a:p>
          <a:p>
            <a:pPr algn="l">
              <a:lnSpc>
                <a:spcPts val="5500"/>
              </a:lnSpc>
              <a:spcBef>
                <a:spcPts val="0"/>
              </a:spcBef>
            </a:pPr>
            <a:r>
              <a:rPr sz="52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детали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10896600"/>
            <a:ext cx="4445000" cy="444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00"/>
              </a:lnSpc>
              <a:spcBef>
                <a:spcPts val="0"/>
              </a:spcBef>
            </a:pPr>
            <a:r>
              <a:rPr sz="1350" lang="ru-RU">
                <a:solidFill>
                  <a:srgbClr val="C4C9CE"/>
                </a:solidFill>
                <a:latin typeface="Montserrat Light"/>
                <a:ea typeface="Montserrat Light"/>
                <a:cs typeface="Montserrat Light"/>
              </a:rPr>
              <a:t>Многоспицевые и спортивные рисунки — с характером, но без излишеств.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11671300"/>
            <a:ext cx="3175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000" lang="ru-RU" spc="250">
                <a:solidFill>
                  <a:srgbClr val="8C939A"/>
                </a:solidFill>
                <a:latin typeface="Montserrat Medium"/>
                <a:ea typeface="Montserrat Medium"/>
                <a:cs typeface="Montserrat Medium"/>
              </a:rPr>
              <a:t>GRANDRIMS</a:t>
            </a:r>
          </a:p>
        </p:txBody>
      </p:sp>
      <p:sp>
        <p:nvSpPr>
          <p:cNvPr id="8" name="Rectangle 7"/>
          <p:cNvSpPr/>
          <p:nvPr/>
        </p:nvSpPr>
        <p:spPr>
          <a:xfrm>
            <a:off x="406400" y="11722100"/>
            <a:ext cx="50800" cy="50800"/>
          </a:xfrm>
          <a:prstGeom prst="rect">
            <a:avLst/>
          </a:prstGeom>
          <a:solidFill>
            <a:srgbClr val="D614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19600" y="11671300"/>
            <a:ext cx="1905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</a:pPr>
            <a:r>
              <a:rPr sz="1000" lang="ru-RU" spc="150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</a:rPr>
              <a:t>07</a:t>
            </a:r>
            <a:r>
              <a:rPr sz="1000" lang="ru-RU" spc="150">
                <a:solidFill>
                  <a:srgbClr val="8C939A"/>
                </a:solidFill>
                <a:latin typeface="Montserrat Medium"/>
                <a:ea typeface="Montserrat Medium"/>
                <a:cs typeface="Montserrat Medium"/>
              </a:rPr>
              <a:t> / 13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0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12192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33400" y="685800"/>
            <a:ext cx="215900" cy="12700"/>
          </a:xfrm>
          <a:prstGeom prst="rect">
            <a:avLst/>
          </a:prstGeom>
          <a:solidFill>
            <a:srgbClr val="D614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76300" y="609600"/>
            <a:ext cx="4445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100" lang="ru-RU" spc="200">
                <a:solidFill>
                  <a:srgbClr val="C4C9CE"/>
                </a:solidFill>
                <a:latin typeface="Montserrat Medium"/>
                <a:ea typeface="Montserrat Medium"/>
                <a:cs typeface="Montserrat Medium"/>
              </a:rPr>
              <a:t>G-CLASS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533400" y="8255000"/>
            <a:ext cx="5842000" cy="152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900"/>
              </a:lnSpc>
              <a:spcBef>
                <a:spcPts val="0"/>
              </a:spcBef>
            </a:pPr>
            <a:r>
              <a:rPr sz="44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Характер</a:t>
            </a:r>
          </a:p>
          <a:p>
            <a:pPr algn="l">
              <a:lnSpc>
                <a:spcPts val="4900"/>
              </a:lnSpc>
              <a:spcBef>
                <a:spcPts val="0"/>
              </a:spcBef>
            </a:pPr>
            <a:r>
              <a:rPr sz="44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без компромиссов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9842500"/>
            <a:ext cx="4572000" cy="63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0"/>
              </a:lnSpc>
              <a:spcBef>
                <a:spcPts val="0"/>
              </a:spcBef>
            </a:pPr>
            <a:r>
              <a:rPr sz="1500" lang="ru-RU">
                <a:solidFill>
                  <a:srgbClr val="C4C9CE"/>
                </a:solidFill>
                <a:latin typeface="Montserrat Light"/>
                <a:ea typeface="Montserrat Light"/>
                <a:cs typeface="Montserrat Light"/>
              </a:rPr>
              <a:t>Массивные кованые диски, рассчитанные на нагрузки и характер G-Class.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11671300"/>
            <a:ext cx="3175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000" lang="ru-RU" spc="250">
                <a:solidFill>
                  <a:srgbClr val="8C939A"/>
                </a:solidFill>
                <a:latin typeface="Montserrat Medium"/>
                <a:ea typeface="Montserrat Medium"/>
                <a:cs typeface="Montserrat Medium"/>
              </a:rPr>
              <a:t>GRANDRIMS</a:t>
            </a:r>
          </a:p>
        </p:txBody>
      </p:sp>
      <p:sp>
        <p:nvSpPr>
          <p:cNvPr id="8" name="Rectangle 7"/>
          <p:cNvSpPr/>
          <p:nvPr/>
        </p:nvSpPr>
        <p:spPr>
          <a:xfrm>
            <a:off x="406400" y="11722100"/>
            <a:ext cx="50800" cy="50800"/>
          </a:xfrm>
          <a:prstGeom prst="rect">
            <a:avLst/>
          </a:prstGeom>
          <a:solidFill>
            <a:srgbClr val="D614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19600" y="11671300"/>
            <a:ext cx="1905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</a:pPr>
            <a:r>
              <a:rPr sz="1000" lang="ru-RU" spc="150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</a:rPr>
              <a:t>08</a:t>
            </a:r>
            <a:r>
              <a:rPr sz="1000" lang="ru-RU" spc="150">
                <a:solidFill>
                  <a:srgbClr val="8C939A"/>
                </a:solidFill>
                <a:latin typeface="Montserrat Medium"/>
                <a:ea typeface="Montserrat Medium"/>
                <a:cs typeface="Montserrat Medium"/>
              </a:rPr>
              <a:t> / 13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0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12192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33400" y="685800"/>
            <a:ext cx="215900" cy="12700"/>
          </a:xfrm>
          <a:prstGeom prst="rect">
            <a:avLst/>
          </a:prstGeom>
          <a:solidFill>
            <a:srgbClr val="D614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76300" y="609600"/>
            <a:ext cx="4445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100" lang="ru-RU" spc="200">
                <a:solidFill>
                  <a:srgbClr val="C4C9CE"/>
                </a:solidFill>
                <a:latin typeface="Montserrat Medium"/>
                <a:ea typeface="Montserrat Medium"/>
                <a:cs typeface="Montserrat Medium"/>
              </a:rPr>
              <a:t>ТОРМОЗНЫЕ СИСТЕМЫ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533400" y="1181100"/>
            <a:ext cx="5842000" cy="254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900"/>
              </a:lnSpc>
              <a:spcBef>
                <a:spcPts val="0"/>
              </a:spcBef>
            </a:pPr>
            <a:r>
              <a:rPr sz="34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Тормозные комплекты</a:t>
            </a:r>
          </a:p>
          <a:p>
            <a:pPr algn="l">
              <a:lnSpc>
                <a:spcPts val="3900"/>
              </a:lnSpc>
              <a:spcBef>
                <a:spcPts val="0"/>
              </a:spcBef>
            </a:pPr>
            <a:r>
              <a:rPr sz="34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на оригинальных</a:t>
            </a:r>
          </a:p>
          <a:p>
            <a:pPr algn="l">
              <a:lnSpc>
                <a:spcPts val="3900"/>
              </a:lnSpc>
              <a:spcBef>
                <a:spcPts val="0"/>
              </a:spcBef>
            </a:pPr>
            <a:r>
              <a:rPr sz="34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компонентах</a:t>
            </a:r>
          </a:p>
          <a:p>
            <a:pPr algn="l">
              <a:lnSpc>
                <a:spcPts val="3900"/>
              </a:lnSpc>
              <a:spcBef>
                <a:spcPts val="0"/>
              </a:spcBef>
            </a:pPr>
            <a:r>
              <a:rPr sz="3400" lang="ru-RU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</a:rPr>
              <a:t>Mercedes-Benz</a:t>
            </a:r>
          </a:p>
        </p:txBody>
      </p:sp>
      <p:pic>
        <p:nvPicPr>
          <p:cNvPr id="6" name="Photo — brake set" descr="brakes_se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064000"/>
            <a:ext cx="6858000" cy="54610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4064000"/>
            <a:ext cx="6858000" cy="6350"/>
          </a:xfrm>
          <a:prstGeom prst="rect">
            <a:avLst/>
          </a:prstGeom>
          <a:solidFill>
            <a:srgbClr val="C4C9CE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9525000"/>
            <a:ext cx="6858000" cy="6350"/>
          </a:xfrm>
          <a:prstGeom prst="rect">
            <a:avLst/>
          </a:prstGeom>
          <a:solidFill>
            <a:srgbClr val="C4C9CE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33400" y="9969500"/>
            <a:ext cx="1778000" cy="6350"/>
          </a:xfrm>
          <a:prstGeom prst="rect">
            <a:avLst/>
          </a:prstGeom>
          <a:solidFill>
            <a:srgbClr val="C4C9CE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3400" y="10109200"/>
            <a:ext cx="1778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000" lang="ru-RU" spc="200">
                <a:solidFill>
                  <a:srgbClr val="8C939A"/>
                </a:solidFill>
                <a:latin typeface="Montserrat Medium"/>
                <a:ea typeface="Montserrat Medium"/>
                <a:cs typeface="Montserrat Medium"/>
              </a:rPr>
              <a:t>СУППОРТЫ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3400" y="10350500"/>
            <a:ext cx="18669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00"/>
              </a:lnSpc>
              <a:spcBef>
                <a:spcPts val="0"/>
              </a:spcBef>
            </a:pPr>
            <a:r>
              <a:rPr sz="16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AMG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63800" y="9969500"/>
            <a:ext cx="1778000" cy="6350"/>
          </a:xfrm>
          <a:prstGeom prst="rect">
            <a:avLst/>
          </a:prstGeom>
          <a:solidFill>
            <a:srgbClr val="C4C9CE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63800" y="10109200"/>
            <a:ext cx="1778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000" lang="ru-RU" spc="200">
                <a:solidFill>
                  <a:srgbClr val="8C939A"/>
                </a:solidFill>
                <a:latin typeface="Montserrat Medium"/>
                <a:ea typeface="Montserrat Medium"/>
                <a:cs typeface="Montserrat Medium"/>
              </a:rPr>
              <a:t>ДИСКИ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63800" y="10350500"/>
            <a:ext cx="18669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00"/>
              </a:lnSpc>
              <a:spcBef>
                <a:spcPts val="0"/>
              </a:spcBef>
            </a:pPr>
            <a:r>
              <a:rPr sz="16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Карбон-керамика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94200" y="9969500"/>
            <a:ext cx="1778000" cy="6350"/>
          </a:xfrm>
          <a:prstGeom prst="rect">
            <a:avLst/>
          </a:prstGeom>
          <a:solidFill>
            <a:srgbClr val="C4C9CE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94200" y="10109200"/>
            <a:ext cx="1778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000" lang="ru-RU" spc="200">
                <a:solidFill>
                  <a:srgbClr val="8C939A"/>
                </a:solidFill>
                <a:latin typeface="Montserrat Medium"/>
                <a:ea typeface="Montserrat Medium"/>
                <a:cs typeface="Montserrat Medium"/>
              </a:rPr>
              <a:t>КОМПОНЕНТЫ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94200" y="10350500"/>
            <a:ext cx="18669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00"/>
              </a:lnSpc>
              <a:spcBef>
                <a:spcPts val="0"/>
              </a:spcBef>
            </a:pPr>
            <a:r>
              <a:rPr sz="16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Оригинальные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3400" y="11671300"/>
            <a:ext cx="3175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000" lang="ru-RU" spc="250">
                <a:solidFill>
                  <a:srgbClr val="8C939A"/>
                </a:solidFill>
                <a:latin typeface="Montserrat Medium"/>
                <a:ea typeface="Montserrat Medium"/>
                <a:cs typeface="Montserrat Medium"/>
              </a:rPr>
              <a:t>GRANDRIMS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06400" y="11722100"/>
            <a:ext cx="50800" cy="50800"/>
          </a:xfrm>
          <a:prstGeom prst="rect">
            <a:avLst/>
          </a:prstGeom>
          <a:solidFill>
            <a:srgbClr val="D614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19600" y="11671300"/>
            <a:ext cx="1905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</a:pPr>
            <a:r>
              <a:rPr sz="1000" lang="ru-RU" spc="150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</a:rPr>
              <a:t>09</a:t>
            </a:r>
            <a:r>
              <a:rPr sz="1000" lang="ru-RU" spc="150">
                <a:solidFill>
                  <a:srgbClr val="8C939A"/>
                </a:solidFill>
                <a:latin typeface="Montserrat Medium"/>
                <a:ea typeface="Montserrat Medium"/>
                <a:cs typeface="Montserrat Medium"/>
              </a:rPr>
              <a:t> / 13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1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12192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33400" y="685800"/>
            <a:ext cx="215900" cy="12700"/>
          </a:xfrm>
          <a:prstGeom prst="rect">
            <a:avLst/>
          </a:prstGeom>
          <a:solidFill>
            <a:srgbClr val="D614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76300" y="609600"/>
            <a:ext cx="4445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100" lang="ru-RU" spc="200">
                <a:solidFill>
                  <a:srgbClr val="C4C9CE"/>
                </a:solidFill>
                <a:latin typeface="Montserrat Medium"/>
                <a:ea typeface="Montserrat Medium"/>
                <a:cs typeface="Montserrat Medium"/>
              </a:rPr>
              <a:t>ОТДЕЛЬНОЕ ПРЕДЛОЖЕНИЕ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533400" y="1117600"/>
            <a:ext cx="5842000" cy="190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800"/>
              </a:lnSpc>
              <a:spcBef>
                <a:spcPts val="0"/>
              </a:spcBef>
            </a:pPr>
            <a:r>
              <a:rPr sz="33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Карбон-керамическая</a:t>
            </a:r>
          </a:p>
          <a:p>
            <a:pPr algn="l">
              <a:lnSpc>
                <a:spcPts val="3800"/>
              </a:lnSpc>
              <a:spcBef>
                <a:spcPts val="0"/>
              </a:spcBef>
            </a:pPr>
            <a:r>
              <a:rPr sz="33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тормозная система</a:t>
            </a:r>
          </a:p>
          <a:p>
            <a:pPr algn="l">
              <a:lnSpc>
                <a:spcPts val="3800"/>
              </a:lnSpc>
              <a:spcBef>
                <a:spcPts val="0"/>
              </a:spcBef>
            </a:pPr>
            <a:r>
              <a:rPr sz="3300" lang="ru-RU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</a:rPr>
              <a:t>Mercedes-Benz G 63</a:t>
            </a:r>
          </a:p>
        </p:txBody>
      </p:sp>
      <p:pic>
        <p:nvPicPr>
          <p:cNvPr id="6" name="Photo — G 63 carbon ceramic" descr="brake_g6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794000"/>
            <a:ext cx="6858000" cy="45720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2794000"/>
            <a:ext cx="6858000" cy="6350"/>
          </a:xfrm>
          <a:prstGeom prst="rect">
            <a:avLst/>
          </a:prstGeom>
          <a:solidFill>
            <a:srgbClr val="C4C9CE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7366000"/>
            <a:ext cx="6858000" cy="6350"/>
          </a:xfrm>
          <a:prstGeom prst="rect">
            <a:avLst/>
          </a:prstGeom>
          <a:solidFill>
            <a:srgbClr val="C4C9CE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Price text"/>
          <p:cNvSpPr txBox="1"/>
          <p:nvPr/>
        </p:nvSpPr>
        <p:spPr>
          <a:xfrm>
            <a:off x="533400" y="7594600"/>
            <a:ext cx="5842000" cy="254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</a:pPr>
            <a:r>
              <a:rPr sz="1700" lang="ru-RU">
                <a:solidFill>
                  <a:srgbClr val="C4C9CE"/>
                </a:solidFill>
                <a:latin typeface="Montserrat Light"/>
                <a:ea typeface="Montserrat Light"/>
                <a:cs typeface="Montserrat Light"/>
              </a:rPr>
              <a:t>Стоимость представленного на фотографии комплекта карбон-керамической тормозной системы для Mercedes-Benz G 63 составляет</a:t>
            </a:r>
            <a:br/>
            <a:r>
              <a:rPr sz="7500" lang="ru-RU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… ₽.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3400" y="10223500"/>
            <a:ext cx="762000" cy="6350"/>
          </a:xfrm>
          <a:prstGeom prst="rect">
            <a:avLst/>
          </a:prstGeom>
          <a:solidFill>
            <a:srgbClr val="C4C9CE">
              <a:alpha val="6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Note"/>
          <p:cNvSpPr txBox="1"/>
          <p:nvPr/>
        </p:nvSpPr>
        <p:spPr>
          <a:xfrm>
            <a:off x="533400" y="10375900"/>
            <a:ext cx="5791200" cy="952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0"/>
              </a:lnSpc>
              <a:spcBef>
                <a:spcPts val="0"/>
              </a:spcBef>
            </a:pPr>
            <a:r>
              <a:rPr sz="1250" lang="ru-RU">
                <a:solidFill>
                  <a:srgbClr val="8C939A"/>
                </a:solidFill>
                <a:latin typeface="Montserrat Light"/>
                <a:ea typeface="Montserrat Light"/>
                <a:cs typeface="Montserrat Light"/>
              </a:rPr>
              <a:t>Стоимость тормозной системы для конкретной модели автомобиля рассчитывается индивидуально с учётом конфигурации и необходимых компонентов.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3400" y="11671300"/>
            <a:ext cx="3175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000" lang="ru-RU" spc="250">
                <a:solidFill>
                  <a:srgbClr val="8C939A"/>
                </a:solidFill>
                <a:latin typeface="Montserrat Medium"/>
                <a:ea typeface="Montserrat Medium"/>
                <a:cs typeface="Montserrat Medium"/>
              </a:rPr>
              <a:t>GRANDRIMS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6400" y="11722100"/>
            <a:ext cx="50800" cy="50800"/>
          </a:xfrm>
          <a:prstGeom prst="rect">
            <a:avLst/>
          </a:prstGeom>
          <a:solidFill>
            <a:srgbClr val="D614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19600" y="11671300"/>
            <a:ext cx="1905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</a:pPr>
            <a:r>
              <a:rPr sz="1000" lang="ru-RU" spc="150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</a:rPr>
              <a:t>10</a:t>
            </a:r>
            <a:r>
              <a:rPr sz="1000" lang="ru-RU" spc="150">
                <a:solidFill>
                  <a:srgbClr val="8C939A"/>
                </a:solidFill>
                <a:latin typeface="Montserrat Medium"/>
                <a:ea typeface="Montserrat Medium"/>
                <a:cs typeface="Montserrat Medium"/>
              </a:rPr>
              <a:t> / 13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1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12192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33400" y="685800"/>
            <a:ext cx="215900" cy="12700"/>
          </a:xfrm>
          <a:prstGeom prst="rect">
            <a:avLst/>
          </a:prstGeom>
          <a:solidFill>
            <a:srgbClr val="D614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76300" y="609600"/>
            <a:ext cx="4445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100" lang="ru-RU" spc="200">
                <a:solidFill>
                  <a:srgbClr val="C4C9CE"/>
                </a:solidFill>
                <a:latin typeface="Montserrat Medium"/>
                <a:ea typeface="Montserrat Medium"/>
                <a:cs typeface="Montserrat Medium"/>
              </a:rPr>
              <a:t>ПРОЦЕСС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533400" y="1206500"/>
            <a:ext cx="5842000" cy="190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600"/>
              </a:lnSpc>
              <a:spcBef>
                <a:spcPts val="0"/>
              </a:spcBef>
            </a:pPr>
            <a:r>
              <a:rPr sz="42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От концепции</a:t>
            </a:r>
          </a:p>
          <a:p>
            <a:pPr algn="l">
              <a:lnSpc>
                <a:spcPts val="4600"/>
              </a:lnSpc>
              <a:spcBef>
                <a:spcPts val="0"/>
              </a:spcBef>
            </a:pPr>
            <a:r>
              <a:rPr sz="42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до готового</a:t>
            </a:r>
          </a:p>
          <a:p>
            <a:pPr algn="l">
              <a:lnSpc>
                <a:spcPts val="4600"/>
              </a:lnSpc>
              <a:spcBef>
                <a:spcPts val="0"/>
              </a:spcBef>
            </a:pPr>
            <a:r>
              <a:rPr sz="4200" lang="ru-RU">
                <a:solidFill>
                  <a:srgbClr val="C4C9CE"/>
                </a:solidFill>
                <a:latin typeface="Montserrat Light"/>
                <a:ea typeface="Montserrat Light"/>
                <a:cs typeface="Montserrat Light"/>
              </a:rPr>
              <a:t>комплекта</a:t>
            </a:r>
          </a:p>
        </p:txBody>
      </p:sp>
      <p:sp>
        <p:nvSpPr>
          <p:cNvPr id="6" name="Rectangle 5"/>
          <p:cNvSpPr/>
          <p:nvPr/>
        </p:nvSpPr>
        <p:spPr>
          <a:xfrm>
            <a:off x="1079500" y="3873500"/>
            <a:ext cx="6350" cy="6477000"/>
          </a:xfrm>
          <a:prstGeom prst="rect">
            <a:avLst/>
          </a:prstGeom>
          <a:solidFill>
            <a:srgbClr val="C4C9CE">
              <a:alpha val="3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3400" y="3683000"/>
            <a:ext cx="57150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300" lang="ru-RU" spc="150">
                <a:solidFill>
                  <a:srgbClr val="C4C9CE"/>
                </a:solidFill>
                <a:latin typeface="Montserrat Medium"/>
                <a:ea typeface="Montserrat Medium"/>
                <a:cs typeface="Montserrat Medium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1054100" y="3759200"/>
            <a:ext cx="57150" cy="57150"/>
          </a:xfrm>
          <a:prstGeom prst="rect">
            <a:avLst/>
          </a:prstGeom>
          <a:solidFill>
            <a:srgbClr val="C4C9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60500" y="3632200"/>
            <a:ext cx="495300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00"/>
              </a:lnSpc>
              <a:spcBef>
                <a:spcPts val="0"/>
              </a:spcBef>
            </a:pPr>
            <a:r>
              <a:rPr sz="26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Автомобиль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0500" y="4076700"/>
            <a:ext cx="4826000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00"/>
              </a:lnSpc>
              <a:spcBef>
                <a:spcPts val="0"/>
              </a:spcBef>
            </a:pPr>
            <a:r>
              <a:rPr sz="1400" lang="ru-RU">
                <a:solidFill>
                  <a:srgbClr val="A8AEB4"/>
                </a:solidFill>
                <a:latin typeface="Montserrat Light"/>
                <a:ea typeface="Montserrat Light"/>
                <a:cs typeface="Montserrat Light"/>
              </a:rPr>
              <a:t>Модель, параметры и задачи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3400" y="5270500"/>
            <a:ext cx="57150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300" lang="ru-RU" spc="150">
                <a:solidFill>
                  <a:srgbClr val="C4C9CE"/>
                </a:solidFill>
                <a:latin typeface="Montserrat Medium"/>
                <a:ea typeface="Montserrat Medium"/>
                <a:cs typeface="Montserrat Medium"/>
              </a:rPr>
              <a:t>02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54100" y="5346700"/>
            <a:ext cx="57150" cy="57150"/>
          </a:xfrm>
          <a:prstGeom prst="rect">
            <a:avLst/>
          </a:prstGeom>
          <a:solidFill>
            <a:srgbClr val="C4C9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60500" y="5219700"/>
            <a:ext cx="495300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00"/>
              </a:lnSpc>
              <a:spcBef>
                <a:spcPts val="0"/>
              </a:spcBef>
            </a:pPr>
            <a:r>
              <a:rPr sz="26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Разработка дизайна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0500" y="5664200"/>
            <a:ext cx="4826000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00"/>
              </a:lnSpc>
              <a:spcBef>
                <a:spcPts val="0"/>
              </a:spcBef>
            </a:pPr>
            <a:r>
              <a:rPr sz="1400" lang="ru-RU">
                <a:solidFill>
                  <a:srgbClr val="A8AEB4"/>
                </a:solidFill>
                <a:latin typeface="Montserrat Light"/>
                <a:ea typeface="Montserrat Light"/>
                <a:cs typeface="Montserrat Light"/>
              </a:rPr>
              <a:t>Рисунок диска под характер модели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3400" y="6858000"/>
            <a:ext cx="57150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300" lang="ru-RU" spc="150">
                <a:solidFill>
                  <a:srgbClr val="C4C9CE"/>
                </a:solidFill>
                <a:latin typeface="Montserrat Medium"/>
                <a:ea typeface="Montserrat Medium"/>
                <a:cs typeface="Montserrat Medium"/>
              </a:rPr>
              <a:t>03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54100" y="6934200"/>
            <a:ext cx="57150" cy="57150"/>
          </a:xfrm>
          <a:prstGeom prst="rect">
            <a:avLst/>
          </a:prstGeom>
          <a:solidFill>
            <a:srgbClr val="C4C9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60500" y="6807200"/>
            <a:ext cx="495300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00"/>
              </a:lnSpc>
              <a:spcBef>
                <a:spcPts val="0"/>
              </a:spcBef>
            </a:pPr>
            <a:r>
              <a:rPr sz="26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3D-моделирование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60500" y="7251700"/>
            <a:ext cx="4826000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00"/>
              </a:lnSpc>
              <a:spcBef>
                <a:spcPts val="0"/>
              </a:spcBef>
            </a:pPr>
            <a:r>
              <a:rPr sz="1400" lang="ru-RU">
                <a:solidFill>
                  <a:srgbClr val="A8AEB4"/>
                </a:solidFill>
                <a:latin typeface="Montserrat Light"/>
                <a:ea typeface="Montserrat Light"/>
                <a:cs typeface="Montserrat Light"/>
              </a:rPr>
              <a:t>Визуализация и точная подгонка параметров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3400" y="8445500"/>
            <a:ext cx="57150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300" lang="ru-RU" spc="150">
                <a:solidFill>
                  <a:srgbClr val="C4C9CE"/>
                </a:solidFill>
                <a:latin typeface="Montserrat Medium"/>
                <a:ea typeface="Montserrat Medium"/>
                <a:cs typeface="Montserrat Medium"/>
              </a:rPr>
              <a:t>04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54100" y="8521700"/>
            <a:ext cx="57150" cy="57150"/>
          </a:xfrm>
          <a:prstGeom prst="rect">
            <a:avLst/>
          </a:prstGeom>
          <a:solidFill>
            <a:srgbClr val="C4C9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60500" y="8394700"/>
            <a:ext cx="495300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00"/>
              </a:lnSpc>
              <a:spcBef>
                <a:spcPts val="0"/>
              </a:spcBef>
            </a:pPr>
            <a:r>
              <a:rPr sz="26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Производство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0500" y="8839200"/>
            <a:ext cx="4826000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00"/>
              </a:lnSpc>
              <a:spcBef>
                <a:spcPts val="0"/>
              </a:spcBef>
            </a:pPr>
            <a:r>
              <a:rPr sz="1400" lang="ru-RU">
                <a:solidFill>
                  <a:srgbClr val="A8AEB4"/>
                </a:solidFill>
                <a:latin typeface="Montserrat Light"/>
                <a:ea typeface="Montserrat Light"/>
                <a:cs typeface="Montserrat Light"/>
              </a:rPr>
              <a:t>Сплав 6061-T6, от 15 рабочих дней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3400" y="10033000"/>
            <a:ext cx="57150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300" lang="ru-RU" spc="150">
                <a:solidFill>
                  <a:srgbClr val="C4C9CE"/>
                </a:solidFill>
                <a:latin typeface="Montserrat Medium"/>
                <a:ea typeface="Montserrat Medium"/>
                <a:cs typeface="Montserrat Medium"/>
              </a:rPr>
              <a:t>05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54100" y="10109200"/>
            <a:ext cx="57150" cy="57150"/>
          </a:xfrm>
          <a:prstGeom prst="rect">
            <a:avLst/>
          </a:prstGeom>
          <a:solidFill>
            <a:srgbClr val="D614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60500" y="9982200"/>
            <a:ext cx="495300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00"/>
              </a:lnSpc>
              <a:spcBef>
                <a:spcPts val="0"/>
              </a:spcBef>
            </a:pPr>
            <a:r>
              <a:rPr sz="26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Готовый комплект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60500" y="10426700"/>
            <a:ext cx="4826000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00"/>
              </a:lnSpc>
              <a:spcBef>
                <a:spcPts val="0"/>
              </a:spcBef>
            </a:pPr>
            <a:r>
              <a:rPr sz="1400" lang="ru-RU">
                <a:solidFill>
                  <a:srgbClr val="A8AEB4"/>
                </a:solidFill>
                <a:latin typeface="Montserrat Light"/>
                <a:ea typeface="Montserrat Light"/>
                <a:cs typeface="Montserrat Light"/>
              </a:rPr>
              <a:t>С шинами, датчиками давления и аксессуарами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3400" y="11671300"/>
            <a:ext cx="3175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000" lang="ru-RU" spc="250">
                <a:solidFill>
                  <a:srgbClr val="8C939A"/>
                </a:solidFill>
                <a:latin typeface="Montserrat Medium"/>
                <a:ea typeface="Montserrat Medium"/>
                <a:cs typeface="Montserrat Medium"/>
              </a:rPr>
              <a:t>GRANDRIMS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6400" y="11722100"/>
            <a:ext cx="50800" cy="50800"/>
          </a:xfrm>
          <a:prstGeom prst="rect">
            <a:avLst/>
          </a:prstGeom>
          <a:solidFill>
            <a:srgbClr val="D614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419600" y="11671300"/>
            <a:ext cx="1905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</a:pPr>
            <a:r>
              <a:rPr sz="1000" lang="ru-RU" spc="150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</a:rPr>
              <a:t>11</a:t>
            </a:r>
            <a:r>
              <a:rPr sz="1000" lang="ru-RU" spc="150">
                <a:solidFill>
                  <a:srgbClr val="8C939A"/>
                </a:solidFill>
                <a:latin typeface="Montserrat Medium"/>
                <a:ea typeface="Montserrat Medium"/>
                <a:cs typeface="Montserrat Medium"/>
              </a:rPr>
              <a:t> / 13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1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12192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33400" y="685800"/>
            <a:ext cx="215900" cy="12700"/>
          </a:xfrm>
          <a:prstGeom prst="rect">
            <a:avLst/>
          </a:prstGeom>
          <a:solidFill>
            <a:srgbClr val="D614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76300" y="609600"/>
            <a:ext cx="4445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100" lang="ru-RU" spc="200">
                <a:solidFill>
                  <a:srgbClr val="4A5058"/>
                </a:solidFill>
                <a:latin typeface="Montserrat Medium"/>
                <a:ea typeface="Montserrat Medium"/>
                <a:cs typeface="Montserrat Medium"/>
              </a:rPr>
              <a:t>ПРЕДЛОЖЕНИЕ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533400" y="1143000"/>
            <a:ext cx="5842000" cy="158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800"/>
              </a:lnSpc>
              <a:spcBef>
                <a:spcPts val="0"/>
              </a:spcBef>
            </a:pPr>
            <a:r>
              <a:rPr sz="3300" lang="ru-RU">
                <a:solidFill>
                  <a:srgbClr val="0B0D10"/>
                </a:solidFill>
                <a:latin typeface="Montserrat Light"/>
                <a:ea typeface="Montserrat Light"/>
                <a:cs typeface="Montserrat Light"/>
              </a:rPr>
              <a:t>Индивидуальные условия</a:t>
            </a:r>
          </a:p>
          <a:p>
            <a:pPr algn="l">
              <a:lnSpc>
                <a:spcPts val="3800"/>
              </a:lnSpc>
              <a:spcBef>
                <a:spcPts val="0"/>
              </a:spcBef>
            </a:pPr>
            <a:r>
              <a:rPr sz="3300" lang="ru-RU">
                <a:solidFill>
                  <a:srgbClr val="0B0D10"/>
                </a:solidFill>
                <a:latin typeface="Montserrat Light"/>
                <a:ea typeface="Montserrat Light"/>
                <a:cs typeface="Montserrat Light"/>
              </a:rPr>
              <a:t>сотрудничества</a:t>
            </a:r>
          </a:p>
        </p:txBody>
      </p:sp>
      <p:sp>
        <p:nvSpPr>
          <p:cNvPr id="6" name="Rectangle 5"/>
          <p:cNvSpPr/>
          <p:nvPr/>
        </p:nvSpPr>
        <p:spPr>
          <a:xfrm>
            <a:off x="533400" y="2540000"/>
            <a:ext cx="5791200" cy="6350"/>
          </a:xfrm>
          <a:prstGeom prst="rect">
            <a:avLst/>
          </a:prstGeom>
          <a:solidFill>
            <a:srgbClr val="0B0D10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3400" y="2705100"/>
            <a:ext cx="508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100" lang="ru-RU" spc="150">
                <a:solidFill>
                  <a:srgbClr val="4A5058"/>
                </a:solidFill>
                <a:latin typeface="Montserrat Medium"/>
                <a:ea typeface="Montserrat Medium"/>
                <a:cs typeface="Montserrat Medium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06500" y="2628900"/>
            <a:ext cx="5080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900" lang="ru-RU">
                <a:solidFill>
                  <a:srgbClr val="0B0D10"/>
                </a:solidFill>
                <a:latin typeface="Montserrat Light"/>
                <a:ea typeface="Montserrat Light"/>
                <a:cs typeface="Montserrat Light"/>
              </a:rPr>
              <a:t>Подбор решений</a:t>
            </a:r>
          </a:p>
        </p:txBody>
      </p:sp>
      <p:sp>
        <p:nvSpPr>
          <p:cNvPr id="9" name="Rectangle 8"/>
          <p:cNvSpPr/>
          <p:nvPr/>
        </p:nvSpPr>
        <p:spPr>
          <a:xfrm>
            <a:off x="533400" y="3035300"/>
            <a:ext cx="5791200" cy="6350"/>
          </a:xfrm>
          <a:prstGeom prst="rect">
            <a:avLst/>
          </a:prstGeom>
          <a:solidFill>
            <a:srgbClr val="0B0D10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3400" y="3200400"/>
            <a:ext cx="508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100" lang="ru-RU" spc="150">
                <a:solidFill>
                  <a:srgbClr val="4A5058"/>
                </a:solidFill>
                <a:latin typeface="Montserrat Medium"/>
                <a:ea typeface="Montserrat Medium"/>
                <a:cs typeface="Montserrat Medium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06500" y="3124200"/>
            <a:ext cx="5080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900" lang="ru-RU">
                <a:solidFill>
                  <a:srgbClr val="0B0D10"/>
                </a:solidFill>
                <a:latin typeface="Montserrat Light"/>
                <a:ea typeface="Montserrat Light"/>
                <a:cs typeface="Montserrat Light"/>
              </a:rPr>
              <a:t>Визуализация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3400" y="3530600"/>
            <a:ext cx="5791200" cy="6350"/>
          </a:xfrm>
          <a:prstGeom prst="rect">
            <a:avLst/>
          </a:prstGeom>
          <a:solidFill>
            <a:srgbClr val="0B0D10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3400" y="3695700"/>
            <a:ext cx="508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100" lang="ru-RU" spc="150">
                <a:solidFill>
                  <a:srgbClr val="4A5058"/>
                </a:solidFill>
                <a:latin typeface="Montserrat Medium"/>
                <a:ea typeface="Montserrat Medium"/>
                <a:cs typeface="Montserrat Medium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06500" y="3619500"/>
            <a:ext cx="5080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900" lang="ru-RU">
                <a:solidFill>
                  <a:srgbClr val="0B0D10"/>
                </a:solidFill>
                <a:latin typeface="Montserrat Light"/>
                <a:ea typeface="Montserrat Light"/>
                <a:cs typeface="Montserrat Light"/>
              </a:rPr>
              <a:t>Производство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3400" y="4025900"/>
            <a:ext cx="5791200" cy="6350"/>
          </a:xfrm>
          <a:prstGeom prst="rect">
            <a:avLst/>
          </a:prstGeom>
          <a:solidFill>
            <a:srgbClr val="0B0D10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3400" y="4191000"/>
            <a:ext cx="508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100" lang="ru-RU" spc="150">
                <a:solidFill>
                  <a:srgbClr val="4A5058"/>
                </a:solidFill>
                <a:latin typeface="Montserrat Medium"/>
                <a:ea typeface="Montserrat Medium"/>
                <a:cs typeface="Montserrat Medium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06500" y="4114800"/>
            <a:ext cx="5080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900" lang="ru-RU">
                <a:solidFill>
                  <a:srgbClr val="0B0D10"/>
                </a:solidFill>
                <a:latin typeface="Montserrat Light"/>
                <a:ea typeface="Montserrat Light"/>
                <a:cs typeface="Montserrat Light"/>
              </a:rPr>
              <a:t>Комплектация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33400" y="4521200"/>
            <a:ext cx="5791200" cy="6350"/>
          </a:xfrm>
          <a:prstGeom prst="rect">
            <a:avLst/>
          </a:prstGeom>
          <a:solidFill>
            <a:srgbClr val="0B0D10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3400" y="4686300"/>
            <a:ext cx="508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100" lang="ru-RU" spc="150">
                <a:solidFill>
                  <a:srgbClr val="4A5058"/>
                </a:solidFill>
                <a:latin typeface="Montserrat Medium"/>
                <a:ea typeface="Montserrat Medium"/>
                <a:cs typeface="Montserrat Medium"/>
              </a:rPr>
              <a:t>05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6500" y="4610100"/>
            <a:ext cx="5080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900" lang="ru-RU">
                <a:solidFill>
                  <a:srgbClr val="0B0D10"/>
                </a:solidFill>
                <a:latin typeface="Montserrat Light"/>
                <a:ea typeface="Montserrat Light"/>
                <a:cs typeface="Montserrat Light"/>
              </a:rPr>
              <a:t>Сопровождение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3400" y="5016500"/>
            <a:ext cx="5791200" cy="6350"/>
          </a:xfrm>
          <a:prstGeom prst="rect">
            <a:avLst/>
          </a:prstGeom>
          <a:solidFill>
            <a:srgbClr val="0B0D10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3400" y="5372100"/>
            <a:ext cx="4445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100" lang="ru-RU" spc="200">
                <a:solidFill>
                  <a:srgbClr val="4A5058"/>
                </a:solidFill>
                <a:latin typeface="Montserrat Medium"/>
                <a:ea typeface="Montserrat Medium"/>
                <a:cs typeface="Montserrat Medium"/>
              </a:rPr>
              <a:t>КОВАНЫЕ ДИСКИ · ПРАЙС-ЛИСТ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3400" y="5689600"/>
            <a:ext cx="1270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000" lang="ru-RU" spc="150">
                <a:solidFill>
                  <a:srgbClr val="4A5058"/>
                </a:solidFill>
                <a:latin typeface="Montserrat Medium"/>
                <a:ea typeface="Montserrat Medium"/>
                <a:cs typeface="Montserrat Medium"/>
              </a:rPr>
              <a:t>РАЗМЕР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40000" y="5689600"/>
            <a:ext cx="1651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</a:pPr>
            <a:r>
              <a:rPr sz="1000" lang="ru-RU" spc="150">
                <a:solidFill>
                  <a:srgbClr val="4A5058"/>
                </a:solidFill>
                <a:latin typeface="Montserrat Medium"/>
                <a:ea typeface="Montserrat Medium"/>
                <a:cs typeface="Montserrat Medium"/>
              </a:rPr>
              <a:t>МОНОБЛОК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45000" y="5689600"/>
            <a:ext cx="18796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</a:pPr>
            <a:r>
              <a:rPr sz="1000" lang="ru-RU" spc="150">
                <a:solidFill>
                  <a:srgbClr val="4A5058"/>
                </a:solidFill>
                <a:latin typeface="Montserrat Medium"/>
                <a:ea typeface="Montserrat Medium"/>
                <a:cs typeface="Montserrat Medium"/>
              </a:rPr>
              <a:t>2-СОСТАВНЫЕ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33400" y="5981700"/>
            <a:ext cx="5791200" cy="6350"/>
          </a:xfrm>
          <a:prstGeom prst="rect">
            <a:avLst/>
          </a:prstGeom>
          <a:solidFill>
            <a:srgbClr val="0B0D10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33400" y="6096000"/>
            <a:ext cx="1270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700" lang="ru-RU">
                <a:solidFill>
                  <a:srgbClr val="0B0D10"/>
                </a:solidFill>
                <a:latin typeface="Montserrat Medium"/>
                <a:ea typeface="Montserrat Medium"/>
                <a:cs typeface="Montserrat Medium"/>
              </a:rPr>
              <a:t>18″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095500" y="6108700"/>
            <a:ext cx="20955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</a:pPr>
            <a:r>
              <a:rPr sz="1700" lang="ru-RU">
                <a:solidFill>
                  <a:srgbClr val="0B0D10"/>
                </a:solidFill>
                <a:latin typeface="Montserrat Light"/>
                <a:ea typeface="Montserrat Light"/>
                <a:cs typeface="Montserrat Light"/>
              </a:rPr>
              <a:t>от 190 500 ₽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29100" y="6108700"/>
            <a:ext cx="20955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</a:pPr>
            <a:r>
              <a:rPr sz="1700" lang="ru-RU">
                <a:solidFill>
                  <a:srgbClr val="0B0D10"/>
                </a:solidFill>
                <a:latin typeface="Montserrat Light"/>
                <a:ea typeface="Montserrat Light"/>
                <a:cs typeface="Montserrat Light"/>
              </a:rPr>
              <a:t>от 320 000 ₽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33400" y="6502400"/>
            <a:ext cx="5791200" cy="6350"/>
          </a:xfrm>
          <a:prstGeom prst="rect">
            <a:avLst/>
          </a:prstGeom>
          <a:solidFill>
            <a:srgbClr val="0B0D10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33400" y="6616700"/>
            <a:ext cx="1270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700" lang="ru-RU">
                <a:solidFill>
                  <a:srgbClr val="0B0D10"/>
                </a:solidFill>
                <a:latin typeface="Montserrat Medium"/>
                <a:ea typeface="Montserrat Medium"/>
                <a:cs typeface="Montserrat Medium"/>
              </a:rPr>
              <a:t>19″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095500" y="6629400"/>
            <a:ext cx="20955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</a:pPr>
            <a:r>
              <a:rPr sz="1700" lang="ru-RU">
                <a:solidFill>
                  <a:srgbClr val="0B0D10"/>
                </a:solidFill>
                <a:latin typeface="Montserrat Light"/>
                <a:ea typeface="Montserrat Light"/>
                <a:cs typeface="Montserrat Light"/>
              </a:rPr>
              <a:t>от 201 500 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29100" y="6629400"/>
            <a:ext cx="20955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</a:pPr>
            <a:r>
              <a:rPr sz="1700" lang="ru-RU">
                <a:solidFill>
                  <a:srgbClr val="0B0D10"/>
                </a:solidFill>
                <a:latin typeface="Montserrat Light"/>
                <a:ea typeface="Montserrat Light"/>
                <a:cs typeface="Montserrat Light"/>
              </a:rPr>
              <a:t>от 341 500 ₽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33400" y="7023100"/>
            <a:ext cx="5791200" cy="6350"/>
          </a:xfrm>
          <a:prstGeom prst="rect">
            <a:avLst/>
          </a:prstGeom>
          <a:solidFill>
            <a:srgbClr val="0B0D10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33400" y="7137400"/>
            <a:ext cx="1270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700" lang="ru-RU">
                <a:solidFill>
                  <a:srgbClr val="0B0D10"/>
                </a:solidFill>
                <a:latin typeface="Montserrat Medium"/>
                <a:ea typeface="Montserrat Medium"/>
                <a:cs typeface="Montserrat Medium"/>
              </a:rPr>
              <a:t>20″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095500" y="7150100"/>
            <a:ext cx="20955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</a:pPr>
            <a:r>
              <a:rPr sz="1700" lang="ru-RU">
                <a:solidFill>
                  <a:srgbClr val="0B0D10"/>
                </a:solidFill>
                <a:latin typeface="Montserrat Light"/>
                <a:ea typeface="Montserrat Light"/>
                <a:cs typeface="Montserrat Light"/>
              </a:rPr>
              <a:t>от 213 000 ₽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229100" y="7150100"/>
            <a:ext cx="20955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</a:pPr>
            <a:r>
              <a:rPr sz="1700" lang="ru-RU">
                <a:solidFill>
                  <a:srgbClr val="0B0D10"/>
                </a:solidFill>
                <a:latin typeface="Montserrat Light"/>
                <a:ea typeface="Montserrat Light"/>
                <a:cs typeface="Montserrat Light"/>
              </a:rPr>
              <a:t>от 364 000 ₽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33400" y="7543800"/>
            <a:ext cx="5791200" cy="6350"/>
          </a:xfrm>
          <a:prstGeom prst="rect">
            <a:avLst/>
          </a:prstGeom>
          <a:solidFill>
            <a:srgbClr val="0B0D10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33400" y="7658100"/>
            <a:ext cx="1270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700" lang="ru-RU">
                <a:solidFill>
                  <a:srgbClr val="0B0D10"/>
                </a:solidFill>
                <a:latin typeface="Montserrat Medium"/>
                <a:ea typeface="Montserrat Medium"/>
                <a:cs typeface="Montserrat Medium"/>
              </a:rPr>
              <a:t>21″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095500" y="7670800"/>
            <a:ext cx="20955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</a:pPr>
            <a:r>
              <a:rPr sz="1700" lang="ru-RU">
                <a:solidFill>
                  <a:srgbClr val="0B0D10"/>
                </a:solidFill>
                <a:latin typeface="Montserrat Light"/>
                <a:ea typeface="Montserrat Light"/>
                <a:cs typeface="Montserrat Light"/>
              </a:rPr>
              <a:t>от 235 000 ₽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29100" y="7670800"/>
            <a:ext cx="20955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</a:pPr>
            <a:r>
              <a:rPr sz="1700" lang="ru-RU">
                <a:solidFill>
                  <a:srgbClr val="0B0D10"/>
                </a:solidFill>
                <a:latin typeface="Montserrat Light"/>
                <a:ea typeface="Montserrat Light"/>
                <a:cs typeface="Montserrat Light"/>
              </a:rPr>
              <a:t>от 397 500 ₽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33400" y="8064500"/>
            <a:ext cx="5791200" cy="6350"/>
          </a:xfrm>
          <a:prstGeom prst="rect">
            <a:avLst/>
          </a:prstGeom>
          <a:solidFill>
            <a:srgbClr val="0B0D10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33400" y="8178800"/>
            <a:ext cx="1270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700" lang="ru-RU">
                <a:solidFill>
                  <a:srgbClr val="0B0D10"/>
                </a:solidFill>
                <a:latin typeface="Montserrat Medium"/>
                <a:ea typeface="Montserrat Medium"/>
                <a:cs typeface="Montserrat Medium"/>
              </a:rPr>
              <a:t>22″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095500" y="8191500"/>
            <a:ext cx="20955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</a:pPr>
            <a:r>
              <a:rPr sz="1700" lang="ru-RU">
                <a:solidFill>
                  <a:srgbClr val="0B0D10"/>
                </a:solidFill>
                <a:latin typeface="Montserrat Light"/>
                <a:ea typeface="Montserrat Light"/>
                <a:cs typeface="Montserrat Light"/>
              </a:rPr>
              <a:t>от 257 500 ₽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29100" y="8191500"/>
            <a:ext cx="20955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</a:pPr>
            <a:r>
              <a:rPr sz="1700" lang="ru-RU">
                <a:solidFill>
                  <a:srgbClr val="0B0D10"/>
                </a:solidFill>
                <a:latin typeface="Montserrat Light"/>
                <a:ea typeface="Montserrat Light"/>
                <a:cs typeface="Montserrat Light"/>
              </a:rPr>
              <a:t>от 442 500 ₽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33400" y="8585200"/>
            <a:ext cx="5791200" cy="6350"/>
          </a:xfrm>
          <a:prstGeom prst="rect">
            <a:avLst/>
          </a:prstGeom>
          <a:solidFill>
            <a:srgbClr val="0B0D10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33400" y="8699500"/>
            <a:ext cx="1270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700" lang="ru-RU">
                <a:solidFill>
                  <a:srgbClr val="0B0D10"/>
                </a:solidFill>
                <a:latin typeface="Montserrat Medium"/>
                <a:ea typeface="Montserrat Medium"/>
                <a:cs typeface="Montserrat Medium"/>
              </a:rPr>
              <a:t>23″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095500" y="8712200"/>
            <a:ext cx="20955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</a:pPr>
            <a:r>
              <a:rPr sz="1700" lang="ru-RU">
                <a:solidFill>
                  <a:srgbClr val="0B0D10"/>
                </a:solidFill>
                <a:latin typeface="Montserrat Light"/>
                <a:ea typeface="Montserrat Light"/>
                <a:cs typeface="Montserrat Light"/>
              </a:rPr>
              <a:t>от 280 000 ₽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9100" y="8712200"/>
            <a:ext cx="20955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</a:pPr>
            <a:r>
              <a:rPr sz="1700" lang="ru-RU">
                <a:solidFill>
                  <a:srgbClr val="0B0D10"/>
                </a:solidFill>
                <a:latin typeface="Montserrat Light"/>
                <a:ea typeface="Montserrat Light"/>
                <a:cs typeface="Montserrat Light"/>
              </a:rPr>
              <a:t>от 504 000 ₽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33400" y="9105900"/>
            <a:ext cx="5791200" cy="6350"/>
          </a:xfrm>
          <a:prstGeom prst="rect">
            <a:avLst/>
          </a:prstGeom>
          <a:solidFill>
            <a:srgbClr val="0B0D10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33400" y="9220200"/>
            <a:ext cx="1270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700" lang="ru-RU">
                <a:solidFill>
                  <a:srgbClr val="0B0D10"/>
                </a:solidFill>
                <a:latin typeface="Montserrat Medium"/>
                <a:ea typeface="Montserrat Medium"/>
                <a:cs typeface="Montserrat Medium"/>
              </a:rPr>
              <a:t>24″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095500" y="9232900"/>
            <a:ext cx="20955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</a:pPr>
            <a:r>
              <a:rPr sz="1700" lang="ru-RU">
                <a:solidFill>
                  <a:srgbClr val="0B0D10"/>
                </a:solidFill>
                <a:latin typeface="Montserrat Light"/>
                <a:ea typeface="Montserrat Light"/>
                <a:cs typeface="Montserrat Light"/>
              </a:rPr>
              <a:t>от 313 000 ₽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229100" y="9232900"/>
            <a:ext cx="20955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</a:pPr>
            <a:r>
              <a:rPr sz="1700" lang="ru-RU">
                <a:solidFill>
                  <a:srgbClr val="0B0D10"/>
                </a:solidFill>
                <a:latin typeface="Montserrat Light"/>
                <a:ea typeface="Montserrat Light"/>
                <a:cs typeface="Montserrat Light"/>
              </a:rPr>
              <a:t>от 543 000 ₽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3400" y="9626600"/>
            <a:ext cx="5791200" cy="6350"/>
          </a:xfrm>
          <a:prstGeom prst="rect">
            <a:avLst/>
          </a:prstGeom>
          <a:solidFill>
            <a:srgbClr val="0B0D10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33400" y="9791700"/>
            <a:ext cx="5791200" cy="63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00"/>
              </a:lnSpc>
              <a:spcBef>
                <a:spcPts val="0"/>
              </a:spcBef>
            </a:pPr>
            <a:r>
              <a:rPr sz="1200" lang="ru-RU">
                <a:solidFill>
                  <a:srgbClr val="4A5058"/>
                </a:solidFill>
                <a:latin typeface="Montserrat Light"/>
                <a:ea typeface="Montserrat Light"/>
                <a:cs typeface="Montserrat Light"/>
              </a:rPr>
              <a:t>* Актуальные цены на шины, колёсные датчики и аксессуары предоставляются менеджером по запросу. Стоимость тормозных систем рассчитывается индивидуально.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33400" y="11671300"/>
            <a:ext cx="3175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000" lang="ru-RU" spc="250">
                <a:solidFill>
                  <a:srgbClr val="6E747A"/>
                </a:solidFill>
                <a:latin typeface="Montserrat Medium"/>
                <a:ea typeface="Montserrat Medium"/>
                <a:cs typeface="Montserrat Medium"/>
              </a:rPr>
              <a:t>GRANDRIMS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06400" y="11722100"/>
            <a:ext cx="50800" cy="50800"/>
          </a:xfrm>
          <a:prstGeom prst="rect">
            <a:avLst/>
          </a:prstGeom>
          <a:solidFill>
            <a:srgbClr val="D614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419600" y="11671300"/>
            <a:ext cx="1905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</a:pPr>
            <a:r>
              <a:rPr sz="1000" lang="ru-RU" spc="150">
                <a:solidFill>
                  <a:srgbClr val="0B0D10"/>
                </a:solidFill>
                <a:latin typeface="Montserrat Medium"/>
                <a:ea typeface="Montserrat Medium"/>
                <a:cs typeface="Montserrat Medium"/>
              </a:rPr>
              <a:t>12</a:t>
            </a:r>
            <a:r>
              <a:rPr sz="1000" lang="ru-RU" spc="150">
                <a:solidFill>
                  <a:srgbClr val="6E747A"/>
                </a:solidFill>
                <a:latin typeface="Montserrat Medium"/>
                <a:ea typeface="Montserrat Medium"/>
                <a:cs typeface="Montserrat Medium"/>
              </a:rPr>
              <a:t> / 13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1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12192000"/>
          </a:xfrm>
          <a:prstGeom prst="rect">
            <a:avLst/>
          </a:prstGeom>
        </p:spPr>
      </p:pic>
      <p:pic>
        <p:nvPicPr>
          <p:cNvPr id="3" name="GRANDRIMS logo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400" y="609600"/>
            <a:ext cx="1498600" cy="347501"/>
          </a:xfrm>
          <a:prstGeom prst="rect">
            <a:avLst/>
          </a:prstGeom>
        </p:spPr>
      </p:pic>
      <p:sp>
        <p:nvSpPr>
          <p:cNvPr id="4" name="Title"/>
          <p:cNvSpPr txBox="1"/>
          <p:nvPr/>
        </p:nvSpPr>
        <p:spPr>
          <a:xfrm>
            <a:off x="533400" y="1333500"/>
            <a:ext cx="5842000" cy="254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900"/>
              </a:lnSpc>
              <a:spcBef>
                <a:spcPts val="0"/>
              </a:spcBef>
            </a:pPr>
            <a:r>
              <a:rPr sz="44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Создаём решения,</a:t>
            </a:r>
          </a:p>
          <a:p>
            <a:pPr algn="l">
              <a:lnSpc>
                <a:spcPts val="4900"/>
              </a:lnSpc>
              <a:spcBef>
                <a:spcPts val="0"/>
              </a:spcBef>
            </a:pPr>
            <a:r>
              <a:rPr sz="4400" lang="ru-RU">
                <a:solidFill>
                  <a:srgbClr val="FFFFFF"/>
                </a:solidFill>
                <a:latin typeface="Montserrat Light"/>
                <a:ea typeface="Montserrat Light"/>
                <a:cs typeface="Montserrat Light"/>
              </a:rPr>
              <a:t>достойные</a:t>
            </a:r>
          </a:p>
          <a:p>
            <a:pPr algn="l">
              <a:lnSpc>
                <a:spcPts val="4900"/>
              </a:lnSpc>
              <a:spcBef>
                <a:spcPts val="0"/>
              </a:spcBef>
            </a:pPr>
            <a:r>
              <a:rPr sz="4400" lang="ru-RU">
                <a:solidFill>
                  <a:srgbClr val="C4C9CE"/>
                </a:solidFill>
                <a:latin typeface="Montserrat Light"/>
                <a:ea typeface="Montserrat Light"/>
                <a:cs typeface="Montserrat Light"/>
              </a:rPr>
              <a:t>автомобиля</a:t>
            </a:r>
          </a:p>
        </p:txBody>
      </p:sp>
      <p:sp>
        <p:nvSpPr>
          <p:cNvPr id="5" name="Rectangle 4"/>
          <p:cNvSpPr/>
          <p:nvPr/>
        </p:nvSpPr>
        <p:spPr>
          <a:xfrm>
            <a:off x="533400" y="9334500"/>
            <a:ext cx="5791200" cy="6350"/>
          </a:xfrm>
          <a:prstGeom prst="rect">
            <a:avLst/>
          </a:prstGeom>
          <a:solidFill>
            <a:srgbClr val="C4C9CE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33400" y="9328150"/>
            <a:ext cx="381000" cy="19050"/>
          </a:xfrm>
          <a:prstGeom prst="rect">
            <a:avLst/>
          </a:prstGeom>
          <a:solidFill>
            <a:srgbClr val="D614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3400" y="9550400"/>
            <a:ext cx="5715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600" lang="ru-RU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</a:rPr>
              <a:t>г. Москва, ул. Барвихинская, д. 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9969500"/>
            <a:ext cx="5715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600" lang="ru-RU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</a:rPr>
              <a:t>8 800 201-72-94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3400" y="10401300"/>
            <a:ext cx="2921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400" lang="ru-RU">
                <a:solidFill>
                  <a:srgbClr val="C4C9CE"/>
                </a:solidFill>
                <a:latin typeface="Montserrat Light"/>
                <a:ea typeface="Montserrat Light"/>
                <a:cs typeface="Montserrat Light"/>
              </a:rPr>
              <a:t>Telegram: @grand_rims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56000" y="10401300"/>
            <a:ext cx="27686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</a:pPr>
            <a:r>
              <a:rPr sz="1400" lang="ru-RU">
                <a:solidFill>
                  <a:srgbClr val="C4C9CE"/>
                </a:solidFill>
                <a:latin typeface="Montserrat Light"/>
                <a:ea typeface="Montserrat Light"/>
                <a:cs typeface="Montserrat Light"/>
              </a:rPr>
              <a:t>info@grandrims.ru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3400" y="10718800"/>
            <a:ext cx="57912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sz="1400" lang="ru-RU">
                <a:solidFill>
                  <a:srgbClr val="C4C9CE"/>
                </a:solidFill>
                <a:latin typeface="Montserrat Light"/>
                <a:ea typeface="Montserrat Light"/>
                <a:cs typeface="Montserrat Light"/>
              </a:rPr>
              <a:t>www.grandrims.ru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