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Без экрана</c:v>
                </c:pt>
              </c:strCache>
            </c:strRef>
          </c:tx>
          <c:spPr>
            <a:solidFill>
              <a:srgbClr val="44546A"/>
            </a:solidFill>
            <a:effectLst/>
          </c:spPr>
          <c:invertIfNegative val="0"/>
          <c:dLbls>
            <c:numFmt formatCode="0;;;" sourceLinked="0"/>
            <c:txPr>
              <a:bodyPr/>
              <a:lstStyle/>
              <a:p>
                <a:pPr>
                  <a:defRPr b="1"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Без экрана</c:v>
                  </c:pt>
                  <c:pt idx="1">
                    <c:v>За экраном</c:v>
                  </c:pt>
                </c:lvl>
              </c:multiLvlStrCache>
            </c:multiLvlStrRef>
          </c:cat>
          <c:val>
            <c:numRef>
              <c:f>Sheet1!$B$2:$B$3</c:f>
              <c:numCache>
                <c:formatCode>General</c:formatCode>
                <c:ptCount val="2"/>
                <c:pt idx="0">
                  <c:v>100</c:v>
                </c:pt>
                <c:pt idx="1">
                  <c:v>0</c:v>
                </c:pt>
              </c:numCache>
            </c:numRef>
          </c:val>
        </c:ser>
        <c:ser>
          <c:idx val="1"/>
          <c:order val="1"/>
          <c:tx>
            <c:strRef>
              <c:f>Sheet1!$C$1</c:f>
              <c:strCache>
                <c:ptCount val="1"/>
                <c:pt idx="0">
                  <c:v>За экраном</c:v>
                </c:pt>
              </c:strCache>
            </c:strRef>
          </c:tx>
          <c:spPr>
            <a:solidFill>
              <a:srgbClr val="0E9AA7"/>
            </a:solidFill>
            <a:effectLst/>
          </c:spPr>
          <c:invertIfNegative val="0"/>
          <c:dLbls>
            <c:numFmt formatCode="0;;;" sourceLinked="0"/>
            <c:txPr>
              <a:bodyPr/>
              <a:lstStyle/>
              <a:p>
                <a:pPr>
                  <a:defRPr b="1"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Без экрана</c:v>
                  </c:pt>
                  <c:pt idx="1">
                    <c:v>За экраном</c:v>
                  </c:pt>
                </c:lvl>
              </c:multiLvlStrCache>
            </c:multiLvlStrRef>
          </c:cat>
          <c:val>
            <c:numRef>
              <c:f>Sheet1!$C$2:$C$3</c:f>
              <c:numCache>
                <c:formatCode>General</c:formatCode>
                <c:ptCount val="2"/>
                <c:pt idx="0">
                  <c:v>0</c:v>
                </c:pt>
                <c:pt idx="1">
                  <c:v>10</c:v>
                </c:pt>
              </c:numCache>
            </c:numRef>
          </c:val>
        </c:ser>
        <c:dLbls>
          <c:numFmt formatCode="0;;;" sourceLinked="0"/>
          <c:txPr>
            <a:bodyPr/>
            <a:lstStyle/>
            <a:p>
              <a:pPr>
                <a:defRPr b="1"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3440"/>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Начнём с вопроса: зачем вообще нужно экранирование? Любое электронное устройство — компьютер, монитор, кабель, блок питания — при работе создаёт электрические и магнитные поля. Токи и напряжения в цепях постоянно меняются, а значит, вокруг устройства возникает электромагнитное излучение. Проблема в том, что часть этих излучений связана с обрабатываемой информацией: по форме сигнала при определённых условиях можно восстановить сами данные. Такие излучения называют побочными электромагнитными излучениями. Если поле выходит за границу контролируемой зоны, его теоретически может принять посторонний человек с чувствительной аппаратурой. Внизу на схеме показана общая логика защиты. Источник создаёт поле, поле встречает экран, и за экраном остаётся уже сильно ослабленный сигнал. Обратите внимание на столбики: слева уровень поля высокий, справа — низкий. Именно в этом смысл экранирования. Дальше посмотрим, как это работает физически, и начнём с электрического поля.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Принцип работы электрического экрана хорошо виден на этой иллюстрации. Слева — заряженный источник, от него расходятся силовые линии электрического поля. В центре — металлическая сетчатая коробка, внутри которой стоит лампочка. В металле есть свободные заряды — электроны. Когда на них действует внешнее поле, они приходят в движение и перераспределяются: на одной стороне экрана накапливается отрицательный заряд, на другой — положительный. Эти заряды создают собственное поле, направленное навстречу внешнему, и внутри проводника оно его компенсирует. В итоге внутри замкнутой проводящей оболочки поле практически равно нулю, а силовые линии огибают экран снаружи. Это и есть знаменитая клетка Фарадея. Важная деталь: сплошной металл не обязателен — сетка тоже работает, если размер ячейки много меньше длины волны. Осталось посмотреть, в каких конструкциях этот принцип применяется на практике.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 практике электрическое экранирование выполняется в трёх основных формах. Первая — металлический корпус устройства: он не даёт полю выйти наружу и одновременно защищает электронику от внешних помех. Вторая — экранированный кабель: вокруг жил проходит оплётка или фольга, а ведь именно кабели чаще всего работают как антенны. На схеме видно поперечное сечение: жилы, изоляция, экран и внешняя оболочка. Третья — экранированное помещение, по сути большая клетка Фарадея с заземлением. Эффективность экрана зависит от пяти факторов, они показаны внизу. Первый — проводимость материала: медь, алюминий, сталь. Второй — непрерывность экрана: любая щель или отверстие работает как окно для излучения. Третий — толщина, особенно на низких частотах. Четвёртый — качество соединений: швы, контакты, токопроводящие прокладки. И пятый — заземление, которое отводит наведённые на экране заряды. Как видите, электрическое поле экранировать относительно просто. Совсем другая картина с магнитным полем — к ней мы сейчас перейдём.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Почему же магнитное поле экранировать сложнее? Слева показан обычный немагнитный материал — например, алюминий, медь или пластик. Для постоянного и низкочастотного магнитного поля такой материал почти прозрачен: силовые линии проходят сквозь него практически без искажений. Справа — материал с высокой магнитной проницаемостью. Магнитный поток как бы предпочитает идти именно по нему, потому что сопротивление магнитному потоку в таком материале намного меньше, чем в воздухе. Линии втягиваются в пластину и концентрируются внутри неё. Именно это свойство и используют для экранирования. Главная трудность связана с низкими частотами: вихревые токи в обычном проводнике при этом слабы, и тонкий металлический экран не помогает. Поэтому применяют специальные магнитомягкие материалы — те, которые легко намагничиваются и размагничиваются. О них — на следующем слайде.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Принцип магнитного экранирования — не «остановить» поле, а перенаправить магнитный поток. Экран делают в виде замкнутой оболочки из материала с высокой магнитной проницаемостью. Посмотрите на схему: силовые линии втягиваются в стенки экрана, идут по ним в обход защищаемой области и выходят с другой стороны. Внутри поле сильно ослаблено. Чем выше проницаемость и чем толще стенки, тем лучше эффект. Самые известные материалы — пермаллой, сплав железа и никеля с очень высокой проницаемостью, и электротехническая сталь: она значительно дешевле и применяется гораздо чаще. Для более сильного ослабления используют многослойные экраны — несколько оболочек, разделённых зазором. На высоких частотах картина меняется: там на первый план выходят вихревые токи, и хорошо помогают проводящие экраны из меди и алюминия. И ещё одна практическая деталь: пермаллой чувствителен к ударам и деформациям, после них его свойства ухудшаются. Теперь сравним оба вида экранирования.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Давайте сведём всё в одно сравнение. Слева — электрическое поле. Для него применяют проводящие материалы, механизм защиты — перераспределение зарядов, задача решается сравнительно проще, а главное требование — непрерывность экрана. Справа — магнитное поле. Здесь нужны магнитомягкие материалы, механизм — перенаправление магнитного потока, а задача особенно сложна на низких частотах. Ключевой параметр здесь — магнитная проницаемость. Точки в средней строке условно показывают сложность: у электрического поля их две из пяти, у магнитного — четыре. Обратите внимание: это разные физические механизмы, поэтому один и тот же экран не всегда защищает от обоих полей. Тонкая медная фольга хорошо ослабит электрическое поле, но почти никак не повлияет на низкочастотное магнитное. Поэтому при проектировании защиты сначала определяют, какое поле и на какой частоте нужно ослабить. А как понять, насколько хорошо экран справляется со своей задачей? Для этого вводят количественную меру.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Эффективность экранирования обозначают буквами SE — от английского shielding effectiveness. Она показывает, во сколько раз экран ослабляет поле, и выражается в децибелах. Формула на слайде: SE равно двадцати десятичным логарифмам отношения E нулевое к E первое. E нулевое — напряжённость поля в точке без экрана, E первое — в той же точке, но при наличии экрана. Для магнитного поля используется такая же формула, только вместо E подставляют напряжённость магнитного поля H. Чем больше SE, тем сильнее ослабление. Для запоминания: 20 децибел — это ослабление амплитуды в 10 раз, 40 децибел — в 100 раз, 60 децибел — в 1000 раз. Каждые лишние 20 децибел дают ещё десятикратное ослабление. На диаграмме справа показан пример: без экрана уровень поля условно равен ста единицам, за экраном — десяти. Отношение десять, десятичный логарифм равен единице, умножаем на двадцать и получаем 20 децибел. Теперь вернёмся к главной теме курса — защите информации, и посмотрим, где именно применяется всё сказанное.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Это один из ключевых слайдов. Посмотрите на схему объекта информатизации — места, где обрабатывается защищаемая информация. Штриховой линией обозначена граница контролируемой зоны — территории, где доступ посторонних исключён или находится под контролем. Внутри находится оборудование, которое создаёт информативные излучения, а вокруг него — экранированное помещение. Слева на схеме сигнал доходит до стенки, а за ней его уровень резко падает. Справа за границей зоны условно показан злоумышленник с приёмной аппаратурой: до него сигнал либо не доходит, либо оказывается ниже уровня шума. Задача экранирования — уменьшить возможность выхода информативного сигнала за контролируемую зону. Справа перечислены основные средства: экранированные помещения, экранированные кабели, металлические корпуса, серверные шкафы. Но экран сам по себе не работает: кабели питания и связи, входящие в помещение, могут вынести сигнал наружу, поэтому применяют фильтрацию и правильное заземление. Только комплекс мер даёт результат. Посмотрим, как это выглядит в реальных конструкциях.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Теперь несколько практических примеров. Первый — экранированный кабель. Оплётка и фольга вокруг жил снижают собственное излучение кабеля и защищают линию от внешних наводок. Второй — металлический корпус компьютера или блока. Внутри него находится печатная плата, а сам корпус играет роль экрана. Эффективность в основном определяют швы, стыки и заземление. Третий — экранированное помещение: стены из стали или металлической сетки, специальные двери с токопроводящими прокладками и фильтры на вводах кабелей. Такие помещения используют для обработки наиболее важной информации. Четвёртый — серверный или телекоммуникационный шкаф с металлическими стенками и перфорированной дверью. Отверстия для вентиляции делают достаточно мелкими, чтобы они почти не ухудшали экранирование. Во всех четырёх случаях принцип один: замкнутая проводящая оболочка плюс контроль всех отверстий, швов и вводов. Подведём итоги.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Подведём итоги. Первое: экранирование снижает уровень электромагнитных полей — как тех, что излучает само устройство, так и внешних. Второе: электрические и магнитные поля требуют разных способов защиты. Для электрического поля подходят проводящие экраны, для низкочастотного магнитного — магнитомягкие материалы с высокой проницаемостью. Третье: эффективность экрана зависит от материала, частоты поля и конструкции — от швов, отверстий, вводов кабелей и заземления. И четвёртое: экранирование — один из физических способов защиты информации от технических каналов утечки. Применять его нужно вместе с фильтрацией, заземлением и организационными мерами. Если сказать совсем коротко: главная задача экрана — не дать информативному сигналу выйти за пределы защищаемой области. Спасибо за внимание, я готов ответить на ваши вопросы.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6F9"/>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0E9AA7"/>
                </a:solidFill>
                <a:latin typeface="Arial" pitchFamily="34" charset="0"/>
                <a:ea typeface="Arial" pitchFamily="34" charset="-122"/>
                <a:cs typeface="Arial" pitchFamily="34" charset="-120"/>
              </a:rPr>
              <a:t>ВВЕДЕНИЕ</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0B1F3A"/>
                </a:solidFill>
                <a:latin typeface="Arial" pitchFamily="34" charset="0"/>
                <a:ea typeface="Arial" pitchFamily="34" charset="-122"/>
                <a:cs typeface="Arial" pitchFamily="34" charset="-120"/>
              </a:rPr>
              <a:t>Зачем вообще нужно экранирование?</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64748B"/>
                </a:solidFill>
                <a:latin typeface="Arial" pitchFamily="34" charset="0"/>
                <a:ea typeface="Arial" pitchFamily="34" charset="-122"/>
                <a:cs typeface="Arial" pitchFamily="34" charset="-120"/>
              </a:rPr>
              <a:t>01</a:t>
            </a:r>
            <a:endParaRPr lang="en-US" sz="800" dirty="0"/>
          </a:p>
        </p:txBody>
      </p:sp>
      <p:sp>
        <p:nvSpPr>
          <p:cNvPr id="7" name="Shape 4"/>
          <p:cNvSpPr/>
          <p:nvPr/>
        </p:nvSpPr>
        <p:spPr>
          <a:xfrm>
            <a:off x="457200" y="1280160"/>
            <a:ext cx="1920240" cy="914400"/>
          </a:xfrm>
          <a:prstGeom prst="roundRect">
            <a:avLst>
              <a:gd name="adj" fmla="val 800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8" name="Shape 5"/>
          <p:cNvSpPr/>
          <p:nvPr/>
        </p:nvSpPr>
        <p:spPr>
          <a:xfrm>
            <a:off x="603504" y="1545336"/>
            <a:ext cx="384048" cy="384048"/>
          </a:xfrm>
          <a:prstGeom prst="ellipse">
            <a:avLst/>
          </a:prstGeom>
          <a:solidFill>
            <a:srgbClr val="0B1F3A"/>
          </a:solidFill>
          <a:ln w="12700">
            <a:solidFill>
              <a:srgbClr val="0B1F3A"/>
            </a:solidFill>
            <a:prstDash val="solid"/>
          </a:ln>
        </p:spPr>
      </p:sp>
      <p:pic>
        <p:nvPicPr>
          <p:cNvPr id="9" name="Image 0" descr="preencoded.png">    </p:cNvPr>
          <p:cNvPicPr>
            <a:picLocks noChangeAspect="1"/>
          </p:cNvPicPr>
          <p:nvPr/>
        </p:nvPicPr>
        <p:blipFill>
          <a:blip r:embed="rId1"/>
          <a:stretch>
            <a:fillRect/>
          </a:stretch>
        </p:blipFill>
        <p:spPr>
          <a:xfrm>
            <a:off x="699516" y="1641348"/>
            <a:ext cx="192024" cy="192024"/>
          </a:xfrm>
          <a:prstGeom prst="rect">
            <a:avLst/>
          </a:prstGeom>
        </p:spPr>
      </p:pic>
      <p:sp>
        <p:nvSpPr>
          <p:cNvPr id="10" name="Text 6"/>
          <p:cNvSpPr txBox="1"/>
          <p:nvPr/>
        </p:nvSpPr>
        <p:spPr>
          <a:xfrm>
            <a:off x="1097280" y="1371600"/>
            <a:ext cx="1170432" cy="731520"/>
          </a:xfrm>
          <a:prstGeom prst="rect">
            <a:avLst/>
          </a:prstGeom>
          <a:noFill/>
          <a:ln/>
        </p:spPr>
        <p:txBody>
          <a:bodyPr wrap="square" lIns="0" tIns="0" rIns="0" bIns="0" rtlCol="0" anchor="ctr"/>
          <a:lstStyle/>
          <a:p>
            <a:pPr indent="0" marL="0">
              <a:buNone/>
            </a:pPr>
            <a:r>
              <a:rPr lang="en-US" sz="1000" dirty="0">
                <a:solidFill>
                  <a:srgbClr val="2B3440"/>
                </a:solidFill>
                <a:latin typeface="Arial" pitchFamily="34" charset="0"/>
                <a:ea typeface="Arial" pitchFamily="34" charset="-122"/>
                <a:cs typeface="Arial" pitchFamily="34" charset="-120"/>
              </a:rPr>
              <a:t>Устройства создают электромагнитные поля</a:t>
            </a:r>
            <a:endParaRPr lang="en-US" sz="1000" dirty="0"/>
          </a:p>
        </p:txBody>
      </p:sp>
      <p:sp>
        <p:nvSpPr>
          <p:cNvPr id="11" name="Shape 7"/>
          <p:cNvSpPr/>
          <p:nvPr/>
        </p:nvSpPr>
        <p:spPr>
          <a:xfrm>
            <a:off x="2560320" y="1280160"/>
            <a:ext cx="1920240" cy="914400"/>
          </a:xfrm>
          <a:prstGeom prst="roundRect">
            <a:avLst>
              <a:gd name="adj" fmla="val 800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12" name="Shape 8"/>
          <p:cNvSpPr/>
          <p:nvPr/>
        </p:nvSpPr>
        <p:spPr>
          <a:xfrm>
            <a:off x="2706624" y="1545336"/>
            <a:ext cx="384048" cy="384048"/>
          </a:xfrm>
          <a:prstGeom prst="ellipse">
            <a:avLst/>
          </a:prstGeom>
          <a:solidFill>
            <a:srgbClr val="0B1F3A"/>
          </a:solidFill>
          <a:ln w="12700">
            <a:solidFill>
              <a:srgbClr val="0B1F3A"/>
            </a:solidFill>
            <a:prstDash val="solid"/>
          </a:ln>
        </p:spPr>
      </p:sp>
      <p:pic>
        <p:nvPicPr>
          <p:cNvPr id="13" name="Image 1" descr="preencoded.png">    </p:cNvPr>
          <p:cNvPicPr>
            <a:picLocks noChangeAspect="1"/>
          </p:cNvPicPr>
          <p:nvPr/>
        </p:nvPicPr>
        <p:blipFill>
          <a:blip r:embed="rId2"/>
          <a:stretch>
            <a:fillRect/>
          </a:stretch>
        </p:blipFill>
        <p:spPr>
          <a:xfrm>
            <a:off x="2802636" y="1641348"/>
            <a:ext cx="192024" cy="192024"/>
          </a:xfrm>
          <a:prstGeom prst="rect">
            <a:avLst/>
          </a:prstGeom>
        </p:spPr>
      </p:pic>
      <p:sp>
        <p:nvSpPr>
          <p:cNvPr id="14" name="Text 9"/>
          <p:cNvSpPr txBox="1"/>
          <p:nvPr/>
        </p:nvSpPr>
        <p:spPr>
          <a:xfrm>
            <a:off x="3200400" y="1371600"/>
            <a:ext cx="1170432" cy="731520"/>
          </a:xfrm>
          <a:prstGeom prst="rect">
            <a:avLst/>
          </a:prstGeom>
          <a:noFill/>
          <a:ln/>
        </p:spPr>
        <p:txBody>
          <a:bodyPr wrap="square" lIns="0" tIns="0" rIns="0" bIns="0" rtlCol="0" anchor="ctr"/>
          <a:lstStyle/>
          <a:p>
            <a:pPr indent="0" marL="0">
              <a:buNone/>
            </a:pPr>
            <a:r>
              <a:rPr lang="en-US" sz="1000" dirty="0">
                <a:solidFill>
                  <a:srgbClr val="2B3440"/>
                </a:solidFill>
                <a:latin typeface="Arial" pitchFamily="34" charset="0"/>
                <a:ea typeface="Arial" pitchFamily="34" charset="-122"/>
                <a:cs typeface="Arial" pitchFamily="34" charset="-120"/>
              </a:rPr>
              <a:t>Часть излучений несёт информацию</a:t>
            </a:r>
            <a:endParaRPr lang="en-US" sz="1000" dirty="0"/>
          </a:p>
        </p:txBody>
      </p:sp>
      <p:sp>
        <p:nvSpPr>
          <p:cNvPr id="15" name="Shape 10"/>
          <p:cNvSpPr/>
          <p:nvPr/>
        </p:nvSpPr>
        <p:spPr>
          <a:xfrm>
            <a:off x="4663440" y="1280160"/>
            <a:ext cx="1920240" cy="914400"/>
          </a:xfrm>
          <a:prstGeom prst="roundRect">
            <a:avLst>
              <a:gd name="adj" fmla="val 800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16" name="Shape 11"/>
          <p:cNvSpPr/>
          <p:nvPr/>
        </p:nvSpPr>
        <p:spPr>
          <a:xfrm>
            <a:off x="4809744" y="1545336"/>
            <a:ext cx="384048" cy="384048"/>
          </a:xfrm>
          <a:prstGeom prst="ellipse">
            <a:avLst/>
          </a:prstGeom>
          <a:solidFill>
            <a:srgbClr val="0B1F3A"/>
          </a:solidFill>
          <a:ln w="12700">
            <a:solidFill>
              <a:srgbClr val="0B1F3A"/>
            </a:solidFill>
            <a:prstDash val="solid"/>
          </a:ln>
        </p:spPr>
      </p:sp>
      <p:pic>
        <p:nvPicPr>
          <p:cNvPr id="17" name="Image 2" descr="preencoded.png">    </p:cNvPr>
          <p:cNvPicPr>
            <a:picLocks noChangeAspect="1"/>
          </p:cNvPicPr>
          <p:nvPr/>
        </p:nvPicPr>
        <p:blipFill>
          <a:blip r:embed="rId3"/>
          <a:stretch>
            <a:fillRect/>
          </a:stretch>
        </p:blipFill>
        <p:spPr>
          <a:xfrm>
            <a:off x="4905756" y="1641348"/>
            <a:ext cx="192024" cy="192024"/>
          </a:xfrm>
          <a:prstGeom prst="rect">
            <a:avLst/>
          </a:prstGeom>
        </p:spPr>
      </p:pic>
      <p:sp>
        <p:nvSpPr>
          <p:cNvPr id="18" name="Text 12"/>
          <p:cNvSpPr txBox="1"/>
          <p:nvPr/>
        </p:nvSpPr>
        <p:spPr>
          <a:xfrm>
            <a:off x="5303520" y="1371600"/>
            <a:ext cx="1170432" cy="731520"/>
          </a:xfrm>
          <a:prstGeom prst="rect">
            <a:avLst/>
          </a:prstGeom>
          <a:noFill/>
          <a:ln/>
        </p:spPr>
        <p:txBody>
          <a:bodyPr wrap="square" lIns="0" tIns="0" rIns="0" bIns="0" rtlCol="0" anchor="ctr"/>
          <a:lstStyle/>
          <a:p>
            <a:pPr indent="0" marL="0">
              <a:buNone/>
            </a:pPr>
            <a:r>
              <a:rPr lang="en-US" sz="1000" dirty="0">
                <a:solidFill>
                  <a:srgbClr val="2B3440"/>
                </a:solidFill>
                <a:latin typeface="Arial" pitchFamily="34" charset="0"/>
                <a:ea typeface="Arial" pitchFamily="34" charset="-122"/>
                <a:cs typeface="Arial" pitchFamily="34" charset="-120"/>
              </a:rPr>
              <a:t>Поле выходит за контролируемую зону</a:t>
            </a:r>
            <a:endParaRPr lang="en-US" sz="1000" dirty="0"/>
          </a:p>
        </p:txBody>
      </p:sp>
      <p:sp>
        <p:nvSpPr>
          <p:cNvPr id="19" name="Shape 13"/>
          <p:cNvSpPr/>
          <p:nvPr/>
        </p:nvSpPr>
        <p:spPr>
          <a:xfrm>
            <a:off x="6766560" y="1280160"/>
            <a:ext cx="1920240" cy="914400"/>
          </a:xfrm>
          <a:prstGeom prst="roundRect">
            <a:avLst>
              <a:gd name="adj" fmla="val 800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0" name="Shape 14"/>
          <p:cNvSpPr/>
          <p:nvPr/>
        </p:nvSpPr>
        <p:spPr>
          <a:xfrm>
            <a:off x="6912864" y="1545336"/>
            <a:ext cx="384048" cy="384048"/>
          </a:xfrm>
          <a:prstGeom prst="ellipse">
            <a:avLst/>
          </a:prstGeom>
          <a:solidFill>
            <a:srgbClr val="0E9AA7"/>
          </a:solidFill>
          <a:ln w="12700">
            <a:solidFill>
              <a:srgbClr val="0E9AA7"/>
            </a:solidFill>
            <a:prstDash val="solid"/>
          </a:ln>
        </p:spPr>
      </p:sp>
      <p:pic>
        <p:nvPicPr>
          <p:cNvPr id="21" name="Image 3" descr="preencoded.png">    </p:cNvPr>
          <p:cNvPicPr>
            <a:picLocks noChangeAspect="1"/>
          </p:cNvPicPr>
          <p:nvPr/>
        </p:nvPicPr>
        <p:blipFill>
          <a:blip r:embed="rId4"/>
          <a:stretch>
            <a:fillRect/>
          </a:stretch>
        </p:blipFill>
        <p:spPr>
          <a:xfrm>
            <a:off x="7008876" y="1641348"/>
            <a:ext cx="192024" cy="192024"/>
          </a:xfrm>
          <a:prstGeom prst="rect">
            <a:avLst/>
          </a:prstGeom>
        </p:spPr>
      </p:pic>
      <p:sp>
        <p:nvSpPr>
          <p:cNvPr id="22" name="Text 15"/>
          <p:cNvSpPr txBox="1"/>
          <p:nvPr/>
        </p:nvSpPr>
        <p:spPr>
          <a:xfrm>
            <a:off x="7406640" y="1371600"/>
            <a:ext cx="1170432" cy="731520"/>
          </a:xfrm>
          <a:prstGeom prst="rect">
            <a:avLst/>
          </a:prstGeom>
          <a:noFill/>
          <a:ln/>
        </p:spPr>
        <p:txBody>
          <a:bodyPr wrap="square" lIns="0" tIns="0" rIns="0" bIns="0" rtlCol="0" anchor="ctr"/>
          <a:lstStyle/>
          <a:p>
            <a:pPr indent="0" marL="0">
              <a:buNone/>
            </a:pPr>
            <a:r>
              <a:rPr lang="en-US" sz="1000" dirty="0">
                <a:solidFill>
                  <a:srgbClr val="2B3440"/>
                </a:solidFill>
                <a:latin typeface="Arial" pitchFamily="34" charset="0"/>
                <a:ea typeface="Arial" pitchFamily="34" charset="-122"/>
                <a:cs typeface="Arial" pitchFamily="34" charset="-120"/>
              </a:rPr>
              <a:t>Экран уменьшает уровень поля</a:t>
            </a:r>
            <a:endParaRPr lang="en-US" sz="1000" dirty="0"/>
          </a:p>
        </p:txBody>
      </p:sp>
      <p:sp>
        <p:nvSpPr>
          <p:cNvPr id="23" name="Text 16"/>
          <p:cNvSpPr txBox="1"/>
          <p:nvPr/>
        </p:nvSpPr>
        <p:spPr>
          <a:xfrm>
            <a:off x="457200" y="2395728"/>
            <a:ext cx="3657600" cy="182880"/>
          </a:xfrm>
          <a:prstGeom prst="rect">
            <a:avLst/>
          </a:prstGeom>
          <a:noFill/>
          <a:ln/>
        </p:spPr>
        <p:txBody>
          <a:bodyPr wrap="square" lIns="0" tIns="0" rIns="0" bIns="0" rtlCol="0" anchor="t"/>
          <a:lstStyle/>
          <a:p>
            <a:pPr indent="0" marL="0">
              <a:buNone/>
            </a:pPr>
            <a:r>
              <a:rPr lang="en-US" sz="900" b="1" spc="300" kern="0" dirty="0">
                <a:solidFill>
                  <a:srgbClr val="64748B"/>
                </a:solidFill>
                <a:latin typeface="Arial" pitchFamily="34" charset="0"/>
                <a:ea typeface="Arial" pitchFamily="34" charset="-122"/>
                <a:cs typeface="Arial" pitchFamily="34" charset="-120"/>
              </a:rPr>
              <a:t>ЛОГИКА ЗАЩИТЫ</a:t>
            </a:r>
            <a:endParaRPr lang="en-US" sz="900" dirty="0"/>
          </a:p>
        </p:txBody>
      </p:sp>
      <p:sp>
        <p:nvSpPr>
          <p:cNvPr id="24" name="Shape 17"/>
          <p:cNvSpPr/>
          <p:nvPr/>
        </p:nvSpPr>
        <p:spPr>
          <a:xfrm>
            <a:off x="457200" y="2651760"/>
            <a:ext cx="1783080" cy="2011680"/>
          </a:xfrm>
          <a:prstGeom prst="roundRect">
            <a:avLst>
              <a:gd name="adj" fmla="val 4103"/>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5" name="Shape 18"/>
          <p:cNvSpPr/>
          <p:nvPr/>
        </p:nvSpPr>
        <p:spPr>
          <a:xfrm>
            <a:off x="612648" y="2807208"/>
            <a:ext cx="457200" cy="457200"/>
          </a:xfrm>
          <a:prstGeom prst="ellipse">
            <a:avLst/>
          </a:prstGeom>
          <a:solidFill>
            <a:srgbClr val="0B1F3A"/>
          </a:solidFill>
          <a:ln w="12700">
            <a:solidFill>
              <a:srgbClr val="0B1F3A"/>
            </a:solidFill>
            <a:prstDash val="solid"/>
          </a:ln>
        </p:spPr>
      </p:sp>
      <p:pic>
        <p:nvPicPr>
          <p:cNvPr id="26" name="Image 4" descr="preencoded.png">    </p:cNvPr>
          <p:cNvPicPr>
            <a:picLocks noChangeAspect="1"/>
          </p:cNvPicPr>
          <p:nvPr/>
        </p:nvPicPr>
        <p:blipFill>
          <a:blip r:embed="rId5"/>
          <a:stretch>
            <a:fillRect/>
          </a:stretch>
        </p:blipFill>
        <p:spPr>
          <a:xfrm>
            <a:off x="726948" y="2921508"/>
            <a:ext cx="228600" cy="228600"/>
          </a:xfrm>
          <a:prstGeom prst="rect">
            <a:avLst/>
          </a:prstGeom>
        </p:spPr>
      </p:pic>
      <p:sp>
        <p:nvSpPr>
          <p:cNvPr id="27" name="Text 19"/>
          <p:cNvSpPr txBox="1"/>
          <p:nvPr/>
        </p:nvSpPr>
        <p:spPr>
          <a:xfrm>
            <a:off x="594360" y="3401568"/>
            <a:ext cx="1463040" cy="365760"/>
          </a:xfrm>
          <a:prstGeom prst="rect">
            <a:avLst/>
          </a:prstGeom>
          <a:noFill/>
          <a:ln/>
        </p:spPr>
        <p:txBody>
          <a:bodyPr wrap="square" lIns="0" tIns="0" rIns="0" bIns="0" rtlCol="0" anchor="t"/>
          <a:lstStyle/>
          <a:p>
            <a:pPr indent="0" marL="0">
              <a:buNone/>
            </a:pPr>
            <a:r>
              <a:rPr lang="en-US" sz="1150" b="1" dirty="0">
                <a:solidFill>
                  <a:srgbClr val="0B1F3A"/>
                </a:solidFill>
                <a:latin typeface="Arial" pitchFamily="34" charset="0"/>
                <a:ea typeface="Arial" pitchFamily="34" charset="-122"/>
                <a:cs typeface="Arial" pitchFamily="34" charset="-120"/>
              </a:rPr>
              <a:t>Источник</a:t>
            </a:r>
            <a:endParaRPr lang="en-US" sz="1150" dirty="0"/>
          </a:p>
        </p:txBody>
      </p:sp>
      <p:sp>
        <p:nvSpPr>
          <p:cNvPr id="28" name="Text 20"/>
          <p:cNvSpPr txBox="1"/>
          <p:nvPr/>
        </p:nvSpPr>
        <p:spPr>
          <a:xfrm>
            <a:off x="594360" y="3767328"/>
            <a:ext cx="1463040" cy="36576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устройство с информативными сигналами</a:t>
            </a:r>
            <a:endParaRPr lang="en-US" sz="900" dirty="0"/>
          </a:p>
        </p:txBody>
      </p:sp>
      <p:sp>
        <p:nvSpPr>
          <p:cNvPr id="29" name="Shape 21"/>
          <p:cNvSpPr/>
          <p:nvPr/>
        </p:nvSpPr>
        <p:spPr>
          <a:xfrm>
            <a:off x="2286000" y="3520440"/>
            <a:ext cx="292608" cy="274320"/>
          </a:xfrm>
          <a:prstGeom prst="rightArrow">
            <a:avLst/>
          </a:prstGeom>
          <a:solidFill>
            <a:srgbClr val="1FB6D4"/>
          </a:solidFill>
          <a:ln w="12700">
            <a:solidFill>
              <a:srgbClr val="1FB6D4"/>
            </a:solidFill>
            <a:prstDash val="solid"/>
          </a:ln>
        </p:spPr>
      </p:sp>
      <p:sp>
        <p:nvSpPr>
          <p:cNvPr id="30" name="Shape 22"/>
          <p:cNvSpPr/>
          <p:nvPr/>
        </p:nvSpPr>
        <p:spPr>
          <a:xfrm>
            <a:off x="2606040" y="2651760"/>
            <a:ext cx="1783080" cy="2011680"/>
          </a:xfrm>
          <a:prstGeom prst="roundRect">
            <a:avLst>
              <a:gd name="adj" fmla="val 4103"/>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31" name="Shape 23"/>
          <p:cNvSpPr/>
          <p:nvPr/>
        </p:nvSpPr>
        <p:spPr>
          <a:xfrm>
            <a:off x="2761488" y="2807208"/>
            <a:ext cx="457200" cy="457200"/>
          </a:xfrm>
          <a:prstGeom prst="ellipse">
            <a:avLst/>
          </a:prstGeom>
          <a:solidFill>
            <a:srgbClr val="0B1F3A"/>
          </a:solidFill>
          <a:ln w="12700">
            <a:solidFill>
              <a:srgbClr val="0B1F3A"/>
            </a:solidFill>
            <a:prstDash val="solid"/>
          </a:ln>
        </p:spPr>
      </p:sp>
      <p:pic>
        <p:nvPicPr>
          <p:cNvPr id="32" name="Image 5" descr="preencoded.png">    </p:cNvPr>
          <p:cNvPicPr>
            <a:picLocks noChangeAspect="1"/>
          </p:cNvPicPr>
          <p:nvPr/>
        </p:nvPicPr>
        <p:blipFill>
          <a:blip r:embed="rId6"/>
          <a:stretch>
            <a:fillRect/>
          </a:stretch>
        </p:blipFill>
        <p:spPr>
          <a:xfrm>
            <a:off x="2875788" y="2921508"/>
            <a:ext cx="228600" cy="228600"/>
          </a:xfrm>
          <a:prstGeom prst="rect">
            <a:avLst/>
          </a:prstGeom>
        </p:spPr>
      </p:pic>
      <p:sp>
        <p:nvSpPr>
          <p:cNvPr id="33" name="Text 24"/>
          <p:cNvSpPr txBox="1"/>
          <p:nvPr/>
        </p:nvSpPr>
        <p:spPr>
          <a:xfrm>
            <a:off x="2743200" y="3401568"/>
            <a:ext cx="1463040" cy="365760"/>
          </a:xfrm>
          <a:prstGeom prst="rect">
            <a:avLst/>
          </a:prstGeom>
          <a:noFill/>
          <a:ln/>
        </p:spPr>
        <p:txBody>
          <a:bodyPr wrap="square" lIns="0" tIns="0" rIns="0" bIns="0" rtlCol="0" anchor="t"/>
          <a:lstStyle/>
          <a:p>
            <a:pPr indent="0" marL="0">
              <a:buNone/>
            </a:pPr>
            <a:r>
              <a:rPr lang="en-US" sz="1150" b="1" dirty="0">
                <a:solidFill>
                  <a:srgbClr val="0B1F3A"/>
                </a:solidFill>
                <a:latin typeface="Arial" pitchFamily="34" charset="0"/>
                <a:ea typeface="Arial" pitchFamily="34" charset="-122"/>
                <a:cs typeface="Arial" pitchFamily="34" charset="-120"/>
              </a:rPr>
              <a:t>Электромагнитное поле</a:t>
            </a:r>
            <a:endParaRPr lang="en-US" sz="1150" dirty="0"/>
          </a:p>
        </p:txBody>
      </p:sp>
      <p:sp>
        <p:nvSpPr>
          <p:cNvPr id="34" name="Text 25"/>
          <p:cNvSpPr txBox="1"/>
          <p:nvPr/>
        </p:nvSpPr>
        <p:spPr>
          <a:xfrm>
            <a:off x="2743200" y="3767328"/>
            <a:ext cx="1463040" cy="36576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распространяется в пространстве</a:t>
            </a:r>
            <a:endParaRPr lang="en-US" sz="900" dirty="0"/>
          </a:p>
        </p:txBody>
      </p:sp>
      <p:sp>
        <p:nvSpPr>
          <p:cNvPr id="35" name="Shape 26"/>
          <p:cNvSpPr/>
          <p:nvPr/>
        </p:nvSpPr>
        <p:spPr>
          <a:xfrm>
            <a:off x="2788920" y="4169664"/>
            <a:ext cx="137160" cy="356616"/>
          </a:xfrm>
          <a:prstGeom prst="roundRect">
            <a:avLst>
              <a:gd name="adj" fmla="val 20000"/>
            </a:avLst>
          </a:prstGeom>
          <a:solidFill>
            <a:srgbClr val="1FB6D4"/>
          </a:solidFill>
          <a:ln w="12700">
            <a:solidFill>
              <a:srgbClr val="1FB6D4"/>
            </a:solidFill>
            <a:prstDash val="solid"/>
          </a:ln>
        </p:spPr>
      </p:sp>
      <p:sp>
        <p:nvSpPr>
          <p:cNvPr id="36" name="Shape 27"/>
          <p:cNvSpPr/>
          <p:nvPr/>
        </p:nvSpPr>
        <p:spPr>
          <a:xfrm>
            <a:off x="2999232" y="4324198"/>
            <a:ext cx="137160" cy="202082"/>
          </a:xfrm>
          <a:prstGeom prst="roundRect">
            <a:avLst>
              <a:gd name="adj" fmla="val 20000"/>
            </a:avLst>
          </a:prstGeom>
          <a:solidFill>
            <a:srgbClr val="1FB6D4"/>
          </a:solidFill>
          <a:ln w="12700">
            <a:solidFill>
              <a:srgbClr val="1FB6D4"/>
            </a:solidFill>
            <a:prstDash val="solid"/>
          </a:ln>
        </p:spPr>
      </p:sp>
      <p:sp>
        <p:nvSpPr>
          <p:cNvPr id="37" name="Shape 28"/>
          <p:cNvSpPr/>
          <p:nvPr/>
        </p:nvSpPr>
        <p:spPr>
          <a:xfrm>
            <a:off x="3209544" y="4217213"/>
            <a:ext cx="137160" cy="309067"/>
          </a:xfrm>
          <a:prstGeom prst="roundRect">
            <a:avLst>
              <a:gd name="adj" fmla="val 20000"/>
            </a:avLst>
          </a:prstGeom>
          <a:solidFill>
            <a:srgbClr val="1FB6D4"/>
          </a:solidFill>
          <a:ln w="12700">
            <a:solidFill>
              <a:srgbClr val="1FB6D4"/>
            </a:solidFill>
            <a:prstDash val="solid"/>
          </a:ln>
        </p:spPr>
      </p:sp>
      <p:sp>
        <p:nvSpPr>
          <p:cNvPr id="38" name="Shape 29"/>
          <p:cNvSpPr/>
          <p:nvPr/>
        </p:nvSpPr>
        <p:spPr>
          <a:xfrm>
            <a:off x="3419856" y="4383634"/>
            <a:ext cx="137160" cy="142646"/>
          </a:xfrm>
          <a:prstGeom prst="roundRect">
            <a:avLst>
              <a:gd name="adj" fmla="val 20000"/>
            </a:avLst>
          </a:prstGeom>
          <a:solidFill>
            <a:srgbClr val="1FB6D4"/>
          </a:solidFill>
          <a:ln w="12700">
            <a:solidFill>
              <a:srgbClr val="1FB6D4"/>
            </a:solidFill>
            <a:prstDash val="solid"/>
          </a:ln>
        </p:spPr>
      </p:sp>
      <p:sp>
        <p:nvSpPr>
          <p:cNvPr id="39" name="Shape 30"/>
          <p:cNvSpPr/>
          <p:nvPr/>
        </p:nvSpPr>
        <p:spPr>
          <a:xfrm>
            <a:off x="3630168" y="4169664"/>
            <a:ext cx="137160" cy="356616"/>
          </a:xfrm>
          <a:prstGeom prst="roundRect">
            <a:avLst>
              <a:gd name="adj" fmla="val 20000"/>
            </a:avLst>
          </a:prstGeom>
          <a:solidFill>
            <a:srgbClr val="1FB6D4"/>
          </a:solidFill>
          <a:ln w="12700">
            <a:solidFill>
              <a:srgbClr val="1FB6D4"/>
            </a:solidFill>
            <a:prstDash val="solid"/>
          </a:ln>
        </p:spPr>
      </p:sp>
      <p:sp>
        <p:nvSpPr>
          <p:cNvPr id="40" name="Shape 31"/>
          <p:cNvSpPr/>
          <p:nvPr/>
        </p:nvSpPr>
        <p:spPr>
          <a:xfrm>
            <a:off x="3840480" y="4288536"/>
            <a:ext cx="137160" cy="237744"/>
          </a:xfrm>
          <a:prstGeom prst="roundRect">
            <a:avLst>
              <a:gd name="adj" fmla="val 20000"/>
            </a:avLst>
          </a:prstGeom>
          <a:solidFill>
            <a:srgbClr val="1FB6D4"/>
          </a:solidFill>
          <a:ln w="12700">
            <a:solidFill>
              <a:srgbClr val="1FB6D4"/>
            </a:solidFill>
            <a:prstDash val="solid"/>
          </a:ln>
        </p:spPr>
      </p:sp>
      <p:sp>
        <p:nvSpPr>
          <p:cNvPr id="41" name="Shape 32"/>
          <p:cNvSpPr/>
          <p:nvPr/>
        </p:nvSpPr>
        <p:spPr>
          <a:xfrm>
            <a:off x="4050792" y="4217213"/>
            <a:ext cx="137160" cy="309067"/>
          </a:xfrm>
          <a:prstGeom prst="roundRect">
            <a:avLst>
              <a:gd name="adj" fmla="val 20000"/>
            </a:avLst>
          </a:prstGeom>
          <a:solidFill>
            <a:srgbClr val="1FB6D4"/>
          </a:solidFill>
          <a:ln w="12700">
            <a:solidFill>
              <a:srgbClr val="1FB6D4"/>
            </a:solidFill>
            <a:prstDash val="solid"/>
          </a:ln>
        </p:spPr>
      </p:sp>
      <p:sp>
        <p:nvSpPr>
          <p:cNvPr id="42" name="Shape 33"/>
          <p:cNvSpPr/>
          <p:nvPr/>
        </p:nvSpPr>
        <p:spPr>
          <a:xfrm>
            <a:off x="4434840" y="3520440"/>
            <a:ext cx="292608" cy="274320"/>
          </a:xfrm>
          <a:prstGeom prst="rightArrow">
            <a:avLst/>
          </a:prstGeom>
          <a:solidFill>
            <a:srgbClr val="1FB6D4"/>
          </a:solidFill>
          <a:ln w="12700">
            <a:solidFill>
              <a:srgbClr val="1FB6D4"/>
            </a:solidFill>
            <a:prstDash val="solid"/>
          </a:ln>
        </p:spPr>
      </p:sp>
      <p:sp>
        <p:nvSpPr>
          <p:cNvPr id="43" name="Shape 34"/>
          <p:cNvSpPr/>
          <p:nvPr/>
        </p:nvSpPr>
        <p:spPr>
          <a:xfrm>
            <a:off x="4754880" y="2651760"/>
            <a:ext cx="1783080" cy="2011680"/>
          </a:xfrm>
          <a:prstGeom prst="roundRect">
            <a:avLst>
              <a:gd name="adj" fmla="val 4103"/>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44" name="Shape 35"/>
          <p:cNvSpPr/>
          <p:nvPr/>
        </p:nvSpPr>
        <p:spPr>
          <a:xfrm>
            <a:off x="4910328" y="2807208"/>
            <a:ext cx="457200" cy="457200"/>
          </a:xfrm>
          <a:prstGeom prst="ellipse">
            <a:avLst/>
          </a:prstGeom>
          <a:solidFill>
            <a:srgbClr val="0E9AA7"/>
          </a:solidFill>
          <a:ln w="12700">
            <a:solidFill>
              <a:srgbClr val="0E9AA7"/>
            </a:solidFill>
            <a:prstDash val="solid"/>
          </a:ln>
        </p:spPr>
      </p:sp>
      <p:pic>
        <p:nvPicPr>
          <p:cNvPr id="45" name="Image 6" descr="preencoded.png">    </p:cNvPr>
          <p:cNvPicPr>
            <a:picLocks noChangeAspect="1"/>
          </p:cNvPicPr>
          <p:nvPr/>
        </p:nvPicPr>
        <p:blipFill>
          <a:blip r:embed="rId7"/>
          <a:stretch>
            <a:fillRect/>
          </a:stretch>
        </p:blipFill>
        <p:spPr>
          <a:xfrm>
            <a:off x="5024628" y="2921508"/>
            <a:ext cx="228600" cy="228600"/>
          </a:xfrm>
          <a:prstGeom prst="rect">
            <a:avLst/>
          </a:prstGeom>
        </p:spPr>
      </p:pic>
      <p:sp>
        <p:nvSpPr>
          <p:cNvPr id="46" name="Text 36"/>
          <p:cNvSpPr txBox="1"/>
          <p:nvPr/>
        </p:nvSpPr>
        <p:spPr>
          <a:xfrm>
            <a:off x="4892040" y="3401568"/>
            <a:ext cx="1463040" cy="365760"/>
          </a:xfrm>
          <a:prstGeom prst="rect">
            <a:avLst/>
          </a:prstGeom>
          <a:noFill/>
          <a:ln/>
        </p:spPr>
        <p:txBody>
          <a:bodyPr wrap="square" lIns="0" tIns="0" rIns="0" bIns="0" rtlCol="0" anchor="t"/>
          <a:lstStyle/>
          <a:p>
            <a:pPr indent="0" marL="0">
              <a:buNone/>
            </a:pPr>
            <a:r>
              <a:rPr lang="en-US" sz="1150" b="1" dirty="0">
                <a:solidFill>
                  <a:srgbClr val="0B1F3A"/>
                </a:solidFill>
                <a:latin typeface="Arial" pitchFamily="34" charset="0"/>
                <a:ea typeface="Arial" pitchFamily="34" charset="-122"/>
                <a:cs typeface="Arial" pitchFamily="34" charset="-120"/>
              </a:rPr>
              <a:t>Экран</a:t>
            </a:r>
            <a:endParaRPr lang="en-US" sz="1150" dirty="0"/>
          </a:p>
        </p:txBody>
      </p:sp>
      <p:sp>
        <p:nvSpPr>
          <p:cNvPr id="47" name="Text 37"/>
          <p:cNvSpPr txBox="1"/>
          <p:nvPr/>
        </p:nvSpPr>
        <p:spPr>
          <a:xfrm>
            <a:off x="4892040" y="3767328"/>
            <a:ext cx="1463040" cy="36576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проводящий или магнитомягкий барьер</a:t>
            </a:r>
            <a:endParaRPr lang="en-US" sz="900" dirty="0"/>
          </a:p>
        </p:txBody>
      </p:sp>
      <p:sp>
        <p:nvSpPr>
          <p:cNvPr id="48" name="Shape 38"/>
          <p:cNvSpPr/>
          <p:nvPr/>
        </p:nvSpPr>
        <p:spPr>
          <a:xfrm>
            <a:off x="6583680" y="3520440"/>
            <a:ext cx="292608" cy="274320"/>
          </a:xfrm>
          <a:prstGeom prst="rightArrow">
            <a:avLst/>
          </a:prstGeom>
          <a:solidFill>
            <a:srgbClr val="1FB6D4"/>
          </a:solidFill>
          <a:ln w="12700">
            <a:solidFill>
              <a:srgbClr val="1FB6D4"/>
            </a:solidFill>
            <a:prstDash val="solid"/>
          </a:ln>
        </p:spPr>
      </p:sp>
      <p:sp>
        <p:nvSpPr>
          <p:cNvPr id="49" name="Shape 39"/>
          <p:cNvSpPr/>
          <p:nvPr/>
        </p:nvSpPr>
        <p:spPr>
          <a:xfrm>
            <a:off x="6903720" y="2651760"/>
            <a:ext cx="1783080" cy="2011680"/>
          </a:xfrm>
          <a:prstGeom prst="roundRect">
            <a:avLst>
              <a:gd name="adj" fmla="val 4103"/>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50" name="Shape 40"/>
          <p:cNvSpPr/>
          <p:nvPr/>
        </p:nvSpPr>
        <p:spPr>
          <a:xfrm>
            <a:off x="7059168" y="2807208"/>
            <a:ext cx="457200" cy="457200"/>
          </a:xfrm>
          <a:prstGeom prst="ellipse">
            <a:avLst/>
          </a:prstGeom>
          <a:solidFill>
            <a:srgbClr val="0B1F3A"/>
          </a:solidFill>
          <a:ln w="12700">
            <a:solidFill>
              <a:srgbClr val="0B1F3A"/>
            </a:solidFill>
            <a:prstDash val="solid"/>
          </a:ln>
        </p:spPr>
      </p:sp>
      <p:pic>
        <p:nvPicPr>
          <p:cNvPr id="51" name="Image 7" descr="preencoded.png">    </p:cNvPr>
          <p:cNvPicPr>
            <a:picLocks noChangeAspect="1"/>
          </p:cNvPicPr>
          <p:nvPr/>
        </p:nvPicPr>
        <p:blipFill>
          <a:blip r:embed="rId8"/>
          <a:stretch>
            <a:fillRect/>
          </a:stretch>
        </p:blipFill>
        <p:spPr>
          <a:xfrm>
            <a:off x="7173468" y="2921508"/>
            <a:ext cx="228600" cy="228600"/>
          </a:xfrm>
          <a:prstGeom prst="rect">
            <a:avLst/>
          </a:prstGeom>
        </p:spPr>
      </p:pic>
      <p:sp>
        <p:nvSpPr>
          <p:cNvPr id="52" name="Text 41"/>
          <p:cNvSpPr txBox="1"/>
          <p:nvPr/>
        </p:nvSpPr>
        <p:spPr>
          <a:xfrm>
            <a:off x="7040880" y="3401568"/>
            <a:ext cx="1463040" cy="365760"/>
          </a:xfrm>
          <a:prstGeom prst="rect">
            <a:avLst/>
          </a:prstGeom>
          <a:noFill/>
          <a:ln/>
        </p:spPr>
        <p:txBody>
          <a:bodyPr wrap="square" lIns="0" tIns="0" rIns="0" bIns="0" rtlCol="0" anchor="t"/>
          <a:lstStyle/>
          <a:p>
            <a:pPr indent="0" marL="0">
              <a:buNone/>
            </a:pPr>
            <a:r>
              <a:rPr lang="en-US" sz="1150" b="1" dirty="0">
                <a:solidFill>
                  <a:srgbClr val="0B1F3A"/>
                </a:solidFill>
                <a:latin typeface="Arial" pitchFamily="34" charset="0"/>
                <a:ea typeface="Arial" pitchFamily="34" charset="-122"/>
                <a:cs typeface="Arial" pitchFamily="34" charset="-120"/>
              </a:rPr>
              <a:t>Ослабленный сигнал</a:t>
            </a:r>
            <a:endParaRPr lang="en-US" sz="1150" dirty="0"/>
          </a:p>
        </p:txBody>
      </p:sp>
      <p:sp>
        <p:nvSpPr>
          <p:cNvPr id="53" name="Text 42"/>
          <p:cNvSpPr txBox="1"/>
          <p:nvPr/>
        </p:nvSpPr>
        <p:spPr>
          <a:xfrm>
            <a:off x="7040880" y="3767328"/>
            <a:ext cx="1463040" cy="36576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ниже уровня возможного перехвата</a:t>
            </a:r>
            <a:endParaRPr lang="en-US" sz="900" dirty="0"/>
          </a:p>
        </p:txBody>
      </p:sp>
      <p:sp>
        <p:nvSpPr>
          <p:cNvPr id="54" name="Shape 43"/>
          <p:cNvSpPr/>
          <p:nvPr/>
        </p:nvSpPr>
        <p:spPr>
          <a:xfrm>
            <a:off x="7086600" y="4443070"/>
            <a:ext cx="137160" cy="83210"/>
          </a:xfrm>
          <a:prstGeom prst="roundRect">
            <a:avLst>
              <a:gd name="adj" fmla="val 32967"/>
            </a:avLst>
          </a:prstGeom>
          <a:solidFill>
            <a:srgbClr val="9ADCEA"/>
          </a:solidFill>
          <a:ln w="12700">
            <a:solidFill>
              <a:srgbClr val="9ADCEA"/>
            </a:solidFill>
            <a:prstDash val="solid"/>
          </a:ln>
        </p:spPr>
      </p:sp>
      <p:sp>
        <p:nvSpPr>
          <p:cNvPr id="55" name="Shape 44"/>
          <p:cNvSpPr/>
          <p:nvPr/>
        </p:nvSpPr>
        <p:spPr>
          <a:xfrm>
            <a:off x="7296912" y="4466844"/>
            <a:ext cx="137160" cy="59436"/>
          </a:xfrm>
          <a:prstGeom prst="roundRect">
            <a:avLst>
              <a:gd name="adj" fmla="val 46154"/>
            </a:avLst>
          </a:prstGeom>
          <a:solidFill>
            <a:srgbClr val="9ADCEA"/>
          </a:solidFill>
          <a:ln w="12700">
            <a:solidFill>
              <a:srgbClr val="9ADCEA"/>
            </a:solidFill>
            <a:prstDash val="solid"/>
          </a:ln>
        </p:spPr>
      </p:sp>
      <p:sp>
        <p:nvSpPr>
          <p:cNvPr id="56" name="Shape 45"/>
          <p:cNvSpPr/>
          <p:nvPr/>
        </p:nvSpPr>
        <p:spPr>
          <a:xfrm>
            <a:off x="7507224" y="4443070"/>
            <a:ext cx="137160" cy="83210"/>
          </a:xfrm>
          <a:prstGeom prst="roundRect">
            <a:avLst>
              <a:gd name="adj" fmla="val 32967"/>
            </a:avLst>
          </a:prstGeom>
          <a:solidFill>
            <a:srgbClr val="9ADCEA"/>
          </a:solidFill>
          <a:ln w="12700">
            <a:solidFill>
              <a:srgbClr val="9ADCEA"/>
            </a:solidFill>
            <a:prstDash val="solid"/>
          </a:ln>
        </p:spPr>
      </p:sp>
      <p:sp>
        <p:nvSpPr>
          <p:cNvPr id="57" name="Shape 46"/>
          <p:cNvSpPr/>
          <p:nvPr/>
        </p:nvSpPr>
        <p:spPr>
          <a:xfrm>
            <a:off x="7717536" y="4478731"/>
            <a:ext cx="137160" cy="47549"/>
          </a:xfrm>
          <a:prstGeom prst="roundRect">
            <a:avLst>
              <a:gd name="adj" fmla="val 57692"/>
            </a:avLst>
          </a:prstGeom>
          <a:solidFill>
            <a:srgbClr val="9ADCEA"/>
          </a:solidFill>
          <a:ln w="12700">
            <a:solidFill>
              <a:srgbClr val="9ADCEA"/>
            </a:solidFill>
            <a:prstDash val="solid"/>
          </a:ln>
        </p:spPr>
      </p:sp>
      <p:sp>
        <p:nvSpPr>
          <p:cNvPr id="58" name="Shape 47"/>
          <p:cNvSpPr/>
          <p:nvPr/>
        </p:nvSpPr>
        <p:spPr>
          <a:xfrm>
            <a:off x="7927848" y="4443070"/>
            <a:ext cx="137160" cy="83210"/>
          </a:xfrm>
          <a:prstGeom prst="roundRect">
            <a:avLst>
              <a:gd name="adj" fmla="val 32967"/>
            </a:avLst>
          </a:prstGeom>
          <a:solidFill>
            <a:srgbClr val="9ADCEA"/>
          </a:solidFill>
          <a:ln w="12700">
            <a:solidFill>
              <a:srgbClr val="9ADCEA"/>
            </a:solidFill>
            <a:prstDash val="solid"/>
          </a:ln>
        </p:spPr>
      </p:sp>
      <p:sp>
        <p:nvSpPr>
          <p:cNvPr id="59" name="Shape 48"/>
          <p:cNvSpPr/>
          <p:nvPr/>
        </p:nvSpPr>
        <p:spPr>
          <a:xfrm>
            <a:off x="8138160" y="4466844"/>
            <a:ext cx="137160" cy="59436"/>
          </a:xfrm>
          <a:prstGeom prst="roundRect">
            <a:avLst>
              <a:gd name="adj" fmla="val 46154"/>
            </a:avLst>
          </a:prstGeom>
          <a:solidFill>
            <a:srgbClr val="9ADCEA"/>
          </a:solidFill>
          <a:ln w="12700">
            <a:solidFill>
              <a:srgbClr val="9ADCEA"/>
            </a:solidFill>
            <a:prstDash val="solid"/>
          </a:ln>
        </p:spPr>
      </p:sp>
      <p:sp>
        <p:nvSpPr>
          <p:cNvPr id="60" name="Shape 49"/>
          <p:cNvSpPr/>
          <p:nvPr/>
        </p:nvSpPr>
        <p:spPr>
          <a:xfrm>
            <a:off x="8348472" y="4454957"/>
            <a:ext cx="137160" cy="71323"/>
          </a:xfrm>
          <a:prstGeom prst="roundRect">
            <a:avLst>
              <a:gd name="adj" fmla="val 38462"/>
            </a:avLst>
          </a:prstGeom>
          <a:solidFill>
            <a:srgbClr val="9ADCEA"/>
          </a:solidFill>
          <a:ln w="12700">
            <a:solidFill>
              <a:srgbClr val="9ADCEA"/>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9"/>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0E9AA7"/>
                </a:solidFill>
                <a:latin typeface="Arial" pitchFamily="34" charset="0"/>
                <a:ea typeface="Arial" pitchFamily="34" charset="-122"/>
                <a:cs typeface="Arial" pitchFamily="34" charset="-120"/>
              </a:rPr>
              <a:t>ЭЛЕКТРИЧЕСКОЕ ПОЛЕ</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0B1F3A"/>
                </a:solidFill>
                <a:latin typeface="Arial" pitchFamily="34" charset="0"/>
                <a:ea typeface="Arial" pitchFamily="34" charset="-122"/>
                <a:cs typeface="Arial" pitchFamily="34" charset="-120"/>
              </a:rPr>
              <a:t>Как работает электрический экран</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64748B"/>
                </a:solidFill>
                <a:latin typeface="Arial" pitchFamily="34" charset="0"/>
                <a:ea typeface="Arial" pitchFamily="34" charset="-122"/>
                <a:cs typeface="Arial" pitchFamily="34" charset="-120"/>
              </a:rPr>
              <a:t>02</a:t>
            </a:r>
            <a:endParaRPr lang="en-US" sz="800" dirty="0"/>
          </a:p>
        </p:txBody>
      </p:sp>
      <p:pic>
        <p:nvPicPr>
          <p:cNvPr id="7" name="Image 0" descr="preencoded.png">    </p:cNvPr>
          <p:cNvPicPr>
            <a:picLocks noChangeAspect="1"/>
          </p:cNvPicPr>
          <p:nvPr/>
        </p:nvPicPr>
        <p:blipFill>
          <a:blip r:embed="rId1"/>
          <a:stretch>
            <a:fillRect/>
          </a:stretch>
        </p:blipFill>
        <p:spPr>
          <a:xfrm>
            <a:off x="457200" y="1280160"/>
            <a:ext cx="4846320" cy="2926080"/>
          </a:xfrm>
          <a:prstGeom prst="rect">
            <a:avLst/>
          </a:prstGeom>
        </p:spPr>
      </p:pic>
      <p:sp>
        <p:nvSpPr>
          <p:cNvPr id="8" name="Shape 4"/>
          <p:cNvSpPr/>
          <p:nvPr/>
        </p:nvSpPr>
        <p:spPr>
          <a:xfrm>
            <a:off x="640080" y="3813048"/>
            <a:ext cx="1737360" cy="292608"/>
          </a:xfrm>
          <a:prstGeom prst="roundRect">
            <a:avLst>
              <a:gd name="adj" fmla="val 50000"/>
            </a:avLst>
          </a:prstGeom>
          <a:solidFill>
            <a:srgbClr val="0B1F3A"/>
          </a:solidFill>
          <a:ln w="12700">
            <a:solidFill>
              <a:srgbClr val="0B1F3A"/>
            </a:solidFill>
            <a:prstDash val="solid"/>
          </a:ln>
        </p:spPr>
      </p:sp>
      <p:sp>
        <p:nvSpPr>
          <p:cNvPr id="9" name="Text 5"/>
          <p:cNvSpPr txBox="1"/>
          <p:nvPr/>
        </p:nvSpPr>
        <p:spPr>
          <a:xfrm>
            <a:off x="640080" y="3813048"/>
            <a:ext cx="173736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Клетка Фарадея</a:t>
            </a:r>
            <a:endParaRPr lang="en-US" sz="1050" dirty="0"/>
          </a:p>
        </p:txBody>
      </p:sp>
      <p:sp>
        <p:nvSpPr>
          <p:cNvPr id="10" name="Shape 6"/>
          <p:cNvSpPr/>
          <p:nvPr/>
        </p:nvSpPr>
        <p:spPr>
          <a:xfrm>
            <a:off x="5577840" y="1280160"/>
            <a:ext cx="3108960" cy="731520"/>
          </a:xfrm>
          <a:prstGeom prst="roundRect">
            <a:avLst>
              <a:gd name="adj" fmla="val 1000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11" name="Shape 7"/>
          <p:cNvSpPr/>
          <p:nvPr/>
        </p:nvSpPr>
        <p:spPr>
          <a:xfrm>
            <a:off x="5715000" y="1463040"/>
            <a:ext cx="365760" cy="365760"/>
          </a:xfrm>
          <a:prstGeom prst="ellipse">
            <a:avLst/>
          </a:prstGeom>
          <a:solidFill>
            <a:srgbClr val="0B1F3A"/>
          </a:solidFill>
          <a:ln w="12700">
            <a:solidFill>
              <a:srgbClr val="0B1F3A"/>
            </a:solidFill>
            <a:prstDash val="solid"/>
          </a:ln>
        </p:spPr>
      </p:sp>
      <p:sp>
        <p:nvSpPr>
          <p:cNvPr id="12" name="Text 8"/>
          <p:cNvSpPr txBox="1"/>
          <p:nvPr/>
        </p:nvSpPr>
        <p:spPr>
          <a:xfrm>
            <a:off x="5715000" y="14630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3" name="Text 9"/>
          <p:cNvSpPr txBox="1"/>
          <p:nvPr/>
        </p:nvSpPr>
        <p:spPr>
          <a:xfrm>
            <a:off x="6217920" y="1371600"/>
            <a:ext cx="2377440" cy="228600"/>
          </a:xfrm>
          <a:prstGeom prst="rect">
            <a:avLst/>
          </a:prstGeom>
          <a:noFill/>
          <a:ln/>
        </p:spPr>
        <p:txBody>
          <a:bodyPr wrap="square" lIns="0" tIns="0" rIns="0" bIns="0" rtlCol="0" anchor="t"/>
          <a:lstStyle/>
          <a:p>
            <a:pPr indent="0" marL="0">
              <a:buNone/>
            </a:pPr>
            <a:r>
              <a:rPr lang="en-US" sz="1200" b="1" dirty="0">
                <a:solidFill>
                  <a:srgbClr val="0B1F3A"/>
                </a:solidFill>
                <a:latin typeface="Arial" pitchFamily="34" charset="0"/>
                <a:ea typeface="Arial" pitchFamily="34" charset="-122"/>
                <a:cs typeface="Arial" pitchFamily="34" charset="-120"/>
              </a:rPr>
              <a:t>Внешнее поле</a:t>
            </a:r>
            <a:endParaRPr lang="en-US" sz="1200" dirty="0"/>
          </a:p>
        </p:txBody>
      </p:sp>
      <p:sp>
        <p:nvSpPr>
          <p:cNvPr id="14" name="Text 10"/>
          <p:cNvSpPr txBox="1"/>
          <p:nvPr/>
        </p:nvSpPr>
        <p:spPr>
          <a:xfrm>
            <a:off x="6217920" y="1609344"/>
            <a:ext cx="2377440" cy="347472"/>
          </a:xfrm>
          <a:prstGeom prst="rect">
            <a:avLst/>
          </a:prstGeom>
          <a:noFill/>
          <a:ln/>
        </p:spPr>
        <p:txBody>
          <a:bodyPr wrap="square" lIns="0" tIns="0" rIns="0" bIns="0" rtlCol="0" anchor="t"/>
          <a:lstStyle/>
          <a:p>
            <a:pPr indent="0" marL="0">
              <a:buNone/>
            </a:pPr>
            <a:r>
              <a:rPr lang="en-US" sz="950" dirty="0">
                <a:solidFill>
                  <a:srgbClr val="64748B"/>
                </a:solidFill>
                <a:latin typeface="Arial" pitchFamily="34" charset="0"/>
                <a:ea typeface="Arial" pitchFamily="34" charset="-122"/>
                <a:cs typeface="Arial" pitchFamily="34" charset="-120"/>
              </a:rPr>
              <a:t>действует на свободные заряды металла</a:t>
            </a:r>
            <a:endParaRPr lang="en-US" sz="950" dirty="0"/>
          </a:p>
        </p:txBody>
      </p:sp>
      <p:sp>
        <p:nvSpPr>
          <p:cNvPr id="15" name="Shape 11"/>
          <p:cNvSpPr/>
          <p:nvPr/>
        </p:nvSpPr>
        <p:spPr>
          <a:xfrm>
            <a:off x="5577840" y="2103120"/>
            <a:ext cx="3108960" cy="731520"/>
          </a:xfrm>
          <a:prstGeom prst="roundRect">
            <a:avLst>
              <a:gd name="adj" fmla="val 1000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16" name="Shape 12"/>
          <p:cNvSpPr/>
          <p:nvPr/>
        </p:nvSpPr>
        <p:spPr>
          <a:xfrm>
            <a:off x="5715000" y="2286000"/>
            <a:ext cx="365760" cy="365760"/>
          </a:xfrm>
          <a:prstGeom prst="ellipse">
            <a:avLst/>
          </a:prstGeom>
          <a:solidFill>
            <a:srgbClr val="0B1F3A"/>
          </a:solidFill>
          <a:ln w="12700">
            <a:solidFill>
              <a:srgbClr val="0B1F3A"/>
            </a:solidFill>
            <a:prstDash val="solid"/>
          </a:ln>
        </p:spPr>
      </p:sp>
      <p:sp>
        <p:nvSpPr>
          <p:cNvPr id="17" name="Text 13"/>
          <p:cNvSpPr txBox="1"/>
          <p:nvPr/>
        </p:nvSpPr>
        <p:spPr>
          <a:xfrm>
            <a:off x="5715000" y="2286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8" name="Text 14"/>
          <p:cNvSpPr txBox="1"/>
          <p:nvPr/>
        </p:nvSpPr>
        <p:spPr>
          <a:xfrm>
            <a:off x="6217920" y="2194560"/>
            <a:ext cx="2377440" cy="228600"/>
          </a:xfrm>
          <a:prstGeom prst="rect">
            <a:avLst/>
          </a:prstGeom>
          <a:noFill/>
          <a:ln/>
        </p:spPr>
        <p:txBody>
          <a:bodyPr wrap="square" lIns="0" tIns="0" rIns="0" bIns="0" rtlCol="0" anchor="t"/>
          <a:lstStyle/>
          <a:p>
            <a:pPr indent="0" marL="0">
              <a:buNone/>
            </a:pPr>
            <a:r>
              <a:rPr lang="en-US" sz="1200" b="1" dirty="0">
                <a:solidFill>
                  <a:srgbClr val="0B1F3A"/>
                </a:solidFill>
                <a:latin typeface="Arial" pitchFamily="34" charset="0"/>
                <a:ea typeface="Arial" pitchFamily="34" charset="-122"/>
                <a:cs typeface="Arial" pitchFamily="34" charset="-120"/>
              </a:rPr>
              <a:t>Перераспределение</a:t>
            </a:r>
            <a:endParaRPr lang="en-US" sz="1200" dirty="0"/>
          </a:p>
        </p:txBody>
      </p:sp>
      <p:sp>
        <p:nvSpPr>
          <p:cNvPr id="19" name="Text 15"/>
          <p:cNvSpPr txBox="1"/>
          <p:nvPr/>
        </p:nvSpPr>
        <p:spPr>
          <a:xfrm>
            <a:off x="6217920" y="2432304"/>
            <a:ext cx="2377440" cy="347472"/>
          </a:xfrm>
          <a:prstGeom prst="rect">
            <a:avLst/>
          </a:prstGeom>
          <a:noFill/>
          <a:ln/>
        </p:spPr>
        <p:txBody>
          <a:bodyPr wrap="square" lIns="0" tIns="0" rIns="0" bIns="0" rtlCol="0" anchor="t"/>
          <a:lstStyle/>
          <a:p>
            <a:pPr indent="0" marL="0">
              <a:buNone/>
            </a:pPr>
            <a:r>
              <a:rPr lang="en-US" sz="950" dirty="0">
                <a:solidFill>
                  <a:srgbClr val="64748B"/>
                </a:solidFill>
                <a:latin typeface="Arial" pitchFamily="34" charset="0"/>
                <a:ea typeface="Arial" pitchFamily="34" charset="-122"/>
                <a:cs typeface="Arial" pitchFamily="34" charset="-120"/>
              </a:rPr>
              <a:t>заряды смещаются к поверхности экрана</a:t>
            </a:r>
            <a:endParaRPr lang="en-US" sz="950" dirty="0"/>
          </a:p>
        </p:txBody>
      </p:sp>
      <p:sp>
        <p:nvSpPr>
          <p:cNvPr id="20" name="Shape 16"/>
          <p:cNvSpPr/>
          <p:nvPr/>
        </p:nvSpPr>
        <p:spPr>
          <a:xfrm>
            <a:off x="5577840" y="2926080"/>
            <a:ext cx="3108960" cy="731520"/>
          </a:xfrm>
          <a:prstGeom prst="roundRect">
            <a:avLst>
              <a:gd name="adj" fmla="val 1000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1" name="Shape 17"/>
          <p:cNvSpPr/>
          <p:nvPr/>
        </p:nvSpPr>
        <p:spPr>
          <a:xfrm>
            <a:off x="5715000" y="3108960"/>
            <a:ext cx="365760" cy="365760"/>
          </a:xfrm>
          <a:prstGeom prst="ellipse">
            <a:avLst/>
          </a:prstGeom>
          <a:solidFill>
            <a:srgbClr val="0B1F3A"/>
          </a:solidFill>
          <a:ln w="12700">
            <a:solidFill>
              <a:srgbClr val="0B1F3A"/>
            </a:solidFill>
            <a:prstDash val="solid"/>
          </a:ln>
        </p:spPr>
      </p:sp>
      <p:sp>
        <p:nvSpPr>
          <p:cNvPr id="22" name="Text 18"/>
          <p:cNvSpPr txBox="1"/>
          <p:nvPr/>
        </p:nvSpPr>
        <p:spPr>
          <a:xfrm>
            <a:off x="5715000" y="31089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3" name="Text 19"/>
          <p:cNvSpPr txBox="1"/>
          <p:nvPr/>
        </p:nvSpPr>
        <p:spPr>
          <a:xfrm>
            <a:off x="6217920" y="3017520"/>
            <a:ext cx="2377440" cy="228600"/>
          </a:xfrm>
          <a:prstGeom prst="rect">
            <a:avLst/>
          </a:prstGeom>
          <a:noFill/>
          <a:ln/>
        </p:spPr>
        <p:txBody>
          <a:bodyPr wrap="square" lIns="0" tIns="0" rIns="0" bIns="0" rtlCol="0" anchor="t"/>
          <a:lstStyle/>
          <a:p>
            <a:pPr indent="0" marL="0">
              <a:buNone/>
            </a:pPr>
            <a:r>
              <a:rPr lang="en-US" sz="1200" b="1" dirty="0">
                <a:solidFill>
                  <a:srgbClr val="0B1F3A"/>
                </a:solidFill>
                <a:latin typeface="Arial" pitchFamily="34" charset="0"/>
                <a:ea typeface="Arial" pitchFamily="34" charset="-122"/>
                <a:cs typeface="Arial" pitchFamily="34" charset="-120"/>
              </a:rPr>
              <a:t>Компенсация</a:t>
            </a:r>
            <a:endParaRPr lang="en-US" sz="1200" dirty="0"/>
          </a:p>
        </p:txBody>
      </p:sp>
      <p:sp>
        <p:nvSpPr>
          <p:cNvPr id="24" name="Text 20"/>
          <p:cNvSpPr txBox="1"/>
          <p:nvPr/>
        </p:nvSpPr>
        <p:spPr>
          <a:xfrm>
            <a:off x="6217920" y="3255264"/>
            <a:ext cx="2377440" cy="347472"/>
          </a:xfrm>
          <a:prstGeom prst="rect">
            <a:avLst/>
          </a:prstGeom>
          <a:noFill/>
          <a:ln/>
        </p:spPr>
        <p:txBody>
          <a:bodyPr wrap="square" lIns="0" tIns="0" rIns="0" bIns="0" rtlCol="0" anchor="t"/>
          <a:lstStyle/>
          <a:p>
            <a:pPr indent="0" marL="0">
              <a:buNone/>
            </a:pPr>
            <a:r>
              <a:rPr lang="en-US" sz="950" dirty="0">
                <a:solidFill>
                  <a:srgbClr val="64748B"/>
                </a:solidFill>
                <a:latin typeface="Arial" pitchFamily="34" charset="0"/>
                <a:ea typeface="Arial" pitchFamily="34" charset="-122"/>
                <a:cs typeface="Arial" pitchFamily="34" charset="-120"/>
              </a:rPr>
              <a:t>собственное поле зарядов гасит внешнее</a:t>
            </a:r>
            <a:endParaRPr lang="en-US" sz="950" dirty="0"/>
          </a:p>
        </p:txBody>
      </p:sp>
      <p:sp>
        <p:nvSpPr>
          <p:cNvPr id="25" name="Shape 21"/>
          <p:cNvSpPr/>
          <p:nvPr/>
        </p:nvSpPr>
        <p:spPr>
          <a:xfrm>
            <a:off x="5577840" y="3749040"/>
            <a:ext cx="3108960" cy="731520"/>
          </a:xfrm>
          <a:prstGeom prst="roundRect">
            <a:avLst>
              <a:gd name="adj" fmla="val 1000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6" name="Shape 22"/>
          <p:cNvSpPr/>
          <p:nvPr/>
        </p:nvSpPr>
        <p:spPr>
          <a:xfrm>
            <a:off x="5715000" y="3931920"/>
            <a:ext cx="365760" cy="365760"/>
          </a:xfrm>
          <a:prstGeom prst="ellipse">
            <a:avLst/>
          </a:prstGeom>
          <a:solidFill>
            <a:srgbClr val="0E9AA7"/>
          </a:solidFill>
          <a:ln w="12700">
            <a:solidFill>
              <a:srgbClr val="0B1F3A"/>
            </a:solidFill>
            <a:prstDash val="solid"/>
          </a:ln>
        </p:spPr>
      </p:sp>
      <p:sp>
        <p:nvSpPr>
          <p:cNvPr id="27" name="Text 23"/>
          <p:cNvSpPr txBox="1"/>
          <p:nvPr/>
        </p:nvSpPr>
        <p:spPr>
          <a:xfrm>
            <a:off x="5715000" y="3931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8" name="Text 24"/>
          <p:cNvSpPr txBox="1"/>
          <p:nvPr/>
        </p:nvSpPr>
        <p:spPr>
          <a:xfrm>
            <a:off x="6217920" y="3822192"/>
            <a:ext cx="2377440" cy="603504"/>
          </a:xfrm>
          <a:prstGeom prst="rect">
            <a:avLst/>
          </a:prstGeom>
          <a:noFill/>
          <a:ln/>
        </p:spPr>
        <p:txBody>
          <a:bodyPr wrap="square" lIns="0" tIns="0" rIns="0" bIns="0" rtlCol="0" anchor="ctr"/>
          <a:lstStyle/>
          <a:p>
            <a:pPr indent="0" marL="0">
              <a:buNone/>
            </a:pPr>
            <a:r>
              <a:rPr lang="en-US" sz="1400" b="1" dirty="0">
                <a:solidFill>
                  <a:srgbClr val="0B1F3A"/>
                </a:solidFill>
                <a:latin typeface="Arial" pitchFamily="34" charset="0"/>
                <a:ea typeface="Arial" pitchFamily="34" charset="-122"/>
                <a:cs typeface="Arial" pitchFamily="34" charset="-120"/>
              </a:rPr>
              <a:t>Внутри E ≈ 0</a:t>
            </a:r>
            <a:endParaRPr lang="en-US" sz="1400" dirty="0"/>
          </a:p>
          <a:p>
            <a:pPr indent="0" marL="0">
              <a:buNone/>
            </a:pPr>
            <a:r>
              <a:rPr lang="en-US" sz="950" dirty="0">
                <a:solidFill>
                  <a:srgbClr val="64748B"/>
                </a:solidFill>
                <a:latin typeface="Arial" pitchFamily="34" charset="0"/>
                <a:ea typeface="Arial" pitchFamily="34" charset="-122"/>
                <a:cs typeface="Arial" pitchFamily="34" charset="-120"/>
              </a:rPr>
              <a:t>внутри оболочки поля нет</a:t>
            </a:r>
            <a:endParaRPr lang="en-US" sz="1400" dirty="0"/>
          </a:p>
        </p:txBody>
      </p:sp>
      <p:sp>
        <p:nvSpPr>
          <p:cNvPr id="29" name="Shape 25"/>
          <p:cNvSpPr/>
          <p:nvPr/>
        </p:nvSpPr>
        <p:spPr>
          <a:xfrm>
            <a:off x="457200" y="4297680"/>
            <a:ext cx="4846320" cy="365760"/>
          </a:xfrm>
          <a:prstGeom prst="roundRect">
            <a:avLst>
              <a:gd name="adj" fmla="val 20000"/>
            </a:avLst>
          </a:prstGeom>
          <a:solidFill>
            <a:srgbClr val="E4F2F8"/>
          </a:solidFill>
          <a:ln w="12700">
            <a:solidFill>
              <a:srgbClr val="E4F2F8"/>
            </a:solidFill>
            <a:prstDash val="solid"/>
          </a:ln>
        </p:spPr>
      </p:sp>
      <p:sp>
        <p:nvSpPr>
          <p:cNvPr id="30" name="Text 26"/>
          <p:cNvSpPr txBox="1"/>
          <p:nvPr/>
        </p:nvSpPr>
        <p:spPr>
          <a:xfrm>
            <a:off x="594360" y="4297680"/>
            <a:ext cx="4572000" cy="365760"/>
          </a:xfrm>
          <a:prstGeom prst="rect">
            <a:avLst/>
          </a:prstGeom>
          <a:noFill/>
          <a:ln/>
        </p:spPr>
        <p:txBody>
          <a:bodyPr wrap="square" lIns="0" tIns="0" rIns="0" bIns="0" rtlCol="0" anchor="ctr"/>
          <a:lstStyle/>
          <a:p>
            <a:pPr indent="0" marL="0">
              <a:buNone/>
            </a:pPr>
            <a:r>
              <a:rPr lang="en-US" sz="1000" dirty="0">
                <a:solidFill>
                  <a:srgbClr val="0B1F3A"/>
                </a:solidFill>
                <a:latin typeface="Arial" pitchFamily="34" charset="0"/>
                <a:ea typeface="Arial" pitchFamily="34" charset="-122"/>
                <a:cs typeface="Arial" pitchFamily="34" charset="-120"/>
              </a:rPr>
              <a:t>Сетка работает как сплошной экран, если размер ячейки ≪ длины волны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6F9"/>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0E9AA7"/>
                </a:solidFill>
                <a:latin typeface="Arial" pitchFamily="34" charset="0"/>
                <a:ea typeface="Arial" pitchFamily="34" charset="-122"/>
                <a:cs typeface="Arial" pitchFamily="34" charset="-120"/>
              </a:rPr>
              <a:t>ЭЛЕКТРИЧЕСКОЕ ПОЛЕ</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0B1F3A"/>
                </a:solidFill>
                <a:latin typeface="Arial" pitchFamily="34" charset="0"/>
                <a:ea typeface="Arial" pitchFamily="34" charset="-122"/>
                <a:cs typeface="Arial" pitchFamily="34" charset="-120"/>
              </a:rPr>
              <a:t>Экранирование электрического поля</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64748B"/>
                </a:solidFill>
                <a:latin typeface="Arial" pitchFamily="34" charset="0"/>
                <a:ea typeface="Arial" pitchFamily="34" charset="-122"/>
                <a:cs typeface="Arial" pitchFamily="34" charset="-120"/>
              </a:rPr>
              <a:t>03</a:t>
            </a:r>
            <a:endParaRPr lang="en-US" sz="800" dirty="0"/>
          </a:p>
        </p:txBody>
      </p:sp>
      <p:sp>
        <p:nvSpPr>
          <p:cNvPr id="7" name="Shape 4"/>
          <p:cNvSpPr/>
          <p:nvPr/>
        </p:nvSpPr>
        <p:spPr>
          <a:xfrm>
            <a:off x="457200" y="1280160"/>
            <a:ext cx="2606040" cy="2011680"/>
          </a:xfrm>
          <a:prstGeom prst="roundRect">
            <a:avLst>
              <a:gd name="adj" fmla="val 3636"/>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8" name="Shape 5"/>
          <p:cNvSpPr/>
          <p:nvPr/>
        </p:nvSpPr>
        <p:spPr>
          <a:xfrm>
            <a:off x="594360" y="1508760"/>
            <a:ext cx="640080" cy="0"/>
          </a:xfrm>
          <a:prstGeom prst="line">
            <a:avLst/>
          </a:prstGeom>
          <a:noFill/>
          <a:ln w="19050">
            <a:solidFill>
              <a:srgbClr val="1FB6D4"/>
            </a:solidFill>
            <a:prstDash val="solid"/>
            <a:tailEnd type="triangle"/>
          </a:ln>
        </p:spPr>
      </p:sp>
      <p:sp>
        <p:nvSpPr>
          <p:cNvPr id="9" name="Shape 6"/>
          <p:cNvSpPr/>
          <p:nvPr/>
        </p:nvSpPr>
        <p:spPr>
          <a:xfrm>
            <a:off x="594360" y="1737360"/>
            <a:ext cx="640080" cy="0"/>
          </a:xfrm>
          <a:prstGeom prst="line">
            <a:avLst/>
          </a:prstGeom>
          <a:noFill/>
          <a:ln w="19050">
            <a:solidFill>
              <a:srgbClr val="1FB6D4"/>
            </a:solidFill>
            <a:prstDash val="solid"/>
            <a:tailEnd type="triangle"/>
          </a:ln>
        </p:spPr>
      </p:sp>
      <p:sp>
        <p:nvSpPr>
          <p:cNvPr id="10" name="Shape 7"/>
          <p:cNvSpPr/>
          <p:nvPr/>
        </p:nvSpPr>
        <p:spPr>
          <a:xfrm>
            <a:off x="594360" y="1965960"/>
            <a:ext cx="640080" cy="0"/>
          </a:xfrm>
          <a:prstGeom prst="line">
            <a:avLst/>
          </a:prstGeom>
          <a:noFill/>
          <a:ln w="19050">
            <a:solidFill>
              <a:srgbClr val="1FB6D4"/>
            </a:solidFill>
            <a:prstDash val="solid"/>
            <a:tailEnd type="triangle"/>
          </a:ln>
        </p:spPr>
      </p:sp>
      <p:sp>
        <p:nvSpPr>
          <p:cNvPr id="11" name="Shape 8"/>
          <p:cNvSpPr/>
          <p:nvPr/>
        </p:nvSpPr>
        <p:spPr>
          <a:xfrm>
            <a:off x="594360" y="2194560"/>
            <a:ext cx="640080" cy="0"/>
          </a:xfrm>
          <a:prstGeom prst="line">
            <a:avLst/>
          </a:prstGeom>
          <a:noFill/>
          <a:ln w="19050">
            <a:solidFill>
              <a:srgbClr val="1FB6D4"/>
            </a:solidFill>
            <a:prstDash val="solid"/>
            <a:tailEnd type="triangle"/>
          </a:ln>
        </p:spPr>
      </p:sp>
      <p:sp>
        <p:nvSpPr>
          <p:cNvPr id="12" name="Shape 9"/>
          <p:cNvSpPr/>
          <p:nvPr/>
        </p:nvSpPr>
        <p:spPr>
          <a:xfrm>
            <a:off x="594360" y="2423160"/>
            <a:ext cx="640080" cy="0"/>
          </a:xfrm>
          <a:prstGeom prst="line">
            <a:avLst/>
          </a:prstGeom>
          <a:noFill/>
          <a:ln w="19050">
            <a:solidFill>
              <a:srgbClr val="1FB6D4"/>
            </a:solidFill>
            <a:prstDash val="solid"/>
            <a:tailEnd type="triangle"/>
          </a:ln>
        </p:spPr>
      </p:sp>
      <p:sp>
        <p:nvSpPr>
          <p:cNvPr id="13" name="Shape 10"/>
          <p:cNvSpPr/>
          <p:nvPr/>
        </p:nvSpPr>
        <p:spPr>
          <a:xfrm>
            <a:off x="1280160" y="1417320"/>
            <a:ext cx="1005840" cy="1097280"/>
          </a:xfrm>
          <a:prstGeom prst="roundRect">
            <a:avLst>
              <a:gd name="adj" fmla="val 5455"/>
            </a:avLst>
          </a:prstGeom>
          <a:solidFill>
            <a:srgbClr val="FFFFFF"/>
          </a:solidFill>
          <a:ln w="44450">
            <a:solidFill>
              <a:srgbClr val="0B1F3A"/>
            </a:solidFill>
            <a:prstDash val="solid"/>
          </a:ln>
        </p:spPr>
      </p:sp>
      <p:pic>
        <p:nvPicPr>
          <p:cNvPr id="14" name="Image 0" descr="preencoded.png">    </p:cNvPr>
          <p:cNvPicPr>
            <a:picLocks noChangeAspect="1"/>
          </p:cNvPicPr>
          <p:nvPr/>
        </p:nvPicPr>
        <p:blipFill>
          <a:blip r:embed="rId1"/>
          <a:stretch>
            <a:fillRect/>
          </a:stretch>
        </p:blipFill>
        <p:spPr>
          <a:xfrm>
            <a:off x="1554480" y="1801368"/>
            <a:ext cx="457200" cy="329184"/>
          </a:xfrm>
          <a:prstGeom prst="rect">
            <a:avLst/>
          </a:prstGeom>
        </p:spPr>
      </p:pic>
      <p:sp>
        <p:nvSpPr>
          <p:cNvPr id="15" name="Shape 11"/>
          <p:cNvSpPr/>
          <p:nvPr/>
        </p:nvSpPr>
        <p:spPr>
          <a:xfrm>
            <a:off x="2331720" y="1508760"/>
            <a:ext cx="548640" cy="0"/>
          </a:xfrm>
          <a:prstGeom prst="line">
            <a:avLst/>
          </a:prstGeom>
          <a:noFill/>
          <a:ln w="12700">
            <a:solidFill>
              <a:srgbClr val="C9D4DF"/>
            </a:solidFill>
            <a:prstDash val="dash"/>
          </a:ln>
        </p:spPr>
      </p:sp>
      <p:sp>
        <p:nvSpPr>
          <p:cNvPr id="16" name="Shape 12"/>
          <p:cNvSpPr/>
          <p:nvPr/>
        </p:nvSpPr>
        <p:spPr>
          <a:xfrm>
            <a:off x="2331720" y="1737360"/>
            <a:ext cx="548640" cy="0"/>
          </a:xfrm>
          <a:prstGeom prst="line">
            <a:avLst/>
          </a:prstGeom>
          <a:noFill/>
          <a:ln w="12700">
            <a:solidFill>
              <a:srgbClr val="C9D4DF"/>
            </a:solidFill>
            <a:prstDash val="dash"/>
          </a:ln>
        </p:spPr>
      </p:sp>
      <p:sp>
        <p:nvSpPr>
          <p:cNvPr id="17" name="Shape 13"/>
          <p:cNvSpPr/>
          <p:nvPr/>
        </p:nvSpPr>
        <p:spPr>
          <a:xfrm>
            <a:off x="2331720" y="1965960"/>
            <a:ext cx="548640" cy="0"/>
          </a:xfrm>
          <a:prstGeom prst="line">
            <a:avLst/>
          </a:prstGeom>
          <a:noFill/>
          <a:ln w="12700">
            <a:solidFill>
              <a:srgbClr val="C9D4DF"/>
            </a:solidFill>
            <a:prstDash val="dash"/>
          </a:ln>
        </p:spPr>
      </p:sp>
      <p:sp>
        <p:nvSpPr>
          <p:cNvPr id="18" name="Shape 14"/>
          <p:cNvSpPr/>
          <p:nvPr/>
        </p:nvSpPr>
        <p:spPr>
          <a:xfrm>
            <a:off x="2331720" y="2194560"/>
            <a:ext cx="548640" cy="0"/>
          </a:xfrm>
          <a:prstGeom prst="line">
            <a:avLst/>
          </a:prstGeom>
          <a:noFill/>
          <a:ln w="12700">
            <a:solidFill>
              <a:srgbClr val="C9D4DF"/>
            </a:solidFill>
            <a:prstDash val="dash"/>
          </a:ln>
        </p:spPr>
      </p:sp>
      <p:sp>
        <p:nvSpPr>
          <p:cNvPr id="19" name="Shape 15"/>
          <p:cNvSpPr/>
          <p:nvPr/>
        </p:nvSpPr>
        <p:spPr>
          <a:xfrm>
            <a:off x="2331720" y="2423160"/>
            <a:ext cx="548640" cy="0"/>
          </a:xfrm>
          <a:prstGeom prst="line">
            <a:avLst/>
          </a:prstGeom>
          <a:noFill/>
          <a:ln w="12700">
            <a:solidFill>
              <a:srgbClr val="C9D4DF"/>
            </a:solidFill>
            <a:prstDash val="dash"/>
          </a:ln>
        </p:spPr>
      </p:sp>
      <p:sp>
        <p:nvSpPr>
          <p:cNvPr id="20" name="Text 16"/>
          <p:cNvSpPr txBox="1"/>
          <p:nvPr/>
        </p:nvSpPr>
        <p:spPr>
          <a:xfrm>
            <a:off x="594360" y="2697480"/>
            <a:ext cx="2331720" cy="228600"/>
          </a:xfrm>
          <a:prstGeom prst="rect">
            <a:avLst/>
          </a:prstGeom>
          <a:noFill/>
          <a:ln/>
        </p:spPr>
        <p:txBody>
          <a:bodyPr wrap="square" lIns="0" tIns="0" rIns="0" bIns="0" rtlCol="0" anchor="t"/>
          <a:lstStyle/>
          <a:p>
            <a:pPr indent="0" marL="0">
              <a:buNone/>
            </a:pPr>
            <a:r>
              <a:rPr lang="en-US" sz="1150" b="1" dirty="0">
                <a:solidFill>
                  <a:srgbClr val="0B1F3A"/>
                </a:solidFill>
                <a:latin typeface="Arial" pitchFamily="34" charset="0"/>
                <a:ea typeface="Arial" pitchFamily="34" charset="-122"/>
                <a:cs typeface="Arial" pitchFamily="34" charset="-120"/>
              </a:rPr>
              <a:t>Металлический корпус</a:t>
            </a:r>
            <a:endParaRPr lang="en-US" sz="1150" dirty="0"/>
          </a:p>
        </p:txBody>
      </p:sp>
      <p:sp>
        <p:nvSpPr>
          <p:cNvPr id="21" name="Text 17"/>
          <p:cNvSpPr txBox="1"/>
          <p:nvPr/>
        </p:nvSpPr>
        <p:spPr>
          <a:xfrm>
            <a:off x="594360" y="2944368"/>
            <a:ext cx="2331720" cy="228600"/>
          </a:xfrm>
          <a:prstGeom prst="rect">
            <a:avLst/>
          </a:prstGeom>
          <a:noFill/>
          <a:ln/>
        </p:spPr>
        <p:txBody>
          <a:bodyPr wrap="square" lIns="0" tIns="0" rIns="0" bIns="0" rtlCol="0" anchor="t"/>
          <a:lstStyle/>
          <a:p>
            <a:pPr indent="0" marL="0">
              <a:buNone/>
            </a:pPr>
            <a:r>
              <a:rPr lang="en-US" sz="950" dirty="0">
                <a:solidFill>
                  <a:srgbClr val="64748B"/>
                </a:solidFill>
                <a:latin typeface="Arial" pitchFamily="34" charset="0"/>
                <a:ea typeface="Arial" pitchFamily="34" charset="-122"/>
                <a:cs typeface="Arial" pitchFamily="34" charset="-120"/>
              </a:rPr>
              <a:t>не выпускает поле наружу</a:t>
            </a:r>
            <a:endParaRPr lang="en-US" sz="950" dirty="0"/>
          </a:p>
        </p:txBody>
      </p:sp>
      <p:sp>
        <p:nvSpPr>
          <p:cNvPr id="22" name="Shape 18"/>
          <p:cNvSpPr/>
          <p:nvPr/>
        </p:nvSpPr>
        <p:spPr>
          <a:xfrm>
            <a:off x="3268980" y="1280160"/>
            <a:ext cx="2606040" cy="2011680"/>
          </a:xfrm>
          <a:prstGeom prst="roundRect">
            <a:avLst>
              <a:gd name="adj" fmla="val 3636"/>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3" name="Shape 19"/>
          <p:cNvSpPr/>
          <p:nvPr/>
        </p:nvSpPr>
        <p:spPr>
          <a:xfrm>
            <a:off x="3543300" y="1371600"/>
            <a:ext cx="1188720" cy="1188720"/>
          </a:xfrm>
          <a:prstGeom prst="ellipse">
            <a:avLst/>
          </a:prstGeom>
          <a:solidFill>
            <a:srgbClr val="2B3440"/>
          </a:solidFill>
          <a:ln w="6350">
            <a:solidFill>
              <a:srgbClr val="2B3440"/>
            </a:solidFill>
            <a:prstDash val="solid"/>
          </a:ln>
        </p:spPr>
      </p:sp>
      <p:sp>
        <p:nvSpPr>
          <p:cNvPr id="24" name="Shape 20"/>
          <p:cNvSpPr/>
          <p:nvPr/>
        </p:nvSpPr>
        <p:spPr>
          <a:xfrm>
            <a:off x="3653028" y="1481328"/>
            <a:ext cx="969264" cy="969264"/>
          </a:xfrm>
          <a:prstGeom prst="ellipse">
            <a:avLst/>
          </a:prstGeom>
          <a:solidFill>
            <a:srgbClr val="C3CDD8"/>
          </a:solidFill>
          <a:ln w="19050">
            <a:solidFill>
              <a:srgbClr val="8794A3"/>
            </a:solidFill>
            <a:prstDash val="sysDash"/>
          </a:ln>
        </p:spPr>
      </p:sp>
      <p:sp>
        <p:nvSpPr>
          <p:cNvPr id="25" name="Shape 21"/>
          <p:cNvSpPr/>
          <p:nvPr/>
        </p:nvSpPr>
        <p:spPr>
          <a:xfrm>
            <a:off x="3744468" y="1572768"/>
            <a:ext cx="786384" cy="786384"/>
          </a:xfrm>
          <a:prstGeom prst="ellipse">
            <a:avLst/>
          </a:prstGeom>
          <a:solidFill>
            <a:srgbClr val="FFFFFF"/>
          </a:solidFill>
          <a:ln w="6350">
            <a:solidFill>
              <a:srgbClr val="FFFFFF"/>
            </a:solidFill>
            <a:prstDash val="solid"/>
          </a:ln>
        </p:spPr>
      </p:sp>
      <p:sp>
        <p:nvSpPr>
          <p:cNvPr id="26" name="Shape 22"/>
          <p:cNvSpPr/>
          <p:nvPr/>
        </p:nvSpPr>
        <p:spPr>
          <a:xfrm>
            <a:off x="3872484" y="1847088"/>
            <a:ext cx="237744" cy="237744"/>
          </a:xfrm>
          <a:prstGeom prst="ellipse">
            <a:avLst/>
          </a:prstGeom>
          <a:solidFill>
            <a:srgbClr val="0E9AA7"/>
          </a:solidFill>
          <a:ln w="12700">
            <a:solidFill>
              <a:srgbClr val="0B1F3A"/>
            </a:solidFill>
            <a:prstDash val="solid"/>
          </a:ln>
        </p:spPr>
      </p:sp>
      <p:sp>
        <p:nvSpPr>
          <p:cNvPr id="27" name="Shape 23"/>
          <p:cNvSpPr/>
          <p:nvPr/>
        </p:nvSpPr>
        <p:spPr>
          <a:xfrm>
            <a:off x="4165092" y="1847088"/>
            <a:ext cx="237744" cy="237744"/>
          </a:xfrm>
          <a:prstGeom prst="ellipse">
            <a:avLst/>
          </a:prstGeom>
          <a:solidFill>
            <a:srgbClr val="0E9AA7"/>
          </a:solidFill>
          <a:ln w="12700">
            <a:solidFill>
              <a:srgbClr val="0B1F3A"/>
            </a:solidFill>
            <a:prstDash val="solid"/>
          </a:ln>
        </p:spPr>
      </p:sp>
      <p:sp>
        <p:nvSpPr>
          <p:cNvPr id="28" name="Shape 24"/>
          <p:cNvSpPr/>
          <p:nvPr/>
        </p:nvSpPr>
        <p:spPr>
          <a:xfrm flipV="1">
            <a:off x="4640580" y="1417320"/>
            <a:ext cx="320040" cy="91440"/>
          </a:xfrm>
          <a:prstGeom prst="line">
            <a:avLst/>
          </a:prstGeom>
          <a:noFill/>
          <a:ln w="9525">
            <a:solidFill>
              <a:srgbClr val="64748B"/>
            </a:solidFill>
            <a:prstDash val="solid"/>
          </a:ln>
        </p:spPr>
      </p:sp>
      <p:sp>
        <p:nvSpPr>
          <p:cNvPr id="29" name="Text 25"/>
          <p:cNvSpPr txBox="1"/>
          <p:nvPr/>
        </p:nvSpPr>
        <p:spPr>
          <a:xfrm>
            <a:off x="5006340" y="1316736"/>
            <a:ext cx="822960" cy="201168"/>
          </a:xfrm>
          <a:prstGeom prst="rect">
            <a:avLst/>
          </a:prstGeom>
          <a:noFill/>
          <a:ln/>
        </p:spPr>
        <p:txBody>
          <a:bodyPr wrap="square" lIns="0" tIns="0" rIns="0" bIns="0" rtlCol="0" anchor="ctr"/>
          <a:lstStyle/>
          <a:p>
            <a:pPr indent="0" marL="0">
              <a:buNone/>
            </a:pPr>
            <a:r>
              <a:rPr lang="en-US" sz="900" dirty="0">
                <a:solidFill>
                  <a:srgbClr val="2B3440"/>
                </a:solidFill>
                <a:latin typeface="Arial" pitchFamily="34" charset="0"/>
                <a:ea typeface="Arial" pitchFamily="34" charset="-122"/>
                <a:cs typeface="Arial" pitchFamily="34" charset="-120"/>
              </a:rPr>
              <a:t>оболочка</a:t>
            </a:r>
            <a:endParaRPr lang="en-US" sz="900" dirty="0"/>
          </a:p>
        </p:txBody>
      </p:sp>
      <p:sp>
        <p:nvSpPr>
          <p:cNvPr id="30" name="Shape 26"/>
          <p:cNvSpPr/>
          <p:nvPr/>
        </p:nvSpPr>
        <p:spPr>
          <a:xfrm>
            <a:off x="4594860" y="1965960"/>
            <a:ext cx="365760" cy="0"/>
          </a:xfrm>
          <a:prstGeom prst="line">
            <a:avLst/>
          </a:prstGeom>
          <a:noFill/>
          <a:ln w="9525">
            <a:solidFill>
              <a:srgbClr val="64748B"/>
            </a:solidFill>
            <a:prstDash val="solid"/>
          </a:ln>
        </p:spPr>
      </p:sp>
      <p:sp>
        <p:nvSpPr>
          <p:cNvPr id="31" name="Text 27"/>
          <p:cNvSpPr txBox="1"/>
          <p:nvPr/>
        </p:nvSpPr>
        <p:spPr>
          <a:xfrm>
            <a:off x="5006340" y="1865376"/>
            <a:ext cx="822960" cy="201168"/>
          </a:xfrm>
          <a:prstGeom prst="rect">
            <a:avLst/>
          </a:prstGeom>
          <a:noFill/>
          <a:ln/>
        </p:spPr>
        <p:txBody>
          <a:bodyPr wrap="square" lIns="0" tIns="0" rIns="0" bIns="0" rtlCol="0" anchor="ctr"/>
          <a:lstStyle/>
          <a:p>
            <a:pPr indent="0" marL="0">
              <a:buNone/>
            </a:pPr>
            <a:r>
              <a:rPr lang="en-US" sz="900" dirty="0">
                <a:solidFill>
                  <a:srgbClr val="2B3440"/>
                </a:solidFill>
                <a:latin typeface="Arial" pitchFamily="34" charset="0"/>
                <a:ea typeface="Arial" pitchFamily="34" charset="-122"/>
                <a:cs typeface="Arial" pitchFamily="34" charset="-120"/>
              </a:rPr>
              <a:t>экран (оплётка)</a:t>
            </a:r>
            <a:endParaRPr lang="en-US" sz="900" dirty="0"/>
          </a:p>
        </p:txBody>
      </p:sp>
      <p:sp>
        <p:nvSpPr>
          <p:cNvPr id="32" name="Shape 28"/>
          <p:cNvSpPr/>
          <p:nvPr/>
        </p:nvSpPr>
        <p:spPr>
          <a:xfrm>
            <a:off x="4265676" y="2039112"/>
            <a:ext cx="694944" cy="475488"/>
          </a:xfrm>
          <a:prstGeom prst="line">
            <a:avLst/>
          </a:prstGeom>
          <a:noFill/>
          <a:ln w="9525">
            <a:solidFill>
              <a:srgbClr val="64748B"/>
            </a:solidFill>
            <a:prstDash val="solid"/>
          </a:ln>
        </p:spPr>
      </p:sp>
      <p:sp>
        <p:nvSpPr>
          <p:cNvPr id="33" name="Text 29"/>
          <p:cNvSpPr txBox="1"/>
          <p:nvPr/>
        </p:nvSpPr>
        <p:spPr>
          <a:xfrm>
            <a:off x="5006340" y="2414016"/>
            <a:ext cx="822960" cy="201168"/>
          </a:xfrm>
          <a:prstGeom prst="rect">
            <a:avLst/>
          </a:prstGeom>
          <a:noFill/>
          <a:ln/>
        </p:spPr>
        <p:txBody>
          <a:bodyPr wrap="square" lIns="0" tIns="0" rIns="0" bIns="0" rtlCol="0" anchor="ctr"/>
          <a:lstStyle/>
          <a:p>
            <a:pPr indent="0" marL="0">
              <a:buNone/>
            </a:pPr>
            <a:r>
              <a:rPr lang="en-US" sz="900" dirty="0">
                <a:solidFill>
                  <a:srgbClr val="2B3440"/>
                </a:solidFill>
                <a:latin typeface="Arial" pitchFamily="34" charset="0"/>
                <a:ea typeface="Arial" pitchFamily="34" charset="-122"/>
                <a:cs typeface="Arial" pitchFamily="34" charset="-120"/>
              </a:rPr>
              <a:t>жилы</a:t>
            </a:r>
            <a:endParaRPr lang="en-US" sz="900" dirty="0"/>
          </a:p>
        </p:txBody>
      </p:sp>
      <p:sp>
        <p:nvSpPr>
          <p:cNvPr id="34" name="Text 30"/>
          <p:cNvSpPr txBox="1"/>
          <p:nvPr/>
        </p:nvSpPr>
        <p:spPr>
          <a:xfrm>
            <a:off x="3406140" y="2697480"/>
            <a:ext cx="2331720" cy="228600"/>
          </a:xfrm>
          <a:prstGeom prst="rect">
            <a:avLst/>
          </a:prstGeom>
          <a:noFill/>
          <a:ln/>
        </p:spPr>
        <p:txBody>
          <a:bodyPr wrap="square" lIns="0" tIns="0" rIns="0" bIns="0" rtlCol="0" anchor="t"/>
          <a:lstStyle/>
          <a:p>
            <a:pPr indent="0" marL="0">
              <a:buNone/>
            </a:pPr>
            <a:r>
              <a:rPr lang="en-US" sz="1150" b="1" dirty="0">
                <a:solidFill>
                  <a:srgbClr val="0B1F3A"/>
                </a:solidFill>
                <a:latin typeface="Arial" pitchFamily="34" charset="0"/>
                <a:ea typeface="Arial" pitchFamily="34" charset="-122"/>
                <a:cs typeface="Arial" pitchFamily="34" charset="-120"/>
              </a:rPr>
              <a:t>Экранированный кабель</a:t>
            </a:r>
            <a:endParaRPr lang="en-US" sz="1150" dirty="0"/>
          </a:p>
        </p:txBody>
      </p:sp>
      <p:sp>
        <p:nvSpPr>
          <p:cNvPr id="35" name="Text 31"/>
          <p:cNvSpPr txBox="1"/>
          <p:nvPr/>
        </p:nvSpPr>
        <p:spPr>
          <a:xfrm>
            <a:off x="3406140" y="2944368"/>
            <a:ext cx="2331720" cy="228600"/>
          </a:xfrm>
          <a:prstGeom prst="rect">
            <a:avLst/>
          </a:prstGeom>
          <a:noFill/>
          <a:ln/>
        </p:spPr>
        <p:txBody>
          <a:bodyPr wrap="square" lIns="0" tIns="0" rIns="0" bIns="0" rtlCol="0" anchor="t"/>
          <a:lstStyle/>
          <a:p>
            <a:pPr indent="0" marL="0">
              <a:buNone/>
            </a:pPr>
            <a:r>
              <a:rPr lang="en-US" sz="950" dirty="0">
                <a:solidFill>
                  <a:srgbClr val="64748B"/>
                </a:solidFill>
                <a:latin typeface="Arial" pitchFamily="34" charset="0"/>
                <a:ea typeface="Arial" pitchFamily="34" charset="-122"/>
                <a:cs typeface="Arial" pitchFamily="34" charset="-120"/>
              </a:rPr>
              <a:t>оплётка или фольга вокруг жил</a:t>
            </a:r>
            <a:endParaRPr lang="en-US" sz="950" dirty="0"/>
          </a:p>
        </p:txBody>
      </p:sp>
      <p:sp>
        <p:nvSpPr>
          <p:cNvPr id="36" name="Shape 32"/>
          <p:cNvSpPr/>
          <p:nvPr/>
        </p:nvSpPr>
        <p:spPr>
          <a:xfrm>
            <a:off x="6080760" y="1280160"/>
            <a:ext cx="2606040" cy="2011680"/>
          </a:xfrm>
          <a:prstGeom prst="roundRect">
            <a:avLst>
              <a:gd name="adj" fmla="val 3636"/>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37" name="Shape 33"/>
          <p:cNvSpPr/>
          <p:nvPr/>
        </p:nvSpPr>
        <p:spPr>
          <a:xfrm>
            <a:off x="6217920" y="1572768"/>
            <a:ext cx="694944" cy="0"/>
          </a:xfrm>
          <a:prstGeom prst="line">
            <a:avLst/>
          </a:prstGeom>
          <a:noFill/>
          <a:ln w="19050">
            <a:solidFill>
              <a:srgbClr val="1FB6D4"/>
            </a:solidFill>
            <a:prstDash val="solid"/>
            <a:tailEnd type="triangle"/>
          </a:ln>
        </p:spPr>
      </p:sp>
      <p:sp>
        <p:nvSpPr>
          <p:cNvPr id="38" name="Shape 34"/>
          <p:cNvSpPr/>
          <p:nvPr/>
        </p:nvSpPr>
        <p:spPr>
          <a:xfrm>
            <a:off x="6217920" y="1773936"/>
            <a:ext cx="694944" cy="0"/>
          </a:xfrm>
          <a:prstGeom prst="line">
            <a:avLst/>
          </a:prstGeom>
          <a:noFill/>
          <a:ln w="19050">
            <a:solidFill>
              <a:srgbClr val="1FB6D4"/>
            </a:solidFill>
            <a:prstDash val="solid"/>
            <a:tailEnd type="triangle"/>
          </a:ln>
        </p:spPr>
      </p:sp>
      <p:sp>
        <p:nvSpPr>
          <p:cNvPr id="39" name="Shape 35"/>
          <p:cNvSpPr/>
          <p:nvPr/>
        </p:nvSpPr>
        <p:spPr>
          <a:xfrm>
            <a:off x="6217920" y="1975104"/>
            <a:ext cx="694944" cy="0"/>
          </a:xfrm>
          <a:prstGeom prst="line">
            <a:avLst/>
          </a:prstGeom>
          <a:noFill/>
          <a:ln w="19050">
            <a:solidFill>
              <a:srgbClr val="1FB6D4"/>
            </a:solidFill>
            <a:prstDash val="solid"/>
            <a:tailEnd type="triangle"/>
          </a:ln>
        </p:spPr>
      </p:sp>
      <p:sp>
        <p:nvSpPr>
          <p:cNvPr id="40" name="Shape 36"/>
          <p:cNvSpPr/>
          <p:nvPr/>
        </p:nvSpPr>
        <p:spPr>
          <a:xfrm>
            <a:off x="6217920" y="2176272"/>
            <a:ext cx="694944" cy="0"/>
          </a:xfrm>
          <a:prstGeom prst="line">
            <a:avLst/>
          </a:prstGeom>
          <a:noFill/>
          <a:ln w="19050">
            <a:solidFill>
              <a:srgbClr val="1FB6D4"/>
            </a:solidFill>
            <a:prstDash val="solid"/>
            <a:tailEnd type="triangle"/>
          </a:ln>
        </p:spPr>
      </p:sp>
      <p:sp>
        <p:nvSpPr>
          <p:cNvPr id="41" name="Shape 37"/>
          <p:cNvSpPr/>
          <p:nvPr/>
        </p:nvSpPr>
        <p:spPr>
          <a:xfrm>
            <a:off x="6949440" y="1417320"/>
            <a:ext cx="1554480" cy="914400"/>
          </a:xfrm>
          <a:prstGeom prst="rect">
            <a:avLst/>
          </a:prstGeom>
          <a:solidFill>
            <a:srgbClr val="FFFFFF"/>
          </a:solidFill>
          <a:ln w="44450">
            <a:solidFill>
              <a:srgbClr val="0E9AA7"/>
            </a:solidFill>
            <a:prstDash val="solid"/>
          </a:ln>
        </p:spPr>
      </p:sp>
      <p:sp>
        <p:nvSpPr>
          <p:cNvPr id="42" name="Shape 38"/>
          <p:cNvSpPr/>
          <p:nvPr/>
        </p:nvSpPr>
        <p:spPr>
          <a:xfrm>
            <a:off x="7150608" y="1645920"/>
            <a:ext cx="292608" cy="502920"/>
          </a:xfrm>
          <a:prstGeom prst="roundRect">
            <a:avLst>
              <a:gd name="adj" fmla="val 9375"/>
            </a:avLst>
          </a:prstGeom>
          <a:solidFill>
            <a:srgbClr val="0B1F3A"/>
          </a:solidFill>
          <a:ln w="12700">
            <a:solidFill>
              <a:srgbClr val="0B1F3A"/>
            </a:solidFill>
            <a:prstDash val="solid"/>
          </a:ln>
        </p:spPr>
      </p:sp>
      <p:sp>
        <p:nvSpPr>
          <p:cNvPr id="43" name="Shape 39"/>
          <p:cNvSpPr/>
          <p:nvPr/>
        </p:nvSpPr>
        <p:spPr>
          <a:xfrm>
            <a:off x="7498080" y="1645920"/>
            <a:ext cx="292608" cy="502920"/>
          </a:xfrm>
          <a:prstGeom prst="roundRect">
            <a:avLst>
              <a:gd name="adj" fmla="val 9375"/>
            </a:avLst>
          </a:prstGeom>
          <a:solidFill>
            <a:srgbClr val="0B1F3A"/>
          </a:solidFill>
          <a:ln w="12700">
            <a:solidFill>
              <a:srgbClr val="0B1F3A"/>
            </a:solidFill>
            <a:prstDash val="solid"/>
          </a:ln>
        </p:spPr>
      </p:sp>
      <p:sp>
        <p:nvSpPr>
          <p:cNvPr id="44" name="Shape 40"/>
          <p:cNvSpPr/>
          <p:nvPr/>
        </p:nvSpPr>
        <p:spPr>
          <a:xfrm>
            <a:off x="7845552" y="1645920"/>
            <a:ext cx="292608" cy="502920"/>
          </a:xfrm>
          <a:prstGeom prst="roundRect">
            <a:avLst>
              <a:gd name="adj" fmla="val 9375"/>
            </a:avLst>
          </a:prstGeom>
          <a:solidFill>
            <a:srgbClr val="0B1F3A"/>
          </a:solidFill>
          <a:ln w="12700">
            <a:solidFill>
              <a:srgbClr val="0B1F3A"/>
            </a:solidFill>
            <a:prstDash val="solid"/>
          </a:ln>
        </p:spPr>
      </p:sp>
      <p:sp>
        <p:nvSpPr>
          <p:cNvPr id="45" name="Shape 41"/>
          <p:cNvSpPr/>
          <p:nvPr/>
        </p:nvSpPr>
        <p:spPr>
          <a:xfrm>
            <a:off x="8485632" y="1691640"/>
            <a:ext cx="54864" cy="548640"/>
          </a:xfrm>
          <a:prstGeom prst="rect">
            <a:avLst/>
          </a:prstGeom>
          <a:solidFill>
            <a:srgbClr val="E4F2F8"/>
          </a:solidFill>
          <a:ln w="12700">
            <a:solidFill>
              <a:srgbClr val="0E9AA7"/>
            </a:solidFill>
            <a:prstDash val="solid"/>
          </a:ln>
        </p:spPr>
      </p:sp>
      <p:sp>
        <p:nvSpPr>
          <p:cNvPr id="46" name="Shape 42"/>
          <p:cNvSpPr/>
          <p:nvPr/>
        </p:nvSpPr>
        <p:spPr>
          <a:xfrm>
            <a:off x="7223760" y="2331720"/>
            <a:ext cx="0" cy="164592"/>
          </a:xfrm>
          <a:prstGeom prst="line">
            <a:avLst/>
          </a:prstGeom>
          <a:noFill/>
          <a:ln w="19050">
            <a:solidFill>
              <a:srgbClr val="2B3440"/>
            </a:solidFill>
            <a:prstDash val="solid"/>
          </a:ln>
        </p:spPr>
      </p:sp>
      <p:sp>
        <p:nvSpPr>
          <p:cNvPr id="47" name="Shape 43"/>
          <p:cNvSpPr/>
          <p:nvPr/>
        </p:nvSpPr>
        <p:spPr>
          <a:xfrm>
            <a:off x="7077456" y="2496312"/>
            <a:ext cx="292608" cy="0"/>
          </a:xfrm>
          <a:prstGeom prst="line">
            <a:avLst/>
          </a:prstGeom>
          <a:noFill/>
          <a:ln w="19050">
            <a:solidFill>
              <a:srgbClr val="2B3440"/>
            </a:solidFill>
            <a:prstDash val="solid"/>
          </a:ln>
        </p:spPr>
      </p:sp>
      <p:sp>
        <p:nvSpPr>
          <p:cNvPr id="48" name="Shape 44"/>
          <p:cNvSpPr/>
          <p:nvPr/>
        </p:nvSpPr>
        <p:spPr>
          <a:xfrm>
            <a:off x="7132320" y="2542032"/>
            <a:ext cx="182880" cy="0"/>
          </a:xfrm>
          <a:prstGeom prst="line">
            <a:avLst/>
          </a:prstGeom>
          <a:noFill/>
          <a:ln w="19050">
            <a:solidFill>
              <a:srgbClr val="2B3440"/>
            </a:solidFill>
            <a:prstDash val="solid"/>
          </a:ln>
        </p:spPr>
      </p:sp>
      <p:sp>
        <p:nvSpPr>
          <p:cNvPr id="49" name="Shape 45"/>
          <p:cNvSpPr/>
          <p:nvPr/>
        </p:nvSpPr>
        <p:spPr>
          <a:xfrm>
            <a:off x="7182612" y="2587752"/>
            <a:ext cx="82296" cy="0"/>
          </a:xfrm>
          <a:prstGeom prst="line">
            <a:avLst/>
          </a:prstGeom>
          <a:noFill/>
          <a:ln w="19050">
            <a:solidFill>
              <a:srgbClr val="2B3440"/>
            </a:solidFill>
            <a:prstDash val="solid"/>
          </a:ln>
        </p:spPr>
      </p:sp>
      <p:sp>
        <p:nvSpPr>
          <p:cNvPr id="50" name="Text 46"/>
          <p:cNvSpPr txBox="1"/>
          <p:nvPr/>
        </p:nvSpPr>
        <p:spPr>
          <a:xfrm>
            <a:off x="6217920" y="2697480"/>
            <a:ext cx="2331720" cy="228600"/>
          </a:xfrm>
          <a:prstGeom prst="rect">
            <a:avLst/>
          </a:prstGeom>
          <a:noFill/>
          <a:ln/>
        </p:spPr>
        <p:txBody>
          <a:bodyPr wrap="square" lIns="0" tIns="0" rIns="0" bIns="0" rtlCol="0" anchor="t"/>
          <a:lstStyle/>
          <a:p>
            <a:pPr indent="0" marL="0">
              <a:buNone/>
            </a:pPr>
            <a:r>
              <a:rPr lang="en-US" sz="1150" b="1" dirty="0">
                <a:solidFill>
                  <a:srgbClr val="0B1F3A"/>
                </a:solidFill>
                <a:latin typeface="Arial" pitchFamily="34" charset="0"/>
                <a:ea typeface="Arial" pitchFamily="34" charset="-122"/>
                <a:cs typeface="Arial" pitchFamily="34" charset="-120"/>
              </a:rPr>
              <a:t>Экранированное помещение</a:t>
            </a:r>
            <a:endParaRPr lang="en-US" sz="1150" dirty="0"/>
          </a:p>
        </p:txBody>
      </p:sp>
      <p:sp>
        <p:nvSpPr>
          <p:cNvPr id="51" name="Text 47"/>
          <p:cNvSpPr txBox="1"/>
          <p:nvPr/>
        </p:nvSpPr>
        <p:spPr>
          <a:xfrm>
            <a:off x="6217920" y="2944368"/>
            <a:ext cx="2331720" cy="228600"/>
          </a:xfrm>
          <a:prstGeom prst="rect">
            <a:avLst/>
          </a:prstGeom>
          <a:noFill/>
          <a:ln/>
        </p:spPr>
        <p:txBody>
          <a:bodyPr wrap="square" lIns="0" tIns="0" rIns="0" bIns="0" rtlCol="0" anchor="t"/>
          <a:lstStyle/>
          <a:p>
            <a:pPr indent="0" marL="0">
              <a:buNone/>
            </a:pPr>
            <a:r>
              <a:rPr lang="en-US" sz="950" dirty="0">
                <a:solidFill>
                  <a:srgbClr val="64748B"/>
                </a:solidFill>
                <a:latin typeface="Arial" pitchFamily="34" charset="0"/>
                <a:ea typeface="Arial" pitchFamily="34" charset="-122"/>
                <a:cs typeface="Arial" pitchFamily="34" charset="-120"/>
              </a:rPr>
              <a:t>клетка Фарадея с заземлением</a:t>
            </a:r>
            <a:endParaRPr lang="en-US" sz="950" dirty="0"/>
          </a:p>
        </p:txBody>
      </p:sp>
      <p:sp>
        <p:nvSpPr>
          <p:cNvPr id="52" name="Text 48"/>
          <p:cNvSpPr txBox="1"/>
          <p:nvPr/>
        </p:nvSpPr>
        <p:spPr>
          <a:xfrm>
            <a:off x="457200" y="3429000"/>
            <a:ext cx="4572000" cy="182880"/>
          </a:xfrm>
          <a:prstGeom prst="rect">
            <a:avLst/>
          </a:prstGeom>
          <a:noFill/>
          <a:ln/>
        </p:spPr>
        <p:txBody>
          <a:bodyPr wrap="square" lIns="0" tIns="0" rIns="0" bIns="0" rtlCol="0" anchor="t"/>
          <a:lstStyle/>
          <a:p>
            <a:pPr indent="0" marL="0">
              <a:buNone/>
            </a:pPr>
            <a:r>
              <a:rPr lang="en-US" sz="900" b="1" spc="300" kern="0" dirty="0">
                <a:solidFill>
                  <a:srgbClr val="64748B"/>
                </a:solidFill>
                <a:latin typeface="Arial" pitchFamily="34" charset="0"/>
                <a:ea typeface="Arial" pitchFamily="34" charset="-122"/>
                <a:cs typeface="Arial" pitchFamily="34" charset="-120"/>
              </a:rPr>
              <a:t>ОТ ЧЕГО ЗАВИСИТ ЭФФЕКТИВНОСТЬ</a:t>
            </a:r>
            <a:endParaRPr lang="en-US" sz="900" dirty="0"/>
          </a:p>
        </p:txBody>
      </p:sp>
      <p:sp>
        <p:nvSpPr>
          <p:cNvPr id="53" name="Shape 49"/>
          <p:cNvSpPr/>
          <p:nvPr/>
        </p:nvSpPr>
        <p:spPr>
          <a:xfrm>
            <a:off x="457200" y="3703320"/>
            <a:ext cx="1536192" cy="960120"/>
          </a:xfrm>
          <a:prstGeom prst="roundRect">
            <a:avLst>
              <a:gd name="adj" fmla="val 7619"/>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54" name="Shape 50"/>
          <p:cNvSpPr/>
          <p:nvPr/>
        </p:nvSpPr>
        <p:spPr>
          <a:xfrm>
            <a:off x="594360" y="3822192"/>
            <a:ext cx="365760" cy="365760"/>
          </a:xfrm>
          <a:prstGeom prst="ellipse">
            <a:avLst/>
          </a:prstGeom>
          <a:solidFill>
            <a:srgbClr val="0B1F3A"/>
          </a:solidFill>
          <a:ln w="12700">
            <a:solidFill>
              <a:srgbClr val="0B1F3A"/>
            </a:solidFill>
            <a:prstDash val="solid"/>
          </a:ln>
        </p:spPr>
      </p:sp>
      <p:pic>
        <p:nvPicPr>
          <p:cNvPr id="55" name="Image 1" descr="preencoded.png">    </p:cNvPr>
          <p:cNvPicPr>
            <a:picLocks noChangeAspect="1"/>
          </p:cNvPicPr>
          <p:nvPr/>
        </p:nvPicPr>
        <p:blipFill>
          <a:blip r:embed="rId2"/>
          <a:stretch>
            <a:fillRect/>
          </a:stretch>
        </p:blipFill>
        <p:spPr>
          <a:xfrm>
            <a:off x="685800" y="3913632"/>
            <a:ext cx="182880" cy="182880"/>
          </a:xfrm>
          <a:prstGeom prst="rect">
            <a:avLst/>
          </a:prstGeom>
        </p:spPr>
      </p:pic>
      <p:sp>
        <p:nvSpPr>
          <p:cNvPr id="56" name="Text 51"/>
          <p:cNvSpPr txBox="1"/>
          <p:nvPr/>
        </p:nvSpPr>
        <p:spPr>
          <a:xfrm>
            <a:off x="594360" y="4242816"/>
            <a:ext cx="1325880" cy="201168"/>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Проводимость</a:t>
            </a:r>
            <a:endParaRPr lang="en-US" sz="1100" dirty="0"/>
          </a:p>
        </p:txBody>
      </p:sp>
      <p:sp>
        <p:nvSpPr>
          <p:cNvPr id="57" name="Text 52"/>
          <p:cNvSpPr txBox="1"/>
          <p:nvPr/>
        </p:nvSpPr>
        <p:spPr>
          <a:xfrm>
            <a:off x="594360" y="4443984"/>
            <a:ext cx="1325880" cy="18288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Cu, Al, сталь</a:t>
            </a:r>
            <a:endParaRPr lang="en-US" sz="900" dirty="0"/>
          </a:p>
        </p:txBody>
      </p:sp>
      <p:sp>
        <p:nvSpPr>
          <p:cNvPr id="58" name="Shape 53"/>
          <p:cNvSpPr/>
          <p:nvPr/>
        </p:nvSpPr>
        <p:spPr>
          <a:xfrm>
            <a:off x="2130552" y="3703320"/>
            <a:ext cx="1536192" cy="960120"/>
          </a:xfrm>
          <a:prstGeom prst="roundRect">
            <a:avLst>
              <a:gd name="adj" fmla="val 7619"/>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59" name="Shape 54"/>
          <p:cNvSpPr/>
          <p:nvPr/>
        </p:nvSpPr>
        <p:spPr>
          <a:xfrm>
            <a:off x="2267712" y="3822192"/>
            <a:ext cx="365760" cy="365760"/>
          </a:xfrm>
          <a:prstGeom prst="ellipse">
            <a:avLst/>
          </a:prstGeom>
          <a:solidFill>
            <a:srgbClr val="0B1F3A"/>
          </a:solidFill>
          <a:ln w="12700">
            <a:solidFill>
              <a:srgbClr val="0B1F3A"/>
            </a:solidFill>
            <a:prstDash val="solid"/>
          </a:ln>
        </p:spPr>
      </p:sp>
      <p:pic>
        <p:nvPicPr>
          <p:cNvPr id="60" name="Image 2" descr="preencoded.png">    </p:cNvPr>
          <p:cNvPicPr>
            <a:picLocks noChangeAspect="1"/>
          </p:cNvPicPr>
          <p:nvPr/>
        </p:nvPicPr>
        <p:blipFill>
          <a:blip r:embed="rId3"/>
          <a:stretch>
            <a:fillRect/>
          </a:stretch>
        </p:blipFill>
        <p:spPr>
          <a:xfrm>
            <a:off x="2359152" y="3913632"/>
            <a:ext cx="182880" cy="182880"/>
          </a:xfrm>
          <a:prstGeom prst="rect">
            <a:avLst/>
          </a:prstGeom>
        </p:spPr>
      </p:pic>
      <p:sp>
        <p:nvSpPr>
          <p:cNvPr id="61" name="Text 55"/>
          <p:cNvSpPr txBox="1"/>
          <p:nvPr/>
        </p:nvSpPr>
        <p:spPr>
          <a:xfrm>
            <a:off x="2267712" y="4242816"/>
            <a:ext cx="1325880" cy="201168"/>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Непрерывность</a:t>
            </a:r>
            <a:endParaRPr lang="en-US" sz="1100" dirty="0"/>
          </a:p>
        </p:txBody>
      </p:sp>
      <p:sp>
        <p:nvSpPr>
          <p:cNvPr id="62" name="Text 56"/>
          <p:cNvSpPr txBox="1"/>
          <p:nvPr/>
        </p:nvSpPr>
        <p:spPr>
          <a:xfrm>
            <a:off x="2267712" y="4443984"/>
            <a:ext cx="1325880" cy="18288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без щелей и окон</a:t>
            </a:r>
            <a:endParaRPr lang="en-US" sz="900" dirty="0"/>
          </a:p>
        </p:txBody>
      </p:sp>
      <p:sp>
        <p:nvSpPr>
          <p:cNvPr id="63" name="Shape 57"/>
          <p:cNvSpPr/>
          <p:nvPr/>
        </p:nvSpPr>
        <p:spPr>
          <a:xfrm>
            <a:off x="3803904" y="3703320"/>
            <a:ext cx="1536192" cy="960120"/>
          </a:xfrm>
          <a:prstGeom prst="roundRect">
            <a:avLst>
              <a:gd name="adj" fmla="val 7619"/>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64" name="Shape 58"/>
          <p:cNvSpPr/>
          <p:nvPr/>
        </p:nvSpPr>
        <p:spPr>
          <a:xfrm>
            <a:off x="3941064" y="3822192"/>
            <a:ext cx="365760" cy="365760"/>
          </a:xfrm>
          <a:prstGeom prst="ellipse">
            <a:avLst/>
          </a:prstGeom>
          <a:solidFill>
            <a:srgbClr val="0B1F3A"/>
          </a:solidFill>
          <a:ln w="12700">
            <a:solidFill>
              <a:srgbClr val="0B1F3A"/>
            </a:solidFill>
            <a:prstDash val="solid"/>
          </a:ln>
        </p:spPr>
      </p:sp>
      <p:pic>
        <p:nvPicPr>
          <p:cNvPr id="65" name="Image 3" descr="preencoded.png">    </p:cNvPr>
          <p:cNvPicPr>
            <a:picLocks noChangeAspect="1"/>
          </p:cNvPicPr>
          <p:nvPr/>
        </p:nvPicPr>
        <p:blipFill>
          <a:blip r:embed="rId4"/>
          <a:stretch>
            <a:fillRect/>
          </a:stretch>
        </p:blipFill>
        <p:spPr>
          <a:xfrm>
            <a:off x="4032504" y="3913632"/>
            <a:ext cx="182880" cy="182880"/>
          </a:xfrm>
          <a:prstGeom prst="rect">
            <a:avLst/>
          </a:prstGeom>
        </p:spPr>
      </p:pic>
      <p:sp>
        <p:nvSpPr>
          <p:cNvPr id="66" name="Text 59"/>
          <p:cNvSpPr txBox="1"/>
          <p:nvPr/>
        </p:nvSpPr>
        <p:spPr>
          <a:xfrm>
            <a:off x="3941064" y="4242816"/>
            <a:ext cx="1325880" cy="201168"/>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Толщина</a:t>
            </a:r>
            <a:endParaRPr lang="en-US" sz="1100" dirty="0"/>
          </a:p>
        </p:txBody>
      </p:sp>
      <p:sp>
        <p:nvSpPr>
          <p:cNvPr id="67" name="Text 60"/>
          <p:cNvSpPr txBox="1"/>
          <p:nvPr/>
        </p:nvSpPr>
        <p:spPr>
          <a:xfrm>
            <a:off x="3941064" y="4443984"/>
            <a:ext cx="1325880" cy="18288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особенно на НЧ</a:t>
            </a:r>
            <a:endParaRPr lang="en-US" sz="900" dirty="0"/>
          </a:p>
        </p:txBody>
      </p:sp>
      <p:sp>
        <p:nvSpPr>
          <p:cNvPr id="68" name="Shape 61"/>
          <p:cNvSpPr/>
          <p:nvPr/>
        </p:nvSpPr>
        <p:spPr>
          <a:xfrm>
            <a:off x="5477256" y="3703320"/>
            <a:ext cx="1536192" cy="960120"/>
          </a:xfrm>
          <a:prstGeom prst="roundRect">
            <a:avLst>
              <a:gd name="adj" fmla="val 7619"/>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69" name="Shape 62"/>
          <p:cNvSpPr/>
          <p:nvPr/>
        </p:nvSpPr>
        <p:spPr>
          <a:xfrm>
            <a:off x="5614416" y="3822192"/>
            <a:ext cx="365760" cy="365760"/>
          </a:xfrm>
          <a:prstGeom prst="ellipse">
            <a:avLst/>
          </a:prstGeom>
          <a:solidFill>
            <a:srgbClr val="0B1F3A"/>
          </a:solidFill>
          <a:ln w="12700">
            <a:solidFill>
              <a:srgbClr val="0B1F3A"/>
            </a:solidFill>
            <a:prstDash val="solid"/>
          </a:ln>
        </p:spPr>
      </p:sp>
      <p:pic>
        <p:nvPicPr>
          <p:cNvPr id="70" name="Image 4" descr="preencoded.png">    </p:cNvPr>
          <p:cNvPicPr>
            <a:picLocks noChangeAspect="1"/>
          </p:cNvPicPr>
          <p:nvPr/>
        </p:nvPicPr>
        <p:blipFill>
          <a:blip r:embed="rId5"/>
          <a:stretch>
            <a:fillRect/>
          </a:stretch>
        </p:blipFill>
        <p:spPr>
          <a:xfrm>
            <a:off x="5705856" y="3913632"/>
            <a:ext cx="182880" cy="182880"/>
          </a:xfrm>
          <a:prstGeom prst="rect">
            <a:avLst/>
          </a:prstGeom>
        </p:spPr>
      </p:pic>
      <p:sp>
        <p:nvSpPr>
          <p:cNvPr id="71" name="Text 63"/>
          <p:cNvSpPr txBox="1"/>
          <p:nvPr/>
        </p:nvSpPr>
        <p:spPr>
          <a:xfrm>
            <a:off x="5614416" y="4242816"/>
            <a:ext cx="1325880" cy="201168"/>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Соединения</a:t>
            </a:r>
            <a:endParaRPr lang="en-US" sz="1100" dirty="0"/>
          </a:p>
        </p:txBody>
      </p:sp>
      <p:sp>
        <p:nvSpPr>
          <p:cNvPr id="72" name="Text 64"/>
          <p:cNvSpPr txBox="1"/>
          <p:nvPr/>
        </p:nvSpPr>
        <p:spPr>
          <a:xfrm>
            <a:off x="5614416" y="4443984"/>
            <a:ext cx="1325880" cy="18288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швы, прокладки</a:t>
            </a:r>
            <a:endParaRPr lang="en-US" sz="900" dirty="0"/>
          </a:p>
        </p:txBody>
      </p:sp>
      <p:sp>
        <p:nvSpPr>
          <p:cNvPr id="73" name="Shape 65"/>
          <p:cNvSpPr/>
          <p:nvPr/>
        </p:nvSpPr>
        <p:spPr>
          <a:xfrm>
            <a:off x="7150608" y="3703320"/>
            <a:ext cx="1536192" cy="960120"/>
          </a:xfrm>
          <a:prstGeom prst="roundRect">
            <a:avLst>
              <a:gd name="adj" fmla="val 7619"/>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74" name="Shape 66"/>
          <p:cNvSpPr/>
          <p:nvPr/>
        </p:nvSpPr>
        <p:spPr>
          <a:xfrm>
            <a:off x="7287768" y="3822192"/>
            <a:ext cx="365760" cy="365760"/>
          </a:xfrm>
          <a:prstGeom prst="ellipse">
            <a:avLst/>
          </a:prstGeom>
          <a:solidFill>
            <a:srgbClr val="0B1F3A"/>
          </a:solidFill>
          <a:ln w="12700">
            <a:solidFill>
              <a:srgbClr val="0B1F3A"/>
            </a:solidFill>
            <a:prstDash val="solid"/>
          </a:ln>
        </p:spPr>
      </p:sp>
      <p:pic>
        <p:nvPicPr>
          <p:cNvPr id="75" name="Image 5" descr="preencoded.png">    </p:cNvPr>
          <p:cNvPicPr>
            <a:picLocks noChangeAspect="1"/>
          </p:cNvPicPr>
          <p:nvPr/>
        </p:nvPicPr>
        <p:blipFill>
          <a:blip r:embed="rId6"/>
          <a:stretch>
            <a:fillRect/>
          </a:stretch>
        </p:blipFill>
        <p:spPr>
          <a:xfrm>
            <a:off x="7379208" y="3913632"/>
            <a:ext cx="182880" cy="182880"/>
          </a:xfrm>
          <a:prstGeom prst="rect">
            <a:avLst/>
          </a:prstGeom>
        </p:spPr>
      </p:pic>
      <p:sp>
        <p:nvSpPr>
          <p:cNvPr id="76" name="Text 67"/>
          <p:cNvSpPr txBox="1"/>
          <p:nvPr/>
        </p:nvSpPr>
        <p:spPr>
          <a:xfrm>
            <a:off x="7287768" y="4242816"/>
            <a:ext cx="1325880" cy="201168"/>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Заземление</a:t>
            </a:r>
            <a:endParaRPr lang="en-US" sz="1100" dirty="0"/>
          </a:p>
        </p:txBody>
      </p:sp>
      <p:sp>
        <p:nvSpPr>
          <p:cNvPr id="77" name="Text 68"/>
          <p:cNvSpPr txBox="1"/>
          <p:nvPr/>
        </p:nvSpPr>
        <p:spPr>
          <a:xfrm>
            <a:off x="7287768" y="4443984"/>
            <a:ext cx="1325880" cy="18288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отвод зарядов</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9"/>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0E9AA7"/>
                </a:solidFill>
                <a:latin typeface="Arial" pitchFamily="34" charset="0"/>
                <a:ea typeface="Arial" pitchFamily="34" charset="-122"/>
                <a:cs typeface="Arial" pitchFamily="34" charset="-120"/>
              </a:rPr>
              <a:t>МАГНИТНОЕ ПОЛЕ</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0B1F3A"/>
                </a:solidFill>
                <a:latin typeface="Arial" pitchFamily="34" charset="0"/>
                <a:ea typeface="Arial" pitchFamily="34" charset="-122"/>
                <a:cs typeface="Arial" pitchFamily="34" charset="-120"/>
              </a:rPr>
              <a:t>Почему магнитное поле экранировать сложнее</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64748B"/>
                </a:solidFill>
                <a:latin typeface="Arial" pitchFamily="34" charset="0"/>
                <a:ea typeface="Arial" pitchFamily="34" charset="-122"/>
                <a:cs typeface="Arial" pitchFamily="34" charset="-120"/>
              </a:rPr>
              <a:t>04</a:t>
            </a:r>
            <a:endParaRPr lang="en-US" sz="800" dirty="0"/>
          </a:p>
        </p:txBody>
      </p:sp>
      <p:sp>
        <p:nvSpPr>
          <p:cNvPr id="7" name="Shape 4"/>
          <p:cNvSpPr/>
          <p:nvPr/>
        </p:nvSpPr>
        <p:spPr>
          <a:xfrm>
            <a:off x="457200" y="1280160"/>
            <a:ext cx="3931920" cy="2514600"/>
          </a:xfrm>
          <a:prstGeom prst="roundRect">
            <a:avLst>
              <a:gd name="adj" fmla="val 2909"/>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8" name="Text 5"/>
          <p:cNvSpPr txBox="1"/>
          <p:nvPr/>
        </p:nvSpPr>
        <p:spPr>
          <a:xfrm>
            <a:off x="640080" y="1389888"/>
            <a:ext cx="3566160" cy="256032"/>
          </a:xfrm>
          <a:prstGeom prst="rect">
            <a:avLst/>
          </a:prstGeom>
          <a:noFill/>
          <a:ln/>
        </p:spPr>
        <p:txBody>
          <a:bodyPr wrap="square" lIns="0" tIns="0" rIns="0" bIns="0" rtlCol="0" anchor="t"/>
          <a:lstStyle/>
          <a:p>
            <a:pPr indent="0" marL="0">
              <a:buNone/>
            </a:pPr>
            <a:r>
              <a:rPr lang="en-US" sz="1300" b="1" dirty="0">
                <a:solidFill>
                  <a:srgbClr val="0B1F3A"/>
                </a:solidFill>
                <a:latin typeface="Arial" pitchFamily="34" charset="0"/>
                <a:ea typeface="Arial" pitchFamily="34" charset="-122"/>
                <a:cs typeface="Arial" pitchFamily="34" charset="-120"/>
              </a:rPr>
              <a:t>Обычный материал</a:t>
            </a:r>
            <a:endParaRPr lang="en-US" sz="1300" dirty="0"/>
          </a:p>
        </p:txBody>
      </p:sp>
      <p:sp>
        <p:nvSpPr>
          <p:cNvPr id="9" name="Text 6"/>
          <p:cNvSpPr txBox="1"/>
          <p:nvPr/>
        </p:nvSpPr>
        <p:spPr>
          <a:xfrm>
            <a:off x="640080" y="1645920"/>
            <a:ext cx="3566160" cy="201168"/>
          </a:xfrm>
          <a:prstGeom prst="rect">
            <a:avLst/>
          </a:prstGeom>
          <a:noFill/>
          <a:ln/>
        </p:spPr>
        <p:txBody>
          <a:bodyPr wrap="square" lIns="0" tIns="0" rIns="0" bIns="0" rtlCol="0" anchor="t"/>
          <a:lstStyle/>
          <a:p>
            <a:pPr indent="0" marL="0">
              <a:buNone/>
            </a:pPr>
            <a:r>
              <a:rPr lang="en-US" sz="1000" dirty="0">
                <a:solidFill>
                  <a:srgbClr val="64748B"/>
                </a:solidFill>
                <a:latin typeface="Arial" pitchFamily="34" charset="0"/>
                <a:ea typeface="Arial" pitchFamily="34" charset="-122"/>
                <a:cs typeface="Arial" pitchFamily="34" charset="-120"/>
              </a:rPr>
              <a:t>μ ≈ 1: алюминий, медь, пластик — поле проходит насквозь</a:t>
            </a:r>
            <a:endParaRPr lang="en-US" sz="1000" dirty="0"/>
          </a:p>
        </p:txBody>
      </p:sp>
      <p:sp>
        <p:nvSpPr>
          <p:cNvPr id="10" name="Shape 7"/>
          <p:cNvSpPr/>
          <p:nvPr/>
        </p:nvSpPr>
        <p:spPr>
          <a:xfrm>
            <a:off x="1691640" y="2697480"/>
            <a:ext cx="1463040" cy="457200"/>
          </a:xfrm>
          <a:prstGeom prst="rect">
            <a:avLst/>
          </a:prstGeom>
          <a:solidFill>
            <a:srgbClr val="DDE4EC"/>
          </a:solidFill>
          <a:ln w="12700">
            <a:solidFill>
              <a:srgbClr val="9AA8B8"/>
            </a:solidFill>
            <a:prstDash val="solid"/>
          </a:ln>
        </p:spPr>
      </p:sp>
      <p:sp>
        <p:nvSpPr>
          <p:cNvPr id="11" name="Shape 8"/>
          <p:cNvSpPr/>
          <p:nvPr/>
        </p:nvSpPr>
        <p:spPr>
          <a:xfrm>
            <a:off x="594360" y="219456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5CC3D9"/>
            </a:solidFill>
            <a:prstDash val="solid"/>
          </a:ln>
        </p:spPr>
      </p:sp>
      <p:sp>
        <p:nvSpPr>
          <p:cNvPr id="12" name="Shape 9"/>
          <p:cNvSpPr/>
          <p:nvPr/>
        </p:nvSpPr>
        <p:spPr>
          <a:xfrm rot="5400000">
            <a:off x="1036320" y="2148840"/>
            <a:ext cx="91440" cy="100584"/>
          </a:xfrm>
          <a:prstGeom prst="triangle">
            <a:avLst/>
          </a:prstGeom>
          <a:solidFill>
            <a:srgbClr val="5CC3D9"/>
          </a:solidFill>
          <a:ln w="12700">
            <a:solidFill>
              <a:srgbClr val="5CC3D9"/>
            </a:solidFill>
            <a:prstDash val="solid"/>
          </a:ln>
        </p:spPr>
      </p:sp>
      <p:sp>
        <p:nvSpPr>
          <p:cNvPr id="13" name="Shape 10"/>
          <p:cNvSpPr/>
          <p:nvPr/>
        </p:nvSpPr>
        <p:spPr>
          <a:xfrm rot="5400000">
            <a:off x="3840480" y="2148840"/>
            <a:ext cx="91440" cy="100584"/>
          </a:xfrm>
          <a:prstGeom prst="triangle">
            <a:avLst/>
          </a:prstGeom>
          <a:solidFill>
            <a:srgbClr val="5CC3D9"/>
          </a:solidFill>
          <a:ln w="12700">
            <a:solidFill>
              <a:srgbClr val="5CC3D9"/>
            </a:solidFill>
            <a:prstDash val="solid"/>
          </a:ln>
        </p:spPr>
      </p:sp>
      <p:sp>
        <p:nvSpPr>
          <p:cNvPr id="14" name="Shape 11"/>
          <p:cNvSpPr/>
          <p:nvPr/>
        </p:nvSpPr>
        <p:spPr>
          <a:xfrm>
            <a:off x="594360" y="237744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5CC3D9"/>
            </a:solidFill>
            <a:prstDash val="solid"/>
          </a:ln>
        </p:spPr>
      </p:sp>
      <p:sp>
        <p:nvSpPr>
          <p:cNvPr id="15" name="Shape 12"/>
          <p:cNvSpPr/>
          <p:nvPr/>
        </p:nvSpPr>
        <p:spPr>
          <a:xfrm rot="5400000">
            <a:off x="1036320" y="2331720"/>
            <a:ext cx="91440" cy="100584"/>
          </a:xfrm>
          <a:prstGeom prst="triangle">
            <a:avLst/>
          </a:prstGeom>
          <a:solidFill>
            <a:srgbClr val="5CC3D9"/>
          </a:solidFill>
          <a:ln w="12700">
            <a:solidFill>
              <a:srgbClr val="5CC3D9"/>
            </a:solidFill>
            <a:prstDash val="solid"/>
          </a:ln>
        </p:spPr>
      </p:sp>
      <p:sp>
        <p:nvSpPr>
          <p:cNvPr id="16" name="Shape 13"/>
          <p:cNvSpPr/>
          <p:nvPr/>
        </p:nvSpPr>
        <p:spPr>
          <a:xfrm rot="5400000">
            <a:off x="3840480" y="2331720"/>
            <a:ext cx="91440" cy="100584"/>
          </a:xfrm>
          <a:prstGeom prst="triangle">
            <a:avLst/>
          </a:prstGeom>
          <a:solidFill>
            <a:srgbClr val="5CC3D9"/>
          </a:solidFill>
          <a:ln w="12700">
            <a:solidFill>
              <a:srgbClr val="5CC3D9"/>
            </a:solidFill>
            <a:prstDash val="solid"/>
          </a:ln>
        </p:spPr>
      </p:sp>
      <p:sp>
        <p:nvSpPr>
          <p:cNvPr id="17" name="Shape 14"/>
          <p:cNvSpPr/>
          <p:nvPr/>
        </p:nvSpPr>
        <p:spPr>
          <a:xfrm>
            <a:off x="594360" y="256032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5CC3D9"/>
            </a:solidFill>
            <a:prstDash val="solid"/>
          </a:ln>
        </p:spPr>
      </p:sp>
      <p:sp>
        <p:nvSpPr>
          <p:cNvPr id="18" name="Shape 15"/>
          <p:cNvSpPr/>
          <p:nvPr/>
        </p:nvSpPr>
        <p:spPr>
          <a:xfrm rot="5400000">
            <a:off x="1036320" y="2514600"/>
            <a:ext cx="91440" cy="100584"/>
          </a:xfrm>
          <a:prstGeom prst="triangle">
            <a:avLst/>
          </a:prstGeom>
          <a:solidFill>
            <a:srgbClr val="5CC3D9"/>
          </a:solidFill>
          <a:ln w="12700">
            <a:solidFill>
              <a:srgbClr val="5CC3D9"/>
            </a:solidFill>
            <a:prstDash val="solid"/>
          </a:ln>
        </p:spPr>
      </p:sp>
      <p:sp>
        <p:nvSpPr>
          <p:cNvPr id="19" name="Shape 16"/>
          <p:cNvSpPr/>
          <p:nvPr/>
        </p:nvSpPr>
        <p:spPr>
          <a:xfrm rot="5400000">
            <a:off x="3840480" y="2514600"/>
            <a:ext cx="91440" cy="100584"/>
          </a:xfrm>
          <a:prstGeom prst="triangle">
            <a:avLst/>
          </a:prstGeom>
          <a:solidFill>
            <a:srgbClr val="5CC3D9"/>
          </a:solidFill>
          <a:ln w="12700">
            <a:solidFill>
              <a:srgbClr val="5CC3D9"/>
            </a:solidFill>
            <a:prstDash val="solid"/>
          </a:ln>
        </p:spPr>
      </p:sp>
      <p:sp>
        <p:nvSpPr>
          <p:cNvPr id="20" name="Shape 17"/>
          <p:cNvSpPr/>
          <p:nvPr/>
        </p:nvSpPr>
        <p:spPr>
          <a:xfrm>
            <a:off x="594360" y="274320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5CC3D9"/>
            </a:solidFill>
            <a:prstDash val="solid"/>
          </a:ln>
        </p:spPr>
      </p:sp>
      <p:sp>
        <p:nvSpPr>
          <p:cNvPr id="21" name="Shape 18"/>
          <p:cNvSpPr/>
          <p:nvPr/>
        </p:nvSpPr>
        <p:spPr>
          <a:xfrm rot="5400000">
            <a:off x="1036320" y="2697480"/>
            <a:ext cx="91440" cy="100584"/>
          </a:xfrm>
          <a:prstGeom prst="triangle">
            <a:avLst/>
          </a:prstGeom>
          <a:solidFill>
            <a:srgbClr val="5CC3D9"/>
          </a:solidFill>
          <a:ln w="12700">
            <a:solidFill>
              <a:srgbClr val="5CC3D9"/>
            </a:solidFill>
            <a:prstDash val="solid"/>
          </a:ln>
        </p:spPr>
      </p:sp>
      <p:sp>
        <p:nvSpPr>
          <p:cNvPr id="22" name="Shape 19"/>
          <p:cNvSpPr/>
          <p:nvPr/>
        </p:nvSpPr>
        <p:spPr>
          <a:xfrm rot="5400000">
            <a:off x="3840480" y="2697480"/>
            <a:ext cx="91440" cy="100584"/>
          </a:xfrm>
          <a:prstGeom prst="triangle">
            <a:avLst/>
          </a:prstGeom>
          <a:solidFill>
            <a:srgbClr val="5CC3D9"/>
          </a:solidFill>
          <a:ln w="12700">
            <a:solidFill>
              <a:srgbClr val="5CC3D9"/>
            </a:solidFill>
            <a:prstDash val="solid"/>
          </a:ln>
        </p:spPr>
      </p:sp>
      <p:sp>
        <p:nvSpPr>
          <p:cNvPr id="23" name="Shape 20"/>
          <p:cNvSpPr/>
          <p:nvPr/>
        </p:nvSpPr>
        <p:spPr>
          <a:xfrm>
            <a:off x="594360" y="292608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5CC3D9"/>
            </a:solidFill>
            <a:prstDash val="solid"/>
          </a:ln>
        </p:spPr>
      </p:sp>
      <p:sp>
        <p:nvSpPr>
          <p:cNvPr id="24" name="Shape 21"/>
          <p:cNvSpPr/>
          <p:nvPr/>
        </p:nvSpPr>
        <p:spPr>
          <a:xfrm rot="5400000">
            <a:off x="1036320" y="2880360"/>
            <a:ext cx="91440" cy="100584"/>
          </a:xfrm>
          <a:prstGeom prst="triangle">
            <a:avLst/>
          </a:prstGeom>
          <a:solidFill>
            <a:srgbClr val="5CC3D9"/>
          </a:solidFill>
          <a:ln w="12700">
            <a:solidFill>
              <a:srgbClr val="5CC3D9"/>
            </a:solidFill>
            <a:prstDash val="solid"/>
          </a:ln>
        </p:spPr>
      </p:sp>
      <p:sp>
        <p:nvSpPr>
          <p:cNvPr id="25" name="Shape 22"/>
          <p:cNvSpPr/>
          <p:nvPr/>
        </p:nvSpPr>
        <p:spPr>
          <a:xfrm rot="5400000">
            <a:off x="3840480" y="2880360"/>
            <a:ext cx="91440" cy="100584"/>
          </a:xfrm>
          <a:prstGeom prst="triangle">
            <a:avLst/>
          </a:prstGeom>
          <a:solidFill>
            <a:srgbClr val="5CC3D9"/>
          </a:solidFill>
          <a:ln w="12700">
            <a:solidFill>
              <a:srgbClr val="5CC3D9"/>
            </a:solidFill>
            <a:prstDash val="solid"/>
          </a:ln>
        </p:spPr>
      </p:sp>
      <p:sp>
        <p:nvSpPr>
          <p:cNvPr id="26" name="Shape 23"/>
          <p:cNvSpPr/>
          <p:nvPr/>
        </p:nvSpPr>
        <p:spPr>
          <a:xfrm>
            <a:off x="594360" y="310896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5CC3D9"/>
            </a:solidFill>
            <a:prstDash val="solid"/>
          </a:ln>
        </p:spPr>
      </p:sp>
      <p:sp>
        <p:nvSpPr>
          <p:cNvPr id="27" name="Shape 24"/>
          <p:cNvSpPr/>
          <p:nvPr/>
        </p:nvSpPr>
        <p:spPr>
          <a:xfrm rot="5400000">
            <a:off x="1036320" y="3063240"/>
            <a:ext cx="91440" cy="100584"/>
          </a:xfrm>
          <a:prstGeom prst="triangle">
            <a:avLst/>
          </a:prstGeom>
          <a:solidFill>
            <a:srgbClr val="5CC3D9"/>
          </a:solidFill>
          <a:ln w="12700">
            <a:solidFill>
              <a:srgbClr val="5CC3D9"/>
            </a:solidFill>
            <a:prstDash val="solid"/>
          </a:ln>
        </p:spPr>
      </p:sp>
      <p:sp>
        <p:nvSpPr>
          <p:cNvPr id="28" name="Shape 25"/>
          <p:cNvSpPr/>
          <p:nvPr/>
        </p:nvSpPr>
        <p:spPr>
          <a:xfrm rot="5400000">
            <a:off x="3840480" y="3063240"/>
            <a:ext cx="91440" cy="100584"/>
          </a:xfrm>
          <a:prstGeom prst="triangle">
            <a:avLst/>
          </a:prstGeom>
          <a:solidFill>
            <a:srgbClr val="5CC3D9"/>
          </a:solidFill>
          <a:ln w="12700">
            <a:solidFill>
              <a:srgbClr val="5CC3D9"/>
            </a:solidFill>
            <a:prstDash val="solid"/>
          </a:ln>
        </p:spPr>
      </p:sp>
      <p:sp>
        <p:nvSpPr>
          <p:cNvPr id="29" name="Shape 26"/>
          <p:cNvSpPr/>
          <p:nvPr/>
        </p:nvSpPr>
        <p:spPr>
          <a:xfrm>
            <a:off x="594360" y="329184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5CC3D9"/>
            </a:solidFill>
            <a:prstDash val="solid"/>
          </a:ln>
        </p:spPr>
      </p:sp>
      <p:sp>
        <p:nvSpPr>
          <p:cNvPr id="30" name="Shape 27"/>
          <p:cNvSpPr/>
          <p:nvPr/>
        </p:nvSpPr>
        <p:spPr>
          <a:xfrm rot="5400000">
            <a:off x="1036320" y="3246120"/>
            <a:ext cx="91440" cy="100584"/>
          </a:xfrm>
          <a:prstGeom prst="triangle">
            <a:avLst/>
          </a:prstGeom>
          <a:solidFill>
            <a:srgbClr val="5CC3D9"/>
          </a:solidFill>
          <a:ln w="12700">
            <a:solidFill>
              <a:srgbClr val="5CC3D9"/>
            </a:solidFill>
            <a:prstDash val="solid"/>
          </a:ln>
        </p:spPr>
      </p:sp>
      <p:sp>
        <p:nvSpPr>
          <p:cNvPr id="31" name="Shape 28"/>
          <p:cNvSpPr/>
          <p:nvPr/>
        </p:nvSpPr>
        <p:spPr>
          <a:xfrm rot="5400000">
            <a:off x="3840480" y="3246120"/>
            <a:ext cx="91440" cy="100584"/>
          </a:xfrm>
          <a:prstGeom prst="triangle">
            <a:avLst/>
          </a:prstGeom>
          <a:solidFill>
            <a:srgbClr val="5CC3D9"/>
          </a:solidFill>
          <a:ln w="12700">
            <a:solidFill>
              <a:srgbClr val="5CC3D9"/>
            </a:solidFill>
            <a:prstDash val="solid"/>
          </a:ln>
        </p:spPr>
      </p:sp>
      <p:sp>
        <p:nvSpPr>
          <p:cNvPr id="32" name="Shape 29"/>
          <p:cNvSpPr/>
          <p:nvPr/>
        </p:nvSpPr>
        <p:spPr>
          <a:xfrm>
            <a:off x="594360" y="347472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5CC3D9"/>
            </a:solidFill>
            <a:prstDash val="solid"/>
          </a:ln>
        </p:spPr>
      </p:sp>
      <p:sp>
        <p:nvSpPr>
          <p:cNvPr id="33" name="Shape 30"/>
          <p:cNvSpPr/>
          <p:nvPr/>
        </p:nvSpPr>
        <p:spPr>
          <a:xfrm rot="5400000">
            <a:off x="1036320" y="3429000"/>
            <a:ext cx="91440" cy="100584"/>
          </a:xfrm>
          <a:prstGeom prst="triangle">
            <a:avLst/>
          </a:prstGeom>
          <a:solidFill>
            <a:srgbClr val="5CC3D9"/>
          </a:solidFill>
          <a:ln w="12700">
            <a:solidFill>
              <a:srgbClr val="5CC3D9"/>
            </a:solidFill>
            <a:prstDash val="solid"/>
          </a:ln>
        </p:spPr>
      </p:sp>
      <p:sp>
        <p:nvSpPr>
          <p:cNvPr id="34" name="Shape 31"/>
          <p:cNvSpPr/>
          <p:nvPr/>
        </p:nvSpPr>
        <p:spPr>
          <a:xfrm rot="5400000">
            <a:off x="3840480" y="3429000"/>
            <a:ext cx="91440" cy="100584"/>
          </a:xfrm>
          <a:prstGeom prst="triangle">
            <a:avLst/>
          </a:prstGeom>
          <a:solidFill>
            <a:srgbClr val="5CC3D9"/>
          </a:solidFill>
          <a:ln w="12700">
            <a:solidFill>
              <a:srgbClr val="5CC3D9"/>
            </a:solidFill>
            <a:prstDash val="solid"/>
          </a:ln>
        </p:spPr>
      </p:sp>
      <p:sp>
        <p:nvSpPr>
          <p:cNvPr id="35" name="Shape 32"/>
          <p:cNvSpPr/>
          <p:nvPr/>
        </p:nvSpPr>
        <p:spPr>
          <a:xfrm>
            <a:off x="594360" y="365760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5CC3D9"/>
            </a:solidFill>
            <a:prstDash val="solid"/>
          </a:ln>
        </p:spPr>
      </p:sp>
      <p:sp>
        <p:nvSpPr>
          <p:cNvPr id="36" name="Shape 33"/>
          <p:cNvSpPr/>
          <p:nvPr/>
        </p:nvSpPr>
        <p:spPr>
          <a:xfrm rot="5400000">
            <a:off x="1036320" y="3611880"/>
            <a:ext cx="91440" cy="100584"/>
          </a:xfrm>
          <a:prstGeom prst="triangle">
            <a:avLst/>
          </a:prstGeom>
          <a:solidFill>
            <a:srgbClr val="5CC3D9"/>
          </a:solidFill>
          <a:ln w="12700">
            <a:solidFill>
              <a:srgbClr val="5CC3D9"/>
            </a:solidFill>
            <a:prstDash val="solid"/>
          </a:ln>
        </p:spPr>
      </p:sp>
      <p:sp>
        <p:nvSpPr>
          <p:cNvPr id="37" name="Shape 34"/>
          <p:cNvSpPr/>
          <p:nvPr/>
        </p:nvSpPr>
        <p:spPr>
          <a:xfrm rot="5400000">
            <a:off x="3840480" y="3611880"/>
            <a:ext cx="91440" cy="100584"/>
          </a:xfrm>
          <a:prstGeom prst="triangle">
            <a:avLst/>
          </a:prstGeom>
          <a:solidFill>
            <a:srgbClr val="5CC3D9"/>
          </a:solidFill>
          <a:ln w="12700">
            <a:solidFill>
              <a:srgbClr val="5CC3D9"/>
            </a:solidFill>
            <a:prstDash val="solid"/>
          </a:ln>
        </p:spPr>
      </p:sp>
      <p:sp>
        <p:nvSpPr>
          <p:cNvPr id="38" name="Shape 35"/>
          <p:cNvSpPr/>
          <p:nvPr/>
        </p:nvSpPr>
        <p:spPr>
          <a:xfrm>
            <a:off x="4754880" y="1280160"/>
            <a:ext cx="3931920" cy="2514600"/>
          </a:xfrm>
          <a:prstGeom prst="roundRect">
            <a:avLst>
              <a:gd name="adj" fmla="val 2909"/>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39" name="Text 36"/>
          <p:cNvSpPr txBox="1"/>
          <p:nvPr/>
        </p:nvSpPr>
        <p:spPr>
          <a:xfrm>
            <a:off x="4937760" y="1389888"/>
            <a:ext cx="3566160" cy="256032"/>
          </a:xfrm>
          <a:prstGeom prst="rect">
            <a:avLst/>
          </a:prstGeom>
          <a:noFill/>
          <a:ln/>
        </p:spPr>
        <p:txBody>
          <a:bodyPr wrap="square" lIns="0" tIns="0" rIns="0" bIns="0" rtlCol="0" anchor="t"/>
          <a:lstStyle/>
          <a:p>
            <a:pPr indent="0" marL="0">
              <a:buNone/>
            </a:pPr>
            <a:r>
              <a:rPr lang="en-US" sz="1300" b="1" dirty="0">
                <a:solidFill>
                  <a:srgbClr val="0B1F3A"/>
                </a:solidFill>
                <a:latin typeface="Arial" pitchFamily="34" charset="0"/>
                <a:ea typeface="Arial" pitchFamily="34" charset="-122"/>
                <a:cs typeface="Arial" pitchFamily="34" charset="-120"/>
              </a:rPr>
              <a:t>Материал с высокой μ</a:t>
            </a:r>
            <a:endParaRPr lang="en-US" sz="1300" dirty="0"/>
          </a:p>
        </p:txBody>
      </p:sp>
      <p:sp>
        <p:nvSpPr>
          <p:cNvPr id="40" name="Text 37"/>
          <p:cNvSpPr txBox="1"/>
          <p:nvPr/>
        </p:nvSpPr>
        <p:spPr>
          <a:xfrm>
            <a:off x="4937760" y="1645920"/>
            <a:ext cx="3566160" cy="201168"/>
          </a:xfrm>
          <a:prstGeom prst="rect">
            <a:avLst/>
          </a:prstGeom>
          <a:noFill/>
          <a:ln/>
        </p:spPr>
        <p:txBody>
          <a:bodyPr wrap="square" lIns="0" tIns="0" rIns="0" bIns="0" rtlCol="0" anchor="t"/>
          <a:lstStyle/>
          <a:p>
            <a:pPr indent="0" marL="0">
              <a:buNone/>
            </a:pPr>
            <a:r>
              <a:rPr lang="en-US" sz="1000" dirty="0">
                <a:solidFill>
                  <a:srgbClr val="64748B"/>
                </a:solidFill>
                <a:latin typeface="Arial" pitchFamily="34" charset="0"/>
                <a:ea typeface="Arial" pitchFamily="34" charset="-122"/>
                <a:cs typeface="Arial" pitchFamily="34" charset="-120"/>
              </a:rPr>
              <a:t>μ ≫ 1: пермаллой, электротехническая сталь — поток втягивается</a:t>
            </a:r>
            <a:endParaRPr lang="en-US" sz="1000" dirty="0"/>
          </a:p>
        </p:txBody>
      </p:sp>
      <p:sp>
        <p:nvSpPr>
          <p:cNvPr id="41" name="Shape 38"/>
          <p:cNvSpPr/>
          <p:nvPr/>
        </p:nvSpPr>
        <p:spPr>
          <a:xfrm>
            <a:off x="5989320" y="2697480"/>
            <a:ext cx="1463040" cy="457200"/>
          </a:xfrm>
          <a:prstGeom prst="rect">
            <a:avLst/>
          </a:prstGeom>
          <a:solidFill>
            <a:srgbClr val="13305A"/>
          </a:solidFill>
          <a:ln w="12700">
            <a:solidFill>
              <a:srgbClr val="0B1F3A"/>
            </a:solidFill>
            <a:prstDash val="solid"/>
          </a:ln>
        </p:spPr>
      </p:sp>
      <p:sp>
        <p:nvSpPr>
          <p:cNvPr id="42" name="Shape 39"/>
          <p:cNvSpPr/>
          <p:nvPr/>
        </p:nvSpPr>
        <p:spPr>
          <a:xfrm>
            <a:off x="4892040" y="2194560"/>
            <a:ext cx="3657600" cy="555955"/>
          </a:xfrm>
          <a:custGeom>
            <a:avLst/>
            <a:gdLst/>
            <a:ahLst/>
            <a:cxnLst/>
            <a:rect l="l" t="t" r="r" b="b"/>
            <a:pathLst>
              <a:path w="3657600" h="555955">
                <a:moveTo>
                  <a:pt x="0" y="0"/>
                </a:moveTo>
                <a:lnTo>
                  <a:pt x="60960" y="0"/>
                </a:lnTo>
                <a:lnTo>
                  <a:pt x="121920" y="0"/>
                </a:lnTo>
                <a:lnTo>
                  <a:pt x="182880" y="0"/>
                </a:lnTo>
                <a:lnTo>
                  <a:pt x="243840" y="0"/>
                </a:lnTo>
                <a:lnTo>
                  <a:pt x="304800" y="0"/>
                </a:lnTo>
                <a:lnTo>
                  <a:pt x="365760" y="5545"/>
                </a:lnTo>
                <a:lnTo>
                  <a:pt x="426720" y="28546"/>
                </a:lnTo>
                <a:lnTo>
                  <a:pt x="487680" y="66433"/>
                </a:lnTo>
                <a:lnTo>
                  <a:pt x="548640" y="115989"/>
                </a:lnTo>
                <a:lnTo>
                  <a:pt x="609600" y="173994"/>
                </a:lnTo>
                <a:lnTo>
                  <a:pt x="670560" y="237230"/>
                </a:lnTo>
                <a:lnTo>
                  <a:pt x="731520" y="302477"/>
                </a:lnTo>
                <a:lnTo>
                  <a:pt x="792480" y="366517"/>
                </a:lnTo>
                <a:lnTo>
                  <a:pt x="853440" y="426131"/>
                </a:lnTo>
                <a:lnTo>
                  <a:pt x="914400" y="478101"/>
                </a:lnTo>
                <a:lnTo>
                  <a:pt x="975360" y="519208"/>
                </a:lnTo>
                <a:lnTo>
                  <a:pt x="1036320" y="546232"/>
                </a:lnTo>
                <a:lnTo>
                  <a:pt x="1097280" y="555955"/>
                </a:lnTo>
                <a:lnTo>
                  <a:pt x="1158240" y="555955"/>
                </a:lnTo>
                <a:lnTo>
                  <a:pt x="1219200" y="555955"/>
                </a:lnTo>
                <a:lnTo>
                  <a:pt x="1280160" y="555955"/>
                </a:lnTo>
                <a:lnTo>
                  <a:pt x="1341120" y="555955"/>
                </a:lnTo>
                <a:lnTo>
                  <a:pt x="1402080" y="555955"/>
                </a:lnTo>
                <a:lnTo>
                  <a:pt x="1463040" y="555955"/>
                </a:lnTo>
                <a:lnTo>
                  <a:pt x="1524000" y="555955"/>
                </a:lnTo>
                <a:lnTo>
                  <a:pt x="1584960" y="555955"/>
                </a:lnTo>
                <a:lnTo>
                  <a:pt x="1645920" y="555955"/>
                </a:lnTo>
                <a:lnTo>
                  <a:pt x="1706880" y="555955"/>
                </a:lnTo>
                <a:lnTo>
                  <a:pt x="1767840" y="555955"/>
                </a:lnTo>
                <a:lnTo>
                  <a:pt x="1828800" y="555955"/>
                </a:lnTo>
                <a:lnTo>
                  <a:pt x="1889760" y="555955"/>
                </a:lnTo>
                <a:lnTo>
                  <a:pt x="1950720" y="555955"/>
                </a:lnTo>
                <a:lnTo>
                  <a:pt x="2011680" y="555955"/>
                </a:lnTo>
                <a:lnTo>
                  <a:pt x="2072640" y="555955"/>
                </a:lnTo>
                <a:lnTo>
                  <a:pt x="2133600" y="555955"/>
                </a:lnTo>
                <a:lnTo>
                  <a:pt x="2194560" y="555955"/>
                </a:lnTo>
                <a:lnTo>
                  <a:pt x="2255520" y="555955"/>
                </a:lnTo>
                <a:lnTo>
                  <a:pt x="2316480" y="555955"/>
                </a:lnTo>
                <a:lnTo>
                  <a:pt x="2377440" y="555955"/>
                </a:lnTo>
                <a:lnTo>
                  <a:pt x="2438400" y="555955"/>
                </a:lnTo>
                <a:lnTo>
                  <a:pt x="2499360" y="555955"/>
                </a:lnTo>
                <a:lnTo>
                  <a:pt x="2560320" y="555955"/>
                </a:lnTo>
                <a:lnTo>
                  <a:pt x="2621280" y="546232"/>
                </a:lnTo>
                <a:lnTo>
                  <a:pt x="2682240" y="519208"/>
                </a:lnTo>
                <a:lnTo>
                  <a:pt x="2743200" y="478101"/>
                </a:lnTo>
                <a:lnTo>
                  <a:pt x="2804160" y="426131"/>
                </a:lnTo>
                <a:lnTo>
                  <a:pt x="2865120" y="366517"/>
                </a:lnTo>
                <a:lnTo>
                  <a:pt x="2926080" y="302477"/>
                </a:lnTo>
                <a:lnTo>
                  <a:pt x="2987040" y="237230"/>
                </a:lnTo>
                <a:lnTo>
                  <a:pt x="3048000" y="173994"/>
                </a:lnTo>
                <a:lnTo>
                  <a:pt x="3108960" y="115989"/>
                </a:lnTo>
                <a:lnTo>
                  <a:pt x="3169920" y="66433"/>
                </a:lnTo>
                <a:lnTo>
                  <a:pt x="3230880" y="28546"/>
                </a:lnTo>
                <a:lnTo>
                  <a:pt x="3291840" y="5545"/>
                </a:lnTo>
                <a:lnTo>
                  <a:pt x="3352800" y="0"/>
                </a:lnTo>
                <a:lnTo>
                  <a:pt x="3413760" y="0"/>
                </a:lnTo>
                <a:lnTo>
                  <a:pt x="3474720" y="0"/>
                </a:lnTo>
                <a:lnTo>
                  <a:pt x="3535680" y="0"/>
                </a:lnTo>
                <a:lnTo>
                  <a:pt x="3596640" y="0"/>
                </a:lnTo>
                <a:lnTo>
                  <a:pt x="3657600" y="0"/>
                </a:lnTo>
              </a:path>
            </a:pathLst>
          </a:custGeom>
          <a:noFill/>
          <a:ln w="15875">
            <a:solidFill>
              <a:srgbClr val="1FB6D4"/>
            </a:solidFill>
            <a:prstDash val="solid"/>
          </a:ln>
        </p:spPr>
      </p:sp>
      <p:sp>
        <p:nvSpPr>
          <p:cNvPr id="43" name="Shape 40"/>
          <p:cNvSpPr/>
          <p:nvPr/>
        </p:nvSpPr>
        <p:spPr>
          <a:xfrm rot="6992289">
            <a:off x="5334000" y="2215273"/>
            <a:ext cx="91440" cy="100584"/>
          </a:xfrm>
          <a:prstGeom prst="triangle">
            <a:avLst/>
          </a:prstGeom>
          <a:solidFill>
            <a:srgbClr val="1FB6D4"/>
          </a:solidFill>
          <a:ln w="12700">
            <a:solidFill>
              <a:srgbClr val="1FB6D4"/>
            </a:solidFill>
            <a:prstDash val="solid"/>
          </a:ln>
        </p:spPr>
      </p:sp>
      <p:sp>
        <p:nvSpPr>
          <p:cNvPr id="44" name="Shape 41"/>
          <p:cNvSpPr/>
          <p:nvPr/>
        </p:nvSpPr>
        <p:spPr>
          <a:xfrm rot="3807711">
            <a:off x="8138160" y="2154385"/>
            <a:ext cx="91440" cy="100584"/>
          </a:xfrm>
          <a:prstGeom prst="triangle">
            <a:avLst/>
          </a:prstGeom>
          <a:solidFill>
            <a:srgbClr val="1FB6D4"/>
          </a:solidFill>
          <a:ln w="12700">
            <a:solidFill>
              <a:srgbClr val="1FB6D4"/>
            </a:solidFill>
            <a:prstDash val="solid"/>
          </a:ln>
        </p:spPr>
      </p:sp>
      <p:sp>
        <p:nvSpPr>
          <p:cNvPr id="45" name="Shape 42"/>
          <p:cNvSpPr/>
          <p:nvPr/>
        </p:nvSpPr>
        <p:spPr>
          <a:xfrm>
            <a:off x="4892040" y="2377440"/>
            <a:ext cx="3657600" cy="416966"/>
          </a:xfrm>
          <a:custGeom>
            <a:avLst/>
            <a:gdLst/>
            <a:ahLst/>
            <a:cxnLst/>
            <a:rect l="l" t="t" r="r" b="b"/>
            <a:pathLst>
              <a:path w="3657600" h="416966">
                <a:moveTo>
                  <a:pt x="0" y="0"/>
                </a:moveTo>
                <a:lnTo>
                  <a:pt x="60960" y="0"/>
                </a:lnTo>
                <a:lnTo>
                  <a:pt x="121920" y="0"/>
                </a:lnTo>
                <a:lnTo>
                  <a:pt x="182880" y="0"/>
                </a:lnTo>
                <a:lnTo>
                  <a:pt x="243840" y="0"/>
                </a:lnTo>
                <a:lnTo>
                  <a:pt x="304800" y="0"/>
                </a:lnTo>
                <a:lnTo>
                  <a:pt x="365760" y="4159"/>
                </a:lnTo>
                <a:lnTo>
                  <a:pt x="426720" y="21409"/>
                </a:lnTo>
                <a:lnTo>
                  <a:pt x="487680" y="49825"/>
                </a:lnTo>
                <a:lnTo>
                  <a:pt x="548640" y="86992"/>
                </a:lnTo>
                <a:lnTo>
                  <a:pt x="609600" y="130496"/>
                </a:lnTo>
                <a:lnTo>
                  <a:pt x="670560" y="177922"/>
                </a:lnTo>
                <a:lnTo>
                  <a:pt x="731520" y="226858"/>
                </a:lnTo>
                <a:lnTo>
                  <a:pt x="792480" y="274888"/>
                </a:lnTo>
                <a:lnTo>
                  <a:pt x="853440" y="319598"/>
                </a:lnTo>
                <a:lnTo>
                  <a:pt x="914400" y="358576"/>
                </a:lnTo>
                <a:lnTo>
                  <a:pt x="975360" y="389406"/>
                </a:lnTo>
                <a:lnTo>
                  <a:pt x="1036320" y="409674"/>
                </a:lnTo>
                <a:lnTo>
                  <a:pt x="1097280" y="416966"/>
                </a:lnTo>
                <a:lnTo>
                  <a:pt x="1158240" y="416966"/>
                </a:lnTo>
                <a:lnTo>
                  <a:pt x="1219200" y="416966"/>
                </a:lnTo>
                <a:lnTo>
                  <a:pt x="1280160" y="416966"/>
                </a:lnTo>
                <a:lnTo>
                  <a:pt x="1341120" y="416966"/>
                </a:lnTo>
                <a:lnTo>
                  <a:pt x="1402080" y="416966"/>
                </a:lnTo>
                <a:lnTo>
                  <a:pt x="1463040" y="416966"/>
                </a:lnTo>
                <a:lnTo>
                  <a:pt x="1524000" y="416966"/>
                </a:lnTo>
                <a:lnTo>
                  <a:pt x="1584960" y="416966"/>
                </a:lnTo>
                <a:lnTo>
                  <a:pt x="1645920" y="416966"/>
                </a:lnTo>
                <a:lnTo>
                  <a:pt x="1706880" y="416966"/>
                </a:lnTo>
                <a:lnTo>
                  <a:pt x="1767840" y="416966"/>
                </a:lnTo>
                <a:lnTo>
                  <a:pt x="1828800" y="416966"/>
                </a:lnTo>
                <a:lnTo>
                  <a:pt x="1889760" y="416966"/>
                </a:lnTo>
                <a:lnTo>
                  <a:pt x="1950720" y="416966"/>
                </a:lnTo>
                <a:lnTo>
                  <a:pt x="2011680" y="416966"/>
                </a:lnTo>
                <a:lnTo>
                  <a:pt x="2072640" y="416966"/>
                </a:lnTo>
                <a:lnTo>
                  <a:pt x="2133600" y="416966"/>
                </a:lnTo>
                <a:lnTo>
                  <a:pt x="2194560" y="416966"/>
                </a:lnTo>
                <a:lnTo>
                  <a:pt x="2255520" y="416966"/>
                </a:lnTo>
                <a:lnTo>
                  <a:pt x="2316480" y="416966"/>
                </a:lnTo>
                <a:lnTo>
                  <a:pt x="2377440" y="416966"/>
                </a:lnTo>
                <a:lnTo>
                  <a:pt x="2438400" y="416966"/>
                </a:lnTo>
                <a:lnTo>
                  <a:pt x="2499360" y="416966"/>
                </a:lnTo>
                <a:lnTo>
                  <a:pt x="2560320" y="416966"/>
                </a:lnTo>
                <a:lnTo>
                  <a:pt x="2621280" y="409674"/>
                </a:lnTo>
                <a:lnTo>
                  <a:pt x="2682240" y="389406"/>
                </a:lnTo>
                <a:lnTo>
                  <a:pt x="2743200" y="358576"/>
                </a:lnTo>
                <a:lnTo>
                  <a:pt x="2804160" y="319598"/>
                </a:lnTo>
                <a:lnTo>
                  <a:pt x="2865120" y="274888"/>
                </a:lnTo>
                <a:lnTo>
                  <a:pt x="2926080" y="226858"/>
                </a:lnTo>
                <a:lnTo>
                  <a:pt x="2987040" y="177922"/>
                </a:lnTo>
                <a:lnTo>
                  <a:pt x="3048000" y="130496"/>
                </a:lnTo>
                <a:lnTo>
                  <a:pt x="3108960" y="86992"/>
                </a:lnTo>
                <a:lnTo>
                  <a:pt x="3169920" y="49825"/>
                </a:lnTo>
                <a:lnTo>
                  <a:pt x="3230880" y="21409"/>
                </a:lnTo>
                <a:lnTo>
                  <a:pt x="3291840" y="4159"/>
                </a:lnTo>
                <a:lnTo>
                  <a:pt x="3352800" y="0"/>
                </a:lnTo>
                <a:lnTo>
                  <a:pt x="3413760" y="0"/>
                </a:lnTo>
                <a:lnTo>
                  <a:pt x="3474720" y="0"/>
                </a:lnTo>
                <a:lnTo>
                  <a:pt x="3535680" y="0"/>
                </a:lnTo>
                <a:lnTo>
                  <a:pt x="3596640" y="0"/>
                </a:lnTo>
                <a:lnTo>
                  <a:pt x="3657600" y="0"/>
                </a:lnTo>
              </a:path>
            </a:pathLst>
          </a:custGeom>
          <a:noFill/>
          <a:ln w="15875">
            <a:solidFill>
              <a:srgbClr val="1FB6D4"/>
            </a:solidFill>
            <a:prstDash val="solid"/>
          </a:ln>
        </p:spPr>
      </p:sp>
      <p:sp>
        <p:nvSpPr>
          <p:cNvPr id="46" name="Shape 43"/>
          <p:cNvSpPr/>
          <p:nvPr/>
        </p:nvSpPr>
        <p:spPr>
          <a:xfrm rot="6632036">
            <a:off x="5334000" y="2381545"/>
            <a:ext cx="91440" cy="100584"/>
          </a:xfrm>
          <a:prstGeom prst="triangle">
            <a:avLst/>
          </a:prstGeom>
          <a:solidFill>
            <a:srgbClr val="1FB6D4"/>
          </a:solidFill>
          <a:ln w="12700">
            <a:solidFill>
              <a:srgbClr val="1FB6D4"/>
            </a:solidFill>
            <a:prstDash val="solid"/>
          </a:ln>
        </p:spPr>
      </p:sp>
      <p:sp>
        <p:nvSpPr>
          <p:cNvPr id="47" name="Shape 44"/>
          <p:cNvSpPr/>
          <p:nvPr/>
        </p:nvSpPr>
        <p:spPr>
          <a:xfrm rot="4167964">
            <a:off x="8138160" y="2335879"/>
            <a:ext cx="91440" cy="100584"/>
          </a:xfrm>
          <a:prstGeom prst="triangle">
            <a:avLst/>
          </a:prstGeom>
          <a:solidFill>
            <a:srgbClr val="1FB6D4"/>
          </a:solidFill>
          <a:ln w="12700">
            <a:solidFill>
              <a:srgbClr val="1FB6D4"/>
            </a:solidFill>
            <a:prstDash val="solid"/>
          </a:ln>
        </p:spPr>
      </p:sp>
      <p:sp>
        <p:nvSpPr>
          <p:cNvPr id="48" name="Shape 45"/>
          <p:cNvSpPr/>
          <p:nvPr/>
        </p:nvSpPr>
        <p:spPr>
          <a:xfrm>
            <a:off x="4892040" y="2560320"/>
            <a:ext cx="3657600" cy="277978"/>
          </a:xfrm>
          <a:custGeom>
            <a:avLst/>
            <a:gdLst/>
            <a:ahLst/>
            <a:cxnLst/>
            <a:rect l="l" t="t" r="r" b="b"/>
            <a:pathLst>
              <a:path w="3657600" h="277978">
                <a:moveTo>
                  <a:pt x="0" y="0"/>
                </a:moveTo>
                <a:lnTo>
                  <a:pt x="60960" y="0"/>
                </a:lnTo>
                <a:lnTo>
                  <a:pt x="121920" y="0"/>
                </a:lnTo>
                <a:lnTo>
                  <a:pt x="182880" y="0"/>
                </a:lnTo>
                <a:lnTo>
                  <a:pt x="243840" y="0"/>
                </a:lnTo>
                <a:lnTo>
                  <a:pt x="304800" y="0"/>
                </a:lnTo>
                <a:lnTo>
                  <a:pt x="365760" y="2772"/>
                </a:lnTo>
                <a:lnTo>
                  <a:pt x="426720" y="14273"/>
                </a:lnTo>
                <a:lnTo>
                  <a:pt x="487680" y="33217"/>
                </a:lnTo>
                <a:lnTo>
                  <a:pt x="548640" y="57995"/>
                </a:lnTo>
                <a:lnTo>
                  <a:pt x="609600" y="86997"/>
                </a:lnTo>
                <a:lnTo>
                  <a:pt x="670560" y="118615"/>
                </a:lnTo>
                <a:lnTo>
                  <a:pt x="731520" y="151238"/>
                </a:lnTo>
                <a:lnTo>
                  <a:pt x="792480" y="183258"/>
                </a:lnTo>
                <a:lnTo>
                  <a:pt x="853440" y="213066"/>
                </a:lnTo>
                <a:lnTo>
                  <a:pt x="914400" y="239051"/>
                </a:lnTo>
                <a:lnTo>
                  <a:pt x="975360" y="259604"/>
                </a:lnTo>
                <a:lnTo>
                  <a:pt x="1036320" y="273116"/>
                </a:lnTo>
                <a:lnTo>
                  <a:pt x="1097280" y="277978"/>
                </a:lnTo>
                <a:lnTo>
                  <a:pt x="1158240" y="277978"/>
                </a:lnTo>
                <a:lnTo>
                  <a:pt x="1219200" y="277978"/>
                </a:lnTo>
                <a:lnTo>
                  <a:pt x="1280160" y="277978"/>
                </a:lnTo>
                <a:lnTo>
                  <a:pt x="1341120" y="277978"/>
                </a:lnTo>
                <a:lnTo>
                  <a:pt x="1402080" y="277978"/>
                </a:lnTo>
                <a:lnTo>
                  <a:pt x="1463040" y="277978"/>
                </a:lnTo>
                <a:lnTo>
                  <a:pt x="1524000" y="277978"/>
                </a:lnTo>
                <a:lnTo>
                  <a:pt x="1584960" y="277978"/>
                </a:lnTo>
                <a:lnTo>
                  <a:pt x="1645920" y="277978"/>
                </a:lnTo>
                <a:lnTo>
                  <a:pt x="1706880" y="277978"/>
                </a:lnTo>
                <a:lnTo>
                  <a:pt x="1767840" y="277978"/>
                </a:lnTo>
                <a:lnTo>
                  <a:pt x="1828800" y="277978"/>
                </a:lnTo>
                <a:lnTo>
                  <a:pt x="1889760" y="277978"/>
                </a:lnTo>
                <a:lnTo>
                  <a:pt x="1950720" y="277978"/>
                </a:lnTo>
                <a:lnTo>
                  <a:pt x="2011680" y="277978"/>
                </a:lnTo>
                <a:lnTo>
                  <a:pt x="2072640" y="277978"/>
                </a:lnTo>
                <a:lnTo>
                  <a:pt x="2133600" y="277978"/>
                </a:lnTo>
                <a:lnTo>
                  <a:pt x="2194560" y="277978"/>
                </a:lnTo>
                <a:lnTo>
                  <a:pt x="2255520" y="277978"/>
                </a:lnTo>
                <a:lnTo>
                  <a:pt x="2316480" y="277978"/>
                </a:lnTo>
                <a:lnTo>
                  <a:pt x="2377440" y="277978"/>
                </a:lnTo>
                <a:lnTo>
                  <a:pt x="2438400" y="277978"/>
                </a:lnTo>
                <a:lnTo>
                  <a:pt x="2499360" y="277978"/>
                </a:lnTo>
                <a:lnTo>
                  <a:pt x="2560320" y="277978"/>
                </a:lnTo>
                <a:lnTo>
                  <a:pt x="2621280" y="273116"/>
                </a:lnTo>
                <a:lnTo>
                  <a:pt x="2682240" y="259604"/>
                </a:lnTo>
                <a:lnTo>
                  <a:pt x="2743200" y="239051"/>
                </a:lnTo>
                <a:lnTo>
                  <a:pt x="2804160" y="213066"/>
                </a:lnTo>
                <a:lnTo>
                  <a:pt x="2865120" y="183258"/>
                </a:lnTo>
                <a:lnTo>
                  <a:pt x="2926080" y="151238"/>
                </a:lnTo>
                <a:lnTo>
                  <a:pt x="2987040" y="118615"/>
                </a:lnTo>
                <a:lnTo>
                  <a:pt x="3048000" y="86997"/>
                </a:lnTo>
                <a:lnTo>
                  <a:pt x="3108960" y="57995"/>
                </a:lnTo>
                <a:lnTo>
                  <a:pt x="3169920" y="33217"/>
                </a:lnTo>
                <a:lnTo>
                  <a:pt x="3230880" y="14273"/>
                </a:lnTo>
                <a:lnTo>
                  <a:pt x="3291840" y="2772"/>
                </a:lnTo>
                <a:lnTo>
                  <a:pt x="3352800" y="0"/>
                </a:lnTo>
                <a:lnTo>
                  <a:pt x="3413760" y="0"/>
                </a:lnTo>
                <a:lnTo>
                  <a:pt x="3474720" y="0"/>
                </a:lnTo>
                <a:lnTo>
                  <a:pt x="3535680" y="0"/>
                </a:lnTo>
                <a:lnTo>
                  <a:pt x="3596640" y="0"/>
                </a:lnTo>
                <a:lnTo>
                  <a:pt x="3657600" y="0"/>
                </a:lnTo>
              </a:path>
            </a:pathLst>
          </a:custGeom>
          <a:noFill/>
          <a:ln w="15875">
            <a:solidFill>
              <a:srgbClr val="1FB6D4"/>
            </a:solidFill>
            <a:prstDash val="solid"/>
          </a:ln>
        </p:spPr>
      </p:sp>
      <p:sp>
        <p:nvSpPr>
          <p:cNvPr id="49" name="Shape 46"/>
          <p:cNvSpPr/>
          <p:nvPr/>
        </p:nvSpPr>
        <p:spPr>
          <a:xfrm rot="6241225">
            <a:off x="5334000" y="2547817"/>
            <a:ext cx="91440" cy="100584"/>
          </a:xfrm>
          <a:prstGeom prst="triangle">
            <a:avLst/>
          </a:prstGeom>
          <a:solidFill>
            <a:srgbClr val="1FB6D4"/>
          </a:solidFill>
          <a:ln w="12700">
            <a:solidFill>
              <a:srgbClr val="1FB6D4"/>
            </a:solidFill>
            <a:prstDash val="solid"/>
          </a:ln>
        </p:spPr>
      </p:sp>
      <p:sp>
        <p:nvSpPr>
          <p:cNvPr id="50" name="Shape 47"/>
          <p:cNvSpPr/>
          <p:nvPr/>
        </p:nvSpPr>
        <p:spPr>
          <a:xfrm rot="4558775">
            <a:off x="8138160" y="2517372"/>
            <a:ext cx="91440" cy="100584"/>
          </a:xfrm>
          <a:prstGeom prst="triangle">
            <a:avLst/>
          </a:prstGeom>
          <a:solidFill>
            <a:srgbClr val="1FB6D4"/>
          </a:solidFill>
          <a:ln w="12700">
            <a:solidFill>
              <a:srgbClr val="1FB6D4"/>
            </a:solidFill>
            <a:prstDash val="solid"/>
          </a:ln>
        </p:spPr>
      </p:sp>
      <p:sp>
        <p:nvSpPr>
          <p:cNvPr id="51" name="Shape 48"/>
          <p:cNvSpPr/>
          <p:nvPr/>
        </p:nvSpPr>
        <p:spPr>
          <a:xfrm>
            <a:off x="4892040" y="2743200"/>
            <a:ext cx="3657600" cy="138989"/>
          </a:xfrm>
          <a:custGeom>
            <a:avLst/>
            <a:gdLst/>
            <a:ahLst/>
            <a:cxnLst/>
            <a:rect l="l" t="t" r="r" b="b"/>
            <a:pathLst>
              <a:path w="3657600" h="138989">
                <a:moveTo>
                  <a:pt x="0" y="0"/>
                </a:moveTo>
                <a:lnTo>
                  <a:pt x="60960" y="0"/>
                </a:lnTo>
                <a:lnTo>
                  <a:pt x="121920" y="0"/>
                </a:lnTo>
                <a:lnTo>
                  <a:pt x="182880" y="0"/>
                </a:lnTo>
                <a:lnTo>
                  <a:pt x="243840" y="0"/>
                </a:lnTo>
                <a:lnTo>
                  <a:pt x="304800" y="0"/>
                </a:lnTo>
                <a:lnTo>
                  <a:pt x="365760" y="1386"/>
                </a:lnTo>
                <a:lnTo>
                  <a:pt x="426720" y="7136"/>
                </a:lnTo>
                <a:lnTo>
                  <a:pt x="487680" y="16608"/>
                </a:lnTo>
                <a:lnTo>
                  <a:pt x="548640" y="28997"/>
                </a:lnTo>
                <a:lnTo>
                  <a:pt x="609600" y="43499"/>
                </a:lnTo>
                <a:lnTo>
                  <a:pt x="670560" y="59307"/>
                </a:lnTo>
                <a:lnTo>
                  <a:pt x="731520" y="75619"/>
                </a:lnTo>
                <a:lnTo>
                  <a:pt x="792480" y="91629"/>
                </a:lnTo>
                <a:lnTo>
                  <a:pt x="853440" y="106533"/>
                </a:lnTo>
                <a:lnTo>
                  <a:pt x="914400" y="119525"/>
                </a:lnTo>
                <a:lnTo>
                  <a:pt x="975360" y="129802"/>
                </a:lnTo>
                <a:lnTo>
                  <a:pt x="1036320" y="136558"/>
                </a:lnTo>
                <a:lnTo>
                  <a:pt x="1097280" y="138989"/>
                </a:lnTo>
                <a:lnTo>
                  <a:pt x="1158240" y="138989"/>
                </a:lnTo>
                <a:lnTo>
                  <a:pt x="1219200" y="138989"/>
                </a:lnTo>
                <a:lnTo>
                  <a:pt x="1280160" y="138989"/>
                </a:lnTo>
                <a:lnTo>
                  <a:pt x="1341120" y="138989"/>
                </a:lnTo>
                <a:lnTo>
                  <a:pt x="1402080" y="138989"/>
                </a:lnTo>
                <a:lnTo>
                  <a:pt x="1463040" y="138989"/>
                </a:lnTo>
                <a:lnTo>
                  <a:pt x="1524000" y="138989"/>
                </a:lnTo>
                <a:lnTo>
                  <a:pt x="1584960" y="138989"/>
                </a:lnTo>
                <a:lnTo>
                  <a:pt x="1645920" y="138989"/>
                </a:lnTo>
                <a:lnTo>
                  <a:pt x="1706880" y="138989"/>
                </a:lnTo>
                <a:lnTo>
                  <a:pt x="1767840" y="138989"/>
                </a:lnTo>
                <a:lnTo>
                  <a:pt x="1828800" y="138989"/>
                </a:lnTo>
                <a:lnTo>
                  <a:pt x="1889760" y="138989"/>
                </a:lnTo>
                <a:lnTo>
                  <a:pt x="1950720" y="138989"/>
                </a:lnTo>
                <a:lnTo>
                  <a:pt x="2011680" y="138989"/>
                </a:lnTo>
                <a:lnTo>
                  <a:pt x="2072640" y="138989"/>
                </a:lnTo>
                <a:lnTo>
                  <a:pt x="2133600" y="138989"/>
                </a:lnTo>
                <a:lnTo>
                  <a:pt x="2194560" y="138989"/>
                </a:lnTo>
                <a:lnTo>
                  <a:pt x="2255520" y="138989"/>
                </a:lnTo>
                <a:lnTo>
                  <a:pt x="2316480" y="138989"/>
                </a:lnTo>
                <a:lnTo>
                  <a:pt x="2377440" y="138989"/>
                </a:lnTo>
                <a:lnTo>
                  <a:pt x="2438400" y="138989"/>
                </a:lnTo>
                <a:lnTo>
                  <a:pt x="2499360" y="138989"/>
                </a:lnTo>
                <a:lnTo>
                  <a:pt x="2560320" y="138989"/>
                </a:lnTo>
                <a:lnTo>
                  <a:pt x="2621280" y="136558"/>
                </a:lnTo>
                <a:lnTo>
                  <a:pt x="2682240" y="129802"/>
                </a:lnTo>
                <a:lnTo>
                  <a:pt x="2743200" y="119525"/>
                </a:lnTo>
                <a:lnTo>
                  <a:pt x="2804160" y="106533"/>
                </a:lnTo>
                <a:lnTo>
                  <a:pt x="2865120" y="91629"/>
                </a:lnTo>
                <a:lnTo>
                  <a:pt x="2926080" y="75619"/>
                </a:lnTo>
                <a:lnTo>
                  <a:pt x="2987040" y="59307"/>
                </a:lnTo>
                <a:lnTo>
                  <a:pt x="3048000" y="43499"/>
                </a:lnTo>
                <a:lnTo>
                  <a:pt x="3108960" y="28997"/>
                </a:lnTo>
                <a:lnTo>
                  <a:pt x="3169920" y="16608"/>
                </a:lnTo>
                <a:lnTo>
                  <a:pt x="3230880" y="7136"/>
                </a:lnTo>
                <a:lnTo>
                  <a:pt x="3291840" y="1386"/>
                </a:lnTo>
                <a:lnTo>
                  <a:pt x="3352800" y="0"/>
                </a:lnTo>
                <a:lnTo>
                  <a:pt x="3413760" y="0"/>
                </a:lnTo>
                <a:lnTo>
                  <a:pt x="3474720" y="0"/>
                </a:lnTo>
                <a:lnTo>
                  <a:pt x="3535680" y="0"/>
                </a:lnTo>
                <a:lnTo>
                  <a:pt x="3596640" y="0"/>
                </a:lnTo>
                <a:lnTo>
                  <a:pt x="3657600" y="0"/>
                </a:lnTo>
              </a:path>
            </a:pathLst>
          </a:custGeom>
          <a:noFill/>
          <a:ln w="15875">
            <a:solidFill>
              <a:srgbClr val="1FB6D4"/>
            </a:solidFill>
            <a:prstDash val="solid"/>
          </a:ln>
        </p:spPr>
      </p:sp>
      <p:sp>
        <p:nvSpPr>
          <p:cNvPr id="52" name="Shape 49"/>
          <p:cNvSpPr/>
          <p:nvPr/>
        </p:nvSpPr>
        <p:spPr>
          <a:xfrm rot="5827005">
            <a:off x="5334000" y="2714088"/>
            <a:ext cx="91440" cy="100584"/>
          </a:xfrm>
          <a:prstGeom prst="triangle">
            <a:avLst/>
          </a:prstGeom>
          <a:solidFill>
            <a:srgbClr val="1FB6D4"/>
          </a:solidFill>
          <a:ln w="12700">
            <a:solidFill>
              <a:srgbClr val="1FB6D4"/>
            </a:solidFill>
            <a:prstDash val="solid"/>
          </a:ln>
        </p:spPr>
      </p:sp>
      <p:sp>
        <p:nvSpPr>
          <p:cNvPr id="53" name="Shape 50"/>
          <p:cNvSpPr/>
          <p:nvPr/>
        </p:nvSpPr>
        <p:spPr>
          <a:xfrm rot="4972995">
            <a:off x="8138160" y="2698866"/>
            <a:ext cx="91440" cy="100584"/>
          </a:xfrm>
          <a:prstGeom prst="triangle">
            <a:avLst/>
          </a:prstGeom>
          <a:solidFill>
            <a:srgbClr val="1FB6D4"/>
          </a:solidFill>
          <a:ln w="12700">
            <a:solidFill>
              <a:srgbClr val="1FB6D4"/>
            </a:solidFill>
            <a:prstDash val="solid"/>
          </a:ln>
        </p:spPr>
      </p:sp>
      <p:sp>
        <p:nvSpPr>
          <p:cNvPr id="54" name="Shape 51"/>
          <p:cNvSpPr/>
          <p:nvPr/>
        </p:nvSpPr>
        <p:spPr>
          <a:xfrm>
            <a:off x="4892040" y="2926080"/>
            <a:ext cx="3657600" cy="9144"/>
          </a:xfrm>
          <a:custGeom>
            <a:avLst/>
            <a:gdLst/>
            <a:ahLst/>
            <a:cxnLst/>
            <a:rect l="l" t="t" r="r" b="b"/>
            <a:pathLst>
              <a:path w="3657600" h="9144">
                <a:moveTo>
                  <a:pt x="0" y="0"/>
                </a:moveTo>
                <a:lnTo>
                  <a:pt x="60960" y="0"/>
                </a:lnTo>
                <a:lnTo>
                  <a:pt x="121920" y="0"/>
                </a:lnTo>
                <a:lnTo>
                  <a:pt x="182880" y="0"/>
                </a:lnTo>
                <a:lnTo>
                  <a:pt x="243840" y="0"/>
                </a:lnTo>
                <a:lnTo>
                  <a:pt x="304800" y="0"/>
                </a:lnTo>
                <a:lnTo>
                  <a:pt x="365760" y="0"/>
                </a:lnTo>
                <a:lnTo>
                  <a:pt x="426720" y="0"/>
                </a:lnTo>
                <a:lnTo>
                  <a:pt x="487680" y="0"/>
                </a:lnTo>
                <a:lnTo>
                  <a:pt x="548640" y="0"/>
                </a:lnTo>
                <a:lnTo>
                  <a:pt x="609600" y="0"/>
                </a:lnTo>
                <a:lnTo>
                  <a:pt x="670560" y="0"/>
                </a:lnTo>
                <a:lnTo>
                  <a:pt x="731520" y="0"/>
                </a:lnTo>
                <a:lnTo>
                  <a:pt x="792480" y="0"/>
                </a:lnTo>
                <a:lnTo>
                  <a:pt x="853440" y="0"/>
                </a:lnTo>
                <a:lnTo>
                  <a:pt x="914400" y="0"/>
                </a:lnTo>
                <a:lnTo>
                  <a:pt x="975360" y="0"/>
                </a:lnTo>
                <a:lnTo>
                  <a:pt x="1036320" y="0"/>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0"/>
                </a:lnTo>
                <a:lnTo>
                  <a:pt x="2682240" y="0"/>
                </a:lnTo>
                <a:lnTo>
                  <a:pt x="2743200" y="0"/>
                </a:lnTo>
                <a:lnTo>
                  <a:pt x="2804160" y="0"/>
                </a:lnTo>
                <a:lnTo>
                  <a:pt x="2865120" y="0"/>
                </a:lnTo>
                <a:lnTo>
                  <a:pt x="2926080" y="0"/>
                </a:lnTo>
                <a:lnTo>
                  <a:pt x="2987040" y="0"/>
                </a:lnTo>
                <a:lnTo>
                  <a:pt x="3048000" y="0"/>
                </a:lnTo>
                <a:lnTo>
                  <a:pt x="3108960" y="0"/>
                </a:lnTo>
                <a:lnTo>
                  <a:pt x="3169920" y="0"/>
                </a:lnTo>
                <a:lnTo>
                  <a:pt x="3230880" y="0"/>
                </a:lnTo>
                <a:lnTo>
                  <a:pt x="3291840" y="0"/>
                </a:lnTo>
                <a:lnTo>
                  <a:pt x="3352800" y="0"/>
                </a:lnTo>
                <a:lnTo>
                  <a:pt x="3413760" y="0"/>
                </a:lnTo>
                <a:lnTo>
                  <a:pt x="3474720" y="0"/>
                </a:lnTo>
                <a:lnTo>
                  <a:pt x="3535680" y="0"/>
                </a:lnTo>
                <a:lnTo>
                  <a:pt x="3596640" y="0"/>
                </a:lnTo>
                <a:lnTo>
                  <a:pt x="3657600" y="0"/>
                </a:lnTo>
              </a:path>
            </a:pathLst>
          </a:custGeom>
          <a:noFill/>
          <a:ln w="15875">
            <a:solidFill>
              <a:srgbClr val="1FB6D4"/>
            </a:solidFill>
            <a:prstDash val="solid"/>
          </a:ln>
        </p:spPr>
      </p:sp>
      <p:sp>
        <p:nvSpPr>
          <p:cNvPr id="55" name="Shape 52"/>
          <p:cNvSpPr/>
          <p:nvPr/>
        </p:nvSpPr>
        <p:spPr>
          <a:xfrm rot="5400000">
            <a:off x="5334000" y="2880360"/>
            <a:ext cx="91440" cy="100584"/>
          </a:xfrm>
          <a:prstGeom prst="triangle">
            <a:avLst/>
          </a:prstGeom>
          <a:solidFill>
            <a:srgbClr val="1FB6D4"/>
          </a:solidFill>
          <a:ln w="12700">
            <a:solidFill>
              <a:srgbClr val="1FB6D4"/>
            </a:solidFill>
            <a:prstDash val="solid"/>
          </a:ln>
        </p:spPr>
      </p:sp>
      <p:sp>
        <p:nvSpPr>
          <p:cNvPr id="56" name="Shape 53"/>
          <p:cNvSpPr/>
          <p:nvPr/>
        </p:nvSpPr>
        <p:spPr>
          <a:xfrm rot="5400000">
            <a:off x="8138160" y="2880360"/>
            <a:ext cx="91440" cy="100584"/>
          </a:xfrm>
          <a:prstGeom prst="triangle">
            <a:avLst/>
          </a:prstGeom>
          <a:solidFill>
            <a:srgbClr val="1FB6D4"/>
          </a:solidFill>
          <a:ln w="12700">
            <a:solidFill>
              <a:srgbClr val="1FB6D4"/>
            </a:solidFill>
            <a:prstDash val="solid"/>
          </a:ln>
        </p:spPr>
      </p:sp>
      <p:sp>
        <p:nvSpPr>
          <p:cNvPr id="57" name="Shape 54"/>
          <p:cNvSpPr/>
          <p:nvPr/>
        </p:nvSpPr>
        <p:spPr>
          <a:xfrm>
            <a:off x="4892040" y="2969971"/>
            <a:ext cx="3657600" cy="138989"/>
          </a:xfrm>
          <a:custGeom>
            <a:avLst/>
            <a:gdLst/>
            <a:ahLst/>
            <a:cxnLst/>
            <a:rect l="l" t="t" r="r" b="b"/>
            <a:pathLst>
              <a:path w="3657600" h="138989">
                <a:moveTo>
                  <a:pt x="0" y="138989"/>
                </a:moveTo>
                <a:lnTo>
                  <a:pt x="60960" y="138989"/>
                </a:lnTo>
                <a:lnTo>
                  <a:pt x="121920" y="138989"/>
                </a:lnTo>
                <a:lnTo>
                  <a:pt x="182880" y="138989"/>
                </a:lnTo>
                <a:lnTo>
                  <a:pt x="243840" y="138989"/>
                </a:lnTo>
                <a:lnTo>
                  <a:pt x="304800" y="138989"/>
                </a:lnTo>
                <a:lnTo>
                  <a:pt x="365760" y="137603"/>
                </a:lnTo>
                <a:lnTo>
                  <a:pt x="426720" y="131852"/>
                </a:lnTo>
                <a:lnTo>
                  <a:pt x="487680" y="122380"/>
                </a:lnTo>
                <a:lnTo>
                  <a:pt x="548640" y="109992"/>
                </a:lnTo>
                <a:lnTo>
                  <a:pt x="609600" y="95490"/>
                </a:lnTo>
                <a:lnTo>
                  <a:pt x="670560" y="79681"/>
                </a:lnTo>
                <a:lnTo>
                  <a:pt x="731520" y="63370"/>
                </a:lnTo>
                <a:lnTo>
                  <a:pt x="792480" y="47360"/>
                </a:lnTo>
                <a:lnTo>
                  <a:pt x="853440" y="32456"/>
                </a:lnTo>
                <a:lnTo>
                  <a:pt x="914400" y="19464"/>
                </a:lnTo>
                <a:lnTo>
                  <a:pt x="975360" y="9187"/>
                </a:lnTo>
                <a:lnTo>
                  <a:pt x="1036320" y="2431"/>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2431"/>
                </a:lnTo>
                <a:lnTo>
                  <a:pt x="2682240" y="9187"/>
                </a:lnTo>
                <a:lnTo>
                  <a:pt x="2743200" y="19464"/>
                </a:lnTo>
                <a:lnTo>
                  <a:pt x="2804160" y="32456"/>
                </a:lnTo>
                <a:lnTo>
                  <a:pt x="2865120" y="47360"/>
                </a:lnTo>
                <a:lnTo>
                  <a:pt x="2926080" y="63370"/>
                </a:lnTo>
                <a:lnTo>
                  <a:pt x="2987040" y="79681"/>
                </a:lnTo>
                <a:lnTo>
                  <a:pt x="3048000" y="95490"/>
                </a:lnTo>
                <a:lnTo>
                  <a:pt x="3108960" y="109992"/>
                </a:lnTo>
                <a:lnTo>
                  <a:pt x="3169920" y="122380"/>
                </a:lnTo>
                <a:lnTo>
                  <a:pt x="3230880" y="131852"/>
                </a:lnTo>
                <a:lnTo>
                  <a:pt x="3291840" y="137603"/>
                </a:lnTo>
                <a:lnTo>
                  <a:pt x="3352800" y="138989"/>
                </a:lnTo>
                <a:lnTo>
                  <a:pt x="3413760" y="138989"/>
                </a:lnTo>
                <a:lnTo>
                  <a:pt x="3474720" y="138989"/>
                </a:lnTo>
                <a:lnTo>
                  <a:pt x="3535680" y="138989"/>
                </a:lnTo>
                <a:lnTo>
                  <a:pt x="3596640" y="138989"/>
                </a:lnTo>
                <a:lnTo>
                  <a:pt x="3657600" y="138989"/>
                </a:lnTo>
              </a:path>
            </a:pathLst>
          </a:custGeom>
          <a:noFill/>
          <a:ln w="15875">
            <a:solidFill>
              <a:srgbClr val="1FB6D4"/>
            </a:solidFill>
            <a:prstDash val="solid"/>
          </a:ln>
        </p:spPr>
      </p:sp>
      <p:sp>
        <p:nvSpPr>
          <p:cNvPr id="58" name="Shape 55"/>
          <p:cNvSpPr/>
          <p:nvPr/>
        </p:nvSpPr>
        <p:spPr>
          <a:xfrm rot="4972995">
            <a:off x="5334000" y="3046632"/>
            <a:ext cx="91440" cy="100584"/>
          </a:xfrm>
          <a:prstGeom prst="triangle">
            <a:avLst/>
          </a:prstGeom>
          <a:solidFill>
            <a:srgbClr val="1FB6D4"/>
          </a:solidFill>
          <a:ln w="12700">
            <a:solidFill>
              <a:srgbClr val="1FB6D4"/>
            </a:solidFill>
            <a:prstDash val="solid"/>
          </a:ln>
        </p:spPr>
      </p:sp>
      <p:sp>
        <p:nvSpPr>
          <p:cNvPr id="59" name="Shape 56"/>
          <p:cNvSpPr/>
          <p:nvPr/>
        </p:nvSpPr>
        <p:spPr>
          <a:xfrm rot="5827005">
            <a:off x="8138160" y="3061854"/>
            <a:ext cx="91440" cy="100584"/>
          </a:xfrm>
          <a:prstGeom prst="triangle">
            <a:avLst/>
          </a:prstGeom>
          <a:solidFill>
            <a:srgbClr val="1FB6D4"/>
          </a:solidFill>
          <a:ln w="12700">
            <a:solidFill>
              <a:srgbClr val="1FB6D4"/>
            </a:solidFill>
            <a:prstDash val="solid"/>
          </a:ln>
        </p:spPr>
      </p:sp>
      <p:sp>
        <p:nvSpPr>
          <p:cNvPr id="60" name="Shape 57"/>
          <p:cNvSpPr/>
          <p:nvPr/>
        </p:nvSpPr>
        <p:spPr>
          <a:xfrm>
            <a:off x="4892040" y="3013862"/>
            <a:ext cx="3657600" cy="277978"/>
          </a:xfrm>
          <a:custGeom>
            <a:avLst/>
            <a:gdLst/>
            <a:ahLst/>
            <a:cxnLst/>
            <a:rect l="l" t="t" r="r" b="b"/>
            <a:pathLst>
              <a:path w="3657600" h="277978">
                <a:moveTo>
                  <a:pt x="0" y="277978"/>
                </a:moveTo>
                <a:lnTo>
                  <a:pt x="60960" y="277978"/>
                </a:lnTo>
                <a:lnTo>
                  <a:pt x="121920" y="277978"/>
                </a:lnTo>
                <a:lnTo>
                  <a:pt x="182880" y="277978"/>
                </a:lnTo>
                <a:lnTo>
                  <a:pt x="243840" y="277978"/>
                </a:lnTo>
                <a:lnTo>
                  <a:pt x="304800" y="277978"/>
                </a:lnTo>
                <a:lnTo>
                  <a:pt x="365760" y="275205"/>
                </a:lnTo>
                <a:lnTo>
                  <a:pt x="426720" y="263705"/>
                </a:lnTo>
                <a:lnTo>
                  <a:pt x="487680" y="244761"/>
                </a:lnTo>
                <a:lnTo>
                  <a:pt x="548640" y="219983"/>
                </a:lnTo>
                <a:lnTo>
                  <a:pt x="609600" y="190981"/>
                </a:lnTo>
                <a:lnTo>
                  <a:pt x="670560" y="159363"/>
                </a:lnTo>
                <a:lnTo>
                  <a:pt x="731520" y="126739"/>
                </a:lnTo>
                <a:lnTo>
                  <a:pt x="792480" y="94719"/>
                </a:lnTo>
                <a:lnTo>
                  <a:pt x="853440" y="64912"/>
                </a:lnTo>
                <a:lnTo>
                  <a:pt x="914400" y="38927"/>
                </a:lnTo>
                <a:lnTo>
                  <a:pt x="975360" y="18374"/>
                </a:lnTo>
                <a:lnTo>
                  <a:pt x="1036320" y="4862"/>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4862"/>
                </a:lnTo>
                <a:lnTo>
                  <a:pt x="2682240" y="18374"/>
                </a:lnTo>
                <a:lnTo>
                  <a:pt x="2743200" y="38927"/>
                </a:lnTo>
                <a:lnTo>
                  <a:pt x="2804160" y="64912"/>
                </a:lnTo>
                <a:lnTo>
                  <a:pt x="2865120" y="94719"/>
                </a:lnTo>
                <a:lnTo>
                  <a:pt x="2926080" y="126739"/>
                </a:lnTo>
                <a:lnTo>
                  <a:pt x="2987040" y="159363"/>
                </a:lnTo>
                <a:lnTo>
                  <a:pt x="3048000" y="190981"/>
                </a:lnTo>
                <a:lnTo>
                  <a:pt x="3108960" y="219983"/>
                </a:lnTo>
                <a:lnTo>
                  <a:pt x="3169920" y="244761"/>
                </a:lnTo>
                <a:lnTo>
                  <a:pt x="3230880" y="263705"/>
                </a:lnTo>
                <a:lnTo>
                  <a:pt x="3291840" y="275205"/>
                </a:lnTo>
                <a:lnTo>
                  <a:pt x="3352800" y="277978"/>
                </a:lnTo>
                <a:lnTo>
                  <a:pt x="3413760" y="277978"/>
                </a:lnTo>
                <a:lnTo>
                  <a:pt x="3474720" y="277978"/>
                </a:lnTo>
                <a:lnTo>
                  <a:pt x="3535680" y="277978"/>
                </a:lnTo>
                <a:lnTo>
                  <a:pt x="3596640" y="277978"/>
                </a:lnTo>
                <a:lnTo>
                  <a:pt x="3657600" y="277978"/>
                </a:lnTo>
              </a:path>
            </a:pathLst>
          </a:custGeom>
          <a:noFill/>
          <a:ln w="15875">
            <a:solidFill>
              <a:srgbClr val="1FB6D4"/>
            </a:solidFill>
            <a:prstDash val="solid"/>
          </a:ln>
        </p:spPr>
      </p:sp>
      <p:sp>
        <p:nvSpPr>
          <p:cNvPr id="61" name="Shape 58"/>
          <p:cNvSpPr/>
          <p:nvPr/>
        </p:nvSpPr>
        <p:spPr>
          <a:xfrm rot="4558775">
            <a:off x="5334000" y="3212903"/>
            <a:ext cx="91440" cy="100584"/>
          </a:xfrm>
          <a:prstGeom prst="triangle">
            <a:avLst/>
          </a:prstGeom>
          <a:solidFill>
            <a:srgbClr val="1FB6D4"/>
          </a:solidFill>
          <a:ln w="12700">
            <a:solidFill>
              <a:srgbClr val="1FB6D4"/>
            </a:solidFill>
            <a:prstDash val="solid"/>
          </a:ln>
        </p:spPr>
      </p:sp>
      <p:sp>
        <p:nvSpPr>
          <p:cNvPr id="62" name="Shape 59"/>
          <p:cNvSpPr/>
          <p:nvPr/>
        </p:nvSpPr>
        <p:spPr>
          <a:xfrm rot="6241225">
            <a:off x="8138160" y="3243348"/>
            <a:ext cx="91440" cy="100584"/>
          </a:xfrm>
          <a:prstGeom prst="triangle">
            <a:avLst/>
          </a:prstGeom>
          <a:solidFill>
            <a:srgbClr val="1FB6D4"/>
          </a:solidFill>
          <a:ln w="12700">
            <a:solidFill>
              <a:srgbClr val="1FB6D4"/>
            </a:solidFill>
            <a:prstDash val="solid"/>
          </a:ln>
        </p:spPr>
      </p:sp>
      <p:sp>
        <p:nvSpPr>
          <p:cNvPr id="63" name="Shape 60"/>
          <p:cNvSpPr/>
          <p:nvPr/>
        </p:nvSpPr>
        <p:spPr>
          <a:xfrm>
            <a:off x="4892040" y="3057754"/>
            <a:ext cx="3657600" cy="416966"/>
          </a:xfrm>
          <a:custGeom>
            <a:avLst/>
            <a:gdLst/>
            <a:ahLst/>
            <a:cxnLst/>
            <a:rect l="l" t="t" r="r" b="b"/>
            <a:pathLst>
              <a:path w="3657600" h="416966">
                <a:moveTo>
                  <a:pt x="0" y="416966"/>
                </a:moveTo>
                <a:lnTo>
                  <a:pt x="60960" y="416966"/>
                </a:lnTo>
                <a:lnTo>
                  <a:pt x="121920" y="416966"/>
                </a:lnTo>
                <a:lnTo>
                  <a:pt x="182880" y="416966"/>
                </a:lnTo>
                <a:lnTo>
                  <a:pt x="243840" y="416966"/>
                </a:lnTo>
                <a:lnTo>
                  <a:pt x="304800" y="416966"/>
                </a:lnTo>
                <a:lnTo>
                  <a:pt x="365760" y="412808"/>
                </a:lnTo>
                <a:lnTo>
                  <a:pt x="426720" y="395557"/>
                </a:lnTo>
                <a:lnTo>
                  <a:pt x="487680" y="367141"/>
                </a:lnTo>
                <a:lnTo>
                  <a:pt x="548640" y="329975"/>
                </a:lnTo>
                <a:lnTo>
                  <a:pt x="609600" y="286471"/>
                </a:lnTo>
                <a:lnTo>
                  <a:pt x="670560" y="239044"/>
                </a:lnTo>
                <a:lnTo>
                  <a:pt x="731520" y="190109"/>
                </a:lnTo>
                <a:lnTo>
                  <a:pt x="792480" y="142079"/>
                </a:lnTo>
                <a:lnTo>
                  <a:pt x="853440" y="97368"/>
                </a:lnTo>
                <a:lnTo>
                  <a:pt x="914400" y="58391"/>
                </a:lnTo>
                <a:lnTo>
                  <a:pt x="975360" y="27561"/>
                </a:lnTo>
                <a:lnTo>
                  <a:pt x="1036320" y="7293"/>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7293"/>
                </a:lnTo>
                <a:lnTo>
                  <a:pt x="2682240" y="27561"/>
                </a:lnTo>
                <a:lnTo>
                  <a:pt x="2743200" y="58391"/>
                </a:lnTo>
                <a:lnTo>
                  <a:pt x="2804160" y="97368"/>
                </a:lnTo>
                <a:lnTo>
                  <a:pt x="2865120" y="142079"/>
                </a:lnTo>
                <a:lnTo>
                  <a:pt x="2926080" y="190109"/>
                </a:lnTo>
                <a:lnTo>
                  <a:pt x="2987040" y="239044"/>
                </a:lnTo>
                <a:lnTo>
                  <a:pt x="3048000" y="286471"/>
                </a:lnTo>
                <a:lnTo>
                  <a:pt x="3108960" y="329975"/>
                </a:lnTo>
                <a:lnTo>
                  <a:pt x="3169920" y="367141"/>
                </a:lnTo>
                <a:lnTo>
                  <a:pt x="3230880" y="395557"/>
                </a:lnTo>
                <a:lnTo>
                  <a:pt x="3291840" y="412808"/>
                </a:lnTo>
                <a:lnTo>
                  <a:pt x="3352800" y="416966"/>
                </a:lnTo>
                <a:lnTo>
                  <a:pt x="3413760" y="416966"/>
                </a:lnTo>
                <a:lnTo>
                  <a:pt x="3474720" y="416966"/>
                </a:lnTo>
                <a:lnTo>
                  <a:pt x="3535680" y="416966"/>
                </a:lnTo>
                <a:lnTo>
                  <a:pt x="3596640" y="416966"/>
                </a:lnTo>
                <a:lnTo>
                  <a:pt x="3657600" y="416966"/>
                </a:lnTo>
              </a:path>
            </a:pathLst>
          </a:custGeom>
          <a:noFill/>
          <a:ln w="15875">
            <a:solidFill>
              <a:srgbClr val="1FB6D4"/>
            </a:solidFill>
            <a:prstDash val="solid"/>
          </a:ln>
        </p:spPr>
      </p:sp>
      <p:sp>
        <p:nvSpPr>
          <p:cNvPr id="64" name="Shape 61"/>
          <p:cNvSpPr/>
          <p:nvPr/>
        </p:nvSpPr>
        <p:spPr>
          <a:xfrm rot="4167964">
            <a:off x="5334000" y="3379175"/>
            <a:ext cx="91440" cy="100584"/>
          </a:xfrm>
          <a:prstGeom prst="triangle">
            <a:avLst/>
          </a:prstGeom>
          <a:solidFill>
            <a:srgbClr val="1FB6D4"/>
          </a:solidFill>
          <a:ln w="12700">
            <a:solidFill>
              <a:srgbClr val="1FB6D4"/>
            </a:solidFill>
            <a:prstDash val="solid"/>
          </a:ln>
        </p:spPr>
      </p:sp>
      <p:sp>
        <p:nvSpPr>
          <p:cNvPr id="65" name="Shape 62"/>
          <p:cNvSpPr/>
          <p:nvPr/>
        </p:nvSpPr>
        <p:spPr>
          <a:xfrm rot="6632036">
            <a:off x="8138160" y="3424841"/>
            <a:ext cx="91440" cy="100584"/>
          </a:xfrm>
          <a:prstGeom prst="triangle">
            <a:avLst/>
          </a:prstGeom>
          <a:solidFill>
            <a:srgbClr val="1FB6D4"/>
          </a:solidFill>
          <a:ln w="12700">
            <a:solidFill>
              <a:srgbClr val="1FB6D4"/>
            </a:solidFill>
            <a:prstDash val="solid"/>
          </a:ln>
        </p:spPr>
      </p:sp>
      <p:sp>
        <p:nvSpPr>
          <p:cNvPr id="66" name="Shape 63"/>
          <p:cNvSpPr/>
          <p:nvPr/>
        </p:nvSpPr>
        <p:spPr>
          <a:xfrm>
            <a:off x="4892040" y="3101645"/>
            <a:ext cx="3657600" cy="555955"/>
          </a:xfrm>
          <a:custGeom>
            <a:avLst/>
            <a:gdLst/>
            <a:ahLst/>
            <a:cxnLst/>
            <a:rect l="l" t="t" r="r" b="b"/>
            <a:pathLst>
              <a:path w="3657600" h="555955">
                <a:moveTo>
                  <a:pt x="0" y="555955"/>
                </a:moveTo>
                <a:lnTo>
                  <a:pt x="60960" y="555955"/>
                </a:lnTo>
                <a:lnTo>
                  <a:pt x="121920" y="555955"/>
                </a:lnTo>
                <a:lnTo>
                  <a:pt x="182880" y="555955"/>
                </a:lnTo>
                <a:lnTo>
                  <a:pt x="243840" y="555955"/>
                </a:lnTo>
                <a:lnTo>
                  <a:pt x="304800" y="555955"/>
                </a:lnTo>
                <a:lnTo>
                  <a:pt x="365760" y="550410"/>
                </a:lnTo>
                <a:lnTo>
                  <a:pt x="426720" y="527410"/>
                </a:lnTo>
                <a:lnTo>
                  <a:pt x="487680" y="489522"/>
                </a:lnTo>
                <a:lnTo>
                  <a:pt x="548640" y="439966"/>
                </a:lnTo>
                <a:lnTo>
                  <a:pt x="609600" y="381961"/>
                </a:lnTo>
                <a:lnTo>
                  <a:pt x="670560" y="318726"/>
                </a:lnTo>
                <a:lnTo>
                  <a:pt x="731520" y="253478"/>
                </a:lnTo>
                <a:lnTo>
                  <a:pt x="792480" y="189438"/>
                </a:lnTo>
                <a:lnTo>
                  <a:pt x="853440" y="129824"/>
                </a:lnTo>
                <a:lnTo>
                  <a:pt x="914400" y="77854"/>
                </a:lnTo>
                <a:lnTo>
                  <a:pt x="975360" y="36748"/>
                </a:lnTo>
                <a:lnTo>
                  <a:pt x="1036320" y="9723"/>
                </a:lnTo>
                <a:lnTo>
                  <a:pt x="1097280" y="0"/>
                </a:lnTo>
                <a:lnTo>
                  <a:pt x="1158240" y="0"/>
                </a:lnTo>
                <a:lnTo>
                  <a:pt x="1219200" y="0"/>
                </a:lnTo>
                <a:lnTo>
                  <a:pt x="1280160" y="0"/>
                </a:lnTo>
                <a:lnTo>
                  <a:pt x="1341120" y="0"/>
                </a:lnTo>
                <a:lnTo>
                  <a:pt x="1402080" y="0"/>
                </a:lnTo>
                <a:lnTo>
                  <a:pt x="1463040" y="0"/>
                </a:lnTo>
                <a:lnTo>
                  <a:pt x="1524000" y="0"/>
                </a:lnTo>
                <a:lnTo>
                  <a:pt x="1584960" y="0"/>
                </a:lnTo>
                <a:lnTo>
                  <a:pt x="1645920" y="0"/>
                </a:lnTo>
                <a:lnTo>
                  <a:pt x="1706880" y="0"/>
                </a:lnTo>
                <a:lnTo>
                  <a:pt x="1767840" y="0"/>
                </a:lnTo>
                <a:lnTo>
                  <a:pt x="1828800" y="0"/>
                </a:lnTo>
                <a:lnTo>
                  <a:pt x="1889760" y="0"/>
                </a:lnTo>
                <a:lnTo>
                  <a:pt x="1950720" y="0"/>
                </a:lnTo>
                <a:lnTo>
                  <a:pt x="2011680" y="0"/>
                </a:lnTo>
                <a:lnTo>
                  <a:pt x="2072640" y="0"/>
                </a:lnTo>
                <a:lnTo>
                  <a:pt x="2133600" y="0"/>
                </a:lnTo>
                <a:lnTo>
                  <a:pt x="2194560" y="0"/>
                </a:lnTo>
                <a:lnTo>
                  <a:pt x="2255520" y="0"/>
                </a:lnTo>
                <a:lnTo>
                  <a:pt x="2316480" y="0"/>
                </a:lnTo>
                <a:lnTo>
                  <a:pt x="2377440" y="0"/>
                </a:lnTo>
                <a:lnTo>
                  <a:pt x="2438400" y="0"/>
                </a:lnTo>
                <a:lnTo>
                  <a:pt x="2499360" y="0"/>
                </a:lnTo>
                <a:lnTo>
                  <a:pt x="2560320" y="0"/>
                </a:lnTo>
                <a:lnTo>
                  <a:pt x="2621280" y="9723"/>
                </a:lnTo>
                <a:lnTo>
                  <a:pt x="2682240" y="36748"/>
                </a:lnTo>
                <a:lnTo>
                  <a:pt x="2743200" y="77854"/>
                </a:lnTo>
                <a:lnTo>
                  <a:pt x="2804160" y="129824"/>
                </a:lnTo>
                <a:lnTo>
                  <a:pt x="2865120" y="189438"/>
                </a:lnTo>
                <a:lnTo>
                  <a:pt x="2926080" y="253478"/>
                </a:lnTo>
                <a:lnTo>
                  <a:pt x="2987040" y="318726"/>
                </a:lnTo>
                <a:lnTo>
                  <a:pt x="3048000" y="381961"/>
                </a:lnTo>
                <a:lnTo>
                  <a:pt x="3108960" y="439966"/>
                </a:lnTo>
                <a:lnTo>
                  <a:pt x="3169920" y="489522"/>
                </a:lnTo>
                <a:lnTo>
                  <a:pt x="3230880" y="527410"/>
                </a:lnTo>
                <a:lnTo>
                  <a:pt x="3291840" y="550410"/>
                </a:lnTo>
                <a:lnTo>
                  <a:pt x="3352800" y="555955"/>
                </a:lnTo>
                <a:lnTo>
                  <a:pt x="3413760" y="555955"/>
                </a:lnTo>
                <a:lnTo>
                  <a:pt x="3474720" y="555955"/>
                </a:lnTo>
                <a:lnTo>
                  <a:pt x="3535680" y="555955"/>
                </a:lnTo>
                <a:lnTo>
                  <a:pt x="3596640" y="555955"/>
                </a:lnTo>
                <a:lnTo>
                  <a:pt x="3657600" y="555955"/>
                </a:lnTo>
              </a:path>
            </a:pathLst>
          </a:custGeom>
          <a:noFill/>
          <a:ln w="15875">
            <a:solidFill>
              <a:srgbClr val="1FB6D4"/>
            </a:solidFill>
            <a:prstDash val="solid"/>
          </a:ln>
        </p:spPr>
      </p:sp>
      <p:sp>
        <p:nvSpPr>
          <p:cNvPr id="67" name="Shape 64"/>
          <p:cNvSpPr/>
          <p:nvPr/>
        </p:nvSpPr>
        <p:spPr>
          <a:xfrm rot="3807711">
            <a:off x="5334000" y="3545447"/>
            <a:ext cx="91440" cy="100584"/>
          </a:xfrm>
          <a:prstGeom prst="triangle">
            <a:avLst/>
          </a:prstGeom>
          <a:solidFill>
            <a:srgbClr val="1FB6D4"/>
          </a:solidFill>
          <a:ln w="12700">
            <a:solidFill>
              <a:srgbClr val="1FB6D4"/>
            </a:solidFill>
            <a:prstDash val="solid"/>
          </a:ln>
        </p:spPr>
      </p:sp>
      <p:sp>
        <p:nvSpPr>
          <p:cNvPr id="68" name="Shape 65"/>
          <p:cNvSpPr/>
          <p:nvPr/>
        </p:nvSpPr>
        <p:spPr>
          <a:xfrm rot="6992289">
            <a:off x="8138160" y="3606335"/>
            <a:ext cx="91440" cy="100584"/>
          </a:xfrm>
          <a:prstGeom prst="triangle">
            <a:avLst/>
          </a:prstGeom>
          <a:solidFill>
            <a:srgbClr val="1FB6D4"/>
          </a:solidFill>
          <a:ln w="12700">
            <a:solidFill>
              <a:srgbClr val="1FB6D4"/>
            </a:solidFill>
            <a:prstDash val="solid"/>
          </a:ln>
        </p:spPr>
      </p:sp>
      <p:sp>
        <p:nvSpPr>
          <p:cNvPr id="69" name="Shape 66"/>
          <p:cNvSpPr/>
          <p:nvPr/>
        </p:nvSpPr>
        <p:spPr>
          <a:xfrm>
            <a:off x="457200" y="3931920"/>
            <a:ext cx="2651760" cy="749808"/>
          </a:xfrm>
          <a:prstGeom prst="roundRect">
            <a:avLst>
              <a:gd name="adj" fmla="val 9756"/>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70" name="Shape 67"/>
          <p:cNvSpPr/>
          <p:nvPr/>
        </p:nvSpPr>
        <p:spPr>
          <a:xfrm>
            <a:off x="621792" y="4105656"/>
            <a:ext cx="402336" cy="402336"/>
          </a:xfrm>
          <a:prstGeom prst="ellipse">
            <a:avLst/>
          </a:prstGeom>
          <a:solidFill>
            <a:srgbClr val="0B1F3A"/>
          </a:solidFill>
          <a:ln w="12700">
            <a:solidFill>
              <a:srgbClr val="0B1F3A"/>
            </a:solidFill>
            <a:prstDash val="solid"/>
          </a:ln>
        </p:spPr>
      </p:sp>
      <p:pic>
        <p:nvPicPr>
          <p:cNvPr id="71" name="Image 0" descr="preencoded.png">    </p:cNvPr>
          <p:cNvPicPr>
            <a:picLocks noChangeAspect="1"/>
          </p:cNvPicPr>
          <p:nvPr/>
        </p:nvPicPr>
        <p:blipFill>
          <a:blip r:embed="rId1"/>
          <a:stretch>
            <a:fillRect/>
          </a:stretch>
        </p:blipFill>
        <p:spPr>
          <a:xfrm>
            <a:off x="722376" y="4206240"/>
            <a:ext cx="201168" cy="201168"/>
          </a:xfrm>
          <a:prstGeom prst="rect">
            <a:avLst/>
          </a:prstGeom>
        </p:spPr>
      </p:pic>
      <p:sp>
        <p:nvSpPr>
          <p:cNvPr id="72" name="Text 68"/>
          <p:cNvSpPr txBox="1"/>
          <p:nvPr/>
        </p:nvSpPr>
        <p:spPr>
          <a:xfrm>
            <a:off x="1143000" y="4005072"/>
            <a:ext cx="1920240" cy="201168"/>
          </a:xfrm>
          <a:prstGeom prst="rect">
            <a:avLst/>
          </a:prstGeom>
          <a:noFill/>
          <a:ln/>
        </p:spPr>
        <p:txBody>
          <a:bodyPr wrap="square" lIns="0" tIns="0" rIns="0" bIns="0" rtlCol="0" anchor="t"/>
          <a:lstStyle/>
          <a:p>
            <a:pPr indent="0" marL="0">
              <a:buNone/>
            </a:pPr>
            <a:r>
              <a:rPr lang="en-US" sz="1050" b="1" dirty="0">
                <a:solidFill>
                  <a:srgbClr val="0B1F3A"/>
                </a:solidFill>
                <a:latin typeface="Arial" pitchFamily="34" charset="0"/>
                <a:ea typeface="Arial" pitchFamily="34" charset="-122"/>
                <a:cs typeface="Arial" pitchFamily="34" charset="-120"/>
              </a:rPr>
              <a:t>Поле проникает</a:t>
            </a:r>
            <a:endParaRPr lang="en-US" sz="1050" dirty="0"/>
          </a:p>
        </p:txBody>
      </p:sp>
      <p:sp>
        <p:nvSpPr>
          <p:cNvPr id="73" name="Text 69"/>
          <p:cNvSpPr txBox="1"/>
          <p:nvPr/>
        </p:nvSpPr>
        <p:spPr>
          <a:xfrm>
            <a:off x="1143000" y="4206240"/>
            <a:ext cx="1920240" cy="411480"/>
          </a:xfrm>
          <a:prstGeom prst="rect">
            <a:avLst/>
          </a:prstGeom>
          <a:noFill/>
          <a:ln/>
        </p:spPr>
        <p:txBody>
          <a:bodyPr wrap="square" lIns="0" tIns="0" rIns="0" bIns="0" rtlCol="0" anchor="t"/>
          <a:lstStyle/>
          <a:p>
            <a:pPr indent="0" marL="0">
              <a:buNone/>
            </a:pPr>
            <a:r>
              <a:rPr lang="en-US" sz="850" dirty="0">
                <a:solidFill>
                  <a:srgbClr val="64748B"/>
                </a:solidFill>
                <a:latin typeface="Arial" pitchFamily="34" charset="0"/>
                <a:ea typeface="Arial" pitchFamily="34" charset="-122"/>
                <a:cs typeface="Arial" pitchFamily="34" charset="-120"/>
              </a:rPr>
              <a:t>магнитное поле проходит через многие материалы</a:t>
            </a:r>
            <a:endParaRPr lang="en-US" sz="850" dirty="0"/>
          </a:p>
        </p:txBody>
      </p:sp>
      <p:sp>
        <p:nvSpPr>
          <p:cNvPr id="74" name="Shape 70"/>
          <p:cNvSpPr/>
          <p:nvPr/>
        </p:nvSpPr>
        <p:spPr>
          <a:xfrm>
            <a:off x="3246120" y="3931920"/>
            <a:ext cx="2651760" cy="749808"/>
          </a:xfrm>
          <a:prstGeom prst="roundRect">
            <a:avLst>
              <a:gd name="adj" fmla="val 9756"/>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75" name="Shape 71"/>
          <p:cNvSpPr/>
          <p:nvPr/>
        </p:nvSpPr>
        <p:spPr>
          <a:xfrm>
            <a:off x="3410712" y="4105656"/>
            <a:ext cx="402336" cy="402336"/>
          </a:xfrm>
          <a:prstGeom prst="ellipse">
            <a:avLst/>
          </a:prstGeom>
          <a:solidFill>
            <a:srgbClr val="0B1F3A"/>
          </a:solidFill>
          <a:ln w="12700">
            <a:solidFill>
              <a:srgbClr val="0B1F3A"/>
            </a:solidFill>
            <a:prstDash val="solid"/>
          </a:ln>
        </p:spPr>
      </p:sp>
      <p:pic>
        <p:nvPicPr>
          <p:cNvPr id="76" name="Image 1" descr="preencoded.png">    </p:cNvPr>
          <p:cNvPicPr>
            <a:picLocks noChangeAspect="1"/>
          </p:cNvPicPr>
          <p:nvPr/>
        </p:nvPicPr>
        <p:blipFill>
          <a:blip r:embed="rId2"/>
          <a:stretch>
            <a:fillRect/>
          </a:stretch>
        </p:blipFill>
        <p:spPr>
          <a:xfrm>
            <a:off x="3511296" y="4206240"/>
            <a:ext cx="201168" cy="201168"/>
          </a:xfrm>
          <a:prstGeom prst="rect">
            <a:avLst/>
          </a:prstGeom>
        </p:spPr>
      </p:pic>
      <p:sp>
        <p:nvSpPr>
          <p:cNvPr id="77" name="Text 72"/>
          <p:cNvSpPr txBox="1"/>
          <p:nvPr/>
        </p:nvSpPr>
        <p:spPr>
          <a:xfrm>
            <a:off x="3931920" y="4005072"/>
            <a:ext cx="1920240" cy="201168"/>
          </a:xfrm>
          <a:prstGeom prst="rect">
            <a:avLst/>
          </a:prstGeom>
          <a:noFill/>
          <a:ln/>
        </p:spPr>
        <p:txBody>
          <a:bodyPr wrap="square" lIns="0" tIns="0" rIns="0" bIns="0" rtlCol="0" anchor="t"/>
          <a:lstStyle/>
          <a:p>
            <a:pPr indent="0" marL="0">
              <a:buNone/>
            </a:pPr>
            <a:r>
              <a:rPr lang="en-US" sz="1050" b="1" dirty="0">
                <a:solidFill>
                  <a:srgbClr val="0B1F3A"/>
                </a:solidFill>
                <a:latin typeface="Arial" pitchFamily="34" charset="0"/>
                <a:ea typeface="Arial" pitchFamily="34" charset="-122"/>
                <a:cs typeface="Arial" pitchFamily="34" charset="-120"/>
              </a:rPr>
              <a:t>Сложнее на НЧ</a:t>
            </a:r>
            <a:endParaRPr lang="en-US" sz="1050" dirty="0"/>
          </a:p>
        </p:txBody>
      </p:sp>
      <p:sp>
        <p:nvSpPr>
          <p:cNvPr id="78" name="Text 73"/>
          <p:cNvSpPr txBox="1"/>
          <p:nvPr/>
        </p:nvSpPr>
        <p:spPr>
          <a:xfrm>
            <a:off x="3931920" y="4206240"/>
            <a:ext cx="1920240" cy="411480"/>
          </a:xfrm>
          <a:prstGeom prst="rect">
            <a:avLst/>
          </a:prstGeom>
          <a:noFill/>
          <a:ln/>
        </p:spPr>
        <p:txBody>
          <a:bodyPr wrap="square" lIns="0" tIns="0" rIns="0" bIns="0" rtlCol="0" anchor="t"/>
          <a:lstStyle/>
          <a:p>
            <a:pPr indent="0" marL="0">
              <a:buNone/>
            </a:pPr>
            <a:r>
              <a:rPr lang="en-US" sz="850" dirty="0">
                <a:solidFill>
                  <a:srgbClr val="64748B"/>
                </a:solidFill>
                <a:latin typeface="Arial" pitchFamily="34" charset="0"/>
                <a:ea typeface="Arial" pitchFamily="34" charset="-122"/>
                <a:cs typeface="Arial" pitchFamily="34" charset="-120"/>
              </a:rPr>
              <a:t>вихревые токи слабы — обычный экран не помогает</a:t>
            </a:r>
            <a:endParaRPr lang="en-US" sz="850" dirty="0"/>
          </a:p>
        </p:txBody>
      </p:sp>
      <p:sp>
        <p:nvSpPr>
          <p:cNvPr id="79" name="Shape 74"/>
          <p:cNvSpPr/>
          <p:nvPr/>
        </p:nvSpPr>
        <p:spPr>
          <a:xfrm>
            <a:off x="6035040" y="3931920"/>
            <a:ext cx="2651760" cy="749808"/>
          </a:xfrm>
          <a:prstGeom prst="roundRect">
            <a:avLst>
              <a:gd name="adj" fmla="val 9756"/>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80" name="Shape 75"/>
          <p:cNvSpPr/>
          <p:nvPr/>
        </p:nvSpPr>
        <p:spPr>
          <a:xfrm>
            <a:off x="6199632" y="4105656"/>
            <a:ext cx="402336" cy="402336"/>
          </a:xfrm>
          <a:prstGeom prst="ellipse">
            <a:avLst/>
          </a:prstGeom>
          <a:solidFill>
            <a:srgbClr val="0E9AA7"/>
          </a:solidFill>
          <a:ln w="12700">
            <a:solidFill>
              <a:srgbClr val="0E9AA7"/>
            </a:solidFill>
            <a:prstDash val="solid"/>
          </a:ln>
        </p:spPr>
      </p:sp>
      <p:pic>
        <p:nvPicPr>
          <p:cNvPr id="81" name="Image 2" descr="preencoded.png">    </p:cNvPr>
          <p:cNvPicPr>
            <a:picLocks noChangeAspect="1"/>
          </p:cNvPicPr>
          <p:nvPr/>
        </p:nvPicPr>
        <p:blipFill>
          <a:blip r:embed="rId3"/>
          <a:stretch>
            <a:fillRect/>
          </a:stretch>
        </p:blipFill>
        <p:spPr>
          <a:xfrm>
            <a:off x="6300216" y="4206240"/>
            <a:ext cx="201168" cy="201168"/>
          </a:xfrm>
          <a:prstGeom prst="rect">
            <a:avLst/>
          </a:prstGeom>
        </p:spPr>
      </p:pic>
      <p:sp>
        <p:nvSpPr>
          <p:cNvPr id="82" name="Text 76"/>
          <p:cNvSpPr txBox="1"/>
          <p:nvPr/>
        </p:nvSpPr>
        <p:spPr>
          <a:xfrm>
            <a:off x="6720840" y="4005072"/>
            <a:ext cx="1920240" cy="201168"/>
          </a:xfrm>
          <a:prstGeom prst="rect">
            <a:avLst/>
          </a:prstGeom>
          <a:noFill/>
          <a:ln/>
        </p:spPr>
        <p:txBody>
          <a:bodyPr wrap="square" lIns="0" tIns="0" rIns="0" bIns="0" rtlCol="0" anchor="t"/>
          <a:lstStyle/>
          <a:p>
            <a:pPr indent="0" marL="0">
              <a:buNone/>
            </a:pPr>
            <a:r>
              <a:rPr lang="en-US" sz="1050" b="1" dirty="0">
                <a:solidFill>
                  <a:srgbClr val="0B1F3A"/>
                </a:solidFill>
                <a:latin typeface="Arial" pitchFamily="34" charset="0"/>
                <a:ea typeface="Arial" pitchFamily="34" charset="-122"/>
                <a:cs typeface="Arial" pitchFamily="34" charset="-120"/>
              </a:rPr>
              <a:t>Магнитомягкие материалы</a:t>
            </a:r>
            <a:endParaRPr lang="en-US" sz="1050" dirty="0"/>
          </a:p>
        </p:txBody>
      </p:sp>
      <p:sp>
        <p:nvSpPr>
          <p:cNvPr id="83" name="Text 77"/>
          <p:cNvSpPr txBox="1"/>
          <p:nvPr/>
        </p:nvSpPr>
        <p:spPr>
          <a:xfrm>
            <a:off x="6720840" y="4206240"/>
            <a:ext cx="1920240" cy="411480"/>
          </a:xfrm>
          <a:prstGeom prst="rect">
            <a:avLst/>
          </a:prstGeom>
          <a:noFill/>
          <a:ln/>
        </p:spPr>
        <p:txBody>
          <a:bodyPr wrap="square" lIns="0" tIns="0" rIns="0" bIns="0" rtlCol="0" anchor="t"/>
          <a:lstStyle/>
          <a:p>
            <a:pPr indent="0" marL="0">
              <a:buNone/>
            </a:pPr>
            <a:r>
              <a:rPr lang="en-US" sz="850" dirty="0">
                <a:solidFill>
                  <a:srgbClr val="64748B"/>
                </a:solidFill>
                <a:latin typeface="Arial" pitchFamily="34" charset="0"/>
                <a:ea typeface="Arial" pitchFamily="34" charset="-122"/>
                <a:cs typeface="Arial" pitchFamily="34" charset="-120"/>
              </a:rPr>
              <a:t>высокая проницаемость направляет поток</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9"/>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0E9AA7"/>
                </a:solidFill>
                <a:latin typeface="Arial" pitchFamily="34" charset="0"/>
                <a:ea typeface="Arial" pitchFamily="34" charset="-122"/>
                <a:cs typeface="Arial" pitchFamily="34" charset="-120"/>
              </a:rPr>
              <a:t>МАГНИТНОЕ ПОЛЕ</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0B1F3A"/>
                </a:solidFill>
                <a:latin typeface="Arial" pitchFamily="34" charset="0"/>
                <a:ea typeface="Arial" pitchFamily="34" charset="-122"/>
                <a:cs typeface="Arial" pitchFamily="34" charset="-120"/>
              </a:rPr>
              <a:t>Экранирование магнитного поля</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64748B"/>
                </a:solidFill>
                <a:latin typeface="Arial" pitchFamily="34" charset="0"/>
                <a:ea typeface="Arial" pitchFamily="34" charset="-122"/>
                <a:cs typeface="Arial" pitchFamily="34" charset="-120"/>
              </a:rPr>
              <a:t>05</a:t>
            </a:r>
            <a:endParaRPr lang="en-US" sz="800" dirty="0"/>
          </a:p>
        </p:txBody>
      </p:sp>
      <p:sp>
        <p:nvSpPr>
          <p:cNvPr id="7" name="Shape 4"/>
          <p:cNvSpPr/>
          <p:nvPr/>
        </p:nvSpPr>
        <p:spPr>
          <a:xfrm>
            <a:off x="457200" y="1280160"/>
            <a:ext cx="5120640" cy="3383280"/>
          </a:xfrm>
          <a:prstGeom prst="roundRect">
            <a:avLst>
              <a:gd name="adj" fmla="val 2162"/>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8" name="Shape 5"/>
          <p:cNvSpPr/>
          <p:nvPr/>
        </p:nvSpPr>
        <p:spPr>
          <a:xfrm>
            <a:off x="1920240" y="1965960"/>
            <a:ext cx="2194560" cy="1554480"/>
          </a:xfrm>
          <a:prstGeom prst="rect">
            <a:avLst/>
          </a:prstGeom>
          <a:solidFill>
            <a:srgbClr val="13305A"/>
          </a:solidFill>
          <a:ln w="12700">
            <a:solidFill>
              <a:srgbClr val="0B1F3A"/>
            </a:solidFill>
            <a:prstDash val="solid"/>
          </a:ln>
        </p:spPr>
      </p:sp>
      <p:sp>
        <p:nvSpPr>
          <p:cNvPr id="9" name="Shape 6"/>
          <p:cNvSpPr/>
          <p:nvPr/>
        </p:nvSpPr>
        <p:spPr>
          <a:xfrm>
            <a:off x="2103120" y="2148840"/>
            <a:ext cx="1828800" cy="1188720"/>
          </a:xfrm>
          <a:prstGeom prst="rect">
            <a:avLst/>
          </a:prstGeom>
          <a:solidFill>
            <a:srgbClr val="EAF6FA"/>
          </a:solidFill>
          <a:ln w="12700">
            <a:solidFill>
              <a:srgbClr val="EAF6FA"/>
            </a:solidFill>
            <a:prstDash val="solid"/>
          </a:ln>
        </p:spPr>
      </p:sp>
      <p:pic>
        <p:nvPicPr>
          <p:cNvPr id="10" name="Image 0" descr="preencoded.png">    </p:cNvPr>
          <p:cNvPicPr>
            <a:picLocks noChangeAspect="1"/>
          </p:cNvPicPr>
          <p:nvPr/>
        </p:nvPicPr>
        <p:blipFill>
          <a:blip r:embed="rId1"/>
          <a:stretch>
            <a:fillRect/>
          </a:stretch>
        </p:blipFill>
        <p:spPr>
          <a:xfrm>
            <a:off x="2834640" y="2450592"/>
            <a:ext cx="365760" cy="274320"/>
          </a:xfrm>
          <a:prstGeom prst="rect">
            <a:avLst/>
          </a:prstGeom>
        </p:spPr>
      </p:pic>
      <p:sp>
        <p:nvSpPr>
          <p:cNvPr id="11" name="Text 7"/>
          <p:cNvSpPr txBox="1"/>
          <p:nvPr/>
        </p:nvSpPr>
        <p:spPr>
          <a:xfrm>
            <a:off x="2240280" y="2761488"/>
            <a:ext cx="1554480" cy="182880"/>
          </a:xfrm>
          <a:prstGeom prst="rect">
            <a:avLst/>
          </a:prstGeom>
          <a:noFill/>
          <a:ln/>
        </p:spPr>
        <p:txBody>
          <a:bodyPr wrap="square" lIns="0" tIns="0" rIns="0" bIns="0" rtlCol="0" anchor="t"/>
          <a:lstStyle/>
          <a:p>
            <a:pPr algn="ctr" indent="0" marL="0">
              <a:buNone/>
            </a:pPr>
            <a:r>
              <a:rPr lang="en-US" sz="900" b="1" dirty="0">
                <a:solidFill>
                  <a:srgbClr val="0B1F3A"/>
                </a:solidFill>
                <a:latin typeface="Arial" pitchFamily="34" charset="0"/>
                <a:ea typeface="Arial" pitchFamily="34" charset="-122"/>
                <a:cs typeface="Arial" pitchFamily="34" charset="-120"/>
              </a:rPr>
              <a:t>Защищаемая область</a:t>
            </a:r>
            <a:endParaRPr lang="en-US" sz="900" dirty="0"/>
          </a:p>
        </p:txBody>
      </p:sp>
      <p:sp>
        <p:nvSpPr>
          <p:cNvPr id="12" name="Text 8"/>
          <p:cNvSpPr txBox="1"/>
          <p:nvPr/>
        </p:nvSpPr>
        <p:spPr>
          <a:xfrm>
            <a:off x="2240280" y="2944368"/>
            <a:ext cx="1554480" cy="182880"/>
          </a:xfrm>
          <a:prstGeom prst="rect">
            <a:avLst/>
          </a:prstGeom>
          <a:noFill/>
          <a:ln/>
        </p:spPr>
        <p:txBody>
          <a:bodyPr wrap="square" lIns="0" tIns="0" rIns="0" bIns="0" rtlCol="0" anchor="t"/>
          <a:lstStyle/>
          <a:p>
            <a:pPr algn="ctr" indent="0" marL="0">
              <a:buNone/>
            </a:pPr>
            <a:r>
              <a:rPr lang="en-US" sz="900" dirty="0">
                <a:solidFill>
                  <a:srgbClr val="0E9AA7"/>
                </a:solidFill>
                <a:latin typeface="Arial" pitchFamily="34" charset="0"/>
                <a:ea typeface="Arial" pitchFamily="34" charset="-122"/>
                <a:cs typeface="Arial" pitchFamily="34" charset="-120"/>
              </a:rPr>
              <a:t>B ≈ 0</a:t>
            </a:r>
            <a:endParaRPr lang="en-US" sz="900" dirty="0"/>
          </a:p>
        </p:txBody>
      </p:sp>
      <p:sp>
        <p:nvSpPr>
          <p:cNvPr id="13" name="Shape 9"/>
          <p:cNvSpPr/>
          <p:nvPr/>
        </p:nvSpPr>
        <p:spPr>
          <a:xfrm>
            <a:off x="731520" y="1508760"/>
            <a:ext cx="4572000" cy="499242"/>
          </a:xfrm>
          <a:custGeom>
            <a:avLst/>
            <a:gdLst/>
            <a:ahLst/>
            <a:cxnLst/>
            <a:rect l="l" t="t" r="r" b="b"/>
            <a:pathLst>
              <a:path w="4572000" h="499242">
                <a:moveTo>
                  <a:pt x="0" y="0"/>
                </a:moveTo>
                <a:lnTo>
                  <a:pt x="28408" y="4607"/>
                </a:lnTo>
                <a:lnTo>
                  <a:pt x="63981" y="9645"/>
                </a:lnTo>
                <a:lnTo>
                  <a:pt x="105719" y="15170"/>
                </a:lnTo>
                <a:lnTo>
                  <a:pt x="152622" y="21234"/>
                </a:lnTo>
                <a:lnTo>
                  <a:pt x="203691" y="27892"/>
                </a:lnTo>
                <a:lnTo>
                  <a:pt x="257925" y="35198"/>
                </a:lnTo>
                <a:lnTo>
                  <a:pt x="314325" y="43205"/>
                </a:lnTo>
                <a:lnTo>
                  <a:pt x="371892" y="51969"/>
                </a:lnTo>
                <a:lnTo>
                  <a:pt x="429625" y="61542"/>
                </a:lnTo>
                <a:lnTo>
                  <a:pt x="486525" y="71979"/>
                </a:lnTo>
                <a:lnTo>
                  <a:pt x="541592" y="83334"/>
                </a:lnTo>
                <a:lnTo>
                  <a:pt x="593827" y="95660"/>
                </a:lnTo>
                <a:lnTo>
                  <a:pt x="642229" y="109012"/>
                </a:lnTo>
                <a:lnTo>
                  <a:pt x="685800" y="123444"/>
                </a:lnTo>
                <a:lnTo>
                  <a:pt x="725822" y="139810"/>
                </a:lnTo>
                <a:lnTo>
                  <a:pt x="764310" y="158642"/>
                </a:lnTo>
                <a:lnTo>
                  <a:pt x="801366" y="179507"/>
                </a:lnTo>
                <a:lnTo>
                  <a:pt x="837089" y="201973"/>
                </a:lnTo>
                <a:lnTo>
                  <a:pt x="871579" y="225609"/>
                </a:lnTo>
                <a:lnTo>
                  <a:pt x="904936" y="249983"/>
                </a:lnTo>
                <a:lnTo>
                  <a:pt x="937260" y="274663"/>
                </a:lnTo>
                <a:lnTo>
                  <a:pt x="968651" y="299217"/>
                </a:lnTo>
                <a:lnTo>
                  <a:pt x="999209" y="323213"/>
                </a:lnTo>
                <a:lnTo>
                  <a:pt x="1029033" y="346219"/>
                </a:lnTo>
                <a:lnTo>
                  <a:pt x="1058225" y="367804"/>
                </a:lnTo>
                <a:lnTo>
                  <a:pt x="1086883" y="387535"/>
                </a:lnTo>
                <a:lnTo>
                  <a:pt x="1115108" y="404981"/>
                </a:lnTo>
                <a:lnTo>
                  <a:pt x="1143000" y="419710"/>
                </a:lnTo>
                <a:lnTo>
                  <a:pt x="1168892" y="432018"/>
                </a:lnTo>
                <a:lnTo>
                  <a:pt x="1191519" y="442599"/>
                </a:lnTo>
                <a:lnTo>
                  <a:pt x="1211580" y="451614"/>
                </a:lnTo>
                <a:lnTo>
                  <a:pt x="1229775" y="459226"/>
                </a:lnTo>
                <a:lnTo>
                  <a:pt x="1246803" y="465596"/>
                </a:lnTo>
                <a:lnTo>
                  <a:pt x="1263365" y="470887"/>
                </a:lnTo>
                <a:lnTo>
                  <a:pt x="1280160" y="475259"/>
                </a:lnTo>
                <a:lnTo>
                  <a:pt x="1297888" y="478876"/>
                </a:lnTo>
                <a:lnTo>
                  <a:pt x="1317249" y="481899"/>
                </a:lnTo>
                <a:lnTo>
                  <a:pt x="1338943" y="484491"/>
                </a:lnTo>
                <a:lnTo>
                  <a:pt x="1363669" y="486812"/>
                </a:lnTo>
                <a:lnTo>
                  <a:pt x="1392127" y="489025"/>
                </a:lnTo>
                <a:lnTo>
                  <a:pt x="1425018" y="491293"/>
                </a:lnTo>
                <a:lnTo>
                  <a:pt x="1463040" y="493776"/>
                </a:lnTo>
                <a:lnTo>
                  <a:pt x="1506336" y="496057"/>
                </a:lnTo>
                <a:lnTo>
                  <a:pt x="1554213" y="497663"/>
                </a:lnTo>
                <a:lnTo>
                  <a:pt x="1606123" y="498675"/>
                </a:lnTo>
                <a:lnTo>
                  <a:pt x="1661515" y="499174"/>
                </a:lnTo>
                <a:lnTo>
                  <a:pt x="1719840" y="499242"/>
                </a:lnTo>
                <a:lnTo>
                  <a:pt x="1780547" y="498958"/>
                </a:lnTo>
                <a:lnTo>
                  <a:pt x="1843088" y="498405"/>
                </a:lnTo>
                <a:lnTo>
                  <a:pt x="1906911" y="497663"/>
                </a:lnTo>
                <a:lnTo>
                  <a:pt x="1971467" y="496813"/>
                </a:lnTo>
                <a:lnTo>
                  <a:pt x="2036206" y="495935"/>
                </a:lnTo>
                <a:lnTo>
                  <a:pt x="2100579" y="495112"/>
                </a:lnTo>
                <a:lnTo>
                  <a:pt x="2164036" y="494424"/>
                </a:lnTo>
                <a:lnTo>
                  <a:pt x="2226026" y="493951"/>
                </a:lnTo>
                <a:lnTo>
                  <a:pt x="2286000" y="493776"/>
                </a:lnTo>
                <a:lnTo>
                  <a:pt x="2345974" y="493951"/>
                </a:lnTo>
                <a:lnTo>
                  <a:pt x="2407964" y="494424"/>
                </a:lnTo>
                <a:lnTo>
                  <a:pt x="2471421" y="495112"/>
                </a:lnTo>
                <a:lnTo>
                  <a:pt x="2535794" y="495935"/>
                </a:lnTo>
                <a:lnTo>
                  <a:pt x="2600533" y="496813"/>
                </a:lnTo>
                <a:lnTo>
                  <a:pt x="2665089" y="497663"/>
                </a:lnTo>
                <a:lnTo>
                  <a:pt x="2728913" y="498405"/>
                </a:lnTo>
                <a:lnTo>
                  <a:pt x="2791453" y="498958"/>
                </a:lnTo>
                <a:lnTo>
                  <a:pt x="2852160" y="499242"/>
                </a:lnTo>
                <a:lnTo>
                  <a:pt x="2910485" y="499174"/>
                </a:lnTo>
                <a:lnTo>
                  <a:pt x="2965877" y="498675"/>
                </a:lnTo>
                <a:lnTo>
                  <a:pt x="3017787" y="497663"/>
                </a:lnTo>
                <a:lnTo>
                  <a:pt x="3065664" y="496057"/>
                </a:lnTo>
                <a:lnTo>
                  <a:pt x="3108960" y="493776"/>
                </a:lnTo>
                <a:lnTo>
                  <a:pt x="3146982" y="491293"/>
                </a:lnTo>
                <a:lnTo>
                  <a:pt x="3179873" y="489025"/>
                </a:lnTo>
                <a:lnTo>
                  <a:pt x="3208331" y="486812"/>
                </a:lnTo>
                <a:lnTo>
                  <a:pt x="3233057" y="484491"/>
                </a:lnTo>
                <a:lnTo>
                  <a:pt x="3254751" y="481899"/>
                </a:lnTo>
                <a:lnTo>
                  <a:pt x="3274112" y="478876"/>
                </a:lnTo>
                <a:lnTo>
                  <a:pt x="3291840" y="475259"/>
                </a:lnTo>
                <a:lnTo>
                  <a:pt x="3308635" y="470887"/>
                </a:lnTo>
                <a:lnTo>
                  <a:pt x="3325197" y="465596"/>
                </a:lnTo>
                <a:lnTo>
                  <a:pt x="3342225" y="459226"/>
                </a:lnTo>
                <a:lnTo>
                  <a:pt x="3360420" y="451614"/>
                </a:lnTo>
                <a:lnTo>
                  <a:pt x="3380481" y="442599"/>
                </a:lnTo>
                <a:lnTo>
                  <a:pt x="3403108" y="432018"/>
                </a:lnTo>
                <a:lnTo>
                  <a:pt x="3429000" y="419710"/>
                </a:lnTo>
                <a:lnTo>
                  <a:pt x="3456892" y="404981"/>
                </a:lnTo>
                <a:lnTo>
                  <a:pt x="3485117" y="387535"/>
                </a:lnTo>
                <a:lnTo>
                  <a:pt x="3513775" y="367804"/>
                </a:lnTo>
                <a:lnTo>
                  <a:pt x="3542967" y="346219"/>
                </a:lnTo>
                <a:lnTo>
                  <a:pt x="3572791" y="323213"/>
                </a:lnTo>
                <a:lnTo>
                  <a:pt x="3603349" y="299217"/>
                </a:lnTo>
                <a:lnTo>
                  <a:pt x="3634740" y="274663"/>
                </a:lnTo>
                <a:lnTo>
                  <a:pt x="3667064" y="249983"/>
                </a:lnTo>
                <a:lnTo>
                  <a:pt x="3700421" y="225609"/>
                </a:lnTo>
                <a:lnTo>
                  <a:pt x="3734911" y="201973"/>
                </a:lnTo>
                <a:lnTo>
                  <a:pt x="3770634" y="179507"/>
                </a:lnTo>
                <a:lnTo>
                  <a:pt x="3807690" y="158642"/>
                </a:lnTo>
                <a:lnTo>
                  <a:pt x="3846178" y="139810"/>
                </a:lnTo>
                <a:lnTo>
                  <a:pt x="3886200" y="123444"/>
                </a:lnTo>
                <a:lnTo>
                  <a:pt x="3929771" y="109012"/>
                </a:lnTo>
                <a:lnTo>
                  <a:pt x="3978173" y="95660"/>
                </a:lnTo>
                <a:lnTo>
                  <a:pt x="4030408" y="83334"/>
                </a:lnTo>
                <a:lnTo>
                  <a:pt x="4085475" y="71979"/>
                </a:lnTo>
                <a:lnTo>
                  <a:pt x="4142375" y="61542"/>
                </a:lnTo>
                <a:lnTo>
                  <a:pt x="4200108" y="51969"/>
                </a:lnTo>
                <a:lnTo>
                  <a:pt x="4257675" y="43205"/>
                </a:lnTo>
                <a:lnTo>
                  <a:pt x="4314075" y="35198"/>
                </a:lnTo>
                <a:lnTo>
                  <a:pt x="4368309" y="27892"/>
                </a:lnTo>
                <a:lnTo>
                  <a:pt x="4419378" y="21234"/>
                </a:lnTo>
                <a:lnTo>
                  <a:pt x="4466281" y="15170"/>
                </a:lnTo>
                <a:lnTo>
                  <a:pt x="4508019" y="9645"/>
                </a:lnTo>
                <a:lnTo>
                  <a:pt x="4543592" y="4607"/>
                </a:lnTo>
                <a:lnTo>
                  <a:pt x="4572000" y="0"/>
                </a:lnTo>
              </a:path>
            </a:pathLst>
          </a:custGeom>
          <a:noFill/>
          <a:ln w="19050">
            <a:solidFill>
              <a:srgbClr val="1FB6D4"/>
            </a:solidFill>
            <a:prstDash val="solid"/>
          </a:ln>
        </p:spPr>
      </p:sp>
      <p:sp>
        <p:nvSpPr>
          <p:cNvPr id="14" name="Shape 10"/>
          <p:cNvSpPr/>
          <p:nvPr/>
        </p:nvSpPr>
        <p:spPr>
          <a:xfrm rot="6848857">
            <a:off x="1450110" y="1621682"/>
            <a:ext cx="91440" cy="100584"/>
          </a:xfrm>
          <a:prstGeom prst="triangle">
            <a:avLst/>
          </a:prstGeom>
          <a:solidFill>
            <a:srgbClr val="1FB6D4"/>
          </a:solidFill>
          <a:ln w="12700">
            <a:solidFill>
              <a:srgbClr val="1FB6D4"/>
            </a:solidFill>
            <a:prstDash val="solid"/>
          </a:ln>
        </p:spPr>
      </p:sp>
      <p:sp>
        <p:nvSpPr>
          <p:cNvPr id="15" name="Shape 11"/>
          <p:cNvSpPr/>
          <p:nvPr/>
        </p:nvSpPr>
        <p:spPr>
          <a:xfrm rot="4541154">
            <a:off x="4716208" y="1546374"/>
            <a:ext cx="91440" cy="100584"/>
          </a:xfrm>
          <a:prstGeom prst="triangle">
            <a:avLst/>
          </a:prstGeom>
          <a:solidFill>
            <a:srgbClr val="1FB6D4"/>
          </a:solidFill>
          <a:ln w="12700">
            <a:solidFill>
              <a:srgbClr val="1FB6D4"/>
            </a:solidFill>
            <a:prstDash val="solid"/>
          </a:ln>
        </p:spPr>
      </p:sp>
      <p:sp>
        <p:nvSpPr>
          <p:cNvPr id="16" name="Shape 12"/>
          <p:cNvSpPr/>
          <p:nvPr/>
        </p:nvSpPr>
        <p:spPr>
          <a:xfrm>
            <a:off x="731520" y="3478398"/>
            <a:ext cx="4572000" cy="499242"/>
          </a:xfrm>
          <a:custGeom>
            <a:avLst/>
            <a:gdLst/>
            <a:ahLst/>
            <a:cxnLst/>
            <a:rect l="l" t="t" r="r" b="b"/>
            <a:pathLst>
              <a:path w="4572000" h="499242">
                <a:moveTo>
                  <a:pt x="0" y="499242"/>
                </a:moveTo>
                <a:lnTo>
                  <a:pt x="28408" y="494635"/>
                </a:lnTo>
                <a:lnTo>
                  <a:pt x="63981" y="489597"/>
                </a:lnTo>
                <a:lnTo>
                  <a:pt x="105719" y="484072"/>
                </a:lnTo>
                <a:lnTo>
                  <a:pt x="152622" y="478008"/>
                </a:lnTo>
                <a:lnTo>
                  <a:pt x="203691" y="471350"/>
                </a:lnTo>
                <a:lnTo>
                  <a:pt x="257925" y="464044"/>
                </a:lnTo>
                <a:lnTo>
                  <a:pt x="314325" y="456037"/>
                </a:lnTo>
                <a:lnTo>
                  <a:pt x="371892" y="447273"/>
                </a:lnTo>
                <a:lnTo>
                  <a:pt x="429625" y="437700"/>
                </a:lnTo>
                <a:lnTo>
                  <a:pt x="486525" y="427263"/>
                </a:lnTo>
                <a:lnTo>
                  <a:pt x="541592" y="415908"/>
                </a:lnTo>
                <a:lnTo>
                  <a:pt x="593827" y="403582"/>
                </a:lnTo>
                <a:lnTo>
                  <a:pt x="642229" y="390230"/>
                </a:lnTo>
                <a:lnTo>
                  <a:pt x="685800" y="375798"/>
                </a:lnTo>
                <a:lnTo>
                  <a:pt x="725822" y="359432"/>
                </a:lnTo>
                <a:lnTo>
                  <a:pt x="764310" y="340600"/>
                </a:lnTo>
                <a:lnTo>
                  <a:pt x="801366" y="319735"/>
                </a:lnTo>
                <a:lnTo>
                  <a:pt x="837089" y="297269"/>
                </a:lnTo>
                <a:lnTo>
                  <a:pt x="871579" y="273633"/>
                </a:lnTo>
                <a:lnTo>
                  <a:pt x="904936" y="249259"/>
                </a:lnTo>
                <a:lnTo>
                  <a:pt x="937260" y="224579"/>
                </a:lnTo>
                <a:lnTo>
                  <a:pt x="968651" y="200025"/>
                </a:lnTo>
                <a:lnTo>
                  <a:pt x="999209" y="176029"/>
                </a:lnTo>
                <a:lnTo>
                  <a:pt x="1029033" y="153023"/>
                </a:lnTo>
                <a:lnTo>
                  <a:pt x="1058225" y="131438"/>
                </a:lnTo>
                <a:lnTo>
                  <a:pt x="1086883" y="111707"/>
                </a:lnTo>
                <a:lnTo>
                  <a:pt x="1115108" y="94261"/>
                </a:lnTo>
                <a:lnTo>
                  <a:pt x="1143000" y="79532"/>
                </a:lnTo>
                <a:lnTo>
                  <a:pt x="1168892" y="67224"/>
                </a:lnTo>
                <a:lnTo>
                  <a:pt x="1191519" y="56643"/>
                </a:lnTo>
                <a:lnTo>
                  <a:pt x="1211580" y="47628"/>
                </a:lnTo>
                <a:lnTo>
                  <a:pt x="1229775" y="40016"/>
                </a:lnTo>
                <a:lnTo>
                  <a:pt x="1246803" y="33646"/>
                </a:lnTo>
                <a:lnTo>
                  <a:pt x="1263365" y="28355"/>
                </a:lnTo>
                <a:lnTo>
                  <a:pt x="1280160" y="23983"/>
                </a:lnTo>
                <a:lnTo>
                  <a:pt x="1297888" y="20366"/>
                </a:lnTo>
                <a:lnTo>
                  <a:pt x="1317249" y="17342"/>
                </a:lnTo>
                <a:lnTo>
                  <a:pt x="1338943" y="14751"/>
                </a:lnTo>
                <a:lnTo>
                  <a:pt x="1363669" y="12430"/>
                </a:lnTo>
                <a:lnTo>
                  <a:pt x="1392127" y="10217"/>
                </a:lnTo>
                <a:lnTo>
                  <a:pt x="1425018" y="7949"/>
                </a:lnTo>
                <a:lnTo>
                  <a:pt x="1463040" y="5466"/>
                </a:lnTo>
                <a:lnTo>
                  <a:pt x="1506336" y="3185"/>
                </a:lnTo>
                <a:lnTo>
                  <a:pt x="1554213" y="1579"/>
                </a:lnTo>
                <a:lnTo>
                  <a:pt x="1606123" y="567"/>
                </a:lnTo>
                <a:lnTo>
                  <a:pt x="1661515" y="67"/>
                </a:lnTo>
                <a:lnTo>
                  <a:pt x="1719840" y="0"/>
                </a:lnTo>
                <a:lnTo>
                  <a:pt x="1780547" y="283"/>
                </a:lnTo>
                <a:lnTo>
                  <a:pt x="1843088" y="837"/>
                </a:lnTo>
                <a:lnTo>
                  <a:pt x="1906911" y="1579"/>
                </a:lnTo>
                <a:lnTo>
                  <a:pt x="1971467" y="2429"/>
                </a:lnTo>
                <a:lnTo>
                  <a:pt x="2036206" y="3307"/>
                </a:lnTo>
                <a:lnTo>
                  <a:pt x="2100579" y="4130"/>
                </a:lnTo>
                <a:lnTo>
                  <a:pt x="2164036" y="4818"/>
                </a:lnTo>
                <a:lnTo>
                  <a:pt x="2226026" y="5290"/>
                </a:lnTo>
                <a:lnTo>
                  <a:pt x="2286000" y="5466"/>
                </a:lnTo>
                <a:lnTo>
                  <a:pt x="2345974" y="5290"/>
                </a:lnTo>
                <a:lnTo>
                  <a:pt x="2407964" y="4818"/>
                </a:lnTo>
                <a:lnTo>
                  <a:pt x="2471421" y="4130"/>
                </a:lnTo>
                <a:lnTo>
                  <a:pt x="2535794" y="3307"/>
                </a:lnTo>
                <a:lnTo>
                  <a:pt x="2600533" y="2429"/>
                </a:lnTo>
                <a:lnTo>
                  <a:pt x="2665089" y="1579"/>
                </a:lnTo>
                <a:lnTo>
                  <a:pt x="2728913" y="837"/>
                </a:lnTo>
                <a:lnTo>
                  <a:pt x="2791453" y="283"/>
                </a:lnTo>
                <a:lnTo>
                  <a:pt x="2852160" y="0"/>
                </a:lnTo>
                <a:lnTo>
                  <a:pt x="2910485" y="67"/>
                </a:lnTo>
                <a:lnTo>
                  <a:pt x="2965877" y="567"/>
                </a:lnTo>
                <a:lnTo>
                  <a:pt x="3017787" y="1579"/>
                </a:lnTo>
                <a:lnTo>
                  <a:pt x="3065664" y="3185"/>
                </a:lnTo>
                <a:lnTo>
                  <a:pt x="3108960" y="5466"/>
                </a:lnTo>
                <a:lnTo>
                  <a:pt x="3146982" y="7949"/>
                </a:lnTo>
                <a:lnTo>
                  <a:pt x="3179873" y="10217"/>
                </a:lnTo>
                <a:lnTo>
                  <a:pt x="3208331" y="12430"/>
                </a:lnTo>
                <a:lnTo>
                  <a:pt x="3233057" y="14751"/>
                </a:lnTo>
                <a:lnTo>
                  <a:pt x="3254751" y="17342"/>
                </a:lnTo>
                <a:lnTo>
                  <a:pt x="3274112" y="20366"/>
                </a:lnTo>
                <a:lnTo>
                  <a:pt x="3291840" y="23983"/>
                </a:lnTo>
                <a:lnTo>
                  <a:pt x="3308635" y="28355"/>
                </a:lnTo>
                <a:lnTo>
                  <a:pt x="3325197" y="33646"/>
                </a:lnTo>
                <a:lnTo>
                  <a:pt x="3342225" y="40016"/>
                </a:lnTo>
                <a:lnTo>
                  <a:pt x="3360420" y="47628"/>
                </a:lnTo>
                <a:lnTo>
                  <a:pt x="3380481" y="56643"/>
                </a:lnTo>
                <a:lnTo>
                  <a:pt x="3403108" y="67224"/>
                </a:lnTo>
                <a:lnTo>
                  <a:pt x="3429000" y="79532"/>
                </a:lnTo>
                <a:lnTo>
                  <a:pt x="3456892" y="94261"/>
                </a:lnTo>
                <a:lnTo>
                  <a:pt x="3485117" y="111707"/>
                </a:lnTo>
                <a:lnTo>
                  <a:pt x="3513775" y="131438"/>
                </a:lnTo>
                <a:lnTo>
                  <a:pt x="3542967" y="153023"/>
                </a:lnTo>
                <a:lnTo>
                  <a:pt x="3572791" y="176029"/>
                </a:lnTo>
                <a:lnTo>
                  <a:pt x="3603349" y="200025"/>
                </a:lnTo>
                <a:lnTo>
                  <a:pt x="3634740" y="224579"/>
                </a:lnTo>
                <a:lnTo>
                  <a:pt x="3667064" y="249259"/>
                </a:lnTo>
                <a:lnTo>
                  <a:pt x="3700421" y="273633"/>
                </a:lnTo>
                <a:lnTo>
                  <a:pt x="3734911" y="297269"/>
                </a:lnTo>
                <a:lnTo>
                  <a:pt x="3770634" y="319735"/>
                </a:lnTo>
                <a:lnTo>
                  <a:pt x="3807690" y="340600"/>
                </a:lnTo>
                <a:lnTo>
                  <a:pt x="3846178" y="359432"/>
                </a:lnTo>
                <a:lnTo>
                  <a:pt x="3886200" y="375798"/>
                </a:lnTo>
                <a:lnTo>
                  <a:pt x="3929771" y="390230"/>
                </a:lnTo>
                <a:lnTo>
                  <a:pt x="3978173" y="403582"/>
                </a:lnTo>
                <a:lnTo>
                  <a:pt x="4030408" y="415908"/>
                </a:lnTo>
                <a:lnTo>
                  <a:pt x="4085475" y="427263"/>
                </a:lnTo>
                <a:lnTo>
                  <a:pt x="4142375" y="437700"/>
                </a:lnTo>
                <a:lnTo>
                  <a:pt x="4200108" y="447273"/>
                </a:lnTo>
                <a:lnTo>
                  <a:pt x="4257675" y="456037"/>
                </a:lnTo>
                <a:lnTo>
                  <a:pt x="4314075" y="464044"/>
                </a:lnTo>
                <a:lnTo>
                  <a:pt x="4368309" y="471350"/>
                </a:lnTo>
                <a:lnTo>
                  <a:pt x="4419378" y="478008"/>
                </a:lnTo>
                <a:lnTo>
                  <a:pt x="4466281" y="484072"/>
                </a:lnTo>
                <a:lnTo>
                  <a:pt x="4508019" y="489597"/>
                </a:lnTo>
                <a:lnTo>
                  <a:pt x="4543592" y="494635"/>
                </a:lnTo>
                <a:lnTo>
                  <a:pt x="4572000" y="499242"/>
                </a:lnTo>
              </a:path>
            </a:pathLst>
          </a:custGeom>
          <a:noFill/>
          <a:ln w="19050">
            <a:solidFill>
              <a:srgbClr val="1FB6D4"/>
            </a:solidFill>
            <a:prstDash val="solid"/>
          </a:ln>
        </p:spPr>
      </p:sp>
      <p:sp>
        <p:nvSpPr>
          <p:cNvPr id="17" name="Shape 13"/>
          <p:cNvSpPr/>
          <p:nvPr/>
        </p:nvSpPr>
        <p:spPr>
          <a:xfrm rot="3951143">
            <a:off x="1450110" y="3773278"/>
            <a:ext cx="91440" cy="100584"/>
          </a:xfrm>
          <a:prstGeom prst="triangle">
            <a:avLst/>
          </a:prstGeom>
          <a:solidFill>
            <a:srgbClr val="1FB6D4"/>
          </a:solidFill>
          <a:ln w="12700">
            <a:solidFill>
              <a:srgbClr val="1FB6D4"/>
            </a:solidFill>
            <a:prstDash val="solid"/>
          </a:ln>
        </p:spPr>
      </p:sp>
      <p:sp>
        <p:nvSpPr>
          <p:cNvPr id="18" name="Shape 14"/>
          <p:cNvSpPr/>
          <p:nvPr/>
        </p:nvSpPr>
        <p:spPr>
          <a:xfrm rot="6258846">
            <a:off x="4716208" y="3848586"/>
            <a:ext cx="91440" cy="100584"/>
          </a:xfrm>
          <a:prstGeom prst="triangle">
            <a:avLst/>
          </a:prstGeom>
          <a:solidFill>
            <a:srgbClr val="1FB6D4"/>
          </a:solidFill>
          <a:ln w="12700">
            <a:solidFill>
              <a:srgbClr val="1FB6D4"/>
            </a:solidFill>
            <a:prstDash val="solid"/>
          </a:ln>
        </p:spPr>
      </p:sp>
      <p:sp>
        <p:nvSpPr>
          <p:cNvPr id="19" name="Shape 15"/>
          <p:cNvSpPr/>
          <p:nvPr/>
        </p:nvSpPr>
        <p:spPr>
          <a:xfrm>
            <a:off x="731520" y="1783080"/>
            <a:ext cx="4572000" cy="277357"/>
          </a:xfrm>
          <a:custGeom>
            <a:avLst/>
            <a:gdLst/>
            <a:ahLst/>
            <a:cxnLst/>
            <a:rect l="l" t="t" r="r" b="b"/>
            <a:pathLst>
              <a:path w="4572000" h="277357">
                <a:moveTo>
                  <a:pt x="0" y="0"/>
                </a:moveTo>
                <a:lnTo>
                  <a:pt x="28408" y="2559"/>
                </a:lnTo>
                <a:lnTo>
                  <a:pt x="63981" y="5358"/>
                </a:lnTo>
                <a:lnTo>
                  <a:pt x="105719" y="8428"/>
                </a:lnTo>
                <a:lnTo>
                  <a:pt x="152622" y="11797"/>
                </a:lnTo>
                <a:lnTo>
                  <a:pt x="203691" y="15495"/>
                </a:lnTo>
                <a:lnTo>
                  <a:pt x="257925" y="19554"/>
                </a:lnTo>
                <a:lnTo>
                  <a:pt x="314325" y="24003"/>
                </a:lnTo>
                <a:lnTo>
                  <a:pt x="371892" y="28872"/>
                </a:lnTo>
                <a:lnTo>
                  <a:pt x="429625" y="34190"/>
                </a:lnTo>
                <a:lnTo>
                  <a:pt x="486525" y="39988"/>
                </a:lnTo>
                <a:lnTo>
                  <a:pt x="541592" y="46296"/>
                </a:lnTo>
                <a:lnTo>
                  <a:pt x="593827" y="53145"/>
                </a:lnTo>
                <a:lnTo>
                  <a:pt x="642229" y="60562"/>
                </a:lnTo>
                <a:lnTo>
                  <a:pt x="685800" y="68580"/>
                </a:lnTo>
                <a:lnTo>
                  <a:pt x="725822" y="77672"/>
                </a:lnTo>
                <a:lnTo>
                  <a:pt x="764310" y="88134"/>
                </a:lnTo>
                <a:lnTo>
                  <a:pt x="801366" y="99726"/>
                </a:lnTo>
                <a:lnTo>
                  <a:pt x="837089" y="112207"/>
                </a:lnTo>
                <a:lnTo>
                  <a:pt x="871579" y="125338"/>
                </a:lnTo>
                <a:lnTo>
                  <a:pt x="904936" y="138879"/>
                </a:lnTo>
                <a:lnTo>
                  <a:pt x="937260" y="152590"/>
                </a:lnTo>
                <a:lnTo>
                  <a:pt x="968651" y="166232"/>
                </a:lnTo>
                <a:lnTo>
                  <a:pt x="999209" y="179563"/>
                </a:lnTo>
                <a:lnTo>
                  <a:pt x="1029033" y="192344"/>
                </a:lnTo>
                <a:lnTo>
                  <a:pt x="1058225" y="204335"/>
                </a:lnTo>
                <a:lnTo>
                  <a:pt x="1086883" y="215297"/>
                </a:lnTo>
                <a:lnTo>
                  <a:pt x="1115108" y="224989"/>
                </a:lnTo>
                <a:lnTo>
                  <a:pt x="1143000" y="233172"/>
                </a:lnTo>
                <a:lnTo>
                  <a:pt x="1168892" y="240010"/>
                </a:lnTo>
                <a:lnTo>
                  <a:pt x="1191519" y="245888"/>
                </a:lnTo>
                <a:lnTo>
                  <a:pt x="1211580" y="250897"/>
                </a:lnTo>
                <a:lnTo>
                  <a:pt x="1229775" y="255126"/>
                </a:lnTo>
                <a:lnTo>
                  <a:pt x="1246803" y="258665"/>
                </a:lnTo>
                <a:lnTo>
                  <a:pt x="1263365" y="261604"/>
                </a:lnTo>
                <a:lnTo>
                  <a:pt x="1280160" y="264033"/>
                </a:lnTo>
                <a:lnTo>
                  <a:pt x="1297888" y="266042"/>
                </a:lnTo>
                <a:lnTo>
                  <a:pt x="1317249" y="267722"/>
                </a:lnTo>
                <a:lnTo>
                  <a:pt x="1338943" y="269162"/>
                </a:lnTo>
                <a:lnTo>
                  <a:pt x="1363669" y="270451"/>
                </a:lnTo>
                <a:lnTo>
                  <a:pt x="1392127" y="271681"/>
                </a:lnTo>
                <a:lnTo>
                  <a:pt x="1425018" y="272940"/>
                </a:lnTo>
                <a:lnTo>
                  <a:pt x="1463040" y="274320"/>
                </a:lnTo>
                <a:lnTo>
                  <a:pt x="1506336" y="275587"/>
                </a:lnTo>
                <a:lnTo>
                  <a:pt x="1554213" y="276479"/>
                </a:lnTo>
                <a:lnTo>
                  <a:pt x="1606123" y="277042"/>
                </a:lnTo>
                <a:lnTo>
                  <a:pt x="1661515" y="277319"/>
                </a:lnTo>
                <a:lnTo>
                  <a:pt x="1719840" y="277357"/>
                </a:lnTo>
                <a:lnTo>
                  <a:pt x="1780547" y="277199"/>
                </a:lnTo>
                <a:lnTo>
                  <a:pt x="1843088" y="276892"/>
                </a:lnTo>
                <a:lnTo>
                  <a:pt x="1906911" y="276479"/>
                </a:lnTo>
                <a:lnTo>
                  <a:pt x="1971467" y="276007"/>
                </a:lnTo>
                <a:lnTo>
                  <a:pt x="2036206" y="275520"/>
                </a:lnTo>
                <a:lnTo>
                  <a:pt x="2100579" y="275062"/>
                </a:lnTo>
                <a:lnTo>
                  <a:pt x="2164036" y="274680"/>
                </a:lnTo>
                <a:lnTo>
                  <a:pt x="2226026" y="274417"/>
                </a:lnTo>
                <a:lnTo>
                  <a:pt x="2286000" y="274320"/>
                </a:lnTo>
                <a:lnTo>
                  <a:pt x="2345974" y="274417"/>
                </a:lnTo>
                <a:lnTo>
                  <a:pt x="2407964" y="274680"/>
                </a:lnTo>
                <a:lnTo>
                  <a:pt x="2471421" y="275062"/>
                </a:lnTo>
                <a:lnTo>
                  <a:pt x="2535794" y="275520"/>
                </a:lnTo>
                <a:lnTo>
                  <a:pt x="2600533" y="276007"/>
                </a:lnTo>
                <a:lnTo>
                  <a:pt x="2665089" y="276479"/>
                </a:lnTo>
                <a:lnTo>
                  <a:pt x="2728913" y="276892"/>
                </a:lnTo>
                <a:lnTo>
                  <a:pt x="2791453" y="277199"/>
                </a:lnTo>
                <a:lnTo>
                  <a:pt x="2852160" y="277357"/>
                </a:lnTo>
                <a:lnTo>
                  <a:pt x="2910485" y="277319"/>
                </a:lnTo>
                <a:lnTo>
                  <a:pt x="2965877" y="277042"/>
                </a:lnTo>
                <a:lnTo>
                  <a:pt x="3017787" y="276479"/>
                </a:lnTo>
                <a:lnTo>
                  <a:pt x="3065664" y="275587"/>
                </a:lnTo>
                <a:lnTo>
                  <a:pt x="3108960" y="274320"/>
                </a:lnTo>
                <a:lnTo>
                  <a:pt x="3146982" y="272940"/>
                </a:lnTo>
                <a:lnTo>
                  <a:pt x="3179873" y="271681"/>
                </a:lnTo>
                <a:lnTo>
                  <a:pt x="3208331" y="270451"/>
                </a:lnTo>
                <a:lnTo>
                  <a:pt x="3233057" y="269162"/>
                </a:lnTo>
                <a:lnTo>
                  <a:pt x="3254751" y="267722"/>
                </a:lnTo>
                <a:lnTo>
                  <a:pt x="3274112" y="266042"/>
                </a:lnTo>
                <a:lnTo>
                  <a:pt x="3291840" y="264033"/>
                </a:lnTo>
                <a:lnTo>
                  <a:pt x="3308635" y="261604"/>
                </a:lnTo>
                <a:lnTo>
                  <a:pt x="3325197" y="258665"/>
                </a:lnTo>
                <a:lnTo>
                  <a:pt x="3342225" y="255126"/>
                </a:lnTo>
                <a:lnTo>
                  <a:pt x="3360420" y="250897"/>
                </a:lnTo>
                <a:lnTo>
                  <a:pt x="3380481" y="245888"/>
                </a:lnTo>
                <a:lnTo>
                  <a:pt x="3403108" y="240010"/>
                </a:lnTo>
                <a:lnTo>
                  <a:pt x="3429000" y="233172"/>
                </a:lnTo>
                <a:lnTo>
                  <a:pt x="3456892" y="224989"/>
                </a:lnTo>
                <a:lnTo>
                  <a:pt x="3485117" y="215297"/>
                </a:lnTo>
                <a:lnTo>
                  <a:pt x="3513775" y="204335"/>
                </a:lnTo>
                <a:lnTo>
                  <a:pt x="3542967" y="192344"/>
                </a:lnTo>
                <a:lnTo>
                  <a:pt x="3572791" y="179563"/>
                </a:lnTo>
                <a:lnTo>
                  <a:pt x="3603349" y="166232"/>
                </a:lnTo>
                <a:lnTo>
                  <a:pt x="3634740" y="152591"/>
                </a:lnTo>
                <a:lnTo>
                  <a:pt x="3667064" y="138879"/>
                </a:lnTo>
                <a:lnTo>
                  <a:pt x="3700421" y="125338"/>
                </a:lnTo>
                <a:lnTo>
                  <a:pt x="3734911" y="112207"/>
                </a:lnTo>
                <a:lnTo>
                  <a:pt x="3770634" y="99726"/>
                </a:lnTo>
                <a:lnTo>
                  <a:pt x="3807690" y="88134"/>
                </a:lnTo>
                <a:lnTo>
                  <a:pt x="3846178" y="77672"/>
                </a:lnTo>
                <a:lnTo>
                  <a:pt x="3886200" y="68580"/>
                </a:lnTo>
                <a:lnTo>
                  <a:pt x="3929771" y="60562"/>
                </a:lnTo>
                <a:lnTo>
                  <a:pt x="3978173" y="53145"/>
                </a:lnTo>
                <a:lnTo>
                  <a:pt x="4030408" y="46296"/>
                </a:lnTo>
                <a:lnTo>
                  <a:pt x="4085475" y="39988"/>
                </a:lnTo>
                <a:lnTo>
                  <a:pt x="4142375" y="34190"/>
                </a:lnTo>
                <a:lnTo>
                  <a:pt x="4200108" y="28872"/>
                </a:lnTo>
                <a:lnTo>
                  <a:pt x="4257675" y="24003"/>
                </a:lnTo>
                <a:lnTo>
                  <a:pt x="4314075" y="19554"/>
                </a:lnTo>
                <a:lnTo>
                  <a:pt x="4368309" y="15495"/>
                </a:lnTo>
                <a:lnTo>
                  <a:pt x="4419378" y="11797"/>
                </a:lnTo>
                <a:lnTo>
                  <a:pt x="4466281" y="8428"/>
                </a:lnTo>
                <a:lnTo>
                  <a:pt x="4508019" y="5358"/>
                </a:lnTo>
                <a:lnTo>
                  <a:pt x="4543592" y="2559"/>
                </a:lnTo>
                <a:lnTo>
                  <a:pt x="4572000" y="0"/>
                </a:lnTo>
              </a:path>
            </a:pathLst>
          </a:custGeom>
          <a:noFill/>
          <a:ln w="19050">
            <a:solidFill>
              <a:srgbClr val="1FB6D4"/>
            </a:solidFill>
            <a:prstDash val="solid"/>
          </a:ln>
        </p:spPr>
      </p:sp>
      <p:sp>
        <p:nvSpPr>
          <p:cNvPr id="20" name="Shape 16"/>
          <p:cNvSpPr/>
          <p:nvPr/>
        </p:nvSpPr>
        <p:spPr>
          <a:xfrm rot="6239153">
            <a:off x="1450110" y="1825494"/>
            <a:ext cx="91440" cy="100584"/>
          </a:xfrm>
          <a:prstGeom prst="triangle">
            <a:avLst/>
          </a:prstGeom>
          <a:solidFill>
            <a:srgbClr val="1FB6D4"/>
          </a:solidFill>
          <a:ln w="12700">
            <a:solidFill>
              <a:srgbClr val="1FB6D4"/>
            </a:solidFill>
            <a:prstDash val="solid"/>
          </a:ln>
        </p:spPr>
      </p:sp>
      <p:sp>
        <p:nvSpPr>
          <p:cNvPr id="21" name="Shape 17"/>
          <p:cNvSpPr/>
          <p:nvPr/>
        </p:nvSpPr>
        <p:spPr>
          <a:xfrm rot="4915908">
            <a:off x="4716208" y="1783656"/>
            <a:ext cx="91440" cy="100584"/>
          </a:xfrm>
          <a:prstGeom prst="triangle">
            <a:avLst/>
          </a:prstGeom>
          <a:solidFill>
            <a:srgbClr val="1FB6D4"/>
          </a:solidFill>
          <a:ln w="12700">
            <a:solidFill>
              <a:srgbClr val="1FB6D4"/>
            </a:solidFill>
            <a:prstDash val="solid"/>
          </a:ln>
        </p:spPr>
      </p:sp>
      <p:sp>
        <p:nvSpPr>
          <p:cNvPr id="22" name="Shape 18"/>
          <p:cNvSpPr/>
          <p:nvPr/>
        </p:nvSpPr>
        <p:spPr>
          <a:xfrm>
            <a:off x="731520" y="3425963"/>
            <a:ext cx="4572000" cy="277357"/>
          </a:xfrm>
          <a:custGeom>
            <a:avLst/>
            <a:gdLst/>
            <a:ahLst/>
            <a:cxnLst/>
            <a:rect l="l" t="t" r="r" b="b"/>
            <a:pathLst>
              <a:path w="4572000" h="277357">
                <a:moveTo>
                  <a:pt x="0" y="277357"/>
                </a:moveTo>
                <a:lnTo>
                  <a:pt x="28408" y="274797"/>
                </a:lnTo>
                <a:lnTo>
                  <a:pt x="63981" y="271998"/>
                </a:lnTo>
                <a:lnTo>
                  <a:pt x="105719" y="268929"/>
                </a:lnTo>
                <a:lnTo>
                  <a:pt x="152622" y="265560"/>
                </a:lnTo>
                <a:lnTo>
                  <a:pt x="203691" y="261861"/>
                </a:lnTo>
                <a:lnTo>
                  <a:pt x="257925" y="257802"/>
                </a:lnTo>
                <a:lnTo>
                  <a:pt x="314325" y="253354"/>
                </a:lnTo>
                <a:lnTo>
                  <a:pt x="371892" y="248485"/>
                </a:lnTo>
                <a:lnTo>
                  <a:pt x="429625" y="243167"/>
                </a:lnTo>
                <a:lnTo>
                  <a:pt x="486525" y="237368"/>
                </a:lnTo>
                <a:lnTo>
                  <a:pt x="541592" y="231060"/>
                </a:lnTo>
                <a:lnTo>
                  <a:pt x="593827" y="224212"/>
                </a:lnTo>
                <a:lnTo>
                  <a:pt x="642229" y="216794"/>
                </a:lnTo>
                <a:lnTo>
                  <a:pt x="685800" y="208777"/>
                </a:lnTo>
                <a:lnTo>
                  <a:pt x="725822" y="199684"/>
                </a:lnTo>
                <a:lnTo>
                  <a:pt x="764310" y="189222"/>
                </a:lnTo>
                <a:lnTo>
                  <a:pt x="801366" y="177631"/>
                </a:lnTo>
                <a:lnTo>
                  <a:pt x="837089" y="165149"/>
                </a:lnTo>
                <a:lnTo>
                  <a:pt x="871579" y="152018"/>
                </a:lnTo>
                <a:lnTo>
                  <a:pt x="904936" y="138477"/>
                </a:lnTo>
                <a:lnTo>
                  <a:pt x="937260" y="124766"/>
                </a:lnTo>
                <a:lnTo>
                  <a:pt x="968651" y="111125"/>
                </a:lnTo>
                <a:lnTo>
                  <a:pt x="999209" y="97794"/>
                </a:lnTo>
                <a:lnTo>
                  <a:pt x="1029033" y="85013"/>
                </a:lnTo>
                <a:lnTo>
                  <a:pt x="1058225" y="73021"/>
                </a:lnTo>
                <a:lnTo>
                  <a:pt x="1086883" y="62059"/>
                </a:lnTo>
                <a:lnTo>
                  <a:pt x="1115108" y="52367"/>
                </a:lnTo>
                <a:lnTo>
                  <a:pt x="1143000" y="44185"/>
                </a:lnTo>
                <a:lnTo>
                  <a:pt x="1168892" y="37347"/>
                </a:lnTo>
                <a:lnTo>
                  <a:pt x="1191519" y="31468"/>
                </a:lnTo>
                <a:lnTo>
                  <a:pt x="1211580" y="26460"/>
                </a:lnTo>
                <a:lnTo>
                  <a:pt x="1229775" y="22231"/>
                </a:lnTo>
                <a:lnTo>
                  <a:pt x="1246803" y="18692"/>
                </a:lnTo>
                <a:lnTo>
                  <a:pt x="1263365" y="15753"/>
                </a:lnTo>
                <a:lnTo>
                  <a:pt x="1280160" y="13324"/>
                </a:lnTo>
                <a:lnTo>
                  <a:pt x="1297888" y="11314"/>
                </a:lnTo>
                <a:lnTo>
                  <a:pt x="1317249" y="9635"/>
                </a:lnTo>
                <a:lnTo>
                  <a:pt x="1338943" y="8195"/>
                </a:lnTo>
                <a:lnTo>
                  <a:pt x="1363669" y="6905"/>
                </a:lnTo>
                <a:lnTo>
                  <a:pt x="1392127" y="5676"/>
                </a:lnTo>
                <a:lnTo>
                  <a:pt x="1425018" y="4416"/>
                </a:lnTo>
                <a:lnTo>
                  <a:pt x="1463040" y="3037"/>
                </a:lnTo>
                <a:lnTo>
                  <a:pt x="1506336" y="1769"/>
                </a:lnTo>
                <a:lnTo>
                  <a:pt x="1554213" y="877"/>
                </a:lnTo>
                <a:lnTo>
                  <a:pt x="1606123" y="315"/>
                </a:lnTo>
                <a:lnTo>
                  <a:pt x="1661515" y="37"/>
                </a:lnTo>
                <a:lnTo>
                  <a:pt x="1719840" y="0"/>
                </a:lnTo>
                <a:lnTo>
                  <a:pt x="1780547" y="157"/>
                </a:lnTo>
                <a:lnTo>
                  <a:pt x="1843088" y="465"/>
                </a:lnTo>
                <a:lnTo>
                  <a:pt x="1906911" y="877"/>
                </a:lnTo>
                <a:lnTo>
                  <a:pt x="1971467" y="1350"/>
                </a:lnTo>
                <a:lnTo>
                  <a:pt x="2036206" y="1837"/>
                </a:lnTo>
                <a:lnTo>
                  <a:pt x="2100579" y="2294"/>
                </a:lnTo>
                <a:lnTo>
                  <a:pt x="2164036" y="2677"/>
                </a:lnTo>
                <a:lnTo>
                  <a:pt x="2226026" y="2939"/>
                </a:lnTo>
                <a:lnTo>
                  <a:pt x="2286000" y="3037"/>
                </a:lnTo>
                <a:lnTo>
                  <a:pt x="2345974" y="2939"/>
                </a:lnTo>
                <a:lnTo>
                  <a:pt x="2407964" y="2677"/>
                </a:lnTo>
                <a:lnTo>
                  <a:pt x="2471421" y="2294"/>
                </a:lnTo>
                <a:lnTo>
                  <a:pt x="2535794" y="1837"/>
                </a:lnTo>
                <a:lnTo>
                  <a:pt x="2600533" y="1350"/>
                </a:lnTo>
                <a:lnTo>
                  <a:pt x="2665089" y="877"/>
                </a:lnTo>
                <a:lnTo>
                  <a:pt x="2728913" y="465"/>
                </a:lnTo>
                <a:lnTo>
                  <a:pt x="2791453" y="157"/>
                </a:lnTo>
                <a:lnTo>
                  <a:pt x="2852160" y="0"/>
                </a:lnTo>
                <a:lnTo>
                  <a:pt x="2910485" y="37"/>
                </a:lnTo>
                <a:lnTo>
                  <a:pt x="2965877" y="315"/>
                </a:lnTo>
                <a:lnTo>
                  <a:pt x="3017787" y="877"/>
                </a:lnTo>
                <a:lnTo>
                  <a:pt x="3065664" y="1769"/>
                </a:lnTo>
                <a:lnTo>
                  <a:pt x="3108960" y="3037"/>
                </a:lnTo>
                <a:lnTo>
                  <a:pt x="3146982" y="4416"/>
                </a:lnTo>
                <a:lnTo>
                  <a:pt x="3179873" y="5676"/>
                </a:lnTo>
                <a:lnTo>
                  <a:pt x="3208331" y="6905"/>
                </a:lnTo>
                <a:lnTo>
                  <a:pt x="3233057" y="8195"/>
                </a:lnTo>
                <a:lnTo>
                  <a:pt x="3254751" y="9635"/>
                </a:lnTo>
                <a:lnTo>
                  <a:pt x="3274112" y="11314"/>
                </a:lnTo>
                <a:lnTo>
                  <a:pt x="3291840" y="13324"/>
                </a:lnTo>
                <a:lnTo>
                  <a:pt x="3308635" y="15753"/>
                </a:lnTo>
                <a:lnTo>
                  <a:pt x="3325197" y="18692"/>
                </a:lnTo>
                <a:lnTo>
                  <a:pt x="3342225" y="22231"/>
                </a:lnTo>
                <a:lnTo>
                  <a:pt x="3360420" y="26460"/>
                </a:lnTo>
                <a:lnTo>
                  <a:pt x="3380481" y="31468"/>
                </a:lnTo>
                <a:lnTo>
                  <a:pt x="3403108" y="37347"/>
                </a:lnTo>
                <a:lnTo>
                  <a:pt x="3429000" y="44185"/>
                </a:lnTo>
                <a:lnTo>
                  <a:pt x="3456892" y="52367"/>
                </a:lnTo>
                <a:lnTo>
                  <a:pt x="3485117" y="62059"/>
                </a:lnTo>
                <a:lnTo>
                  <a:pt x="3513775" y="73021"/>
                </a:lnTo>
                <a:lnTo>
                  <a:pt x="3542967" y="85013"/>
                </a:lnTo>
                <a:lnTo>
                  <a:pt x="3572791" y="97794"/>
                </a:lnTo>
                <a:lnTo>
                  <a:pt x="3603349" y="111125"/>
                </a:lnTo>
                <a:lnTo>
                  <a:pt x="3634740" y="124766"/>
                </a:lnTo>
                <a:lnTo>
                  <a:pt x="3667064" y="138477"/>
                </a:lnTo>
                <a:lnTo>
                  <a:pt x="3700421" y="152018"/>
                </a:lnTo>
                <a:lnTo>
                  <a:pt x="3734911" y="165149"/>
                </a:lnTo>
                <a:lnTo>
                  <a:pt x="3770634" y="177631"/>
                </a:lnTo>
                <a:lnTo>
                  <a:pt x="3807690" y="189222"/>
                </a:lnTo>
                <a:lnTo>
                  <a:pt x="3846178" y="199684"/>
                </a:lnTo>
                <a:lnTo>
                  <a:pt x="3886200" y="208777"/>
                </a:lnTo>
                <a:lnTo>
                  <a:pt x="3929771" y="216794"/>
                </a:lnTo>
                <a:lnTo>
                  <a:pt x="3978173" y="224212"/>
                </a:lnTo>
                <a:lnTo>
                  <a:pt x="4030408" y="231060"/>
                </a:lnTo>
                <a:lnTo>
                  <a:pt x="4085475" y="237368"/>
                </a:lnTo>
                <a:lnTo>
                  <a:pt x="4142375" y="243167"/>
                </a:lnTo>
                <a:lnTo>
                  <a:pt x="4200108" y="248485"/>
                </a:lnTo>
                <a:lnTo>
                  <a:pt x="4257675" y="253354"/>
                </a:lnTo>
                <a:lnTo>
                  <a:pt x="4314075" y="257802"/>
                </a:lnTo>
                <a:lnTo>
                  <a:pt x="4368309" y="261861"/>
                </a:lnTo>
                <a:lnTo>
                  <a:pt x="4419378" y="265560"/>
                </a:lnTo>
                <a:lnTo>
                  <a:pt x="4466281" y="268929"/>
                </a:lnTo>
                <a:lnTo>
                  <a:pt x="4508019" y="271998"/>
                </a:lnTo>
                <a:lnTo>
                  <a:pt x="4543592" y="274797"/>
                </a:lnTo>
                <a:lnTo>
                  <a:pt x="4572000" y="277357"/>
                </a:lnTo>
              </a:path>
            </a:pathLst>
          </a:custGeom>
          <a:noFill/>
          <a:ln w="19050">
            <a:solidFill>
              <a:srgbClr val="1FB6D4"/>
            </a:solidFill>
            <a:prstDash val="solid"/>
          </a:ln>
        </p:spPr>
      </p:sp>
      <p:sp>
        <p:nvSpPr>
          <p:cNvPr id="23" name="Shape 19"/>
          <p:cNvSpPr/>
          <p:nvPr/>
        </p:nvSpPr>
        <p:spPr>
          <a:xfrm rot="4560847">
            <a:off x="1450110" y="3569466"/>
            <a:ext cx="91440" cy="100584"/>
          </a:xfrm>
          <a:prstGeom prst="triangle">
            <a:avLst/>
          </a:prstGeom>
          <a:solidFill>
            <a:srgbClr val="1FB6D4"/>
          </a:solidFill>
          <a:ln w="12700">
            <a:solidFill>
              <a:srgbClr val="1FB6D4"/>
            </a:solidFill>
            <a:prstDash val="solid"/>
          </a:ln>
        </p:spPr>
      </p:sp>
      <p:sp>
        <p:nvSpPr>
          <p:cNvPr id="24" name="Shape 20"/>
          <p:cNvSpPr/>
          <p:nvPr/>
        </p:nvSpPr>
        <p:spPr>
          <a:xfrm rot="5884092">
            <a:off x="4716208" y="3611304"/>
            <a:ext cx="91440" cy="100584"/>
          </a:xfrm>
          <a:prstGeom prst="triangle">
            <a:avLst/>
          </a:prstGeom>
          <a:solidFill>
            <a:srgbClr val="1FB6D4"/>
          </a:solidFill>
          <a:ln w="12700">
            <a:solidFill>
              <a:srgbClr val="1FB6D4"/>
            </a:solidFill>
            <a:prstDash val="solid"/>
          </a:ln>
        </p:spPr>
      </p:sp>
      <p:sp>
        <p:nvSpPr>
          <p:cNvPr id="25" name="Shape 21"/>
          <p:cNvSpPr/>
          <p:nvPr/>
        </p:nvSpPr>
        <p:spPr>
          <a:xfrm>
            <a:off x="731520" y="2057400"/>
            <a:ext cx="4572000" cy="55471"/>
          </a:xfrm>
          <a:custGeom>
            <a:avLst/>
            <a:gdLst/>
            <a:ahLst/>
            <a:cxnLst/>
            <a:rect l="l" t="t" r="r" b="b"/>
            <a:pathLst>
              <a:path w="4572000" h="55471">
                <a:moveTo>
                  <a:pt x="0" y="0"/>
                </a:moveTo>
                <a:lnTo>
                  <a:pt x="28408" y="512"/>
                </a:lnTo>
                <a:lnTo>
                  <a:pt x="63981" y="1072"/>
                </a:lnTo>
                <a:lnTo>
                  <a:pt x="105719" y="1686"/>
                </a:lnTo>
                <a:lnTo>
                  <a:pt x="152622" y="2359"/>
                </a:lnTo>
                <a:lnTo>
                  <a:pt x="203691" y="3099"/>
                </a:lnTo>
                <a:lnTo>
                  <a:pt x="257925" y="3911"/>
                </a:lnTo>
                <a:lnTo>
                  <a:pt x="314325" y="4801"/>
                </a:lnTo>
                <a:lnTo>
                  <a:pt x="371892" y="5774"/>
                </a:lnTo>
                <a:lnTo>
                  <a:pt x="429625" y="6838"/>
                </a:lnTo>
                <a:lnTo>
                  <a:pt x="486525" y="7998"/>
                </a:lnTo>
                <a:lnTo>
                  <a:pt x="541592" y="9259"/>
                </a:lnTo>
                <a:lnTo>
                  <a:pt x="593827" y="10629"/>
                </a:lnTo>
                <a:lnTo>
                  <a:pt x="642229" y="12112"/>
                </a:lnTo>
                <a:lnTo>
                  <a:pt x="685800" y="13716"/>
                </a:lnTo>
                <a:lnTo>
                  <a:pt x="725822" y="15534"/>
                </a:lnTo>
                <a:lnTo>
                  <a:pt x="764310" y="17627"/>
                </a:lnTo>
                <a:lnTo>
                  <a:pt x="801366" y="19945"/>
                </a:lnTo>
                <a:lnTo>
                  <a:pt x="837089" y="22441"/>
                </a:lnTo>
                <a:lnTo>
                  <a:pt x="871579" y="25068"/>
                </a:lnTo>
                <a:lnTo>
                  <a:pt x="904936" y="27776"/>
                </a:lnTo>
                <a:lnTo>
                  <a:pt x="937260" y="30518"/>
                </a:lnTo>
                <a:lnTo>
                  <a:pt x="968651" y="33246"/>
                </a:lnTo>
                <a:lnTo>
                  <a:pt x="999209" y="35913"/>
                </a:lnTo>
                <a:lnTo>
                  <a:pt x="1029033" y="38469"/>
                </a:lnTo>
                <a:lnTo>
                  <a:pt x="1058225" y="40867"/>
                </a:lnTo>
                <a:lnTo>
                  <a:pt x="1086883" y="43059"/>
                </a:lnTo>
                <a:lnTo>
                  <a:pt x="1115108" y="44998"/>
                </a:lnTo>
                <a:lnTo>
                  <a:pt x="1143000" y="46634"/>
                </a:lnTo>
                <a:lnTo>
                  <a:pt x="1168892" y="48002"/>
                </a:lnTo>
                <a:lnTo>
                  <a:pt x="1191519" y="49178"/>
                </a:lnTo>
                <a:lnTo>
                  <a:pt x="1211580" y="50179"/>
                </a:lnTo>
                <a:lnTo>
                  <a:pt x="1229775" y="51025"/>
                </a:lnTo>
                <a:lnTo>
                  <a:pt x="1246803" y="51733"/>
                </a:lnTo>
                <a:lnTo>
                  <a:pt x="1263365" y="52321"/>
                </a:lnTo>
                <a:lnTo>
                  <a:pt x="1280160" y="52807"/>
                </a:lnTo>
                <a:lnTo>
                  <a:pt x="1297888" y="53208"/>
                </a:lnTo>
                <a:lnTo>
                  <a:pt x="1317249" y="53544"/>
                </a:lnTo>
                <a:lnTo>
                  <a:pt x="1338943" y="53832"/>
                </a:lnTo>
                <a:lnTo>
                  <a:pt x="1363669" y="54090"/>
                </a:lnTo>
                <a:lnTo>
                  <a:pt x="1392127" y="54336"/>
                </a:lnTo>
                <a:lnTo>
                  <a:pt x="1425018" y="54588"/>
                </a:lnTo>
                <a:lnTo>
                  <a:pt x="1463040" y="54864"/>
                </a:lnTo>
                <a:lnTo>
                  <a:pt x="1506336" y="55117"/>
                </a:lnTo>
                <a:lnTo>
                  <a:pt x="1554213" y="55296"/>
                </a:lnTo>
                <a:lnTo>
                  <a:pt x="1606123" y="55408"/>
                </a:lnTo>
                <a:lnTo>
                  <a:pt x="1661515" y="55464"/>
                </a:lnTo>
                <a:lnTo>
                  <a:pt x="1719840" y="55471"/>
                </a:lnTo>
                <a:lnTo>
                  <a:pt x="1780547" y="55440"/>
                </a:lnTo>
                <a:lnTo>
                  <a:pt x="1843088" y="55378"/>
                </a:lnTo>
                <a:lnTo>
                  <a:pt x="1906911" y="55296"/>
                </a:lnTo>
                <a:lnTo>
                  <a:pt x="1971467" y="55201"/>
                </a:lnTo>
                <a:lnTo>
                  <a:pt x="2036206" y="55104"/>
                </a:lnTo>
                <a:lnTo>
                  <a:pt x="2100579" y="55012"/>
                </a:lnTo>
                <a:lnTo>
                  <a:pt x="2164036" y="54936"/>
                </a:lnTo>
                <a:lnTo>
                  <a:pt x="2226026" y="54883"/>
                </a:lnTo>
                <a:lnTo>
                  <a:pt x="2286000" y="54864"/>
                </a:lnTo>
                <a:lnTo>
                  <a:pt x="2345974" y="54883"/>
                </a:lnTo>
                <a:lnTo>
                  <a:pt x="2407964" y="54936"/>
                </a:lnTo>
                <a:lnTo>
                  <a:pt x="2471421" y="55012"/>
                </a:lnTo>
                <a:lnTo>
                  <a:pt x="2535794" y="55104"/>
                </a:lnTo>
                <a:lnTo>
                  <a:pt x="2600533" y="55201"/>
                </a:lnTo>
                <a:lnTo>
                  <a:pt x="2665089" y="55296"/>
                </a:lnTo>
                <a:lnTo>
                  <a:pt x="2728913" y="55378"/>
                </a:lnTo>
                <a:lnTo>
                  <a:pt x="2791453" y="55440"/>
                </a:lnTo>
                <a:lnTo>
                  <a:pt x="2852160" y="55471"/>
                </a:lnTo>
                <a:lnTo>
                  <a:pt x="2910485" y="55464"/>
                </a:lnTo>
                <a:lnTo>
                  <a:pt x="2965877" y="55408"/>
                </a:lnTo>
                <a:lnTo>
                  <a:pt x="3017787" y="55296"/>
                </a:lnTo>
                <a:lnTo>
                  <a:pt x="3065664" y="55117"/>
                </a:lnTo>
                <a:lnTo>
                  <a:pt x="3108960" y="54864"/>
                </a:lnTo>
                <a:lnTo>
                  <a:pt x="3146982" y="54588"/>
                </a:lnTo>
                <a:lnTo>
                  <a:pt x="3179873" y="54336"/>
                </a:lnTo>
                <a:lnTo>
                  <a:pt x="3208331" y="54090"/>
                </a:lnTo>
                <a:lnTo>
                  <a:pt x="3233057" y="53832"/>
                </a:lnTo>
                <a:lnTo>
                  <a:pt x="3254751" y="53544"/>
                </a:lnTo>
                <a:lnTo>
                  <a:pt x="3274112" y="53208"/>
                </a:lnTo>
                <a:lnTo>
                  <a:pt x="3291840" y="52807"/>
                </a:lnTo>
                <a:lnTo>
                  <a:pt x="3308635" y="52321"/>
                </a:lnTo>
                <a:lnTo>
                  <a:pt x="3325197" y="51733"/>
                </a:lnTo>
                <a:lnTo>
                  <a:pt x="3342225" y="51025"/>
                </a:lnTo>
                <a:lnTo>
                  <a:pt x="3360420" y="50179"/>
                </a:lnTo>
                <a:lnTo>
                  <a:pt x="3380481" y="49178"/>
                </a:lnTo>
                <a:lnTo>
                  <a:pt x="3403108" y="48002"/>
                </a:lnTo>
                <a:lnTo>
                  <a:pt x="3429000" y="46634"/>
                </a:lnTo>
                <a:lnTo>
                  <a:pt x="3456892" y="44998"/>
                </a:lnTo>
                <a:lnTo>
                  <a:pt x="3485117" y="43059"/>
                </a:lnTo>
                <a:lnTo>
                  <a:pt x="3513775" y="40867"/>
                </a:lnTo>
                <a:lnTo>
                  <a:pt x="3542967" y="38469"/>
                </a:lnTo>
                <a:lnTo>
                  <a:pt x="3572791" y="35913"/>
                </a:lnTo>
                <a:lnTo>
                  <a:pt x="3603349" y="33246"/>
                </a:lnTo>
                <a:lnTo>
                  <a:pt x="3634740" y="30518"/>
                </a:lnTo>
                <a:lnTo>
                  <a:pt x="3667064" y="27776"/>
                </a:lnTo>
                <a:lnTo>
                  <a:pt x="3700421" y="25068"/>
                </a:lnTo>
                <a:lnTo>
                  <a:pt x="3734911" y="22441"/>
                </a:lnTo>
                <a:lnTo>
                  <a:pt x="3770634" y="19945"/>
                </a:lnTo>
                <a:lnTo>
                  <a:pt x="3807690" y="17627"/>
                </a:lnTo>
                <a:lnTo>
                  <a:pt x="3846178" y="15534"/>
                </a:lnTo>
                <a:lnTo>
                  <a:pt x="3886200" y="13716"/>
                </a:lnTo>
                <a:lnTo>
                  <a:pt x="3929771" y="12112"/>
                </a:lnTo>
                <a:lnTo>
                  <a:pt x="3978173" y="10629"/>
                </a:lnTo>
                <a:lnTo>
                  <a:pt x="4030408" y="9259"/>
                </a:lnTo>
                <a:lnTo>
                  <a:pt x="4085475" y="7998"/>
                </a:lnTo>
                <a:lnTo>
                  <a:pt x="4142375" y="6838"/>
                </a:lnTo>
                <a:lnTo>
                  <a:pt x="4200108" y="5774"/>
                </a:lnTo>
                <a:lnTo>
                  <a:pt x="4257675" y="4801"/>
                </a:lnTo>
                <a:lnTo>
                  <a:pt x="4314075" y="3911"/>
                </a:lnTo>
                <a:lnTo>
                  <a:pt x="4368309" y="3099"/>
                </a:lnTo>
                <a:lnTo>
                  <a:pt x="4419378" y="2359"/>
                </a:lnTo>
                <a:lnTo>
                  <a:pt x="4466281" y="1686"/>
                </a:lnTo>
                <a:lnTo>
                  <a:pt x="4508019" y="1072"/>
                </a:lnTo>
                <a:lnTo>
                  <a:pt x="4543592" y="512"/>
                </a:lnTo>
                <a:lnTo>
                  <a:pt x="4572000" y="0"/>
                </a:lnTo>
              </a:path>
            </a:pathLst>
          </a:custGeom>
          <a:noFill/>
          <a:ln w="19050">
            <a:solidFill>
              <a:srgbClr val="1FB6D4"/>
            </a:solidFill>
            <a:prstDash val="solid"/>
          </a:ln>
        </p:spPr>
      </p:sp>
      <p:sp>
        <p:nvSpPr>
          <p:cNvPr id="26" name="Shape 22"/>
          <p:cNvSpPr/>
          <p:nvPr/>
        </p:nvSpPr>
        <p:spPr>
          <a:xfrm rot="5571104">
            <a:off x="1450110" y="2029307"/>
            <a:ext cx="91440" cy="100584"/>
          </a:xfrm>
          <a:prstGeom prst="triangle">
            <a:avLst/>
          </a:prstGeom>
          <a:solidFill>
            <a:srgbClr val="1FB6D4"/>
          </a:solidFill>
          <a:ln w="12700">
            <a:solidFill>
              <a:srgbClr val="1FB6D4"/>
            </a:solidFill>
            <a:prstDash val="solid"/>
          </a:ln>
        </p:spPr>
      </p:sp>
      <p:sp>
        <p:nvSpPr>
          <p:cNvPr id="27" name="Shape 23"/>
          <p:cNvSpPr/>
          <p:nvPr/>
        </p:nvSpPr>
        <p:spPr>
          <a:xfrm rot="5302563">
            <a:off x="4716208" y="2020939"/>
            <a:ext cx="91440" cy="100584"/>
          </a:xfrm>
          <a:prstGeom prst="triangle">
            <a:avLst/>
          </a:prstGeom>
          <a:solidFill>
            <a:srgbClr val="1FB6D4"/>
          </a:solidFill>
          <a:ln w="12700">
            <a:solidFill>
              <a:srgbClr val="1FB6D4"/>
            </a:solidFill>
            <a:prstDash val="solid"/>
          </a:ln>
        </p:spPr>
      </p:sp>
      <p:sp>
        <p:nvSpPr>
          <p:cNvPr id="28" name="Shape 24"/>
          <p:cNvSpPr/>
          <p:nvPr/>
        </p:nvSpPr>
        <p:spPr>
          <a:xfrm>
            <a:off x="731520" y="3373529"/>
            <a:ext cx="4572000" cy="55471"/>
          </a:xfrm>
          <a:custGeom>
            <a:avLst/>
            <a:gdLst/>
            <a:ahLst/>
            <a:cxnLst/>
            <a:rect l="l" t="t" r="r" b="b"/>
            <a:pathLst>
              <a:path w="4572000" h="55471">
                <a:moveTo>
                  <a:pt x="0" y="55471"/>
                </a:moveTo>
                <a:lnTo>
                  <a:pt x="28408" y="54959"/>
                </a:lnTo>
                <a:lnTo>
                  <a:pt x="63981" y="54400"/>
                </a:lnTo>
                <a:lnTo>
                  <a:pt x="105719" y="53786"/>
                </a:lnTo>
                <a:lnTo>
                  <a:pt x="152622" y="53112"/>
                </a:lnTo>
                <a:lnTo>
                  <a:pt x="203691" y="52372"/>
                </a:lnTo>
                <a:lnTo>
                  <a:pt x="257925" y="51560"/>
                </a:lnTo>
                <a:lnTo>
                  <a:pt x="314325" y="50671"/>
                </a:lnTo>
                <a:lnTo>
                  <a:pt x="371892" y="49697"/>
                </a:lnTo>
                <a:lnTo>
                  <a:pt x="429625" y="48633"/>
                </a:lnTo>
                <a:lnTo>
                  <a:pt x="486525" y="47474"/>
                </a:lnTo>
                <a:lnTo>
                  <a:pt x="541592" y="46212"/>
                </a:lnTo>
                <a:lnTo>
                  <a:pt x="593827" y="44842"/>
                </a:lnTo>
                <a:lnTo>
                  <a:pt x="642229" y="43359"/>
                </a:lnTo>
                <a:lnTo>
                  <a:pt x="685800" y="41755"/>
                </a:lnTo>
                <a:lnTo>
                  <a:pt x="725822" y="39937"/>
                </a:lnTo>
                <a:lnTo>
                  <a:pt x="764310" y="37844"/>
                </a:lnTo>
                <a:lnTo>
                  <a:pt x="801366" y="35526"/>
                </a:lnTo>
                <a:lnTo>
                  <a:pt x="837089" y="33030"/>
                </a:lnTo>
                <a:lnTo>
                  <a:pt x="871579" y="30404"/>
                </a:lnTo>
                <a:lnTo>
                  <a:pt x="904936" y="27695"/>
                </a:lnTo>
                <a:lnTo>
                  <a:pt x="937260" y="24953"/>
                </a:lnTo>
                <a:lnTo>
                  <a:pt x="968651" y="22225"/>
                </a:lnTo>
                <a:lnTo>
                  <a:pt x="999209" y="19559"/>
                </a:lnTo>
                <a:lnTo>
                  <a:pt x="1029033" y="17003"/>
                </a:lnTo>
                <a:lnTo>
                  <a:pt x="1058225" y="14604"/>
                </a:lnTo>
                <a:lnTo>
                  <a:pt x="1086883" y="12412"/>
                </a:lnTo>
                <a:lnTo>
                  <a:pt x="1115108" y="10473"/>
                </a:lnTo>
                <a:lnTo>
                  <a:pt x="1143000" y="8837"/>
                </a:lnTo>
                <a:lnTo>
                  <a:pt x="1168892" y="7469"/>
                </a:lnTo>
                <a:lnTo>
                  <a:pt x="1191519" y="6294"/>
                </a:lnTo>
                <a:lnTo>
                  <a:pt x="1211580" y="5292"/>
                </a:lnTo>
                <a:lnTo>
                  <a:pt x="1229775" y="4446"/>
                </a:lnTo>
                <a:lnTo>
                  <a:pt x="1246803" y="3738"/>
                </a:lnTo>
                <a:lnTo>
                  <a:pt x="1263365" y="3151"/>
                </a:lnTo>
                <a:lnTo>
                  <a:pt x="1280160" y="2665"/>
                </a:lnTo>
                <a:lnTo>
                  <a:pt x="1297888" y="2263"/>
                </a:lnTo>
                <a:lnTo>
                  <a:pt x="1317249" y="1927"/>
                </a:lnTo>
                <a:lnTo>
                  <a:pt x="1338943" y="1639"/>
                </a:lnTo>
                <a:lnTo>
                  <a:pt x="1363669" y="1381"/>
                </a:lnTo>
                <a:lnTo>
                  <a:pt x="1392127" y="1135"/>
                </a:lnTo>
                <a:lnTo>
                  <a:pt x="1425018" y="883"/>
                </a:lnTo>
                <a:lnTo>
                  <a:pt x="1463040" y="607"/>
                </a:lnTo>
                <a:lnTo>
                  <a:pt x="1506336" y="354"/>
                </a:lnTo>
                <a:lnTo>
                  <a:pt x="1554213" y="175"/>
                </a:lnTo>
                <a:lnTo>
                  <a:pt x="1606123" y="63"/>
                </a:lnTo>
                <a:lnTo>
                  <a:pt x="1661515" y="7"/>
                </a:lnTo>
                <a:lnTo>
                  <a:pt x="1719840" y="0"/>
                </a:lnTo>
                <a:lnTo>
                  <a:pt x="1780547" y="31"/>
                </a:lnTo>
                <a:lnTo>
                  <a:pt x="1843088" y="93"/>
                </a:lnTo>
                <a:lnTo>
                  <a:pt x="1906911" y="175"/>
                </a:lnTo>
                <a:lnTo>
                  <a:pt x="1971467" y="270"/>
                </a:lnTo>
                <a:lnTo>
                  <a:pt x="2036206" y="367"/>
                </a:lnTo>
                <a:lnTo>
                  <a:pt x="2100579" y="459"/>
                </a:lnTo>
                <a:lnTo>
                  <a:pt x="2164036" y="535"/>
                </a:lnTo>
                <a:lnTo>
                  <a:pt x="2226026" y="588"/>
                </a:lnTo>
                <a:lnTo>
                  <a:pt x="2286000" y="607"/>
                </a:lnTo>
                <a:lnTo>
                  <a:pt x="2345974" y="588"/>
                </a:lnTo>
                <a:lnTo>
                  <a:pt x="2407964" y="535"/>
                </a:lnTo>
                <a:lnTo>
                  <a:pt x="2471421" y="459"/>
                </a:lnTo>
                <a:lnTo>
                  <a:pt x="2535794" y="367"/>
                </a:lnTo>
                <a:lnTo>
                  <a:pt x="2600533" y="270"/>
                </a:lnTo>
                <a:lnTo>
                  <a:pt x="2665089" y="175"/>
                </a:lnTo>
                <a:lnTo>
                  <a:pt x="2728913" y="93"/>
                </a:lnTo>
                <a:lnTo>
                  <a:pt x="2791453" y="31"/>
                </a:lnTo>
                <a:lnTo>
                  <a:pt x="2852160" y="0"/>
                </a:lnTo>
                <a:lnTo>
                  <a:pt x="2910485" y="7"/>
                </a:lnTo>
                <a:lnTo>
                  <a:pt x="2965877" y="63"/>
                </a:lnTo>
                <a:lnTo>
                  <a:pt x="3017787" y="175"/>
                </a:lnTo>
                <a:lnTo>
                  <a:pt x="3065664" y="354"/>
                </a:lnTo>
                <a:lnTo>
                  <a:pt x="3108960" y="607"/>
                </a:lnTo>
                <a:lnTo>
                  <a:pt x="3146982" y="883"/>
                </a:lnTo>
                <a:lnTo>
                  <a:pt x="3179873" y="1135"/>
                </a:lnTo>
                <a:lnTo>
                  <a:pt x="3208331" y="1381"/>
                </a:lnTo>
                <a:lnTo>
                  <a:pt x="3233057" y="1639"/>
                </a:lnTo>
                <a:lnTo>
                  <a:pt x="3254751" y="1927"/>
                </a:lnTo>
                <a:lnTo>
                  <a:pt x="3274112" y="2263"/>
                </a:lnTo>
                <a:lnTo>
                  <a:pt x="3291840" y="2665"/>
                </a:lnTo>
                <a:lnTo>
                  <a:pt x="3308635" y="3151"/>
                </a:lnTo>
                <a:lnTo>
                  <a:pt x="3325197" y="3738"/>
                </a:lnTo>
                <a:lnTo>
                  <a:pt x="3342225" y="4446"/>
                </a:lnTo>
                <a:lnTo>
                  <a:pt x="3360420" y="5292"/>
                </a:lnTo>
                <a:lnTo>
                  <a:pt x="3380481" y="6294"/>
                </a:lnTo>
                <a:lnTo>
                  <a:pt x="3403108" y="7469"/>
                </a:lnTo>
                <a:lnTo>
                  <a:pt x="3429000" y="8837"/>
                </a:lnTo>
                <a:lnTo>
                  <a:pt x="3456892" y="10473"/>
                </a:lnTo>
                <a:lnTo>
                  <a:pt x="3485117" y="12412"/>
                </a:lnTo>
                <a:lnTo>
                  <a:pt x="3513775" y="14604"/>
                </a:lnTo>
                <a:lnTo>
                  <a:pt x="3542967" y="17003"/>
                </a:lnTo>
                <a:lnTo>
                  <a:pt x="3572791" y="19559"/>
                </a:lnTo>
                <a:lnTo>
                  <a:pt x="3603349" y="22225"/>
                </a:lnTo>
                <a:lnTo>
                  <a:pt x="3634740" y="24953"/>
                </a:lnTo>
                <a:lnTo>
                  <a:pt x="3667064" y="27695"/>
                </a:lnTo>
                <a:lnTo>
                  <a:pt x="3700421" y="30404"/>
                </a:lnTo>
                <a:lnTo>
                  <a:pt x="3734911" y="33030"/>
                </a:lnTo>
                <a:lnTo>
                  <a:pt x="3770634" y="35526"/>
                </a:lnTo>
                <a:lnTo>
                  <a:pt x="3807690" y="37844"/>
                </a:lnTo>
                <a:lnTo>
                  <a:pt x="3846178" y="39937"/>
                </a:lnTo>
                <a:lnTo>
                  <a:pt x="3886200" y="41755"/>
                </a:lnTo>
                <a:lnTo>
                  <a:pt x="3929771" y="43359"/>
                </a:lnTo>
                <a:lnTo>
                  <a:pt x="3978173" y="44842"/>
                </a:lnTo>
                <a:lnTo>
                  <a:pt x="4030408" y="46212"/>
                </a:lnTo>
                <a:lnTo>
                  <a:pt x="4085475" y="47474"/>
                </a:lnTo>
                <a:lnTo>
                  <a:pt x="4142375" y="48633"/>
                </a:lnTo>
                <a:lnTo>
                  <a:pt x="4200108" y="49697"/>
                </a:lnTo>
                <a:lnTo>
                  <a:pt x="4257675" y="50671"/>
                </a:lnTo>
                <a:lnTo>
                  <a:pt x="4314075" y="51560"/>
                </a:lnTo>
                <a:lnTo>
                  <a:pt x="4368309" y="52372"/>
                </a:lnTo>
                <a:lnTo>
                  <a:pt x="4419378" y="53112"/>
                </a:lnTo>
                <a:lnTo>
                  <a:pt x="4466281" y="53786"/>
                </a:lnTo>
                <a:lnTo>
                  <a:pt x="4508019" y="54400"/>
                </a:lnTo>
                <a:lnTo>
                  <a:pt x="4543592" y="54959"/>
                </a:lnTo>
                <a:lnTo>
                  <a:pt x="4572000" y="55471"/>
                </a:lnTo>
              </a:path>
            </a:pathLst>
          </a:custGeom>
          <a:noFill/>
          <a:ln w="19050">
            <a:solidFill>
              <a:srgbClr val="1FB6D4"/>
            </a:solidFill>
            <a:prstDash val="solid"/>
          </a:ln>
        </p:spPr>
      </p:sp>
      <p:sp>
        <p:nvSpPr>
          <p:cNvPr id="29" name="Shape 25"/>
          <p:cNvSpPr/>
          <p:nvPr/>
        </p:nvSpPr>
        <p:spPr>
          <a:xfrm rot="5228896">
            <a:off x="1450110" y="3365653"/>
            <a:ext cx="91440" cy="100584"/>
          </a:xfrm>
          <a:prstGeom prst="triangle">
            <a:avLst/>
          </a:prstGeom>
          <a:solidFill>
            <a:srgbClr val="1FB6D4"/>
          </a:solidFill>
          <a:ln w="12700">
            <a:solidFill>
              <a:srgbClr val="1FB6D4"/>
            </a:solidFill>
            <a:prstDash val="solid"/>
          </a:ln>
        </p:spPr>
      </p:sp>
      <p:sp>
        <p:nvSpPr>
          <p:cNvPr id="30" name="Shape 26"/>
          <p:cNvSpPr/>
          <p:nvPr/>
        </p:nvSpPr>
        <p:spPr>
          <a:xfrm rot="5497437">
            <a:off x="4716208" y="3374021"/>
            <a:ext cx="91440" cy="100584"/>
          </a:xfrm>
          <a:prstGeom prst="triangle">
            <a:avLst/>
          </a:prstGeom>
          <a:solidFill>
            <a:srgbClr val="1FB6D4"/>
          </a:solidFill>
          <a:ln w="12700">
            <a:solidFill>
              <a:srgbClr val="1FB6D4"/>
            </a:solidFill>
            <a:prstDash val="solid"/>
          </a:ln>
        </p:spPr>
      </p:sp>
      <p:sp>
        <p:nvSpPr>
          <p:cNvPr id="31" name="Shape 27"/>
          <p:cNvSpPr/>
          <p:nvPr/>
        </p:nvSpPr>
        <p:spPr>
          <a:xfrm>
            <a:off x="731520" y="2542032"/>
            <a:ext cx="1207008" cy="0"/>
          </a:xfrm>
          <a:prstGeom prst="line">
            <a:avLst/>
          </a:prstGeom>
          <a:noFill/>
          <a:ln w="19050">
            <a:solidFill>
              <a:srgbClr val="1FB6D4"/>
            </a:solidFill>
            <a:prstDash val="solid"/>
            <a:tailEnd type="triangle"/>
          </a:ln>
        </p:spPr>
      </p:sp>
      <p:sp>
        <p:nvSpPr>
          <p:cNvPr id="32" name="Shape 28"/>
          <p:cNvSpPr/>
          <p:nvPr/>
        </p:nvSpPr>
        <p:spPr>
          <a:xfrm>
            <a:off x="4114800" y="2542032"/>
            <a:ext cx="1188720" cy="0"/>
          </a:xfrm>
          <a:prstGeom prst="line">
            <a:avLst/>
          </a:prstGeom>
          <a:noFill/>
          <a:ln w="19050">
            <a:solidFill>
              <a:srgbClr val="1FB6D4"/>
            </a:solidFill>
            <a:prstDash val="solid"/>
            <a:tailEnd type="triangle"/>
          </a:ln>
        </p:spPr>
      </p:sp>
      <p:sp>
        <p:nvSpPr>
          <p:cNvPr id="33" name="Shape 29"/>
          <p:cNvSpPr/>
          <p:nvPr/>
        </p:nvSpPr>
        <p:spPr>
          <a:xfrm>
            <a:off x="731520" y="2944368"/>
            <a:ext cx="1207008" cy="0"/>
          </a:xfrm>
          <a:prstGeom prst="line">
            <a:avLst/>
          </a:prstGeom>
          <a:noFill/>
          <a:ln w="19050">
            <a:solidFill>
              <a:srgbClr val="1FB6D4"/>
            </a:solidFill>
            <a:prstDash val="solid"/>
            <a:tailEnd type="triangle"/>
          </a:ln>
        </p:spPr>
      </p:sp>
      <p:sp>
        <p:nvSpPr>
          <p:cNvPr id="34" name="Shape 30"/>
          <p:cNvSpPr/>
          <p:nvPr/>
        </p:nvSpPr>
        <p:spPr>
          <a:xfrm>
            <a:off x="4114800" y="2944368"/>
            <a:ext cx="1188720" cy="0"/>
          </a:xfrm>
          <a:prstGeom prst="line">
            <a:avLst/>
          </a:prstGeom>
          <a:noFill/>
          <a:ln w="19050">
            <a:solidFill>
              <a:srgbClr val="1FB6D4"/>
            </a:solidFill>
            <a:prstDash val="solid"/>
            <a:tailEnd type="triangle"/>
          </a:ln>
        </p:spPr>
      </p:sp>
      <p:sp>
        <p:nvSpPr>
          <p:cNvPr id="35" name="Text 31"/>
          <p:cNvSpPr txBox="1"/>
          <p:nvPr/>
        </p:nvSpPr>
        <p:spPr>
          <a:xfrm>
            <a:off x="640080" y="1371600"/>
            <a:ext cx="1280160" cy="182880"/>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внешнее поле</a:t>
            </a:r>
            <a:endParaRPr lang="en-US" sz="900" dirty="0"/>
          </a:p>
        </p:txBody>
      </p:sp>
      <p:sp>
        <p:nvSpPr>
          <p:cNvPr id="36" name="Text 32"/>
          <p:cNvSpPr txBox="1"/>
          <p:nvPr/>
        </p:nvSpPr>
        <p:spPr>
          <a:xfrm>
            <a:off x="640080" y="4224528"/>
            <a:ext cx="4754880" cy="274320"/>
          </a:xfrm>
          <a:prstGeom prst="rect">
            <a:avLst/>
          </a:prstGeom>
          <a:noFill/>
          <a:ln/>
        </p:spPr>
        <p:txBody>
          <a:bodyPr wrap="square" lIns="0" tIns="0" rIns="0" bIns="0" rtlCol="0" anchor="t"/>
          <a:lstStyle/>
          <a:p>
            <a:pPr algn="l" indent="0" marL="0">
              <a:buNone/>
            </a:pPr>
            <a:r>
              <a:rPr lang="en-US" sz="1050" b="1" dirty="0">
                <a:solidFill>
                  <a:srgbClr val="0B1F3A"/>
                </a:solidFill>
                <a:latin typeface="Arial" pitchFamily="34" charset="0"/>
                <a:ea typeface="Arial" pitchFamily="34" charset="-122"/>
                <a:cs typeface="Arial" pitchFamily="34" charset="-120"/>
              </a:rPr>
              <a:t>Поток идёт по стенкам экрана и огибает область</a:t>
            </a:r>
            <a:endParaRPr lang="en-US" sz="1050" dirty="0"/>
          </a:p>
        </p:txBody>
      </p:sp>
      <p:sp>
        <p:nvSpPr>
          <p:cNvPr id="37" name="Shape 33"/>
          <p:cNvSpPr/>
          <p:nvPr/>
        </p:nvSpPr>
        <p:spPr>
          <a:xfrm>
            <a:off x="5806440" y="1280160"/>
            <a:ext cx="2880360" cy="612648"/>
          </a:xfrm>
          <a:prstGeom prst="roundRect">
            <a:avLst>
              <a:gd name="adj" fmla="val 1194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38" name="Shape 34"/>
          <p:cNvSpPr/>
          <p:nvPr/>
        </p:nvSpPr>
        <p:spPr>
          <a:xfrm>
            <a:off x="5943600" y="1403604"/>
            <a:ext cx="365760" cy="365760"/>
          </a:xfrm>
          <a:prstGeom prst="ellipse">
            <a:avLst/>
          </a:prstGeom>
          <a:solidFill>
            <a:srgbClr val="0B1F3A"/>
          </a:solidFill>
          <a:ln w="12700">
            <a:solidFill>
              <a:srgbClr val="0B1F3A"/>
            </a:solidFill>
            <a:prstDash val="solid"/>
          </a:ln>
        </p:spPr>
      </p:sp>
      <p:pic>
        <p:nvPicPr>
          <p:cNvPr id="39" name="Image 1" descr="preencoded.png">    </p:cNvPr>
          <p:cNvPicPr>
            <a:picLocks noChangeAspect="1"/>
          </p:cNvPicPr>
          <p:nvPr/>
        </p:nvPicPr>
        <p:blipFill>
          <a:blip r:embed="rId2"/>
          <a:stretch>
            <a:fillRect/>
          </a:stretch>
        </p:blipFill>
        <p:spPr>
          <a:xfrm>
            <a:off x="6035040" y="1495044"/>
            <a:ext cx="182880" cy="182880"/>
          </a:xfrm>
          <a:prstGeom prst="rect">
            <a:avLst/>
          </a:prstGeom>
        </p:spPr>
      </p:pic>
      <p:sp>
        <p:nvSpPr>
          <p:cNvPr id="40" name="Text 35"/>
          <p:cNvSpPr txBox="1"/>
          <p:nvPr/>
        </p:nvSpPr>
        <p:spPr>
          <a:xfrm>
            <a:off x="6446520" y="1371600"/>
            <a:ext cx="2194560" cy="219456"/>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Высокая проницаемость μ</a:t>
            </a:r>
            <a:endParaRPr lang="en-US" sz="1100" dirty="0"/>
          </a:p>
        </p:txBody>
      </p:sp>
      <p:sp>
        <p:nvSpPr>
          <p:cNvPr id="41" name="Text 36"/>
          <p:cNvSpPr txBox="1"/>
          <p:nvPr/>
        </p:nvSpPr>
        <p:spPr>
          <a:xfrm>
            <a:off x="6446520" y="1600200"/>
            <a:ext cx="2194560" cy="201168"/>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поток «втягивается» в стенки</a:t>
            </a:r>
            <a:endParaRPr lang="en-US" sz="900" dirty="0"/>
          </a:p>
        </p:txBody>
      </p:sp>
      <p:sp>
        <p:nvSpPr>
          <p:cNvPr id="42" name="Shape 37"/>
          <p:cNvSpPr/>
          <p:nvPr/>
        </p:nvSpPr>
        <p:spPr>
          <a:xfrm>
            <a:off x="5806440" y="1961388"/>
            <a:ext cx="2880360" cy="612648"/>
          </a:xfrm>
          <a:prstGeom prst="roundRect">
            <a:avLst>
              <a:gd name="adj" fmla="val 1194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43" name="Shape 38"/>
          <p:cNvSpPr/>
          <p:nvPr/>
        </p:nvSpPr>
        <p:spPr>
          <a:xfrm>
            <a:off x="5943600" y="2084832"/>
            <a:ext cx="365760" cy="365760"/>
          </a:xfrm>
          <a:prstGeom prst="ellipse">
            <a:avLst/>
          </a:prstGeom>
          <a:solidFill>
            <a:srgbClr val="0B1F3A"/>
          </a:solidFill>
          <a:ln w="12700">
            <a:solidFill>
              <a:srgbClr val="0B1F3A"/>
            </a:solidFill>
            <a:prstDash val="solid"/>
          </a:ln>
        </p:spPr>
      </p:sp>
      <p:pic>
        <p:nvPicPr>
          <p:cNvPr id="44" name="Image 2" descr="preencoded.png">    </p:cNvPr>
          <p:cNvPicPr>
            <a:picLocks noChangeAspect="1"/>
          </p:cNvPicPr>
          <p:nvPr/>
        </p:nvPicPr>
        <p:blipFill>
          <a:blip r:embed="rId3"/>
          <a:stretch>
            <a:fillRect/>
          </a:stretch>
        </p:blipFill>
        <p:spPr>
          <a:xfrm>
            <a:off x="6035040" y="2176272"/>
            <a:ext cx="182880" cy="182880"/>
          </a:xfrm>
          <a:prstGeom prst="rect">
            <a:avLst/>
          </a:prstGeom>
        </p:spPr>
      </p:pic>
      <p:sp>
        <p:nvSpPr>
          <p:cNvPr id="45" name="Text 39"/>
          <p:cNvSpPr txBox="1"/>
          <p:nvPr/>
        </p:nvSpPr>
        <p:spPr>
          <a:xfrm>
            <a:off x="6446520" y="2052828"/>
            <a:ext cx="2194560" cy="219456"/>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Пермаллой</a:t>
            </a:r>
            <a:endParaRPr lang="en-US" sz="1100" dirty="0"/>
          </a:p>
        </p:txBody>
      </p:sp>
      <p:sp>
        <p:nvSpPr>
          <p:cNvPr id="46" name="Text 40"/>
          <p:cNvSpPr txBox="1"/>
          <p:nvPr/>
        </p:nvSpPr>
        <p:spPr>
          <a:xfrm>
            <a:off x="6446520" y="2281428"/>
            <a:ext cx="2194560" cy="201168"/>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сплав Fe–Ni, μ до 10⁵</a:t>
            </a:r>
            <a:endParaRPr lang="en-US" sz="900" dirty="0"/>
          </a:p>
        </p:txBody>
      </p:sp>
      <p:sp>
        <p:nvSpPr>
          <p:cNvPr id="47" name="Shape 41"/>
          <p:cNvSpPr/>
          <p:nvPr/>
        </p:nvSpPr>
        <p:spPr>
          <a:xfrm>
            <a:off x="5806440" y="2642616"/>
            <a:ext cx="2880360" cy="612648"/>
          </a:xfrm>
          <a:prstGeom prst="roundRect">
            <a:avLst>
              <a:gd name="adj" fmla="val 1194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48" name="Shape 42"/>
          <p:cNvSpPr/>
          <p:nvPr/>
        </p:nvSpPr>
        <p:spPr>
          <a:xfrm>
            <a:off x="5943600" y="2766060"/>
            <a:ext cx="365760" cy="365760"/>
          </a:xfrm>
          <a:prstGeom prst="ellipse">
            <a:avLst/>
          </a:prstGeom>
          <a:solidFill>
            <a:srgbClr val="0B1F3A"/>
          </a:solidFill>
          <a:ln w="12700">
            <a:solidFill>
              <a:srgbClr val="0B1F3A"/>
            </a:solidFill>
            <a:prstDash val="solid"/>
          </a:ln>
        </p:spPr>
      </p:sp>
      <p:pic>
        <p:nvPicPr>
          <p:cNvPr id="49" name="Image 3" descr="preencoded.png">    </p:cNvPr>
          <p:cNvPicPr>
            <a:picLocks noChangeAspect="1"/>
          </p:cNvPicPr>
          <p:nvPr/>
        </p:nvPicPr>
        <p:blipFill>
          <a:blip r:embed="rId4"/>
          <a:stretch>
            <a:fillRect/>
          </a:stretch>
        </p:blipFill>
        <p:spPr>
          <a:xfrm>
            <a:off x="6035040" y="2857500"/>
            <a:ext cx="182880" cy="182880"/>
          </a:xfrm>
          <a:prstGeom prst="rect">
            <a:avLst/>
          </a:prstGeom>
        </p:spPr>
      </p:pic>
      <p:sp>
        <p:nvSpPr>
          <p:cNvPr id="50" name="Text 43"/>
          <p:cNvSpPr txBox="1"/>
          <p:nvPr/>
        </p:nvSpPr>
        <p:spPr>
          <a:xfrm>
            <a:off x="6446520" y="2734056"/>
            <a:ext cx="2194560" cy="219456"/>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Электротехническая сталь</a:t>
            </a:r>
            <a:endParaRPr lang="en-US" sz="1100" dirty="0"/>
          </a:p>
        </p:txBody>
      </p:sp>
      <p:sp>
        <p:nvSpPr>
          <p:cNvPr id="51" name="Text 44"/>
          <p:cNvSpPr txBox="1"/>
          <p:nvPr/>
        </p:nvSpPr>
        <p:spPr>
          <a:xfrm>
            <a:off x="6446520" y="2962656"/>
            <a:ext cx="2194560" cy="201168"/>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дешевле, μ порядка 10³–10⁴</a:t>
            </a:r>
            <a:endParaRPr lang="en-US" sz="900" dirty="0"/>
          </a:p>
        </p:txBody>
      </p:sp>
      <p:sp>
        <p:nvSpPr>
          <p:cNvPr id="52" name="Shape 45"/>
          <p:cNvSpPr/>
          <p:nvPr/>
        </p:nvSpPr>
        <p:spPr>
          <a:xfrm>
            <a:off x="5806440" y="3323844"/>
            <a:ext cx="2880360" cy="612648"/>
          </a:xfrm>
          <a:prstGeom prst="roundRect">
            <a:avLst>
              <a:gd name="adj" fmla="val 1194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53" name="Shape 46"/>
          <p:cNvSpPr/>
          <p:nvPr/>
        </p:nvSpPr>
        <p:spPr>
          <a:xfrm>
            <a:off x="5943600" y="3447288"/>
            <a:ext cx="365760" cy="365760"/>
          </a:xfrm>
          <a:prstGeom prst="ellipse">
            <a:avLst/>
          </a:prstGeom>
          <a:solidFill>
            <a:srgbClr val="0B1F3A"/>
          </a:solidFill>
          <a:ln w="12700">
            <a:solidFill>
              <a:srgbClr val="0B1F3A"/>
            </a:solidFill>
            <a:prstDash val="solid"/>
          </a:ln>
        </p:spPr>
      </p:sp>
      <p:pic>
        <p:nvPicPr>
          <p:cNvPr id="54" name="Image 4" descr="preencoded.png">    </p:cNvPr>
          <p:cNvPicPr>
            <a:picLocks noChangeAspect="1"/>
          </p:cNvPicPr>
          <p:nvPr/>
        </p:nvPicPr>
        <p:blipFill>
          <a:blip r:embed="rId5"/>
          <a:stretch>
            <a:fillRect/>
          </a:stretch>
        </p:blipFill>
        <p:spPr>
          <a:xfrm>
            <a:off x="6035040" y="3538728"/>
            <a:ext cx="182880" cy="182880"/>
          </a:xfrm>
          <a:prstGeom prst="rect">
            <a:avLst/>
          </a:prstGeom>
        </p:spPr>
      </p:pic>
      <p:sp>
        <p:nvSpPr>
          <p:cNvPr id="55" name="Text 47"/>
          <p:cNvSpPr txBox="1"/>
          <p:nvPr/>
        </p:nvSpPr>
        <p:spPr>
          <a:xfrm>
            <a:off x="6446520" y="3415284"/>
            <a:ext cx="2194560" cy="219456"/>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Многослойные экраны</a:t>
            </a:r>
            <a:endParaRPr lang="en-US" sz="1100" dirty="0"/>
          </a:p>
        </p:txBody>
      </p:sp>
      <p:sp>
        <p:nvSpPr>
          <p:cNvPr id="56" name="Text 48"/>
          <p:cNvSpPr txBox="1"/>
          <p:nvPr/>
        </p:nvSpPr>
        <p:spPr>
          <a:xfrm>
            <a:off x="6446520" y="3643884"/>
            <a:ext cx="2194560" cy="201168"/>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слои с зазором усиливают эффект</a:t>
            </a:r>
            <a:endParaRPr lang="en-US" sz="900" dirty="0"/>
          </a:p>
        </p:txBody>
      </p:sp>
      <p:sp>
        <p:nvSpPr>
          <p:cNvPr id="57" name="Shape 49"/>
          <p:cNvSpPr/>
          <p:nvPr/>
        </p:nvSpPr>
        <p:spPr>
          <a:xfrm>
            <a:off x="5806440" y="4005072"/>
            <a:ext cx="2880360" cy="612648"/>
          </a:xfrm>
          <a:prstGeom prst="roundRect">
            <a:avLst>
              <a:gd name="adj" fmla="val 1194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58" name="Shape 50"/>
          <p:cNvSpPr/>
          <p:nvPr/>
        </p:nvSpPr>
        <p:spPr>
          <a:xfrm>
            <a:off x="5943600" y="4128516"/>
            <a:ext cx="365760" cy="365760"/>
          </a:xfrm>
          <a:prstGeom prst="ellipse">
            <a:avLst/>
          </a:prstGeom>
          <a:solidFill>
            <a:srgbClr val="0E9AA7"/>
          </a:solidFill>
          <a:ln w="12700">
            <a:solidFill>
              <a:srgbClr val="0E9AA7"/>
            </a:solidFill>
            <a:prstDash val="solid"/>
          </a:ln>
        </p:spPr>
      </p:sp>
      <p:pic>
        <p:nvPicPr>
          <p:cNvPr id="59" name="Image 5" descr="preencoded.png">    </p:cNvPr>
          <p:cNvPicPr>
            <a:picLocks noChangeAspect="1"/>
          </p:cNvPicPr>
          <p:nvPr/>
        </p:nvPicPr>
        <p:blipFill>
          <a:blip r:embed="rId6"/>
          <a:stretch>
            <a:fillRect/>
          </a:stretch>
        </p:blipFill>
        <p:spPr>
          <a:xfrm>
            <a:off x="6035040" y="4219956"/>
            <a:ext cx="182880" cy="182880"/>
          </a:xfrm>
          <a:prstGeom prst="rect">
            <a:avLst/>
          </a:prstGeom>
        </p:spPr>
      </p:pic>
      <p:sp>
        <p:nvSpPr>
          <p:cNvPr id="60" name="Text 51"/>
          <p:cNvSpPr txBox="1"/>
          <p:nvPr/>
        </p:nvSpPr>
        <p:spPr>
          <a:xfrm>
            <a:off x="6446520" y="4096512"/>
            <a:ext cx="2194560" cy="219456"/>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Высокие частоты</a:t>
            </a:r>
            <a:endParaRPr lang="en-US" sz="1100" dirty="0"/>
          </a:p>
        </p:txBody>
      </p:sp>
      <p:sp>
        <p:nvSpPr>
          <p:cNvPr id="61" name="Text 52"/>
          <p:cNvSpPr txBox="1"/>
          <p:nvPr/>
        </p:nvSpPr>
        <p:spPr>
          <a:xfrm>
            <a:off x="6446520" y="4325112"/>
            <a:ext cx="2194560" cy="201168"/>
          </a:xfrm>
          <a:prstGeom prst="rect">
            <a:avLst/>
          </a:prstGeom>
          <a:noFill/>
          <a:ln/>
        </p:spPr>
        <p:txBody>
          <a:bodyPr wrap="square" lIns="0" tIns="0" rIns="0" bIns="0" rtlCol="0" anchor="t"/>
          <a:lstStyle/>
          <a:p>
            <a:pPr indent="0" marL="0">
              <a:buNone/>
            </a:pPr>
            <a:r>
              <a:rPr lang="en-US" sz="900" dirty="0">
                <a:solidFill>
                  <a:srgbClr val="64748B"/>
                </a:solidFill>
                <a:latin typeface="Arial" pitchFamily="34" charset="0"/>
                <a:ea typeface="Arial" pitchFamily="34" charset="-122"/>
                <a:cs typeface="Arial" pitchFamily="34" charset="-120"/>
              </a:rPr>
              <a:t>работают вихревые токи: Cu, Al</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9"/>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0E9AA7"/>
                </a:solidFill>
                <a:latin typeface="Arial" pitchFamily="34" charset="0"/>
                <a:ea typeface="Arial" pitchFamily="34" charset="-122"/>
                <a:cs typeface="Arial" pitchFamily="34" charset="-120"/>
              </a:rPr>
              <a:t>СРАВНЕНИЕ</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0B1F3A"/>
                </a:solidFill>
                <a:latin typeface="Arial" pitchFamily="34" charset="0"/>
                <a:ea typeface="Arial" pitchFamily="34" charset="-122"/>
                <a:cs typeface="Arial" pitchFamily="34" charset="-120"/>
              </a:rPr>
              <a:t>Электрическое и магнитное экранирование</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64748B"/>
                </a:solidFill>
                <a:latin typeface="Arial" pitchFamily="34" charset="0"/>
                <a:ea typeface="Arial" pitchFamily="34" charset="-122"/>
                <a:cs typeface="Arial" pitchFamily="34" charset="-120"/>
              </a:rPr>
              <a:t>06</a:t>
            </a:r>
            <a:endParaRPr lang="en-US" sz="800" dirty="0"/>
          </a:p>
        </p:txBody>
      </p:sp>
      <p:sp>
        <p:nvSpPr>
          <p:cNvPr id="7" name="Shape 4"/>
          <p:cNvSpPr/>
          <p:nvPr/>
        </p:nvSpPr>
        <p:spPr>
          <a:xfrm>
            <a:off x="457200" y="1280160"/>
            <a:ext cx="3429000" cy="566928"/>
          </a:xfrm>
          <a:prstGeom prst="roundRect">
            <a:avLst>
              <a:gd name="adj" fmla="val 12903"/>
            </a:avLst>
          </a:prstGeom>
          <a:solidFill>
            <a:srgbClr val="0B1F3A"/>
          </a:solidFill>
          <a:ln w="12700">
            <a:solidFill>
              <a:srgbClr val="0B1F3A"/>
            </a:solidFill>
            <a:prstDash val="solid"/>
          </a:ln>
          <a:effectLst>
            <a:outerShdw sx="100000" sy="100000" kx="0" ky="0" algn="bl" rotWithShape="0" blurRad="101600" dist="25400" dir="5400000">
              <a:srgbClr val="0B1F3A">
                <a:alpha val="10000"/>
              </a:srgbClr>
            </a:outerShdw>
          </a:effectLst>
        </p:spPr>
      </p:sp>
      <p:pic>
        <p:nvPicPr>
          <p:cNvPr id="8" name="Image 0" descr="preencoded.png">    </p:cNvPr>
          <p:cNvPicPr>
            <a:picLocks noChangeAspect="1"/>
          </p:cNvPicPr>
          <p:nvPr/>
        </p:nvPicPr>
        <p:blipFill>
          <a:blip r:embed="rId1"/>
          <a:stretch>
            <a:fillRect/>
          </a:stretch>
        </p:blipFill>
        <p:spPr>
          <a:xfrm>
            <a:off x="658368" y="1444752"/>
            <a:ext cx="237744" cy="237744"/>
          </a:xfrm>
          <a:prstGeom prst="rect">
            <a:avLst/>
          </a:prstGeom>
        </p:spPr>
      </p:pic>
      <p:sp>
        <p:nvSpPr>
          <p:cNvPr id="9" name="Text 5"/>
          <p:cNvSpPr txBox="1"/>
          <p:nvPr/>
        </p:nvSpPr>
        <p:spPr>
          <a:xfrm>
            <a:off x="1024128" y="1280160"/>
            <a:ext cx="2788920" cy="566928"/>
          </a:xfrm>
          <a:prstGeom prst="rect">
            <a:avLst/>
          </a:prstGeom>
          <a:noFill/>
          <a:ln/>
        </p:spPr>
        <p:txBody>
          <a:bodyPr wrap="square" lIns="0" tIns="0" rIns="0" bIns="0" rtlCol="0" anchor="ctr"/>
          <a:lstStyle/>
          <a:p>
            <a:pPr indent="0" marL="0">
              <a:buNone/>
            </a:pPr>
            <a:r>
              <a:rPr lang="en-US" sz="1300" b="1" spc="150" kern="0" dirty="0">
                <a:solidFill>
                  <a:srgbClr val="FFFFFF"/>
                </a:solidFill>
                <a:latin typeface="Arial" pitchFamily="34" charset="0"/>
                <a:ea typeface="Arial" pitchFamily="34" charset="-122"/>
                <a:cs typeface="Arial" pitchFamily="34" charset="-120"/>
              </a:rPr>
              <a:t>ЭЛЕКТРИЧЕСКОЕ ПОЛЕ</a:t>
            </a:r>
            <a:endParaRPr lang="en-US" sz="1300" dirty="0"/>
          </a:p>
        </p:txBody>
      </p:sp>
      <p:sp>
        <p:nvSpPr>
          <p:cNvPr id="10" name="Shape 6"/>
          <p:cNvSpPr/>
          <p:nvPr/>
        </p:nvSpPr>
        <p:spPr>
          <a:xfrm>
            <a:off x="5257800" y="1280160"/>
            <a:ext cx="3429000" cy="566928"/>
          </a:xfrm>
          <a:prstGeom prst="roundRect">
            <a:avLst>
              <a:gd name="adj" fmla="val 12903"/>
            </a:avLst>
          </a:prstGeom>
          <a:solidFill>
            <a:srgbClr val="0E9AA7"/>
          </a:solidFill>
          <a:ln w="12700">
            <a:solidFill>
              <a:srgbClr val="0E9AA7"/>
            </a:solidFill>
            <a:prstDash val="solid"/>
          </a:ln>
          <a:effectLst>
            <a:outerShdw sx="100000" sy="100000" kx="0" ky="0" algn="bl" rotWithShape="0" blurRad="101600" dist="25400" dir="5400000">
              <a:srgbClr val="0B1F3A">
                <a:alpha val="10000"/>
              </a:srgbClr>
            </a:outerShdw>
          </a:effectLst>
        </p:spPr>
      </p:sp>
      <p:pic>
        <p:nvPicPr>
          <p:cNvPr id="11" name="Image 1" descr="preencoded.png">    </p:cNvPr>
          <p:cNvPicPr>
            <a:picLocks noChangeAspect="1"/>
          </p:cNvPicPr>
          <p:nvPr/>
        </p:nvPicPr>
        <p:blipFill>
          <a:blip r:embed="rId2"/>
          <a:stretch>
            <a:fillRect/>
          </a:stretch>
        </p:blipFill>
        <p:spPr>
          <a:xfrm>
            <a:off x="5458968" y="1444752"/>
            <a:ext cx="237744" cy="237744"/>
          </a:xfrm>
          <a:prstGeom prst="rect">
            <a:avLst/>
          </a:prstGeom>
        </p:spPr>
      </p:pic>
      <p:sp>
        <p:nvSpPr>
          <p:cNvPr id="12" name="Text 7"/>
          <p:cNvSpPr txBox="1"/>
          <p:nvPr/>
        </p:nvSpPr>
        <p:spPr>
          <a:xfrm>
            <a:off x="5824728" y="1280160"/>
            <a:ext cx="2788920" cy="566928"/>
          </a:xfrm>
          <a:prstGeom prst="rect">
            <a:avLst/>
          </a:prstGeom>
          <a:noFill/>
          <a:ln/>
        </p:spPr>
        <p:txBody>
          <a:bodyPr wrap="square" lIns="0" tIns="0" rIns="0" bIns="0" rtlCol="0" anchor="ctr"/>
          <a:lstStyle/>
          <a:p>
            <a:pPr indent="0" marL="0">
              <a:buNone/>
            </a:pPr>
            <a:r>
              <a:rPr lang="en-US" sz="1300" b="1" spc="150" kern="0" dirty="0">
                <a:solidFill>
                  <a:srgbClr val="FFFFFF"/>
                </a:solidFill>
                <a:latin typeface="Arial" pitchFamily="34" charset="0"/>
                <a:ea typeface="Arial" pitchFamily="34" charset="-122"/>
                <a:cs typeface="Arial" pitchFamily="34" charset="-120"/>
              </a:rPr>
              <a:t>МАГНИТНОЕ ПОЛЕ</a:t>
            </a:r>
            <a:endParaRPr lang="en-US" sz="1300" dirty="0"/>
          </a:p>
        </p:txBody>
      </p:sp>
      <p:sp>
        <p:nvSpPr>
          <p:cNvPr id="13" name="Text 8"/>
          <p:cNvSpPr txBox="1"/>
          <p:nvPr/>
        </p:nvSpPr>
        <p:spPr>
          <a:xfrm>
            <a:off x="3931920" y="1965960"/>
            <a:ext cx="1280160" cy="594360"/>
          </a:xfrm>
          <a:prstGeom prst="rect">
            <a:avLst/>
          </a:prstGeom>
          <a:noFill/>
          <a:ln/>
        </p:spPr>
        <p:txBody>
          <a:bodyPr wrap="square" lIns="0" tIns="0" rIns="0" bIns="0" rtlCol="0" anchor="ctr"/>
          <a:lstStyle/>
          <a:p>
            <a:pPr algn="ctr" indent="0" marL="0">
              <a:buNone/>
            </a:pPr>
            <a:r>
              <a:rPr lang="en-US" sz="850" b="1" spc="150" kern="0" dirty="0">
                <a:solidFill>
                  <a:srgbClr val="64748B"/>
                </a:solidFill>
                <a:latin typeface="Arial" pitchFamily="34" charset="0"/>
                <a:ea typeface="Arial" pitchFamily="34" charset="-122"/>
                <a:cs typeface="Arial" pitchFamily="34" charset="-120"/>
              </a:rPr>
              <a:t>МАТЕРИАЛ</a:t>
            </a:r>
            <a:endParaRPr lang="en-US" sz="850" dirty="0"/>
          </a:p>
        </p:txBody>
      </p:sp>
      <p:sp>
        <p:nvSpPr>
          <p:cNvPr id="14" name="Shape 9"/>
          <p:cNvSpPr/>
          <p:nvPr/>
        </p:nvSpPr>
        <p:spPr>
          <a:xfrm>
            <a:off x="457200" y="1965960"/>
            <a:ext cx="3429000" cy="594360"/>
          </a:xfrm>
          <a:prstGeom prst="roundRect">
            <a:avLst>
              <a:gd name="adj" fmla="val 12308"/>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15" name="Text 10"/>
          <p:cNvSpPr txBox="1"/>
          <p:nvPr/>
        </p:nvSpPr>
        <p:spPr>
          <a:xfrm>
            <a:off x="640080" y="1965960"/>
            <a:ext cx="3063240" cy="594360"/>
          </a:xfrm>
          <a:prstGeom prst="rect">
            <a:avLst/>
          </a:prstGeom>
          <a:noFill/>
          <a:ln/>
        </p:spPr>
        <p:txBody>
          <a:bodyPr wrap="square" lIns="0" tIns="0" rIns="0" bIns="0" rtlCol="0" anchor="ctr"/>
          <a:lstStyle/>
          <a:p>
            <a:pPr indent="0" marL="0">
              <a:buNone/>
            </a:pPr>
            <a:r>
              <a:rPr lang="en-US" sz="1150" b="1" dirty="0">
                <a:solidFill>
                  <a:srgbClr val="0B1F3A"/>
                </a:solidFill>
                <a:latin typeface="Arial" pitchFamily="34" charset="0"/>
                <a:ea typeface="Arial" pitchFamily="34" charset="-122"/>
                <a:cs typeface="Arial" pitchFamily="34" charset="-120"/>
              </a:rPr>
              <a:t>Проводящие материалы</a:t>
            </a:r>
            <a:endParaRPr lang="en-US" sz="1150" dirty="0"/>
          </a:p>
        </p:txBody>
      </p:sp>
      <p:sp>
        <p:nvSpPr>
          <p:cNvPr id="16" name="Shape 11"/>
          <p:cNvSpPr/>
          <p:nvPr/>
        </p:nvSpPr>
        <p:spPr>
          <a:xfrm>
            <a:off x="5257800" y="1965960"/>
            <a:ext cx="3429000" cy="594360"/>
          </a:xfrm>
          <a:prstGeom prst="roundRect">
            <a:avLst>
              <a:gd name="adj" fmla="val 12308"/>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17" name="Text 12"/>
          <p:cNvSpPr txBox="1"/>
          <p:nvPr/>
        </p:nvSpPr>
        <p:spPr>
          <a:xfrm>
            <a:off x="5440680" y="1965960"/>
            <a:ext cx="3063240" cy="594360"/>
          </a:xfrm>
          <a:prstGeom prst="rect">
            <a:avLst/>
          </a:prstGeom>
          <a:noFill/>
          <a:ln/>
        </p:spPr>
        <p:txBody>
          <a:bodyPr wrap="square" lIns="0" tIns="0" rIns="0" bIns="0" rtlCol="0" anchor="ctr"/>
          <a:lstStyle/>
          <a:p>
            <a:pPr indent="0" marL="0">
              <a:buNone/>
            </a:pPr>
            <a:r>
              <a:rPr lang="en-US" sz="1150" b="1" dirty="0">
                <a:solidFill>
                  <a:srgbClr val="0B1F3A"/>
                </a:solidFill>
                <a:latin typeface="Arial" pitchFamily="34" charset="0"/>
                <a:ea typeface="Arial" pitchFamily="34" charset="-122"/>
                <a:cs typeface="Arial" pitchFamily="34" charset="-120"/>
              </a:rPr>
              <a:t>Магнитомягкие материалы</a:t>
            </a:r>
            <a:endParaRPr lang="en-US" sz="1150" dirty="0"/>
          </a:p>
        </p:txBody>
      </p:sp>
      <p:sp>
        <p:nvSpPr>
          <p:cNvPr id="18" name="Text 13"/>
          <p:cNvSpPr txBox="1"/>
          <p:nvPr/>
        </p:nvSpPr>
        <p:spPr>
          <a:xfrm>
            <a:off x="3931920" y="2651760"/>
            <a:ext cx="1280160" cy="594360"/>
          </a:xfrm>
          <a:prstGeom prst="rect">
            <a:avLst/>
          </a:prstGeom>
          <a:noFill/>
          <a:ln/>
        </p:spPr>
        <p:txBody>
          <a:bodyPr wrap="square" lIns="0" tIns="0" rIns="0" bIns="0" rtlCol="0" anchor="ctr"/>
          <a:lstStyle/>
          <a:p>
            <a:pPr algn="ctr" indent="0" marL="0">
              <a:buNone/>
            </a:pPr>
            <a:r>
              <a:rPr lang="en-US" sz="850" b="1" spc="150" kern="0" dirty="0">
                <a:solidFill>
                  <a:srgbClr val="64748B"/>
                </a:solidFill>
                <a:latin typeface="Arial" pitchFamily="34" charset="0"/>
                <a:ea typeface="Arial" pitchFamily="34" charset="-122"/>
                <a:cs typeface="Arial" pitchFamily="34" charset="-120"/>
              </a:rPr>
              <a:t>МЕХАНИЗМ</a:t>
            </a:r>
            <a:endParaRPr lang="en-US" sz="850" dirty="0"/>
          </a:p>
        </p:txBody>
      </p:sp>
      <p:sp>
        <p:nvSpPr>
          <p:cNvPr id="19" name="Shape 14"/>
          <p:cNvSpPr/>
          <p:nvPr/>
        </p:nvSpPr>
        <p:spPr>
          <a:xfrm>
            <a:off x="457200" y="2651760"/>
            <a:ext cx="3429000" cy="594360"/>
          </a:xfrm>
          <a:prstGeom prst="roundRect">
            <a:avLst>
              <a:gd name="adj" fmla="val 12308"/>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0" name="Text 15"/>
          <p:cNvSpPr txBox="1"/>
          <p:nvPr/>
        </p:nvSpPr>
        <p:spPr>
          <a:xfrm>
            <a:off x="640080" y="2651760"/>
            <a:ext cx="3063240" cy="594360"/>
          </a:xfrm>
          <a:prstGeom prst="rect">
            <a:avLst/>
          </a:prstGeom>
          <a:noFill/>
          <a:ln/>
        </p:spPr>
        <p:txBody>
          <a:bodyPr wrap="square" lIns="0" tIns="0" rIns="0" bIns="0" rtlCol="0" anchor="ctr"/>
          <a:lstStyle/>
          <a:p>
            <a:pPr indent="0" marL="0">
              <a:buNone/>
            </a:pPr>
            <a:r>
              <a:rPr lang="en-US" sz="1150" b="1" dirty="0">
                <a:solidFill>
                  <a:srgbClr val="0B1F3A"/>
                </a:solidFill>
                <a:latin typeface="Arial" pitchFamily="34" charset="0"/>
                <a:ea typeface="Arial" pitchFamily="34" charset="-122"/>
                <a:cs typeface="Arial" pitchFamily="34" charset="-120"/>
              </a:rPr>
              <a:t>Перераспределение зарядов</a:t>
            </a:r>
            <a:endParaRPr lang="en-US" sz="1150" dirty="0"/>
          </a:p>
        </p:txBody>
      </p:sp>
      <p:sp>
        <p:nvSpPr>
          <p:cNvPr id="21" name="Shape 16"/>
          <p:cNvSpPr/>
          <p:nvPr/>
        </p:nvSpPr>
        <p:spPr>
          <a:xfrm>
            <a:off x="5257800" y="2651760"/>
            <a:ext cx="3429000" cy="594360"/>
          </a:xfrm>
          <a:prstGeom prst="roundRect">
            <a:avLst>
              <a:gd name="adj" fmla="val 12308"/>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2" name="Text 17"/>
          <p:cNvSpPr txBox="1"/>
          <p:nvPr/>
        </p:nvSpPr>
        <p:spPr>
          <a:xfrm>
            <a:off x="5440680" y="2651760"/>
            <a:ext cx="3063240" cy="594360"/>
          </a:xfrm>
          <a:prstGeom prst="rect">
            <a:avLst/>
          </a:prstGeom>
          <a:noFill/>
          <a:ln/>
        </p:spPr>
        <p:txBody>
          <a:bodyPr wrap="square" lIns="0" tIns="0" rIns="0" bIns="0" rtlCol="0" anchor="ctr"/>
          <a:lstStyle/>
          <a:p>
            <a:pPr indent="0" marL="0">
              <a:buNone/>
            </a:pPr>
            <a:r>
              <a:rPr lang="en-US" sz="1150" b="1" dirty="0">
                <a:solidFill>
                  <a:srgbClr val="0B1F3A"/>
                </a:solidFill>
                <a:latin typeface="Arial" pitchFamily="34" charset="0"/>
                <a:ea typeface="Arial" pitchFamily="34" charset="-122"/>
                <a:cs typeface="Arial" pitchFamily="34" charset="-120"/>
              </a:rPr>
              <a:t>Перенаправление магнитного потока</a:t>
            </a:r>
            <a:endParaRPr lang="en-US" sz="1150" dirty="0"/>
          </a:p>
        </p:txBody>
      </p:sp>
      <p:sp>
        <p:nvSpPr>
          <p:cNvPr id="23" name="Text 18"/>
          <p:cNvSpPr txBox="1"/>
          <p:nvPr/>
        </p:nvSpPr>
        <p:spPr>
          <a:xfrm>
            <a:off x="3931920" y="3337560"/>
            <a:ext cx="1280160" cy="594360"/>
          </a:xfrm>
          <a:prstGeom prst="rect">
            <a:avLst/>
          </a:prstGeom>
          <a:noFill/>
          <a:ln/>
        </p:spPr>
        <p:txBody>
          <a:bodyPr wrap="square" lIns="0" tIns="0" rIns="0" bIns="0" rtlCol="0" anchor="ctr"/>
          <a:lstStyle/>
          <a:p>
            <a:pPr algn="ctr" indent="0" marL="0">
              <a:buNone/>
            </a:pPr>
            <a:r>
              <a:rPr lang="en-US" sz="850" b="1" spc="150" kern="0" dirty="0">
                <a:solidFill>
                  <a:srgbClr val="64748B"/>
                </a:solidFill>
                <a:latin typeface="Arial" pitchFamily="34" charset="0"/>
                <a:ea typeface="Arial" pitchFamily="34" charset="-122"/>
                <a:cs typeface="Arial" pitchFamily="34" charset="-120"/>
              </a:rPr>
              <a:t>СЛОЖНОСТЬ</a:t>
            </a:r>
            <a:endParaRPr lang="en-US" sz="850" dirty="0"/>
          </a:p>
        </p:txBody>
      </p:sp>
      <p:sp>
        <p:nvSpPr>
          <p:cNvPr id="24" name="Shape 19"/>
          <p:cNvSpPr/>
          <p:nvPr/>
        </p:nvSpPr>
        <p:spPr>
          <a:xfrm>
            <a:off x="457200" y="3337560"/>
            <a:ext cx="3429000" cy="594360"/>
          </a:xfrm>
          <a:prstGeom prst="roundRect">
            <a:avLst>
              <a:gd name="adj" fmla="val 12308"/>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5" name="Text 20"/>
          <p:cNvSpPr txBox="1"/>
          <p:nvPr/>
        </p:nvSpPr>
        <p:spPr>
          <a:xfrm>
            <a:off x="640080" y="3337560"/>
            <a:ext cx="2194560" cy="594360"/>
          </a:xfrm>
          <a:prstGeom prst="rect">
            <a:avLst/>
          </a:prstGeom>
          <a:noFill/>
          <a:ln/>
        </p:spPr>
        <p:txBody>
          <a:bodyPr wrap="square" lIns="0" tIns="0" rIns="0" bIns="0" rtlCol="0" anchor="ctr"/>
          <a:lstStyle/>
          <a:p>
            <a:pPr indent="0" marL="0">
              <a:buNone/>
            </a:pPr>
            <a:r>
              <a:rPr lang="en-US" sz="1150" b="1" dirty="0">
                <a:solidFill>
                  <a:srgbClr val="0B1F3A"/>
                </a:solidFill>
                <a:latin typeface="Arial" pitchFamily="34" charset="0"/>
                <a:ea typeface="Arial" pitchFamily="34" charset="-122"/>
                <a:cs typeface="Arial" pitchFamily="34" charset="-120"/>
              </a:rPr>
              <a:t>Сравнительно проще</a:t>
            </a:r>
            <a:endParaRPr lang="en-US" sz="1150" dirty="0"/>
          </a:p>
        </p:txBody>
      </p:sp>
      <p:sp>
        <p:nvSpPr>
          <p:cNvPr id="26" name="Shape 21"/>
          <p:cNvSpPr/>
          <p:nvPr/>
        </p:nvSpPr>
        <p:spPr>
          <a:xfrm>
            <a:off x="2926080" y="3575304"/>
            <a:ext cx="118872" cy="118872"/>
          </a:xfrm>
          <a:prstGeom prst="ellipse">
            <a:avLst/>
          </a:prstGeom>
          <a:solidFill>
            <a:srgbClr val="0B1F3A"/>
          </a:solidFill>
          <a:ln w="12700">
            <a:solidFill>
              <a:srgbClr val="0B1F3A"/>
            </a:solidFill>
            <a:prstDash val="solid"/>
          </a:ln>
        </p:spPr>
      </p:sp>
      <p:sp>
        <p:nvSpPr>
          <p:cNvPr id="27" name="Shape 22"/>
          <p:cNvSpPr/>
          <p:nvPr/>
        </p:nvSpPr>
        <p:spPr>
          <a:xfrm>
            <a:off x="3099816" y="3575304"/>
            <a:ext cx="118872" cy="118872"/>
          </a:xfrm>
          <a:prstGeom prst="ellipse">
            <a:avLst/>
          </a:prstGeom>
          <a:solidFill>
            <a:srgbClr val="0B1F3A"/>
          </a:solidFill>
          <a:ln w="12700">
            <a:solidFill>
              <a:srgbClr val="0B1F3A"/>
            </a:solidFill>
            <a:prstDash val="solid"/>
          </a:ln>
        </p:spPr>
      </p:sp>
      <p:sp>
        <p:nvSpPr>
          <p:cNvPr id="28" name="Shape 23"/>
          <p:cNvSpPr/>
          <p:nvPr/>
        </p:nvSpPr>
        <p:spPr>
          <a:xfrm>
            <a:off x="3273552" y="3575304"/>
            <a:ext cx="118872" cy="118872"/>
          </a:xfrm>
          <a:prstGeom prst="ellipse">
            <a:avLst/>
          </a:prstGeom>
          <a:solidFill>
            <a:srgbClr val="D5DEE7"/>
          </a:solidFill>
          <a:ln w="12700">
            <a:solidFill>
              <a:srgbClr val="D5DEE7"/>
            </a:solidFill>
            <a:prstDash val="solid"/>
          </a:ln>
        </p:spPr>
      </p:sp>
      <p:sp>
        <p:nvSpPr>
          <p:cNvPr id="29" name="Shape 24"/>
          <p:cNvSpPr/>
          <p:nvPr/>
        </p:nvSpPr>
        <p:spPr>
          <a:xfrm>
            <a:off x="3447288" y="3575304"/>
            <a:ext cx="118872" cy="118872"/>
          </a:xfrm>
          <a:prstGeom prst="ellipse">
            <a:avLst/>
          </a:prstGeom>
          <a:solidFill>
            <a:srgbClr val="D5DEE7"/>
          </a:solidFill>
          <a:ln w="12700">
            <a:solidFill>
              <a:srgbClr val="D5DEE7"/>
            </a:solidFill>
            <a:prstDash val="solid"/>
          </a:ln>
        </p:spPr>
      </p:sp>
      <p:sp>
        <p:nvSpPr>
          <p:cNvPr id="30" name="Shape 25"/>
          <p:cNvSpPr/>
          <p:nvPr/>
        </p:nvSpPr>
        <p:spPr>
          <a:xfrm>
            <a:off x="3621024" y="3575304"/>
            <a:ext cx="118872" cy="118872"/>
          </a:xfrm>
          <a:prstGeom prst="ellipse">
            <a:avLst/>
          </a:prstGeom>
          <a:solidFill>
            <a:srgbClr val="D5DEE7"/>
          </a:solidFill>
          <a:ln w="12700">
            <a:solidFill>
              <a:srgbClr val="D5DEE7"/>
            </a:solidFill>
            <a:prstDash val="solid"/>
          </a:ln>
        </p:spPr>
      </p:sp>
      <p:sp>
        <p:nvSpPr>
          <p:cNvPr id="31" name="Shape 26"/>
          <p:cNvSpPr/>
          <p:nvPr/>
        </p:nvSpPr>
        <p:spPr>
          <a:xfrm>
            <a:off x="5257800" y="3337560"/>
            <a:ext cx="3429000" cy="594360"/>
          </a:xfrm>
          <a:prstGeom prst="roundRect">
            <a:avLst>
              <a:gd name="adj" fmla="val 12308"/>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32" name="Text 27"/>
          <p:cNvSpPr txBox="1"/>
          <p:nvPr/>
        </p:nvSpPr>
        <p:spPr>
          <a:xfrm>
            <a:off x="5440680" y="3337560"/>
            <a:ext cx="2194560" cy="594360"/>
          </a:xfrm>
          <a:prstGeom prst="rect">
            <a:avLst/>
          </a:prstGeom>
          <a:noFill/>
          <a:ln/>
        </p:spPr>
        <p:txBody>
          <a:bodyPr wrap="square" lIns="0" tIns="0" rIns="0" bIns="0" rtlCol="0" anchor="ctr"/>
          <a:lstStyle/>
          <a:p>
            <a:pPr indent="0" marL="0">
              <a:buNone/>
            </a:pPr>
            <a:r>
              <a:rPr lang="en-US" sz="1150" b="1" dirty="0">
                <a:solidFill>
                  <a:srgbClr val="0B1F3A"/>
                </a:solidFill>
                <a:latin typeface="Arial" pitchFamily="34" charset="0"/>
                <a:ea typeface="Arial" pitchFamily="34" charset="-122"/>
                <a:cs typeface="Arial" pitchFamily="34" charset="-120"/>
              </a:rPr>
              <a:t>Особенно сложно на низких частотах</a:t>
            </a:r>
            <a:endParaRPr lang="en-US" sz="1150" dirty="0"/>
          </a:p>
        </p:txBody>
      </p:sp>
      <p:sp>
        <p:nvSpPr>
          <p:cNvPr id="33" name="Shape 28"/>
          <p:cNvSpPr/>
          <p:nvPr/>
        </p:nvSpPr>
        <p:spPr>
          <a:xfrm>
            <a:off x="7726680" y="3575304"/>
            <a:ext cx="118872" cy="118872"/>
          </a:xfrm>
          <a:prstGeom prst="ellipse">
            <a:avLst/>
          </a:prstGeom>
          <a:solidFill>
            <a:srgbClr val="0E9AA7"/>
          </a:solidFill>
          <a:ln w="12700">
            <a:solidFill>
              <a:srgbClr val="0E9AA7"/>
            </a:solidFill>
            <a:prstDash val="solid"/>
          </a:ln>
        </p:spPr>
      </p:sp>
      <p:sp>
        <p:nvSpPr>
          <p:cNvPr id="34" name="Shape 29"/>
          <p:cNvSpPr/>
          <p:nvPr/>
        </p:nvSpPr>
        <p:spPr>
          <a:xfrm>
            <a:off x="7900416" y="3575304"/>
            <a:ext cx="118872" cy="118872"/>
          </a:xfrm>
          <a:prstGeom prst="ellipse">
            <a:avLst/>
          </a:prstGeom>
          <a:solidFill>
            <a:srgbClr val="0E9AA7"/>
          </a:solidFill>
          <a:ln w="12700">
            <a:solidFill>
              <a:srgbClr val="0E9AA7"/>
            </a:solidFill>
            <a:prstDash val="solid"/>
          </a:ln>
        </p:spPr>
      </p:sp>
      <p:sp>
        <p:nvSpPr>
          <p:cNvPr id="35" name="Shape 30"/>
          <p:cNvSpPr/>
          <p:nvPr/>
        </p:nvSpPr>
        <p:spPr>
          <a:xfrm>
            <a:off x="8074152" y="3575304"/>
            <a:ext cx="118872" cy="118872"/>
          </a:xfrm>
          <a:prstGeom prst="ellipse">
            <a:avLst/>
          </a:prstGeom>
          <a:solidFill>
            <a:srgbClr val="0E9AA7"/>
          </a:solidFill>
          <a:ln w="12700">
            <a:solidFill>
              <a:srgbClr val="0E9AA7"/>
            </a:solidFill>
            <a:prstDash val="solid"/>
          </a:ln>
        </p:spPr>
      </p:sp>
      <p:sp>
        <p:nvSpPr>
          <p:cNvPr id="36" name="Shape 31"/>
          <p:cNvSpPr/>
          <p:nvPr/>
        </p:nvSpPr>
        <p:spPr>
          <a:xfrm>
            <a:off x="8247888" y="3575304"/>
            <a:ext cx="118872" cy="118872"/>
          </a:xfrm>
          <a:prstGeom prst="ellipse">
            <a:avLst/>
          </a:prstGeom>
          <a:solidFill>
            <a:srgbClr val="0E9AA7"/>
          </a:solidFill>
          <a:ln w="12700">
            <a:solidFill>
              <a:srgbClr val="0E9AA7"/>
            </a:solidFill>
            <a:prstDash val="solid"/>
          </a:ln>
        </p:spPr>
      </p:sp>
      <p:sp>
        <p:nvSpPr>
          <p:cNvPr id="37" name="Shape 32"/>
          <p:cNvSpPr/>
          <p:nvPr/>
        </p:nvSpPr>
        <p:spPr>
          <a:xfrm>
            <a:off x="8421624" y="3575304"/>
            <a:ext cx="118872" cy="118872"/>
          </a:xfrm>
          <a:prstGeom prst="ellipse">
            <a:avLst/>
          </a:prstGeom>
          <a:solidFill>
            <a:srgbClr val="D5DEE7"/>
          </a:solidFill>
          <a:ln w="12700">
            <a:solidFill>
              <a:srgbClr val="D5DEE7"/>
            </a:solidFill>
            <a:prstDash val="solid"/>
          </a:ln>
        </p:spPr>
      </p:sp>
      <p:sp>
        <p:nvSpPr>
          <p:cNvPr id="38" name="Text 33"/>
          <p:cNvSpPr txBox="1"/>
          <p:nvPr/>
        </p:nvSpPr>
        <p:spPr>
          <a:xfrm>
            <a:off x="3931920" y="4023360"/>
            <a:ext cx="1280160" cy="594360"/>
          </a:xfrm>
          <a:prstGeom prst="rect">
            <a:avLst/>
          </a:prstGeom>
          <a:noFill/>
          <a:ln/>
        </p:spPr>
        <p:txBody>
          <a:bodyPr wrap="square" lIns="0" tIns="0" rIns="0" bIns="0" rtlCol="0" anchor="ctr"/>
          <a:lstStyle/>
          <a:p>
            <a:pPr algn="ctr" indent="0" marL="0">
              <a:buNone/>
            </a:pPr>
            <a:r>
              <a:rPr lang="en-US" sz="850" b="1" spc="150" kern="0" dirty="0">
                <a:solidFill>
                  <a:srgbClr val="64748B"/>
                </a:solidFill>
                <a:latin typeface="Arial" pitchFamily="34" charset="0"/>
                <a:ea typeface="Arial" pitchFamily="34" charset="-122"/>
                <a:cs typeface="Arial" pitchFamily="34" charset="-120"/>
              </a:rPr>
              <a:t>КЛЮЧЕВОЕ</a:t>
            </a:r>
            <a:endParaRPr lang="en-US" sz="850" dirty="0"/>
          </a:p>
        </p:txBody>
      </p:sp>
      <p:sp>
        <p:nvSpPr>
          <p:cNvPr id="39" name="Shape 34"/>
          <p:cNvSpPr/>
          <p:nvPr/>
        </p:nvSpPr>
        <p:spPr>
          <a:xfrm>
            <a:off x="457200" y="4023360"/>
            <a:ext cx="3429000" cy="594360"/>
          </a:xfrm>
          <a:prstGeom prst="roundRect">
            <a:avLst>
              <a:gd name="adj" fmla="val 12308"/>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40" name="Text 35"/>
          <p:cNvSpPr txBox="1"/>
          <p:nvPr/>
        </p:nvSpPr>
        <p:spPr>
          <a:xfrm>
            <a:off x="640080" y="4023360"/>
            <a:ext cx="3063240" cy="594360"/>
          </a:xfrm>
          <a:prstGeom prst="rect">
            <a:avLst/>
          </a:prstGeom>
          <a:noFill/>
          <a:ln/>
        </p:spPr>
        <p:txBody>
          <a:bodyPr wrap="square" lIns="0" tIns="0" rIns="0" bIns="0" rtlCol="0" anchor="ctr"/>
          <a:lstStyle/>
          <a:p>
            <a:pPr indent="0" marL="0">
              <a:buNone/>
            </a:pPr>
            <a:r>
              <a:rPr lang="en-US" sz="1150" b="1" dirty="0">
                <a:solidFill>
                  <a:srgbClr val="0B1F3A"/>
                </a:solidFill>
                <a:latin typeface="Arial" pitchFamily="34" charset="0"/>
                <a:ea typeface="Arial" pitchFamily="34" charset="-122"/>
                <a:cs typeface="Arial" pitchFamily="34" charset="-120"/>
              </a:rPr>
              <a:t>Непрерывность экрана</a:t>
            </a:r>
            <a:endParaRPr lang="en-US" sz="1150" dirty="0"/>
          </a:p>
        </p:txBody>
      </p:sp>
      <p:sp>
        <p:nvSpPr>
          <p:cNvPr id="41" name="Shape 36"/>
          <p:cNvSpPr/>
          <p:nvPr/>
        </p:nvSpPr>
        <p:spPr>
          <a:xfrm>
            <a:off x="5257800" y="4023360"/>
            <a:ext cx="3429000" cy="594360"/>
          </a:xfrm>
          <a:prstGeom prst="roundRect">
            <a:avLst>
              <a:gd name="adj" fmla="val 12308"/>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42" name="Text 37"/>
          <p:cNvSpPr txBox="1"/>
          <p:nvPr/>
        </p:nvSpPr>
        <p:spPr>
          <a:xfrm>
            <a:off x="5440680" y="4023360"/>
            <a:ext cx="3063240" cy="594360"/>
          </a:xfrm>
          <a:prstGeom prst="rect">
            <a:avLst/>
          </a:prstGeom>
          <a:noFill/>
          <a:ln/>
        </p:spPr>
        <p:txBody>
          <a:bodyPr wrap="square" lIns="0" tIns="0" rIns="0" bIns="0" rtlCol="0" anchor="ctr"/>
          <a:lstStyle/>
          <a:p>
            <a:pPr indent="0" marL="0">
              <a:buNone/>
            </a:pPr>
            <a:r>
              <a:rPr lang="en-US" sz="1150" b="1" dirty="0">
                <a:solidFill>
                  <a:srgbClr val="0B1F3A"/>
                </a:solidFill>
                <a:latin typeface="Arial" pitchFamily="34" charset="0"/>
                <a:ea typeface="Arial" pitchFamily="34" charset="-122"/>
                <a:cs typeface="Arial" pitchFamily="34" charset="-120"/>
              </a:rPr>
              <a:t>Магнитная проницаемость μ</a:t>
            </a:r>
            <a:endParaRPr lang="en-US" sz="1150" dirty="0"/>
          </a:p>
        </p:txBody>
      </p:sp>
      <p:sp>
        <p:nvSpPr>
          <p:cNvPr id="43" name="Shape 38"/>
          <p:cNvSpPr/>
          <p:nvPr/>
        </p:nvSpPr>
        <p:spPr>
          <a:xfrm>
            <a:off x="4315968" y="1344168"/>
            <a:ext cx="512064" cy="438912"/>
          </a:xfrm>
          <a:prstGeom prst="ellipse">
            <a:avLst/>
          </a:prstGeom>
          <a:solidFill>
            <a:srgbClr val="FFFFFF"/>
          </a:solidFill>
          <a:ln w="12700">
            <a:solidFill>
              <a:srgbClr val="DDE5EC"/>
            </a:solidFill>
            <a:prstDash val="solid"/>
          </a:ln>
        </p:spPr>
      </p:sp>
      <p:sp>
        <p:nvSpPr>
          <p:cNvPr id="44" name="Text 39"/>
          <p:cNvSpPr txBox="1"/>
          <p:nvPr/>
        </p:nvSpPr>
        <p:spPr>
          <a:xfrm>
            <a:off x="4315968" y="1344168"/>
            <a:ext cx="512064" cy="438912"/>
          </a:xfrm>
          <a:prstGeom prst="rect">
            <a:avLst/>
          </a:prstGeom>
          <a:noFill/>
          <a:ln/>
        </p:spPr>
        <p:txBody>
          <a:bodyPr wrap="square" lIns="0" tIns="0" rIns="0" bIns="0" rtlCol="0" anchor="ctr"/>
          <a:lstStyle/>
          <a:p>
            <a:pPr algn="ctr" indent="0" marL="0">
              <a:buNone/>
            </a:pPr>
            <a:r>
              <a:rPr lang="en-US" sz="1100" b="1" dirty="0">
                <a:solidFill>
                  <a:srgbClr val="0B1F3A"/>
                </a:solidFill>
                <a:latin typeface="Arial" pitchFamily="34" charset="0"/>
                <a:ea typeface="Arial" pitchFamily="34" charset="-122"/>
                <a:cs typeface="Arial" pitchFamily="34" charset="-120"/>
              </a:rPr>
              <a:t>vs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9"/>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0E9AA7"/>
                </a:solidFill>
                <a:latin typeface="Arial" pitchFamily="34" charset="0"/>
                <a:ea typeface="Arial" pitchFamily="34" charset="-122"/>
                <a:cs typeface="Arial" pitchFamily="34" charset="-120"/>
              </a:rPr>
              <a:t>КОЛИЧЕСТВЕННАЯ ОЦЕНКА</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0B1F3A"/>
                </a:solidFill>
                <a:latin typeface="Arial" pitchFamily="34" charset="0"/>
                <a:ea typeface="Arial" pitchFamily="34" charset="-122"/>
                <a:cs typeface="Arial" pitchFamily="34" charset="-120"/>
              </a:rPr>
              <a:t>Эффективность экранирования</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64748B"/>
                </a:solidFill>
                <a:latin typeface="Arial" pitchFamily="34" charset="0"/>
                <a:ea typeface="Arial" pitchFamily="34" charset="-122"/>
                <a:cs typeface="Arial" pitchFamily="34" charset="-120"/>
              </a:rPr>
              <a:t>07</a:t>
            </a:r>
            <a:endParaRPr lang="en-US" sz="800" dirty="0"/>
          </a:p>
        </p:txBody>
      </p:sp>
      <p:sp>
        <p:nvSpPr>
          <p:cNvPr id="7" name="Shape 4"/>
          <p:cNvSpPr/>
          <p:nvPr/>
        </p:nvSpPr>
        <p:spPr>
          <a:xfrm>
            <a:off x="457200" y="1280160"/>
            <a:ext cx="4937760" cy="1645920"/>
          </a:xfrm>
          <a:prstGeom prst="roundRect">
            <a:avLst>
              <a:gd name="adj" fmla="val 5556"/>
            </a:avLst>
          </a:prstGeom>
          <a:solidFill>
            <a:srgbClr val="0B1F3A"/>
          </a:solidFill>
          <a:ln w="12700">
            <a:solidFill>
              <a:srgbClr val="0B1F3A"/>
            </a:solidFill>
            <a:prstDash val="solid"/>
          </a:ln>
          <a:effectLst>
            <a:outerShdw sx="100000" sy="100000" kx="0" ky="0" algn="bl" rotWithShape="0" blurRad="101600" dist="25400" dir="5400000">
              <a:srgbClr val="0B1F3A">
                <a:alpha val="10000"/>
              </a:srgbClr>
            </a:outerShdw>
          </a:effectLst>
        </p:spPr>
      </p:sp>
      <p:sp>
        <p:nvSpPr>
          <p:cNvPr id="8" name="Text 5"/>
          <p:cNvSpPr txBox="1"/>
          <p:nvPr/>
        </p:nvSpPr>
        <p:spPr>
          <a:xfrm>
            <a:off x="457200" y="1417320"/>
            <a:ext cx="4937760" cy="182880"/>
          </a:xfrm>
          <a:prstGeom prst="rect">
            <a:avLst/>
          </a:prstGeom>
          <a:noFill/>
          <a:ln/>
        </p:spPr>
        <p:txBody>
          <a:bodyPr wrap="square" lIns="0" tIns="0" rIns="0" bIns="0" rtlCol="0" anchor="t"/>
          <a:lstStyle/>
          <a:p>
            <a:pPr algn="ctr" indent="0" marL="0">
              <a:buNone/>
            </a:pPr>
            <a:r>
              <a:rPr lang="en-US" sz="900" b="1" spc="300" kern="0" dirty="0">
                <a:solidFill>
                  <a:srgbClr val="1FB6D4"/>
                </a:solidFill>
                <a:latin typeface="Arial" pitchFamily="34" charset="0"/>
                <a:ea typeface="Arial" pitchFamily="34" charset="-122"/>
                <a:cs typeface="Arial" pitchFamily="34" charset="-120"/>
              </a:rPr>
              <a:t>ЭФФЕКТИВНОСТЬ ЭКРАНИРОВАНИЯ, дБ</a:t>
            </a:r>
            <a:endParaRPr lang="en-US" sz="900" dirty="0"/>
          </a:p>
        </p:txBody>
      </p:sp>
      <p:sp>
        <p:nvSpPr>
          <p:cNvPr id="9" name="Text 6"/>
          <p:cNvSpPr txBox="1"/>
          <p:nvPr/>
        </p:nvSpPr>
        <p:spPr>
          <a:xfrm>
            <a:off x="457200" y="1691640"/>
            <a:ext cx="4937760" cy="731520"/>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SE = 20 lg(E</a:t>
            </a:r>
            <a:pPr algn="ctr" indent="0" marL="0">
              <a:buNone/>
            </a:pPr>
            <a:r>
              <a:rPr lang="en-US" sz="3200" b="1" baseline="-40000" dirty="0">
                <a:solidFill>
                  <a:srgbClr val="FFFFFF"/>
                </a:solidFill>
                <a:latin typeface="Arial" pitchFamily="34" charset="0"/>
                <a:ea typeface="Arial" pitchFamily="34" charset="-122"/>
                <a:cs typeface="Arial" pitchFamily="34" charset="-120"/>
              </a:rPr>
              <a:t>0</a:t>
            </a:r>
            <a:pPr algn="ctr" indent="0" marL="0">
              <a:buNone/>
            </a:pPr>
            <a:r>
              <a:rPr lang="en-US" sz="3200" b="1" dirty="0">
                <a:solidFill>
                  <a:srgbClr val="FFFFFF"/>
                </a:solidFill>
                <a:latin typeface="Arial" pitchFamily="34" charset="0"/>
                <a:ea typeface="Arial" pitchFamily="34" charset="-122"/>
                <a:cs typeface="Arial" pitchFamily="34" charset="-120"/>
              </a:rPr>
              <a:t> / E</a:t>
            </a:r>
            <a:pPr algn="ctr" indent="0" marL="0">
              <a:buNone/>
            </a:pPr>
            <a:r>
              <a:rPr lang="en-US" sz="3200" b="1" baseline="-40000" dirty="0">
                <a:solidFill>
                  <a:srgbClr val="FFFFFF"/>
                </a:solidFill>
                <a:latin typeface="Arial" pitchFamily="34" charset="0"/>
                <a:ea typeface="Arial" pitchFamily="34" charset="-122"/>
                <a:cs typeface="Arial" pitchFamily="34" charset="-120"/>
              </a:rPr>
              <a:t>1</a:t>
            </a:r>
            <a:pPr algn="ctr" indent="0" marL="0">
              <a:buNone/>
            </a:pPr>
            <a:r>
              <a:rPr lang="en-US" sz="3200" b="1" dirty="0">
                <a:solidFill>
                  <a:srgbClr val="FFFFFF"/>
                </a:solidFill>
                <a:latin typeface="Arial" pitchFamily="34" charset="0"/>
                <a:ea typeface="Arial" pitchFamily="34" charset="-122"/>
                <a:cs typeface="Arial" pitchFamily="34" charset="-120"/>
              </a:rPr>
              <a:t>)</a:t>
            </a:r>
            <a:endParaRPr lang="en-US" sz="3200" dirty="0"/>
          </a:p>
        </p:txBody>
      </p:sp>
      <p:sp>
        <p:nvSpPr>
          <p:cNvPr id="10" name="Text 7"/>
          <p:cNvSpPr txBox="1"/>
          <p:nvPr/>
        </p:nvSpPr>
        <p:spPr>
          <a:xfrm>
            <a:off x="457200" y="2487168"/>
            <a:ext cx="4937760" cy="274320"/>
          </a:xfrm>
          <a:prstGeom prst="rect">
            <a:avLst/>
          </a:prstGeom>
          <a:noFill/>
          <a:ln/>
        </p:spPr>
        <p:txBody>
          <a:bodyPr wrap="square" lIns="0" tIns="0" rIns="0" bIns="0" rtlCol="0" anchor="ctr"/>
          <a:lstStyle/>
          <a:p>
            <a:pPr algn="ctr" indent="0" marL="0">
              <a:buNone/>
            </a:pPr>
            <a:r>
              <a:rPr lang="en-US" sz="1100" b="1" dirty="0">
                <a:solidFill>
                  <a:srgbClr val="1FB6D4"/>
                </a:solidFill>
                <a:latin typeface="Arial" pitchFamily="34" charset="0"/>
                <a:ea typeface="Arial" pitchFamily="34" charset="-122"/>
                <a:cs typeface="Arial" pitchFamily="34" charset="-120"/>
              </a:rPr>
              <a:t>E</a:t>
            </a:r>
            <a:pPr algn="ctr" indent="0" marL="0">
              <a:buNone/>
            </a:pPr>
            <a:r>
              <a:rPr lang="en-US" sz="1100" b="1" baseline="-40000" dirty="0">
                <a:solidFill>
                  <a:srgbClr val="1FB6D4"/>
                </a:solidFill>
                <a:latin typeface="Arial" pitchFamily="34" charset="0"/>
                <a:ea typeface="Arial" pitchFamily="34" charset="-122"/>
                <a:cs typeface="Arial" pitchFamily="34" charset="-120"/>
              </a:rPr>
              <a:t>0</a:t>
            </a:r>
            <a:pPr algn="ctr" indent="0" marL="0">
              <a:buNone/>
            </a:pPr>
            <a:r>
              <a:rPr lang="en-US" sz="1100" dirty="0">
                <a:solidFill>
                  <a:srgbClr val="C9D6E4"/>
                </a:solidFill>
                <a:latin typeface="Arial" pitchFamily="34" charset="0"/>
                <a:ea typeface="Arial" pitchFamily="34" charset="-122"/>
                <a:cs typeface="Arial" pitchFamily="34" charset="-120"/>
              </a:rPr>
              <a:t> — поле без экрана        </a:t>
            </a:r>
            <a:pPr algn="ctr" indent="0" marL="0">
              <a:buNone/>
            </a:pPr>
            <a:r>
              <a:rPr lang="en-US" sz="1100" b="1" dirty="0">
                <a:solidFill>
                  <a:srgbClr val="1FB6D4"/>
                </a:solidFill>
                <a:latin typeface="Arial" pitchFamily="34" charset="0"/>
                <a:ea typeface="Arial" pitchFamily="34" charset="-122"/>
                <a:cs typeface="Arial" pitchFamily="34" charset="-120"/>
              </a:rPr>
              <a:t>E</a:t>
            </a:r>
            <a:pPr algn="ctr" indent="0" marL="0">
              <a:buNone/>
            </a:pPr>
            <a:r>
              <a:rPr lang="en-US" sz="1100" b="1" baseline="-40000" dirty="0">
                <a:solidFill>
                  <a:srgbClr val="1FB6D4"/>
                </a:solidFill>
                <a:latin typeface="Arial" pitchFamily="34" charset="0"/>
                <a:ea typeface="Arial" pitchFamily="34" charset="-122"/>
                <a:cs typeface="Arial" pitchFamily="34" charset="-120"/>
              </a:rPr>
              <a:t>1</a:t>
            </a:r>
            <a:pPr algn="ctr" indent="0" marL="0">
              <a:buNone/>
            </a:pPr>
            <a:r>
              <a:rPr lang="en-US" sz="1100" dirty="0">
                <a:solidFill>
                  <a:srgbClr val="C9D6E4"/>
                </a:solidFill>
                <a:latin typeface="Arial" pitchFamily="34" charset="0"/>
                <a:ea typeface="Arial" pitchFamily="34" charset="-122"/>
                <a:cs typeface="Arial" pitchFamily="34" charset="-120"/>
              </a:rPr>
              <a:t> — поле за экраном</a:t>
            </a:r>
            <a:endParaRPr lang="en-US" sz="1100" dirty="0"/>
          </a:p>
        </p:txBody>
      </p:sp>
      <p:sp>
        <p:nvSpPr>
          <p:cNvPr id="11" name="Text 8"/>
          <p:cNvSpPr txBox="1"/>
          <p:nvPr/>
        </p:nvSpPr>
        <p:spPr>
          <a:xfrm>
            <a:off x="457200" y="3108960"/>
            <a:ext cx="4937760" cy="320040"/>
          </a:xfrm>
          <a:prstGeom prst="rect">
            <a:avLst/>
          </a:prstGeom>
          <a:noFill/>
          <a:ln/>
        </p:spPr>
        <p:txBody>
          <a:bodyPr wrap="square" lIns="0" tIns="0" rIns="0" bIns="0" rtlCol="0" anchor="ctr"/>
          <a:lstStyle/>
          <a:p>
            <a:pPr indent="0" marL="0">
              <a:buNone/>
            </a:pPr>
            <a:r>
              <a:rPr lang="en-US" sz="1450" b="1" dirty="0">
                <a:solidFill>
                  <a:srgbClr val="0B1F3A"/>
                </a:solidFill>
                <a:latin typeface="Arial" pitchFamily="34" charset="0"/>
                <a:ea typeface="Arial" pitchFamily="34" charset="-122"/>
                <a:cs typeface="Arial" pitchFamily="34" charset="-120"/>
              </a:rPr>
              <a:t>Чем выше SE, тем сильнее экран ослабляет поле</a:t>
            </a:r>
            <a:endParaRPr lang="en-US" sz="1450" dirty="0"/>
          </a:p>
        </p:txBody>
      </p:sp>
      <p:sp>
        <p:nvSpPr>
          <p:cNvPr id="12" name="Shape 9"/>
          <p:cNvSpPr/>
          <p:nvPr/>
        </p:nvSpPr>
        <p:spPr>
          <a:xfrm>
            <a:off x="457200" y="3611880"/>
            <a:ext cx="1554480" cy="1005840"/>
          </a:xfrm>
          <a:prstGeom prst="roundRect">
            <a:avLst>
              <a:gd name="adj" fmla="val 7273"/>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13" name="Text 10"/>
          <p:cNvSpPr txBox="1"/>
          <p:nvPr/>
        </p:nvSpPr>
        <p:spPr>
          <a:xfrm>
            <a:off x="594360" y="3703320"/>
            <a:ext cx="1280160" cy="411480"/>
          </a:xfrm>
          <a:prstGeom prst="rect">
            <a:avLst/>
          </a:prstGeom>
          <a:noFill/>
          <a:ln/>
        </p:spPr>
        <p:txBody>
          <a:bodyPr wrap="square" lIns="0" tIns="0" rIns="0" bIns="0" rtlCol="0" anchor="ctr"/>
          <a:lstStyle/>
          <a:p>
            <a:pPr indent="0" marL="0">
              <a:buNone/>
            </a:pPr>
            <a:r>
              <a:rPr lang="en-US" sz="2200" b="1" dirty="0">
                <a:solidFill>
                  <a:srgbClr val="0E9AA7"/>
                </a:solidFill>
                <a:latin typeface="Arial" pitchFamily="34" charset="0"/>
                <a:ea typeface="Arial" pitchFamily="34" charset="-122"/>
                <a:cs typeface="Arial" pitchFamily="34" charset="-120"/>
              </a:rPr>
              <a:t>20 дБ</a:t>
            </a:r>
            <a:endParaRPr lang="en-US" sz="2200" dirty="0"/>
          </a:p>
        </p:txBody>
      </p:sp>
      <p:sp>
        <p:nvSpPr>
          <p:cNvPr id="14" name="Text 11"/>
          <p:cNvSpPr txBox="1"/>
          <p:nvPr/>
        </p:nvSpPr>
        <p:spPr>
          <a:xfrm>
            <a:off x="594360" y="4114800"/>
            <a:ext cx="132588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ослабление амплитуды</a:t>
            </a:r>
            <a:endParaRPr lang="en-US" sz="800" dirty="0"/>
          </a:p>
        </p:txBody>
      </p:sp>
      <p:sp>
        <p:nvSpPr>
          <p:cNvPr id="15" name="Text 12"/>
          <p:cNvSpPr txBox="1"/>
          <p:nvPr/>
        </p:nvSpPr>
        <p:spPr>
          <a:xfrm>
            <a:off x="594360" y="4297680"/>
            <a:ext cx="1325880" cy="228600"/>
          </a:xfrm>
          <a:prstGeom prst="rect">
            <a:avLst/>
          </a:prstGeom>
          <a:noFill/>
          <a:ln/>
        </p:spPr>
        <p:txBody>
          <a:bodyPr wrap="square" lIns="0" tIns="0" rIns="0" bIns="0" rtlCol="0" anchor="t"/>
          <a:lstStyle/>
          <a:p>
            <a:pPr indent="0" marL="0">
              <a:buNone/>
            </a:pPr>
            <a:r>
              <a:rPr lang="en-US" sz="1200" b="1" dirty="0">
                <a:solidFill>
                  <a:srgbClr val="2B3440"/>
                </a:solidFill>
                <a:latin typeface="Arial" pitchFamily="34" charset="0"/>
                <a:ea typeface="Arial" pitchFamily="34" charset="-122"/>
                <a:cs typeface="Arial" pitchFamily="34" charset="-120"/>
              </a:rPr>
              <a:t>в 10 раз</a:t>
            </a:r>
            <a:endParaRPr lang="en-US" sz="1200" dirty="0"/>
          </a:p>
        </p:txBody>
      </p:sp>
      <p:sp>
        <p:nvSpPr>
          <p:cNvPr id="16" name="Shape 13"/>
          <p:cNvSpPr/>
          <p:nvPr/>
        </p:nvSpPr>
        <p:spPr>
          <a:xfrm>
            <a:off x="2148840" y="3611880"/>
            <a:ext cx="1554480" cy="1005840"/>
          </a:xfrm>
          <a:prstGeom prst="roundRect">
            <a:avLst>
              <a:gd name="adj" fmla="val 7273"/>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17" name="Text 14"/>
          <p:cNvSpPr txBox="1"/>
          <p:nvPr/>
        </p:nvSpPr>
        <p:spPr>
          <a:xfrm>
            <a:off x="2286000" y="3703320"/>
            <a:ext cx="1280160" cy="411480"/>
          </a:xfrm>
          <a:prstGeom prst="rect">
            <a:avLst/>
          </a:prstGeom>
          <a:noFill/>
          <a:ln/>
        </p:spPr>
        <p:txBody>
          <a:bodyPr wrap="square" lIns="0" tIns="0" rIns="0" bIns="0" rtlCol="0" anchor="ctr"/>
          <a:lstStyle/>
          <a:p>
            <a:pPr indent="0" marL="0">
              <a:buNone/>
            </a:pPr>
            <a:r>
              <a:rPr lang="en-US" sz="2200" b="1" dirty="0">
                <a:solidFill>
                  <a:srgbClr val="0B1F3A"/>
                </a:solidFill>
                <a:latin typeface="Arial" pitchFamily="34" charset="0"/>
                <a:ea typeface="Arial" pitchFamily="34" charset="-122"/>
                <a:cs typeface="Arial" pitchFamily="34" charset="-120"/>
              </a:rPr>
              <a:t>40 дБ</a:t>
            </a:r>
            <a:endParaRPr lang="en-US" sz="2200" dirty="0"/>
          </a:p>
        </p:txBody>
      </p:sp>
      <p:sp>
        <p:nvSpPr>
          <p:cNvPr id="18" name="Text 15"/>
          <p:cNvSpPr txBox="1"/>
          <p:nvPr/>
        </p:nvSpPr>
        <p:spPr>
          <a:xfrm>
            <a:off x="2286000" y="4114800"/>
            <a:ext cx="132588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ослабление амплитуды</a:t>
            </a:r>
            <a:endParaRPr lang="en-US" sz="800" dirty="0"/>
          </a:p>
        </p:txBody>
      </p:sp>
      <p:sp>
        <p:nvSpPr>
          <p:cNvPr id="19" name="Text 16"/>
          <p:cNvSpPr txBox="1"/>
          <p:nvPr/>
        </p:nvSpPr>
        <p:spPr>
          <a:xfrm>
            <a:off x="2286000" y="4297680"/>
            <a:ext cx="1325880" cy="228600"/>
          </a:xfrm>
          <a:prstGeom prst="rect">
            <a:avLst/>
          </a:prstGeom>
          <a:noFill/>
          <a:ln/>
        </p:spPr>
        <p:txBody>
          <a:bodyPr wrap="square" lIns="0" tIns="0" rIns="0" bIns="0" rtlCol="0" anchor="t"/>
          <a:lstStyle/>
          <a:p>
            <a:pPr indent="0" marL="0">
              <a:buNone/>
            </a:pPr>
            <a:r>
              <a:rPr lang="en-US" sz="1200" b="1" dirty="0">
                <a:solidFill>
                  <a:srgbClr val="2B3440"/>
                </a:solidFill>
                <a:latin typeface="Arial" pitchFamily="34" charset="0"/>
                <a:ea typeface="Arial" pitchFamily="34" charset="-122"/>
                <a:cs typeface="Arial" pitchFamily="34" charset="-120"/>
              </a:rPr>
              <a:t>в 100 раз</a:t>
            </a:r>
            <a:endParaRPr lang="en-US" sz="1200" dirty="0"/>
          </a:p>
        </p:txBody>
      </p:sp>
      <p:sp>
        <p:nvSpPr>
          <p:cNvPr id="20" name="Shape 17"/>
          <p:cNvSpPr/>
          <p:nvPr/>
        </p:nvSpPr>
        <p:spPr>
          <a:xfrm>
            <a:off x="3840480" y="3611880"/>
            <a:ext cx="1554480" cy="1005840"/>
          </a:xfrm>
          <a:prstGeom prst="roundRect">
            <a:avLst>
              <a:gd name="adj" fmla="val 7273"/>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1" name="Text 18"/>
          <p:cNvSpPr txBox="1"/>
          <p:nvPr/>
        </p:nvSpPr>
        <p:spPr>
          <a:xfrm>
            <a:off x="3977640" y="3703320"/>
            <a:ext cx="1280160" cy="411480"/>
          </a:xfrm>
          <a:prstGeom prst="rect">
            <a:avLst/>
          </a:prstGeom>
          <a:noFill/>
          <a:ln/>
        </p:spPr>
        <p:txBody>
          <a:bodyPr wrap="square" lIns="0" tIns="0" rIns="0" bIns="0" rtlCol="0" anchor="ctr"/>
          <a:lstStyle/>
          <a:p>
            <a:pPr indent="0" marL="0">
              <a:buNone/>
            </a:pPr>
            <a:r>
              <a:rPr lang="en-US" sz="2200" b="1" dirty="0">
                <a:solidFill>
                  <a:srgbClr val="0B1F3A"/>
                </a:solidFill>
                <a:latin typeface="Arial" pitchFamily="34" charset="0"/>
                <a:ea typeface="Arial" pitchFamily="34" charset="-122"/>
                <a:cs typeface="Arial" pitchFamily="34" charset="-120"/>
              </a:rPr>
              <a:t>60 дБ</a:t>
            </a:r>
            <a:endParaRPr lang="en-US" sz="2200" dirty="0"/>
          </a:p>
        </p:txBody>
      </p:sp>
      <p:sp>
        <p:nvSpPr>
          <p:cNvPr id="22" name="Text 19"/>
          <p:cNvSpPr txBox="1"/>
          <p:nvPr/>
        </p:nvSpPr>
        <p:spPr>
          <a:xfrm>
            <a:off x="3977640" y="4114800"/>
            <a:ext cx="132588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ослабление амплитуды</a:t>
            </a:r>
            <a:endParaRPr lang="en-US" sz="800" dirty="0"/>
          </a:p>
        </p:txBody>
      </p:sp>
      <p:sp>
        <p:nvSpPr>
          <p:cNvPr id="23" name="Text 20"/>
          <p:cNvSpPr txBox="1"/>
          <p:nvPr/>
        </p:nvSpPr>
        <p:spPr>
          <a:xfrm>
            <a:off x="3977640" y="4297680"/>
            <a:ext cx="1325880" cy="228600"/>
          </a:xfrm>
          <a:prstGeom prst="rect">
            <a:avLst/>
          </a:prstGeom>
          <a:noFill/>
          <a:ln/>
        </p:spPr>
        <p:txBody>
          <a:bodyPr wrap="square" lIns="0" tIns="0" rIns="0" bIns="0" rtlCol="0" anchor="t"/>
          <a:lstStyle/>
          <a:p>
            <a:pPr indent="0" marL="0">
              <a:buNone/>
            </a:pPr>
            <a:r>
              <a:rPr lang="en-US" sz="1200" b="1" dirty="0">
                <a:solidFill>
                  <a:srgbClr val="2B3440"/>
                </a:solidFill>
                <a:latin typeface="Arial" pitchFamily="34" charset="0"/>
                <a:ea typeface="Arial" pitchFamily="34" charset="-122"/>
                <a:cs typeface="Arial" pitchFamily="34" charset="-120"/>
              </a:rPr>
              <a:t>в 1000 раз</a:t>
            </a:r>
            <a:endParaRPr lang="en-US" sz="1200" dirty="0"/>
          </a:p>
        </p:txBody>
      </p:sp>
      <p:sp>
        <p:nvSpPr>
          <p:cNvPr id="24" name="Shape 21"/>
          <p:cNvSpPr/>
          <p:nvPr/>
        </p:nvSpPr>
        <p:spPr>
          <a:xfrm>
            <a:off x="5669280" y="1280160"/>
            <a:ext cx="3017520" cy="3337560"/>
          </a:xfrm>
          <a:prstGeom prst="roundRect">
            <a:avLst>
              <a:gd name="adj" fmla="val 2424"/>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25" name="Text 22"/>
          <p:cNvSpPr txBox="1"/>
          <p:nvPr/>
        </p:nvSpPr>
        <p:spPr>
          <a:xfrm>
            <a:off x="5852160" y="1389888"/>
            <a:ext cx="2743200" cy="228600"/>
          </a:xfrm>
          <a:prstGeom prst="rect">
            <a:avLst/>
          </a:prstGeom>
          <a:noFill/>
          <a:ln/>
        </p:spPr>
        <p:txBody>
          <a:bodyPr wrap="square" lIns="0" tIns="0" rIns="0" bIns="0" rtlCol="0" anchor="t"/>
          <a:lstStyle/>
          <a:p>
            <a:pPr indent="0" marL="0">
              <a:buNone/>
            </a:pPr>
            <a:r>
              <a:rPr lang="en-US" sz="1100" b="1" dirty="0">
                <a:solidFill>
                  <a:srgbClr val="0B1F3A"/>
                </a:solidFill>
                <a:latin typeface="Arial" pitchFamily="34" charset="0"/>
                <a:ea typeface="Arial" pitchFamily="34" charset="-122"/>
                <a:cs typeface="Arial" pitchFamily="34" charset="-120"/>
              </a:rPr>
              <a:t>Уровень поля (отн. ед.)</a:t>
            </a:r>
            <a:endParaRPr lang="en-US" sz="1100" dirty="0"/>
          </a:p>
        </p:txBody>
      </p:sp>
      <p:graphicFrame>
        <p:nvGraphicFramePr>
          <p:cNvPr id="26" name="Chart 0" descr=""/>
          <p:cNvGraphicFramePr/>
          <p:nvPr/>
        </p:nvGraphicFramePr>
        <p:xfrm>
          <a:off x="5760720" y="1691640"/>
          <a:ext cx="2834640" cy="2331720"/>
        </p:xfrm>
        <a:graphic xmlns:a="http://schemas.openxmlformats.org/drawingml/2006/main">
          <a:graphicData uri="http://schemas.openxmlformats.org/drawingml/2006/chart">
            <c:chart xmlns:c="http://schemas.openxmlformats.org/drawingml/2006/chart" r:id="rId1"/>
          </a:graphicData>
        </a:graphic>
      </p:graphicFrame>
      <p:sp>
        <p:nvSpPr>
          <p:cNvPr id="27" name="Shape 23"/>
          <p:cNvSpPr/>
          <p:nvPr/>
        </p:nvSpPr>
        <p:spPr>
          <a:xfrm>
            <a:off x="5852160" y="4114800"/>
            <a:ext cx="2651760" cy="365760"/>
          </a:xfrm>
          <a:prstGeom prst="roundRect">
            <a:avLst>
              <a:gd name="adj" fmla="val 50000"/>
            </a:avLst>
          </a:prstGeom>
          <a:solidFill>
            <a:srgbClr val="E4F2F8"/>
          </a:solidFill>
          <a:ln w="12700">
            <a:solidFill>
              <a:srgbClr val="E4F2F8"/>
            </a:solidFill>
            <a:prstDash val="solid"/>
          </a:ln>
        </p:spPr>
      </p:sp>
      <p:sp>
        <p:nvSpPr>
          <p:cNvPr id="28" name="Text 24"/>
          <p:cNvSpPr txBox="1"/>
          <p:nvPr/>
        </p:nvSpPr>
        <p:spPr>
          <a:xfrm>
            <a:off x="5852160" y="4114800"/>
            <a:ext cx="2651760" cy="365760"/>
          </a:xfrm>
          <a:prstGeom prst="rect">
            <a:avLst/>
          </a:prstGeom>
          <a:noFill/>
          <a:ln/>
        </p:spPr>
        <p:txBody>
          <a:bodyPr wrap="square" lIns="0" tIns="0" rIns="0" bIns="0" rtlCol="0" anchor="ctr"/>
          <a:lstStyle/>
          <a:p>
            <a:pPr algn="ctr" indent="0" marL="0">
              <a:buNone/>
            </a:pPr>
            <a:r>
              <a:rPr lang="en-US" sz="1100" b="1" dirty="0">
                <a:solidFill>
                  <a:srgbClr val="0B1F3A"/>
                </a:solidFill>
                <a:latin typeface="Arial" pitchFamily="34" charset="0"/>
                <a:ea typeface="Arial" pitchFamily="34" charset="-122"/>
                <a:cs typeface="Arial" pitchFamily="34" charset="-120"/>
              </a:rPr>
              <a:t>SE = 20 lg(100 / 10) = 20 дБ</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9"/>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0E9AA7"/>
                </a:solidFill>
                <a:latin typeface="Arial" pitchFamily="34" charset="0"/>
                <a:ea typeface="Arial" pitchFamily="34" charset="-122"/>
                <a:cs typeface="Arial" pitchFamily="34" charset="-120"/>
              </a:rPr>
              <a:t>ПРИМЕНЕНИЕ</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0B1F3A"/>
                </a:solidFill>
                <a:latin typeface="Arial" pitchFamily="34" charset="0"/>
                <a:ea typeface="Arial" pitchFamily="34" charset="-122"/>
                <a:cs typeface="Arial" pitchFamily="34" charset="-120"/>
              </a:rPr>
              <a:t>Экранирование в защите информации</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64748B"/>
                </a:solidFill>
                <a:latin typeface="Arial" pitchFamily="34" charset="0"/>
                <a:ea typeface="Arial" pitchFamily="34" charset="-122"/>
                <a:cs typeface="Arial" pitchFamily="34" charset="-120"/>
              </a:rPr>
              <a:t>08</a:t>
            </a:r>
            <a:endParaRPr lang="en-US" sz="800" dirty="0"/>
          </a:p>
        </p:txBody>
      </p:sp>
      <p:sp>
        <p:nvSpPr>
          <p:cNvPr id="7" name="Shape 4"/>
          <p:cNvSpPr/>
          <p:nvPr/>
        </p:nvSpPr>
        <p:spPr>
          <a:xfrm>
            <a:off x="457200" y="1280160"/>
            <a:ext cx="5257800" cy="2743200"/>
          </a:xfrm>
          <a:prstGeom prst="roundRect">
            <a:avLst>
              <a:gd name="adj" fmla="val 2667"/>
            </a:avLst>
          </a:prstGeom>
          <a:solidFill>
            <a:srgbClr val="FFFFFF"/>
          </a:solidFill>
          <a:ln w="9525">
            <a:solidFill>
              <a:srgbClr val="DDE5EC"/>
            </a:solidFill>
            <a:prstDash val="solid"/>
          </a:ln>
        </p:spPr>
      </p:sp>
      <p:sp>
        <p:nvSpPr>
          <p:cNvPr id="8" name="Shape 5"/>
          <p:cNvSpPr/>
          <p:nvPr/>
        </p:nvSpPr>
        <p:spPr>
          <a:xfrm>
            <a:off x="548640" y="1371600"/>
            <a:ext cx="4160520" cy="2560320"/>
          </a:xfrm>
          <a:prstGeom prst="roundRect">
            <a:avLst>
              <a:gd name="adj" fmla="val 3571"/>
            </a:avLst>
          </a:prstGeom>
          <a:ln w="15875">
            <a:solidFill>
              <a:srgbClr val="7C8CA0"/>
            </a:solidFill>
            <a:prstDash val="dash"/>
          </a:ln>
        </p:spPr>
      </p:sp>
      <p:sp>
        <p:nvSpPr>
          <p:cNvPr id="9" name="Text 6"/>
          <p:cNvSpPr txBox="1"/>
          <p:nvPr/>
        </p:nvSpPr>
        <p:spPr>
          <a:xfrm>
            <a:off x="731520" y="1463040"/>
            <a:ext cx="2743200" cy="182880"/>
          </a:xfrm>
          <a:prstGeom prst="rect">
            <a:avLst/>
          </a:prstGeom>
          <a:noFill/>
          <a:ln/>
        </p:spPr>
        <p:txBody>
          <a:bodyPr wrap="square" lIns="0" tIns="0" rIns="0" bIns="0" rtlCol="0" anchor="t"/>
          <a:lstStyle/>
          <a:p>
            <a:pPr indent="0" marL="0">
              <a:buNone/>
            </a:pPr>
            <a:r>
              <a:rPr lang="en-US" sz="850" b="1" spc="200" kern="0" dirty="0">
                <a:solidFill>
                  <a:srgbClr val="64748B"/>
                </a:solidFill>
                <a:latin typeface="Arial" pitchFamily="34" charset="0"/>
                <a:ea typeface="Arial" pitchFamily="34" charset="-122"/>
                <a:cs typeface="Arial" pitchFamily="34" charset="-120"/>
              </a:rPr>
              <a:t>КОНТРОЛИРУЕМАЯ ЗОНА</a:t>
            </a:r>
            <a:endParaRPr lang="en-US" sz="850" dirty="0"/>
          </a:p>
        </p:txBody>
      </p:sp>
      <p:sp>
        <p:nvSpPr>
          <p:cNvPr id="10" name="Shape 7"/>
          <p:cNvSpPr/>
          <p:nvPr/>
        </p:nvSpPr>
        <p:spPr>
          <a:xfrm>
            <a:off x="777240" y="1783080"/>
            <a:ext cx="2286000" cy="1828800"/>
          </a:xfrm>
          <a:prstGeom prst="rect">
            <a:avLst/>
          </a:prstGeom>
          <a:solidFill>
            <a:srgbClr val="EAF6FA"/>
          </a:solidFill>
          <a:ln w="50800">
            <a:solidFill>
              <a:srgbClr val="0E9AA7"/>
            </a:solidFill>
            <a:prstDash val="solid"/>
          </a:ln>
        </p:spPr>
      </p:sp>
      <p:sp>
        <p:nvSpPr>
          <p:cNvPr id="11" name="Text 8"/>
          <p:cNvSpPr txBox="1"/>
          <p:nvPr/>
        </p:nvSpPr>
        <p:spPr>
          <a:xfrm>
            <a:off x="868680" y="1856232"/>
            <a:ext cx="2103120" cy="182880"/>
          </a:xfrm>
          <a:prstGeom prst="rect">
            <a:avLst/>
          </a:prstGeom>
          <a:noFill/>
          <a:ln/>
        </p:spPr>
        <p:txBody>
          <a:bodyPr wrap="square" lIns="0" tIns="0" rIns="0" bIns="0" rtlCol="0" anchor="t"/>
          <a:lstStyle/>
          <a:p>
            <a:pPr algn="l" indent="0" marL="0">
              <a:buNone/>
            </a:pPr>
            <a:r>
              <a:rPr lang="en-US" sz="850" b="1" dirty="0">
                <a:solidFill>
                  <a:srgbClr val="0E9AA7"/>
                </a:solidFill>
                <a:latin typeface="Arial" pitchFamily="34" charset="0"/>
                <a:ea typeface="Arial" pitchFamily="34" charset="-122"/>
                <a:cs typeface="Arial" pitchFamily="34" charset="-120"/>
              </a:rPr>
              <a:t>Экранированное помещение</a:t>
            </a:r>
            <a:endParaRPr lang="en-US" sz="850" dirty="0"/>
          </a:p>
        </p:txBody>
      </p:sp>
      <p:sp>
        <p:nvSpPr>
          <p:cNvPr id="12" name="Shape 9"/>
          <p:cNvSpPr/>
          <p:nvPr/>
        </p:nvSpPr>
        <p:spPr>
          <a:xfrm>
            <a:off x="1097280" y="2468880"/>
            <a:ext cx="685800" cy="685800"/>
          </a:xfrm>
          <a:prstGeom prst="ellipse">
            <a:avLst/>
          </a:prstGeom>
          <a:solidFill>
            <a:srgbClr val="0B1F3A"/>
          </a:solidFill>
          <a:ln w="12700">
            <a:solidFill>
              <a:srgbClr val="0B1F3A"/>
            </a:solidFill>
            <a:prstDash val="solid"/>
          </a:ln>
        </p:spPr>
      </p:sp>
      <p:pic>
        <p:nvPicPr>
          <p:cNvPr id="13" name="Image 0" descr="preencoded.png">    </p:cNvPr>
          <p:cNvPicPr>
            <a:picLocks noChangeAspect="1"/>
          </p:cNvPicPr>
          <p:nvPr/>
        </p:nvPicPr>
        <p:blipFill>
          <a:blip r:embed="rId1"/>
          <a:stretch>
            <a:fillRect/>
          </a:stretch>
        </p:blipFill>
        <p:spPr>
          <a:xfrm>
            <a:off x="1280160" y="2651760"/>
            <a:ext cx="320040" cy="320040"/>
          </a:xfrm>
          <a:prstGeom prst="rect">
            <a:avLst/>
          </a:prstGeom>
        </p:spPr>
      </p:pic>
      <p:sp>
        <p:nvSpPr>
          <p:cNvPr id="14" name="Text 10"/>
          <p:cNvSpPr txBox="1"/>
          <p:nvPr/>
        </p:nvSpPr>
        <p:spPr>
          <a:xfrm>
            <a:off x="868680" y="3227832"/>
            <a:ext cx="1463040" cy="320040"/>
          </a:xfrm>
          <a:prstGeom prst="rect">
            <a:avLst/>
          </a:prstGeom>
          <a:noFill/>
          <a:ln/>
        </p:spPr>
        <p:txBody>
          <a:bodyPr wrap="square" lIns="0" tIns="0" rIns="0" bIns="0" rtlCol="0" anchor="t"/>
          <a:lstStyle/>
          <a:p>
            <a:pPr indent="0" marL="0">
              <a:buNone/>
            </a:pPr>
            <a:r>
              <a:rPr lang="en-US" sz="850" b="1" dirty="0">
                <a:solidFill>
                  <a:srgbClr val="0B1F3A"/>
                </a:solidFill>
                <a:latin typeface="Arial" pitchFamily="34" charset="0"/>
                <a:ea typeface="Arial" pitchFamily="34" charset="-122"/>
                <a:cs typeface="Arial" pitchFamily="34" charset="-120"/>
              </a:rPr>
              <a:t>Объект информатизации</a:t>
            </a:r>
            <a:endParaRPr lang="en-US" sz="850" dirty="0"/>
          </a:p>
        </p:txBody>
      </p:sp>
      <p:sp>
        <p:nvSpPr>
          <p:cNvPr id="15" name="Shape 11"/>
          <p:cNvSpPr/>
          <p:nvPr/>
        </p:nvSpPr>
        <p:spPr>
          <a:xfrm>
            <a:off x="1874520" y="2560320"/>
            <a:ext cx="1124712" cy="0"/>
          </a:xfrm>
          <a:prstGeom prst="line">
            <a:avLst/>
          </a:prstGeom>
          <a:noFill/>
          <a:ln w="19050">
            <a:solidFill>
              <a:srgbClr val="1FB6D4"/>
            </a:solidFill>
            <a:prstDash val="solid"/>
            <a:tailEnd type="triangle"/>
          </a:ln>
        </p:spPr>
      </p:sp>
      <p:sp>
        <p:nvSpPr>
          <p:cNvPr id="16" name="Shape 12"/>
          <p:cNvSpPr/>
          <p:nvPr/>
        </p:nvSpPr>
        <p:spPr>
          <a:xfrm>
            <a:off x="1874520" y="2807208"/>
            <a:ext cx="1124712" cy="0"/>
          </a:xfrm>
          <a:prstGeom prst="line">
            <a:avLst/>
          </a:prstGeom>
          <a:noFill/>
          <a:ln w="19050">
            <a:solidFill>
              <a:srgbClr val="1FB6D4"/>
            </a:solidFill>
            <a:prstDash val="solid"/>
            <a:tailEnd type="triangle"/>
          </a:ln>
        </p:spPr>
      </p:sp>
      <p:sp>
        <p:nvSpPr>
          <p:cNvPr id="17" name="Shape 13"/>
          <p:cNvSpPr/>
          <p:nvPr/>
        </p:nvSpPr>
        <p:spPr>
          <a:xfrm>
            <a:off x="1874520" y="3054096"/>
            <a:ext cx="1124712" cy="0"/>
          </a:xfrm>
          <a:prstGeom prst="line">
            <a:avLst/>
          </a:prstGeom>
          <a:noFill/>
          <a:ln w="19050">
            <a:solidFill>
              <a:srgbClr val="1FB6D4"/>
            </a:solidFill>
            <a:prstDash val="solid"/>
            <a:tailEnd type="triangle"/>
          </a:ln>
        </p:spPr>
      </p:sp>
      <p:sp>
        <p:nvSpPr>
          <p:cNvPr id="18" name="Shape 14"/>
          <p:cNvSpPr/>
          <p:nvPr/>
        </p:nvSpPr>
        <p:spPr>
          <a:xfrm>
            <a:off x="3154680" y="2560320"/>
            <a:ext cx="320040" cy="0"/>
          </a:xfrm>
          <a:prstGeom prst="line">
            <a:avLst/>
          </a:prstGeom>
          <a:noFill/>
          <a:ln w="12700">
            <a:solidFill>
              <a:srgbClr val="C7D2DE"/>
            </a:solidFill>
            <a:prstDash val="dash"/>
          </a:ln>
        </p:spPr>
      </p:sp>
      <p:sp>
        <p:nvSpPr>
          <p:cNvPr id="19" name="Shape 15"/>
          <p:cNvSpPr/>
          <p:nvPr/>
        </p:nvSpPr>
        <p:spPr>
          <a:xfrm>
            <a:off x="3154680" y="2807208"/>
            <a:ext cx="320040" cy="0"/>
          </a:xfrm>
          <a:prstGeom prst="line">
            <a:avLst/>
          </a:prstGeom>
          <a:noFill/>
          <a:ln w="12700">
            <a:solidFill>
              <a:srgbClr val="C7D2DE"/>
            </a:solidFill>
            <a:prstDash val="dash"/>
          </a:ln>
        </p:spPr>
      </p:sp>
      <p:sp>
        <p:nvSpPr>
          <p:cNvPr id="20" name="Shape 16"/>
          <p:cNvSpPr/>
          <p:nvPr/>
        </p:nvSpPr>
        <p:spPr>
          <a:xfrm>
            <a:off x="3154680" y="3054096"/>
            <a:ext cx="320040" cy="0"/>
          </a:xfrm>
          <a:prstGeom prst="line">
            <a:avLst/>
          </a:prstGeom>
          <a:noFill/>
          <a:ln w="12700">
            <a:solidFill>
              <a:srgbClr val="C7D2DE"/>
            </a:solidFill>
            <a:prstDash val="dash"/>
          </a:ln>
        </p:spPr>
      </p:sp>
      <p:sp>
        <p:nvSpPr>
          <p:cNvPr id="21" name="Text 17"/>
          <p:cNvSpPr txBox="1"/>
          <p:nvPr/>
        </p:nvSpPr>
        <p:spPr>
          <a:xfrm>
            <a:off x="3200400" y="3154680"/>
            <a:ext cx="822960" cy="274320"/>
          </a:xfrm>
          <a:prstGeom prst="rect">
            <a:avLst/>
          </a:prstGeom>
          <a:noFill/>
          <a:ln/>
        </p:spPr>
        <p:txBody>
          <a:bodyPr wrap="square" lIns="0" tIns="0" rIns="0" bIns="0" rtlCol="0" anchor="t"/>
          <a:lstStyle/>
          <a:p>
            <a:pPr algn="l" indent="0" marL="0">
              <a:buNone/>
            </a:pPr>
            <a:r>
              <a:rPr lang="en-US" sz="800" dirty="0">
                <a:solidFill>
                  <a:srgbClr val="64748B"/>
                </a:solidFill>
                <a:latin typeface="Arial" pitchFamily="34" charset="0"/>
                <a:ea typeface="Arial" pitchFamily="34" charset="-122"/>
                <a:cs typeface="Arial" pitchFamily="34" charset="-120"/>
              </a:rPr>
              <a:t>сигнал ослаблен</a:t>
            </a:r>
            <a:endParaRPr lang="en-US" sz="800" dirty="0"/>
          </a:p>
        </p:txBody>
      </p:sp>
      <p:sp>
        <p:nvSpPr>
          <p:cNvPr id="22" name="Shape 18"/>
          <p:cNvSpPr/>
          <p:nvPr/>
        </p:nvSpPr>
        <p:spPr>
          <a:xfrm>
            <a:off x="1325880" y="3611880"/>
            <a:ext cx="0" cy="292608"/>
          </a:xfrm>
          <a:prstGeom prst="line">
            <a:avLst/>
          </a:prstGeom>
          <a:noFill/>
          <a:ln w="25400">
            <a:solidFill>
              <a:srgbClr val="2B3440"/>
            </a:solidFill>
            <a:prstDash val="solid"/>
          </a:ln>
        </p:spPr>
      </p:sp>
      <p:sp>
        <p:nvSpPr>
          <p:cNvPr id="23" name="Shape 19"/>
          <p:cNvSpPr/>
          <p:nvPr/>
        </p:nvSpPr>
        <p:spPr>
          <a:xfrm>
            <a:off x="1143000" y="3666744"/>
            <a:ext cx="365760" cy="146304"/>
          </a:xfrm>
          <a:prstGeom prst="roundRect">
            <a:avLst>
              <a:gd name="adj" fmla="val 18750"/>
            </a:avLst>
          </a:prstGeom>
          <a:solidFill>
            <a:srgbClr val="FFFFFF"/>
          </a:solidFill>
          <a:ln w="15875">
            <a:solidFill>
              <a:srgbClr val="2B3440"/>
            </a:solidFill>
            <a:prstDash val="solid"/>
          </a:ln>
        </p:spPr>
      </p:sp>
      <p:sp>
        <p:nvSpPr>
          <p:cNvPr id="24" name="Text 20"/>
          <p:cNvSpPr txBox="1"/>
          <p:nvPr/>
        </p:nvSpPr>
        <p:spPr>
          <a:xfrm>
            <a:off x="1600200" y="3639312"/>
            <a:ext cx="640080" cy="201168"/>
          </a:xfrm>
          <a:prstGeom prst="rect">
            <a:avLst/>
          </a:prstGeom>
          <a:noFill/>
          <a:ln/>
        </p:spPr>
        <p:txBody>
          <a:bodyPr wrap="square" lIns="0" tIns="0" rIns="0" bIns="0" rtlCol="0" anchor="ctr"/>
          <a:lstStyle/>
          <a:p>
            <a:pPr indent="0" marL="0">
              <a:buNone/>
            </a:pPr>
            <a:r>
              <a:rPr lang="en-US" sz="800" dirty="0">
                <a:solidFill>
                  <a:srgbClr val="64748B"/>
                </a:solidFill>
                <a:latin typeface="Arial" pitchFamily="34" charset="0"/>
                <a:ea typeface="Arial" pitchFamily="34" charset="-122"/>
                <a:cs typeface="Arial" pitchFamily="34" charset="-120"/>
              </a:rPr>
              <a:t>фильтр</a:t>
            </a:r>
            <a:endParaRPr lang="en-US" sz="800" dirty="0"/>
          </a:p>
        </p:txBody>
      </p:sp>
      <p:sp>
        <p:nvSpPr>
          <p:cNvPr id="25" name="Shape 21"/>
          <p:cNvSpPr/>
          <p:nvPr/>
        </p:nvSpPr>
        <p:spPr>
          <a:xfrm>
            <a:off x="4800600" y="2331720"/>
            <a:ext cx="548640" cy="548640"/>
          </a:xfrm>
          <a:prstGeom prst="ellipse">
            <a:avLst/>
          </a:prstGeom>
          <a:solidFill>
            <a:srgbClr val="2B3440"/>
          </a:solidFill>
          <a:ln w="12700">
            <a:solidFill>
              <a:srgbClr val="2B3440"/>
            </a:solidFill>
            <a:prstDash val="solid"/>
          </a:ln>
        </p:spPr>
      </p:sp>
      <p:pic>
        <p:nvPicPr>
          <p:cNvPr id="26" name="Image 1" descr="preencoded.png">    </p:cNvPr>
          <p:cNvPicPr>
            <a:picLocks noChangeAspect="1"/>
          </p:cNvPicPr>
          <p:nvPr/>
        </p:nvPicPr>
        <p:blipFill>
          <a:blip r:embed="rId2"/>
          <a:stretch>
            <a:fillRect/>
          </a:stretch>
        </p:blipFill>
        <p:spPr>
          <a:xfrm>
            <a:off x="4937760" y="2468880"/>
            <a:ext cx="274320" cy="274320"/>
          </a:xfrm>
          <a:prstGeom prst="rect">
            <a:avLst/>
          </a:prstGeom>
        </p:spPr>
      </p:pic>
      <p:sp>
        <p:nvSpPr>
          <p:cNvPr id="27" name="Text 22"/>
          <p:cNvSpPr txBox="1"/>
          <p:nvPr/>
        </p:nvSpPr>
        <p:spPr>
          <a:xfrm>
            <a:off x="4617720" y="2926080"/>
            <a:ext cx="914400" cy="182880"/>
          </a:xfrm>
          <a:prstGeom prst="rect">
            <a:avLst/>
          </a:prstGeom>
          <a:noFill/>
          <a:ln/>
        </p:spPr>
        <p:txBody>
          <a:bodyPr wrap="square" lIns="0" tIns="0" rIns="0" bIns="0" rtlCol="0" anchor="t"/>
          <a:lstStyle/>
          <a:p>
            <a:pPr algn="ctr" indent="0" marL="0">
              <a:buNone/>
            </a:pPr>
            <a:r>
              <a:rPr lang="en-US" sz="850" b="1" dirty="0">
                <a:solidFill>
                  <a:srgbClr val="2B3440"/>
                </a:solidFill>
                <a:latin typeface="Arial" pitchFamily="34" charset="0"/>
                <a:ea typeface="Arial" pitchFamily="34" charset="-122"/>
                <a:cs typeface="Arial" pitchFamily="34" charset="-120"/>
              </a:rPr>
              <a:t>перехват</a:t>
            </a:r>
            <a:endParaRPr lang="en-US" sz="850" dirty="0"/>
          </a:p>
        </p:txBody>
      </p:sp>
      <p:sp>
        <p:nvSpPr>
          <p:cNvPr id="28" name="Text 23"/>
          <p:cNvSpPr txBox="1"/>
          <p:nvPr/>
        </p:nvSpPr>
        <p:spPr>
          <a:xfrm>
            <a:off x="4526280" y="3108960"/>
            <a:ext cx="1097280" cy="274320"/>
          </a:xfrm>
          <a:prstGeom prst="rect">
            <a:avLst/>
          </a:prstGeom>
          <a:noFill/>
          <a:ln/>
        </p:spPr>
        <p:txBody>
          <a:bodyPr wrap="square" lIns="0" tIns="0" rIns="0" bIns="0" rtlCol="0" anchor="t"/>
          <a:lstStyle/>
          <a:p>
            <a:pPr algn="ctr" indent="0" marL="0">
              <a:buNone/>
            </a:pPr>
            <a:r>
              <a:rPr lang="en-US" sz="800" dirty="0">
                <a:solidFill>
                  <a:srgbClr val="64748B"/>
                </a:solidFill>
                <a:latin typeface="Arial" pitchFamily="34" charset="0"/>
                <a:ea typeface="Arial" pitchFamily="34" charset="-122"/>
                <a:cs typeface="Arial" pitchFamily="34" charset="-120"/>
              </a:rPr>
              <a:t>сигнал ниже шума</a:t>
            </a:r>
            <a:endParaRPr lang="en-US" sz="800" dirty="0"/>
          </a:p>
        </p:txBody>
      </p:sp>
      <p:sp>
        <p:nvSpPr>
          <p:cNvPr id="29" name="Shape 24"/>
          <p:cNvSpPr/>
          <p:nvPr/>
        </p:nvSpPr>
        <p:spPr>
          <a:xfrm>
            <a:off x="4480560" y="2395728"/>
            <a:ext cx="219456" cy="219456"/>
          </a:xfrm>
          <a:prstGeom prst="ellipse">
            <a:avLst/>
          </a:prstGeom>
          <a:solidFill>
            <a:srgbClr val="FFFFFF"/>
          </a:solidFill>
          <a:ln w="15875">
            <a:solidFill>
              <a:srgbClr val="2B3440"/>
            </a:solidFill>
            <a:prstDash val="solid"/>
          </a:ln>
        </p:spPr>
      </p:sp>
      <p:sp>
        <p:nvSpPr>
          <p:cNvPr id="30" name="Text 25"/>
          <p:cNvSpPr txBox="1"/>
          <p:nvPr/>
        </p:nvSpPr>
        <p:spPr>
          <a:xfrm>
            <a:off x="4480560" y="2395728"/>
            <a:ext cx="219456" cy="219456"/>
          </a:xfrm>
          <a:prstGeom prst="rect">
            <a:avLst/>
          </a:prstGeom>
          <a:noFill/>
          <a:ln/>
        </p:spPr>
        <p:txBody>
          <a:bodyPr wrap="square" lIns="0" tIns="0" rIns="0" bIns="0" rtlCol="0" anchor="ctr"/>
          <a:lstStyle/>
          <a:p>
            <a:pPr algn="ctr" indent="0" marL="0">
              <a:buNone/>
            </a:pPr>
            <a:r>
              <a:rPr lang="en-US" sz="900" b="1" dirty="0">
                <a:solidFill>
                  <a:srgbClr val="2B3440"/>
                </a:solidFill>
                <a:latin typeface="Arial" pitchFamily="34" charset="0"/>
                <a:ea typeface="Arial" pitchFamily="34" charset="-122"/>
                <a:cs typeface="Arial" pitchFamily="34" charset="-120"/>
              </a:rPr>
              <a:t>✕</a:t>
            </a:r>
            <a:endParaRPr lang="en-US" sz="900" dirty="0"/>
          </a:p>
        </p:txBody>
      </p:sp>
      <p:sp>
        <p:nvSpPr>
          <p:cNvPr id="31" name="Shape 26"/>
          <p:cNvSpPr/>
          <p:nvPr/>
        </p:nvSpPr>
        <p:spPr>
          <a:xfrm>
            <a:off x="5943600" y="1280160"/>
            <a:ext cx="2743200" cy="484632"/>
          </a:xfrm>
          <a:prstGeom prst="roundRect">
            <a:avLst>
              <a:gd name="adj" fmla="val 15094"/>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32" name="Shape 27"/>
          <p:cNvSpPr/>
          <p:nvPr/>
        </p:nvSpPr>
        <p:spPr>
          <a:xfrm>
            <a:off x="6089904" y="1367028"/>
            <a:ext cx="310896" cy="310896"/>
          </a:xfrm>
          <a:prstGeom prst="ellipse">
            <a:avLst/>
          </a:prstGeom>
          <a:solidFill>
            <a:srgbClr val="0B1F3A"/>
          </a:solidFill>
          <a:ln w="12700">
            <a:solidFill>
              <a:srgbClr val="0B1F3A"/>
            </a:solidFill>
            <a:prstDash val="solid"/>
          </a:ln>
        </p:spPr>
      </p:sp>
      <p:pic>
        <p:nvPicPr>
          <p:cNvPr id="33" name="Image 2" descr="preencoded.png">    </p:cNvPr>
          <p:cNvPicPr>
            <a:picLocks noChangeAspect="1"/>
          </p:cNvPicPr>
          <p:nvPr/>
        </p:nvPicPr>
        <p:blipFill>
          <a:blip r:embed="rId3"/>
          <a:stretch>
            <a:fillRect/>
          </a:stretch>
        </p:blipFill>
        <p:spPr>
          <a:xfrm>
            <a:off x="6167628" y="1444752"/>
            <a:ext cx="155448" cy="155448"/>
          </a:xfrm>
          <a:prstGeom prst="rect">
            <a:avLst/>
          </a:prstGeom>
        </p:spPr>
      </p:pic>
      <p:sp>
        <p:nvSpPr>
          <p:cNvPr id="34" name="Text 28"/>
          <p:cNvSpPr txBox="1"/>
          <p:nvPr/>
        </p:nvSpPr>
        <p:spPr>
          <a:xfrm>
            <a:off x="6537960" y="1280160"/>
            <a:ext cx="2103120" cy="484632"/>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Экранированные помещения</a:t>
            </a:r>
            <a:endParaRPr lang="en-US" sz="1050" dirty="0"/>
          </a:p>
        </p:txBody>
      </p:sp>
      <p:sp>
        <p:nvSpPr>
          <p:cNvPr id="35" name="Shape 29"/>
          <p:cNvSpPr/>
          <p:nvPr/>
        </p:nvSpPr>
        <p:spPr>
          <a:xfrm>
            <a:off x="5943600" y="1847088"/>
            <a:ext cx="2743200" cy="484632"/>
          </a:xfrm>
          <a:prstGeom prst="roundRect">
            <a:avLst>
              <a:gd name="adj" fmla="val 15094"/>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36" name="Shape 30"/>
          <p:cNvSpPr/>
          <p:nvPr/>
        </p:nvSpPr>
        <p:spPr>
          <a:xfrm>
            <a:off x="6089904" y="1933956"/>
            <a:ext cx="310896" cy="310896"/>
          </a:xfrm>
          <a:prstGeom prst="ellipse">
            <a:avLst/>
          </a:prstGeom>
          <a:solidFill>
            <a:srgbClr val="0B1F3A"/>
          </a:solidFill>
          <a:ln w="12700">
            <a:solidFill>
              <a:srgbClr val="0B1F3A"/>
            </a:solidFill>
            <a:prstDash val="solid"/>
          </a:ln>
        </p:spPr>
      </p:sp>
      <p:pic>
        <p:nvPicPr>
          <p:cNvPr id="37" name="Image 3" descr="preencoded.png">    </p:cNvPr>
          <p:cNvPicPr>
            <a:picLocks noChangeAspect="1"/>
          </p:cNvPicPr>
          <p:nvPr/>
        </p:nvPicPr>
        <p:blipFill>
          <a:blip r:embed="rId4"/>
          <a:stretch>
            <a:fillRect/>
          </a:stretch>
        </p:blipFill>
        <p:spPr>
          <a:xfrm>
            <a:off x="6167628" y="2011680"/>
            <a:ext cx="155448" cy="155448"/>
          </a:xfrm>
          <a:prstGeom prst="rect">
            <a:avLst/>
          </a:prstGeom>
        </p:spPr>
      </p:pic>
      <p:sp>
        <p:nvSpPr>
          <p:cNvPr id="38" name="Text 31"/>
          <p:cNvSpPr txBox="1"/>
          <p:nvPr/>
        </p:nvSpPr>
        <p:spPr>
          <a:xfrm>
            <a:off x="6537960" y="1847088"/>
            <a:ext cx="2103120" cy="484632"/>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Экранированные кабели</a:t>
            </a:r>
            <a:endParaRPr lang="en-US" sz="1050" dirty="0"/>
          </a:p>
        </p:txBody>
      </p:sp>
      <p:sp>
        <p:nvSpPr>
          <p:cNvPr id="39" name="Shape 32"/>
          <p:cNvSpPr/>
          <p:nvPr/>
        </p:nvSpPr>
        <p:spPr>
          <a:xfrm>
            <a:off x="5943600" y="2414016"/>
            <a:ext cx="2743200" cy="484632"/>
          </a:xfrm>
          <a:prstGeom prst="roundRect">
            <a:avLst>
              <a:gd name="adj" fmla="val 15094"/>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40" name="Shape 33"/>
          <p:cNvSpPr/>
          <p:nvPr/>
        </p:nvSpPr>
        <p:spPr>
          <a:xfrm>
            <a:off x="6089904" y="2500884"/>
            <a:ext cx="310896" cy="310896"/>
          </a:xfrm>
          <a:prstGeom prst="ellipse">
            <a:avLst/>
          </a:prstGeom>
          <a:solidFill>
            <a:srgbClr val="0B1F3A"/>
          </a:solidFill>
          <a:ln w="12700">
            <a:solidFill>
              <a:srgbClr val="0B1F3A"/>
            </a:solidFill>
            <a:prstDash val="solid"/>
          </a:ln>
        </p:spPr>
      </p:sp>
      <p:pic>
        <p:nvPicPr>
          <p:cNvPr id="41" name="Image 4" descr="preencoded.png">    </p:cNvPr>
          <p:cNvPicPr>
            <a:picLocks noChangeAspect="1"/>
          </p:cNvPicPr>
          <p:nvPr/>
        </p:nvPicPr>
        <p:blipFill>
          <a:blip r:embed="rId5"/>
          <a:stretch>
            <a:fillRect/>
          </a:stretch>
        </p:blipFill>
        <p:spPr>
          <a:xfrm>
            <a:off x="6167628" y="2578608"/>
            <a:ext cx="155448" cy="155448"/>
          </a:xfrm>
          <a:prstGeom prst="rect">
            <a:avLst/>
          </a:prstGeom>
        </p:spPr>
      </p:pic>
      <p:sp>
        <p:nvSpPr>
          <p:cNvPr id="42" name="Text 34"/>
          <p:cNvSpPr txBox="1"/>
          <p:nvPr/>
        </p:nvSpPr>
        <p:spPr>
          <a:xfrm>
            <a:off x="6537960" y="2414016"/>
            <a:ext cx="2103120" cy="484632"/>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Металлические корпуса</a:t>
            </a:r>
            <a:endParaRPr lang="en-US" sz="1050" dirty="0"/>
          </a:p>
        </p:txBody>
      </p:sp>
      <p:sp>
        <p:nvSpPr>
          <p:cNvPr id="43" name="Shape 35"/>
          <p:cNvSpPr/>
          <p:nvPr/>
        </p:nvSpPr>
        <p:spPr>
          <a:xfrm>
            <a:off x="5943600" y="2980944"/>
            <a:ext cx="2743200" cy="484632"/>
          </a:xfrm>
          <a:prstGeom prst="roundRect">
            <a:avLst>
              <a:gd name="adj" fmla="val 15094"/>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44" name="Shape 36"/>
          <p:cNvSpPr/>
          <p:nvPr/>
        </p:nvSpPr>
        <p:spPr>
          <a:xfrm>
            <a:off x="6089904" y="3067812"/>
            <a:ext cx="310896" cy="310896"/>
          </a:xfrm>
          <a:prstGeom prst="ellipse">
            <a:avLst/>
          </a:prstGeom>
          <a:solidFill>
            <a:srgbClr val="0B1F3A"/>
          </a:solidFill>
          <a:ln w="12700">
            <a:solidFill>
              <a:srgbClr val="0B1F3A"/>
            </a:solidFill>
            <a:prstDash val="solid"/>
          </a:ln>
        </p:spPr>
      </p:sp>
      <p:pic>
        <p:nvPicPr>
          <p:cNvPr id="45" name="Image 5" descr="preencoded.png">    </p:cNvPr>
          <p:cNvPicPr>
            <a:picLocks noChangeAspect="1"/>
          </p:cNvPicPr>
          <p:nvPr/>
        </p:nvPicPr>
        <p:blipFill>
          <a:blip r:embed="rId6"/>
          <a:stretch>
            <a:fillRect/>
          </a:stretch>
        </p:blipFill>
        <p:spPr>
          <a:xfrm>
            <a:off x="6167628" y="3145536"/>
            <a:ext cx="155448" cy="155448"/>
          </a:xfrm>
          <a:prstGeom prst="rect">
            <a:avLst/>
          </a:prstGeom>
        </p:spPr>
      </p:pic>
      <p:sp>
        <p:nvSpPr>
          <p:cNvPr id="46" name="Text 37"/>
          <p:cNvSpPr txBox="1"/>
          <p:nvPr/>
        </p:nvSpPr>
        <p:spPr>
          <a:xfrm>
            <a:off x="6537960" y="2980944"/>
            <a:ext cx="2103120" cy="484632"/>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Серверные шкафы</a:t>
            </a:r>
            <a:endParaRPr lang="en-US" sz="1050" dirty="0"/>
          </a:p>
        </p:txBody>
      </p:sp>
      <p:sp>
        <p:nvSpPr>
          <p:cNvPr id="47" name="Shape 38"/>
          <p:cNvSpPr/>
          <p:nvPr/>
        </p:nvSpPr>
        <p:spPr>
          <a:xfrm>
            <a:off x="5943600" y="3547872"/>
            <a:ext cx="2743200" cy="484632"/>
          </a:xfrm>
          <a:prstGeom prst="roundRect">
            <a:avLst>
              <a:gd name="adj" fmla="val 15094"/>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sp>
        <p:nvSpPr>
          <p:cNvPr id="48" name="Shape 39"/>
          <p:cNvSpPr/>
          <p:nvPr/>
        </p:nvSpPr>
        <p:spPr>
          <a:xfrm>
            <a:off x="6089904" y="3634740"/>
            <a:ext cx="310896" cy="310896"/>
          </a:xfrm>
          <a:prstGeom prst="ellipse">
            <a:avLst/>
          </a:prstGeom>
          <a:solidFill>
            <a:srgbClr val="0E9AA7"/>
          </a:solidFill>
          <a:ln w="12700">
            <a:solidFill>
              <a:srgbClr val="0E9AA7"/>
            </a:solidFill>
            <a:prstDash val="solid"/>
          </a:ln>
        </p:spPr>
      </p:sp>
      <p:pic>
        <p:nvPicPr>
          <p:cNvPr id="49" name="Image 6" descr="preencoded.png">    </p:cNvPr>
          <p:cNvPicPr>
            <a:picLocks noChangeAspect="1"/>
          </p:cNvPicPr>
          <p:nvPr/>
        </p:nvPicPr>
        <p:blipFill>
          <a:blip r:embed="rId7"/>
          <a:stretch>
            <a:fillRect/>
          </a:stretch>
        </p:blipFill>
        <p:spPr>
          <a:xfrm>
            <a:off x="6167628" y="3712464"/>
            <a:ext cx="155448" cy="155448"/>
          </a:xfrm>
          <a:prstGeom prst="rect">
            <a:avLst/>
          </a:prstGeom>
        </p:spPr>
      </p:pic>
      <p:sp>
        <p:nvSpPr>
          <p:cNvPr id="50" name="Text 40"/>
          <p:cNvSpPr txBox="1"/>
          <p:nvPr/>
        </p:nvSpPr>
        <p:spPr>
          <a:xfrm>
            <a:off x="6537960" y="3547872"/>
            <a:ext cx="2103120" cy="484632"/>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Фильтрация и заземление</a:t>
            </a:r>
            <a:endParaRPr lang="en-US" sz="1050" dirty="0"/>
          </a:p>
        </p:txBody>
      </p:sp>
      <p:sp>
        <p:nvSpPr>
          <p:cNvPr id="51" name="Shape 41"/>
          <p:cNvSpPr/>
          <p:nvPr/>
        </p:nvSpPr>
        <p:spPr>
          <a:xfrm>
            <a:off x="457200" y="4206240"/>
            <a:ext cx="8229600" cy="457200"/>
          </a:xfrm>
          <a:prstGeom prst="roundRect">
            <a:avLst>
              <a:gd name="adj" fmla="val 16000"/>
            </a:avLst>
          </a:prstGeom>
          <a:solidFill>
            <a:srgbClr val="0B1F3A"/>
          </a:solidFill>
          <a:ln w="12700">
            <a:solidFill>
              <a:srgbClr val="0B1F3A"/>
            </a:solidFill>
            <a:prstDash val="solid"/>
          </a:ln>
        </p:spPr>
      </p:sp>
      <p:sp>
        <p:nvSpPr>
          <p:cNvPr id="52" name="Text 42"/>
          <p:cNvSpPr txBox="1"/>
          <p:nvPr/>
        </p:nvSpPr>
        <p:spPr>
          <a:xfrm>
            <a:off x="685800" y="4206240"/>
            <a:ext cx="7863840" cy="457200"/>
          </a:xfrm>
          <a:prstGeom prst="rect">
            <a:avLst/>
          </a:prstGeom>
          <a:noFill/>
          <a:ln/>
        </p:spPr>
        <p:txBody>
          <a:bodyPr wrap="square" lIns="0" tIns="0" rIns="0" bIns="0" rtlCol="0" anchor="ctr"/>
          <a:lstStyle/>
          <a:p>
            <a:pPr indent="0" marL="0">
              <a:buNone/>
            </a:pPr>
            <a:r>
              <a:rPr lang="en-US" sz="1200" b="1" dirty="0">
                <a:solidFill>
                  <a:srgbClr val="1FB6D4"/>
                </a:solidFill>
                <a:latin typeface="Arial" pitchFamily="34" charset="0"/>
                <a:ea typeface="Arial" pitchFamily="34" charset="-122"/>
                <a:cs typeface="Arial" pitchFamily="34" charset="-120"/>
              </a:rPr>
              <a:t>Задача: </a:t>
            </a:r>
            <a:pPr indent="0" marL="0">
              <a:buNone/>
            </a:pPr>
            <a:r>
              <a:rPr lang="en-US" sz="1200" dirty="0">
                <a:solidFill>
                  <a:srgbClr val="FFFFFF"/>
                </a:solidFill>
                <a:latin typeface="Arial" pitchFamily="34" charset="0"/>
                <a:ea typeface="Arial" pitchFamily="34" charset="-122"/>
                <a:cs typeface="Arial" pitchFamily="34" charset="-120"/>
              </a:rPr>
              <a:t>уменьшить возможность выхода информативного сигнала за контролируемую зону</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6F9"/>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0E9AA7"/>
                </a:solidFill>
                <a:latin typeface="Arial" pitchFamily="34" charset="0"/>
                <a:ea typeface="Arial" pitchFamily="34" charset="-122"/>
                <a:cs typeface="Arial" pitchFamily="34" charset="-120"/>
              </a:rPr>
              <a:t>ПРАКТИКА</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0B1F3A"/>
                </a:solidFill>
                <a:latin typeface="Arial" pitchFamily="34" charset="0"/>
                <a:ea typeface="Arial" pitchFamily="34" charset="-122"/>
                <a:cs typeface="Arial" pitchFamily="34" charset="-120"/>
              </a:rPr>
              <a:t>Практические примеры</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64748B"/>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64748B"/>
                </a:solidFill>
                <a:latin typeface="Arial" pitchFamily="34" charset="0"/>
                <a:ea typeface="Arial" pitchFamily="34" charset="-122"/>
                <a:cs typeface="Arial" pitchFamily="34" charset="-120"/>
              </a:rPr>
              <a:t>09</a:t>
            </a:r>
            <a:endParaRPr lang="en-US" sz="800" dirty="0"/>
          </a:p>
        </p:txBody>
      </p:sp>
      <p:sp>
        <p:nvSpPr>
          <p:cNvPr id="7" name="Shape 4"/>
          <p:cNvSpPr/>
          <p:nvPr/>
        </p:nvSpPr>
        <p:spPr>
          <a:xfrm>
            <a:off x="457200" y="1280160"/>
            <a:ext cx="1920240" cy="2880360"/>
          </a:xfrm>
          <a:prstGeom prst="roundRect">
            <a:avLst>
              <a:gd name="adj" fmla="val 381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pic>
        <p:nvPicPr>
          <p:cNvPr id="8" name="Image 0" descr="preencoded.png">    </p:cNvPr>
          <p:cNvPicPr>
            <a:picLocks noChangeAspect="1"/>
          </p:cNvPicPr>
          <p:nvPr/>
        </p:nvPicPr>
        <p:blipFill>
          <a:blip r:embed="rId1"/>
          <a:stretch>
            <a:fillRect/>
          </a:stretch>
        </p:blipFill>
        <p:spPr>
          <a:xfrm>
            <a:off x="548640" y="1371600"/>
            <a:ext cx="1737360" cy="1371239"/>
          </a:xfrm>
          <a:prstGeom prst="rect">
            <a:avLst/>
          </a:prstGeom>
        </p:spPr>
      </p:pic>
      <p:sp>
        <p:nvSpPr>
          <p:cNvPr id="9" name="Shape 5"/>
          <p:cNvSpPr/>
          <p:nvPr/>
        </p:nvSpPr>
        <p:spPr>
          <a:xfrm>
            <a:off x="621792" y="1444752"/>
            <a:ext cx="274320" cy="274320"/>
          </a:xfrm>
          <a:prstGeom prst="ellipse">
            <a:avLst/>
          </a:prstGeom>
          <a:solidFill>
            <a:srgbClr val="0B1F3A"/>
          </a:solidFill>
          <a:ln w="12700">
            <a:solidFill>
              <a:srgbClr val="FFFFFF"/>
            </a:solidFill>
            <a:prstDash val="solid"/>
          </a:ln>
        </p:spPr>
      </p:sp>
      <p:sp>
        <p:nvSpPr>
          <p:cNvPr id="10" name="Text 6"/>
          <p:cNvSpPr txBox="1"/>
          <p:nvPr/>
        </p:nvSpPr>
        <p:spPr>
          <a:xfrm>
            <a:off x="621792" y="144475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Text 7"/>
          <p:cNvSpPr txBox="1"/>
          <p:nvPr/>
        </p:nvSpPr>
        <p:spPr>
          <a:xfrm>
            <a:off x="594360" y="2880360"/>
            <a:ext cx="1645920" cy="457200"/>
          </a:xfrm>
          <a:prstGeom prst="rect">
            <a:avLst/>
          </a:prstGeom>
          <a:noFill/>
          <a:ln/>
        </p:spPr>
        <p:txBody>
          <a:bodyPr wrap="square" lIns="0" tIns="0" rIns="0" bIns="0" rtlCol="0" anchor="t"/>
          <a:lstStyle/>
          <a:p>
            <a:pPr indent="0" marL="0">
              <a:buNone/>
            </a:pPr>
            <a:r>
              <a:rPr lang="en-US" sz="1200" b="1" dirty="0">
                <a:solidFill>
                  <a:srgbClr val="0B1F3A"/>
                </a:solidFill>
                <a:latin typeface="Arial" pitchFamily="34" charset="0"/>
                <a:ea typeface="Arial" pitchFamily="34" charset="-122"/>
                <a:cs typeface="Arial" pitchFamily="34" charset="-120"/>
              </a:rPr>
              <a:t>Экранированный кабель</a:t>
            </a:r>
            <a:endParaRPr lang="en-US" sz="1200" dirty="0"/>
          </a:p>
        </p:txBody>
      </p:sp>
      <p:sp>
        <p:nvSpPr>
          <p:cNvPr id="12" name="Text 8"/>
          <p:cNvSpPr txBox="1"/>
          <p:nvPr/>
        </p:nvSpPr>
        <p:spPr>
          <a:xfrm>
            <a:off x="594360" y="3337560"/>
            <a:ext cx="1645920" cy="777240"/>
          </a:xfrm>
          <a:prstGeom prst="rect">
            <a:avLst/>
          </a:prstGeom>
          <a:noFill/>
          <a:ln/>
        </p:spPr>
        <p:txBody>
          <a:bodyPr wrap="square" lIns="0" tIns="0" rIns="0" bIns="0" rtlCol="0" anchor="t"/>
          <a:lstStyle/>
          <a:p>
            <a:pPr indent="0" marL="0">
              <a:buNone/>
            </a:pPr>
            <a:r>
              <a:rPr lang="en-US" sz="1000" dirty="0">
                <a:solidFill>
                  <a:srgbClr val="64748B"/>
                </a:solidFill>
                <a:latin typeface="Arial" pitchFamily="34" charset="0"/>
                <a:ea typeface="Arial" pitchFamily="34" charset="-122"/>
                <a:cs typeface="Arial" pitchFamily="34" charset="-120"/>
              </a:rPr>
              <a:t>Оплётка и фольга снижают излучение и наводки.</a:t>
            </a:r>
            <a:endParaRPr lang="en-US" sz="1000" dirty="0"/>
          </a:p>
        </p:txBody>
      </p:sp>
      <p:sp>
        <p:nvSpPr>
          <p:cNvPr id="13" name="Shape 9"/>
          <p:cNvSpPr/>
          <p:nvPr/>
        </p:nvSpPr>
        <p:spPr>
          <a:xfrm>
            <a:off x="2560320" y="1280160"/>
            <a:ext cx="1920240" cy="2880360"/>
          </a:xfrm>
          <a:prstGeom prst="roundRect">
            <a:avLst>
              <a:gd name="adj" fmla="val 381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pic>
        <p:nvPicPr>
          <p:cNvPr id="14" name="Image 1" descr="preencoded.png">    </p:cNvPr>
          <p:cNvPicPr>
            <a:picLocks noChangeAspect="1"/>
          </p:cNvPicPr>
          <p:nvPr/>
        </p:nvPicPr>
        <p:blipFill>
          <a:blip r:embed="rId2"/>
          <a:stretch>
            <a:fillRect/>
          </a:stretch>
        </p:blipFill>
        <p:spPr>
          <a:xfrm>
            <a:off x="2651760" y="1371600"/>
            <a:ext cx="1737360" cy="1371239"/>
          </a:xfrm>
          <a:prstGeom prst="rect">
            <a:avLst/>
          </a:prstGeom>
        </p:spPr>
      </p:pic>
      <p:sp>
        <p:nvSpPr>
          <p:cNvPr id="15" name="Shape 10"/>
          <p:cNvSpPr/>
          <p:nvPr/>
        </p:nvSpPr>
        <p:spPr>
          <a:xfrm>
            <a:off x="2724912" y="1444752"/>
            <a:ext cx="274320" cy="274320"/>
          </a:xfrm>
          <a:prstGeom prst="ellipse">
            <a:avLst/>
          </a:prstGeom>
          <a:solidFill>
            <a:srgbClr val="0B1F3A"/>
          </a:solidFill>
          <a:ln w="12700">
            <a:solidFill>
              <a:srgbClr val="FFFFFF"/>
            </a:solidFill>
            <a:prstDash val="solid"/>
          </a:ln>
        </p:spPr>
      </p:sp>
      <p:sp>
        <p:nvSpPr>
          <p:cNvPr id="16" name="Text 11"/>
          <p:cNvSpPr txBox="1"/>
          <p:nvPr/>
        </p:nvSpPr>
        <p:spPr>
          <a:xfrm>
            <a:off x="2724912" y="144475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7" name="Text 12"/>
          <p:cNvSpPr txBox="1"/>
          <p:nvPr/>
        </p:nvSpPr>
        <p:spPr>
          <a:xfrm>
            <a:off x="2697480" y="2880360"/>
            <a:ext cx="1645920" cy="457200"/>
          </a:xfrm>
          <a:prstGeom prst="rect">
            <a:avLst/>
          </a:prstGeom>
          <a:noFill/>
          <a:ln/>
        </p:spPr>
        <p:txBody>
          <a:bodyPr wrap="square" lIns="0" tIns="0" rIns="0" bIns="0" rtlCol="0" anchor="t"/>
          <a:lstStyle/>
          <a:p>
            <a:pPr indent="0" marL="0">
              <a:buNone/>
            </a:pPr>
            <a:r>
              <a:rPr lang="en-US" sz="1200" b="1" dirty="0">
                <a:solidFill>
                  <a:srgbClr val="0B1F3A"/>
                </a:solidFill>
                <a:latin typeface="Arial" pitchFamily="34" charset="0"/>
                <a:ea typeface="Arial" pitchFamily="34" charset="-122"/>
                <a:cs typeface="Arial" pitchFamily="34" charset="-120"/>
              </a:rPr>
              <a:t>Металлический корпус</a:t>
            </a:r>
            <a:endParaRPr lang="en-US" sz="1200" dirty="0"/>
          </a:p>
        </p:txBody>
      </p:sp>
      <p:sp>
        <p:nvSpPr>
          <p:cNvPr id="18" name="Text 13"/>
          <p:cNvSpPr txBox="1"/>
          <p:nvPr/>
        </p:nvSpPr>
        <p:spPr>
          <a:xfrm>
            <a:off x="2697480" y="3337560"/>
            <a:ext cx="1645920" cy="777240"/>
          </a:xfrm>
          <a:prstGeom prst="rect">
            <a:avLst/>
          </a:prstGeom>
          <a:noFill/>
          <a:ln/>
        </p:spPr>
        <p:txBody>
          <a:bodyPr wrap="square" lIns="0" tIns="0" rIns="0" bIns="0" rtlCol="0" anchor="t"/>
          <a:lstStyle/>
          <a:p>
            <a:pPr indent="0" marL="0">
              <a:buNone/>
            </a:pPr>
            <a:r>
              <a:rPr lang="en-US" sz="1000" dirty="0">
                <a:solidFill>
                  <a:srgbClr val="64748B"/>
                </a:solidFill>
                <a:latin typeface="Arial" pitchFamily="34" charset="0"/>
                <a:ea typeface="Arial" pitchFamily="34" charset="-122"/>
                <a:cs typeface="Arial" pitchFamily="34" charset="-120"/>
              </a:rPr>
              <a:t>Корпус ослабляет поля платы; важны швы и заземление.</a:t>
            </a:r>
            <a:endParaRPr lang="en-US" sz="1000" dirty="0"/>
          </a:p>
        </p:txBody>
      </p:sp>
      <p:sp>
        <p:nvSpPr>
          <p:cNvPr id="19" name="Shape 14"/>
          <p:cNvSpPr/>
          <p:nvPr/>
        </p:nvSpPr>
        <p:spPr>
          <a:xfrm>
            <a:off x="4663440" y="1280160"/>
            <a:ext cx="1920240" cy="2880360"/>
          </a:xfrm>
          <a:prstGeom prst="roundRect">
            <a:avLst>
              <a:gd name="adj" fmla="val 381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pic>
        <p:nvPicPr>
          <p:cNvPr id="20" name="Image 2" descr="preencoded.png">    </p:cNvPr>
          <p:cNvPicPr>
            <a:picLocks noChangeAspect="1"/>
          </p:cNvPicPr>
          <p:nvPr/>
        </p:nvPicPr>
        <p:blipFill>
          <a:blip r:embed="rId3"/>
          <a:stretch>
            <a:fillRect/>
          </a:stretch>
        </p:blipFill>
        <p:spPr>
          <a:xfrm>
            <a:off x="4754880" y="1371600"/>
            <a:ext cx="1737360" cy="1371239"/>
          </a:xfrm>
          <a:prstGeom prst="rect">
            <a:avLst/>
          </a:prstGeom>
        </p:spPr>
      </p:pic>
      <p:sp>
        <p:nvSpPr>
          <p:cNvPr id="21" name="Shape 15"/>
          <p:cNvSpPr/>
          <p:nvPr/>
        </p:nvSpPr>
        <p:spPr>
          <a:xfrm>
            <a:off x="4828032" y="1444752"/>
            <a:ext cx="274320" cy="274320"/>
          </a:xfrm>
          <a:prstGeom prst="ellipse">
            <a:avLst/>
          </a:prstGeom>
          <a:solidFill>
            <a:srgbClr val="0B1F3A"/>
          </a:solidFill>
          <a:ln w="12700">
            <a:solidFill>
              <a:srgbClr val="FFFFFF"/>
            </a:solidFill>
            <a:prstDash val="solid"/>
          </a:ln>
        </p:spPr>
      </p:sp>
      <p:sp>
        <p:nvSpPr>
          <p:cNvPr id="22" name="Text 16"/>
          <p:cNvSpPr txBox="1"/>
          <p:nvPr/>
        </p:nvSpPr>
        <p:spPr>
          <a:xfrm>
            <a:off x="4828032" y="144475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3" name="Text 17"/>
          <p:cNvSpPr txBox="1"/>
          <p:nvPr/>
        </p:nvSpPr>
        <p:spPr>
          <a:xfrm>
            <a:off x="4800600" y="2880360"/>
            <a:ext cx="1645920" cy="457200"/>
          </a:xfrm>
          <a:prstGeom prst="rect">
            <a:avLst/>
          </a:prstGeom>
          <a:noFill/>
          <a:ln/>
        </p:spPr>
        <p:txBody>
          <a:bodyPr wrap="square" lIns="0" tIns="0" rIns="0" bIns="0" rtlCol="0" anchor="t"/>
          <a:lstStyle/>
          <a:p>
            <a:pPr indent="0" marL="0">
              <a:buNone/>
            </a:pPr>
            <a:r>
              <a:rPr lang="en-US" sz="1200" b="1" dirty="0">
                <a:solidFill>
                  <a:srgbClr val="0B1F3A"/>
                </a:solidFill>
                <a:latin typeface="Arial" pitchFamily="34" charset="0"/>
                <a:ea typeface="Arial" pitchFamily="34" charset="-122"/>
                <a:cs typeface="Arial" pitchFamily="34" charset="-120"/>
              </a:rPr>
              <a:t>Экранированное помещение</a:t>
            </a:r>
            <a:endParaRPr lang="en-US" sz="1200" dirty="0"/>
          </a:p>
        </p:txBody>
      </p:sp>
      <p:sp>
        <p:nvSpPr>
          <p:cNvPr id="24" name="Text 18"/>
          <p:cNvSpPr txBox="1"/>
          <p:nvPr/>
        </p:nvSpPr>
        <p:spPr>
          <a:xfrm>
            <a:off x="4800600" y="3337560"/>
            <a:ext cx="1645920" cy="777240"/>
          </a:xfrm>
          <a:prstGeom prst="rect">
            <a:avLst/>
          </a:prstGeom>
          <a:noFill/>
          <a:ln/>
        </p:spPr>
        <p:txBody>
          <a:bodyPr wrap="square" lIns="0" tIns="0" rIns="0" bIns="0" rtlCol="0" anchor="t"/>
          <a:lstStyle/>
          <a:p>
            <a:pPr indent="0" marL="0">
              <a:buNone/>
            </a:pPr>
            <a:r>
              <a:rPr lang="en-US" sz="1000" dirty="0">
                <a:solidFill>
                  <a:srgbClr val="64748B"/>
                </a:solidFill>
                <a:latin typeface="Arial" pitchFamily="34" charset="0"/>
                <a:ea typeface="Arial" pitchFamily="34" charset="-122"/>
                <a:cs typeface="Arial" pitchFamily="34" charset="-120"/>
              </a:rPr>
              <a:t>Металлические стены и двери с контактными прокладками.</a:t>
            </a:r>
            <a:endParaRPr lang="en-US" sz="1000" dirty="0"/>
          </a:p>
        </p:txBody>
      </p:sp>
      <p:sp>
        <p:nvSpPr>
          <p:cNvPr id="25" name="Shape 19"/>
          <p:cNvSpPr/>
          <p:nvPr/>
        </p:nvSpPr>
        <p:spPr>
          <a:xfrm>
            <a:off x="6766560" y="1280160"/>
            <a:ext cx="1920240" cy="2880360"/>
          </a:xfrm>
          <a:prstGeom prst="roundRect">
            <a:avLst>
              <a:gd name="adj" fmla="val 3810"/>
            </a:avLst>
          </a:prstGeom>
          <a:solidFill>
            <a:srgbClr val="FFFFFF"/>
          </a:solidFill>
          <a:ln w="9525">
            <a:solidFill>
              <a:srgbClr val="DDE5EC"/>
            </a:solidFill>
            <a:prstDash val="solid"/>
          </a:ln>
          <a:effectLst>
            <a:outerShdw sx="100000" sy="100000" kx="0" ky="0" algn="bl" rotWithShape="0" blurRad="101600" dist="25400" dir="5400000">
              <a:srgbClr val="0B1F3A">
                <a:alpha val="10000"/>
              </a:srgbClr>
            </a:outerShdw>
          </a:effectLst>
        </p:spPr>
      </p:sp>
      <p:pic>
        <p:nvPicPr>
          <p:cNvPr id="26" name="Image 3" descr="preencoded.png">    </p:cNvPr>
          <p:cNvPicPr>
            <a:picLocks noChangeAspect="1"/>
          </p:cNvPicPr>
          <p:nvPr/>
        </p:nvPicPr>
        <p:blipFill>
          <a:blip r:embed="rId4"/>
          <a:stretch>
            <a:fillRect/>
          </a:stretch>
        </p:blipFill>
        <p:spPr>
          <a:xfrm>
            <a:off x="6858000" y="1371600"/>
            <a:ext cx="1737360" cy="1371239"/>
          </a:xfrm>
          <a:prstGeom prst="rect">
            <a:avLst/>
          </a:prstGeom>
        </p:spPr>
      </p:pic>
      <p:sp>
        <p:nvSpPr>
          <p:cNvPr id="27" name="Shape 20"/>
          <p:cNvSpPr/>
          <p:nvPr/>
        </p:nvSpPr>
        <p:spPr>
          <a:xfrm>
            <a:off x="6931152" y="1444752"/>
            <a:ext cx="274320" cy="274320"/>
          </a:xfrm>
          <a:prstGeom prst="ellipse">
            <a:avLst/>
          </a:prstGeom>
          <a:solidFill>
            <a:srgbClr val="0B1F3A"/>
          </a:solidFill>
          <a:ln w="12700">
            <a:solidFill>
              <a:srgbClr val="FFFFFF"/>
            </a:solidFill>
            <a:prstDash val="solid"/>
          </a:ln>
        </p:spPr>
      </p:sp>
      <p:sp>
        <p:nvSpPr>
          <p:cNvPr id="28" name="Text 21"/>
          <p:cNvSpPr txBox="1"/>
          <p:nvPr/>
        </p:nvSpPr>
        <p:spPr>
          <a:xfrm>
            <a:off x="6931152" y="144475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9" name="Text 22"/>
          <p:cNvSpPr txBox="1"/>
          <p:nvPr/>
        </p:nvSpPr>
        <p:spPr>
          <a:xfrm>
            <a:off x="6903720" y="2880360"/>
            <a:ext cx="1645920" cy="457200"/>
          </a:xfrm>
          <a:prstGeom prst="rect">
            <a:avLst/>
          </a:prstGeom>
          <a:noFill/>
          <a:ln/>
        </p:spPr>
        <p:txBody>
          <a:bodyPr wrap="square" lIns="0" tIns="0" rIns="0" bIns="0" rtlCol="0" anchor="t"/>
          <a:lstStyle/>
          <a:p>
            <a:pPr indent="0" marL="0">
              <a:buNone/>
            </a:pPr>
            <a:r>
              <a:rPr lang="en-US" sz="1200" b="1" dirty="0">
                <a:solidFill>
                  <a:srgbClr val="0B1F3A"/>
                </a:solidFill>
                <a:latin typeface="Arial" pitchFamily="34" charset="0"/>
                <a:ea typeface="Arial" pitchFamily="34" charset="-122"/>
                <a:cs typeface="Arial" pitchFamily="34" charset="-120"/>
              </a:rPr>
              <a:t>Серверный шкаф</a:t>
            </a:r>
            <a:endParaRPr lang="en-US" sz="1200" dirty="0"/>
          </a:p>
        </p:txBody>
      </p:sp>
      <p:sp>
        <p:nvSpPr>
          <p:cNvPr id="30" name="Text 23"/>
          <p:cNvSpPr txBox="1"/>
          <p:nvPr/>
        </p:nvSpPr>
        <p:spPr>
          <a:xfrm>
            <a:off x="6903720" y="3337560"/>
            <a:ext cx="1645920" cy="777240"/>
          </a:xfrm>
          <a:prstGeom prst="rect">
            <a:avLst/>
          </a:prstGeom>
          <a:noFill/>
          <a:ln/>
        </p:spPr>
        <p:txBody>
          <a:bodyPr wrap="square" lIns="0" tIns="0" rIns="0" bIns="0" rtlCol="0" anchor="t"/>
          <a:lstStyle/>
          <a:p>
            <a:pPr indent="0" marL="0">
              <a:buNone/>
            </a:pPr>
            <a:r>
              <a:rPr lang="en-US" sz="1000" dirty="0">
                <a:solidFill>
                  <a:srgbClr val="64748B"/>
                </a:solidFill>
                <a:latin typeface="Arial" pitchFamily="34" charset="0"/>
                <a:ea typeface="Arial" pitchFamily="34" charset="-122"/>
                <a:cs typeface="Arial" pitchFamily="34" charset="-120"/>
              </a:rPr>
              <a:t>Замкнутая конструкция с мелкой перфорацией.</a:t>
            </a:r>
            <a:endParaRPr lang="en-US" sz="1000" dirty="0"/>
          </a:p>
        </p:txBody>
      </p:sp>
      <p:sp>
        <p:nvSpPr>
          <p:cNvPr id="31" name="Shape 24"/>
          <p:cNvSpPr/>
          <p:nvPr/>
        </p:nvSpPr>
        <p:spPr>
          <a:xfrm>
            <a:off x="457200" y="4297680"/>
            <a:ext cx="8229600" cy="384048"/>
          </a:xfrm>
          <a:prstGeom prst="roundRect">
            <a:avLst>
              <a:gd name="adj" fmla="val 19048"/>
            </a:avLst>
          </a:prstGeom>
          <a:solidFill>
            <a:srgbClr val="0B1F3A"/>
          </a:solidFill>
          <a:ln w="12700">
            <a:solidFill>
              <a:srgbClr val="0B1F3A"/>
            </a:solidFill>
            <a:prstDash val="solid"/>
          </a:ln>
        </p:spPr>
      </p:sp>
      <p:sp>
        <p:nvSpPr>
          <p:cNvPr id="32" name="Text 25"/>
          <p:cNvSpPr txBox="1"/>
          <p:nvPr/>
        </p:nvSpPr>
        <p:spPr>
          <a:xfrm>
            <a:off x="685800" y="4297680"/>
            <a:ext cx="7863840" cy="384048"/>
          </a:xfrm>
          <a:prstGeom prst="rect">
            <a:avLst/>
          </a:prstGeom>
          <a:noFill/>
          <a:ln/>
        </p:spPr>
        <p:txBody>
          <a:bodyPr wrap="square" lIns="0" tIns="0" rIns="0" bIns="0" rtlCol="0" anchor="ctr"/>
          <a:lstStyle/>
          <a:p>
            <a:pPr indent="0" marL="0">
              <a:buNone/>
            </a:pPr>
            <a:r>
              <a:rPr lang="en-US" sz="1200" b="1" dirty="0">
                <a:solidFill>
                  <a:srgbClr val="1FB6D4"/>
                </a:solidFill>
                <a:latin typeface="Arial" pitchFamily="34" charset="0"/>
                <a:ea typeface="Arial" pitchFamily="34" charset="-122"/>
                <a:cs typeface="Arial" pitchFamily="34" charset="-120"/>
              </a:rPr>
              <a:t>Общий принцип: </a:t>
            </a:r>
            <a:pPr indent="0" marL="0">
              <a:buNone/>
            </a:pPr>
            <a:r>
              <a:rPr lang="en-US" sz="1200" dirty="0">
                <a:solidFill>
                  <a:srgbClr val="FFFFFF"/>
                </a:solidFill>
                <a:latin typeface="Arial" pitchFamily="34" charset="0"/>
                <a:ea typeface="Arial" pitchFamily="34" charset="-122"/>
                <a:cs typeface="Arial" pitchFamily="34" charset="-120"/>
              </a:rPr>
              <a:t>замкнутая проводящая оболочка + контроль отверстий, швов и вводов</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457200" y="329184"/>
            <a:ext cx="5486400" cy="201168"/>
          </a:xfrm>
          <a:prstGeom prst="rect">
            <a:avLst/>
          </a:prstGeom>
          <a:noFill/>
          <a:ln/>
        </p:spPr>
        <p:txBody>
          <a:bodyPr wrap="square" lIns="0" tIns="0" rIns="0" bIns="0" rtlCol="0" anchor="t"/>
          <a:lstStyle/>
          <a:p>
            <a:pPr indent="0" marL="0">
              <a:buNone/>
            </a:pPr>
            <a:r>
              <a:rPr lang="en-US" sz="900" b="1" spc="300" kern="0" dirty="0">
                <a:solidFill>
                  <a:srgbClr val="1FB6D4"/>
                </a:solidFill>
                <a:latin typeface="Arial" pitchFamily="34" charset="0"/>
                <a:ea typeface="Arial" pitchFamily="34" charset="-122"/>
                <a:cs typeface="Arial" pitchFamily="34" charset="-120"/>
              </a:rPr>
              <a:t>ИТОГИ</a:t>
            </a:r>
            <a:endParaRPr lang="en-US" sz="900" dirty="0"/>
          </a:p>
        </p:txBody>
      </p:sp>
      <p:sp>
        <p:nvSpPr>
          <p:cNvPr id="3" name="Text 1"/>
          <p:cNvSpPr txBox="1"/>
          <p:nvPr/>
        </p:nvSpPr>
        <p:spPr>
          <a:xfrm>
            <a:off x="457200" y="548640"/>
            <a:ext cx="8229600" cy="54864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Выводы</a:t>
            </a:r>
            <a:endParaRPr lang="en-US" sz="2700" dirty="0"/>
          </a:p>
        </p:txBody>
      </p:sp>
      <p:sp>
        <p:nvSpPr>
          <p:cNvPr id="4" name="Text 2"/>
          <p:cNvSpPr txBox="1"/>
          <p:nvPr/>
        </p:nvSpPr>
        <p:spPr>
          <a:xfrm>
            <a:off x="457200" y="4846320"/>
            <a:ext cx="5486400" cy="182880"/>
          </a:xfrm>
          <a:prstGeom prst="rect">
            <a:avLst/>
          </a:prstGeom>
          <a:noFill/>
          <a:ln/>
        </p:spPr>
        <p:txBody>
          <a:bodyPr wrap="square" lIns="0" tIns="0" rIns="0" bIns="0" rtlCol="0" anchor="t"/>
          <a:lstStyle/>
          <a:p>
            <a:pPr indent="0" marL="0">
              <a:buNone/>
            </a:pPr>
            <a:r>
              <a:rPr lang="en-US" sz="800" dirty="0">
                <a:solidFill>
                  <a:srgbClr val="8FA6BF"/>
                </a:solidFill>
                <a:latin typeface="Arial" pitchFamily="34" charset="0"/>
                <a:ea typeface="Arial" pitchFamily="34" charset="-122"/>
                <a:cs typeface="Arial" pitchFamily="34" charset="-120"/>
              </a:rPr>
              <a:t>Физические основы защиты информации  ·  Семинар № 8</a:t>
            </a:r>
            <a:endParaRPr lang="en-US" sz="800" dirty="0"/>
          </a:p>
        </p:txBody>
      </p:sp>
      <p:sp>
        <p:nvSpPr>
          <p:cNvPr id="5" name="Text 3"/>
          <p:cNvSpPr txBox="1"/>
          <p:nvPr/>
        </p:nvSpPr>
        <p:spPr>
          <a:xfrm>
            <a:off x="7772400" y="4846320"/>
            <a:ext cx="914400" cy="182880"/>
          </a:xfrm>
          <a:prstGeom prst="rect">
            <a:avLst/>
          </a:prstGeom>
          <a:noFill/>
          <a:ln/>
        </p:spPr>
        <p:txBody>
          <a:bodyPr wrap="square" lIns="0" tIns="0" rIns="0" bIns="0" rtlCol="0" anchor="t"/>
          <a:lstStyle/>
          <a:p>
            <a:pPr algn="r" indent="0" marL="0">
              <a:buNone/>
            </a:pPr>
            <a:r>
              <a:rPr lang="en-US" sz="800" b="1" dirty="0">
                <a:solidFill>
                  <a:srgbClr val="8FA6BF"/>
                </a:solidFill>
                <a:latin typeface="Arial" pitchFamily="34" charset="0"/>
                <a:ea typeface="Arial" pitchFamily="34" charset="-122"/>
                <a:cs typeface="Arial" pitchFamily="34" charset="-120"/>
              </a:rPr>
              <a:t>10</a:t>
            </a:r>
            <a:endParaRPr lang="en-US" sz="800" dirty="0"/>
          </a:p>
        </p:txBody>
      </p:sp>
      <p:sp>
        <p:nvSpPr>
          <p:cNvPr id="6" name="Shape 4"/>
          <p:cNvSpPr/>
          <p:nvPr/>
        </p:nvSpPr>
        <p:spPr>
          <a:xfrm>
            <a:off x="457200" y="1234440"/>
            <a:ext cx="4023360" cy="960120"/>
          </a:xfrm>
          <a:prstGeom prst="roundRect">
            <a:avLst>
              <a:gd name="adj" fmla="val 7619"/>
            </a:avLst>
          </a:prstGeom>
          <a:solidFill>
            <a:srgbClr val="13305A"/>
          </a:solidFill>
          <a:ln w="9525">
            <a:solidFill>
              <a:srgbClr val="24406B"/>
            </a:solidFill>
            <a:prstDash val="solid"/>
          </a:ln>
        </p:spPr>
      </p:sp>
      <p:sp>
        <p:nvSpPr>
          <p:cNvPr id="7" name="Shape 5"/>
          <p:cNvSpPr/>
          <p:nvPr/>
        </p:nvSpPr>
        <p:spPr>
          <a:xfrm>
            <a:off x="621792" y="1490472"/>
            <a:ext cx="438912" cy="438912"/>
          </a:xfrm>
          <a:prstGeom prst="ellipse">
            <a:avLst/>
          </a:prstGeom>
          <a:solidFill>
            <a:srgbClr val="1FB6D4"/>
          </a:solidFill>
          <a:ln w="12700">
            <a:solidFill>
              <a:srgbClr val="1FB6D4"/>
            </a:solidFill>
            <a:prstDash val="solid"/>
          </a:ln>
        </p:spPr>
      </p:sp>
      <p:sp>
        <p:nvSpPr>
          <p:cNvPr id="8" name="Text 6"/>
          <p:cNvSpPr txBox="1"/>
          <p:nvPr/>
        </p:nvSpPr>
        <p:spPr>
          <a:xfrm>
            <a:off x="621792" y="1490472"/>
            <a:ext cx="438912" cy="438912"/>
          </a:xfrm>
          <a:prstGeom prst="rect">
            <a:avLst/>
          </a:prstGeom>
          <a:noFill/>
          <a:ln/>
        </p:spPr>
        <p:txBody>
          <a:bodyPr wrap="square" lIns="0" tIns="0" rIns="0" bIns="0" rtlCol="0" anchor="ctr"/>
          <a:lstStyle/>
          <a:p>
            <a:pPr algn="ctr" indent="0" marL="0">
              <a:buNone/>
            </a:pPr>
            <a:r>
              <a:rPr lang="en-US" sz="1500" b="1" dirty="0">
                <a:solidFill>
                  <a:srgbClr val="0B1F3A"/>
                </a:solidFill>
                <a:latin typeface="Arial" pitchFamily="34" charset="0"/>
                <a:ea typeface="Arial" pitchFamily="34" charset="-122"/>
                <a:cs typeface="Arial" pitchFamily="34" charset="-120"/>
              </a:rPr>
              <a:t>1</a:t>
            </a:r>
            <a:endParaRPr lang="en-US" sz="1500" dirty="0"/>
          </a:p>
        </p:txBody>
      </p:sp>
      <p:sp>
        <p:nvSpPr>
          <p:cNvPr id="9" name="Text 7"/>
          <p:cNvSpPr txBox="1"/>
          <p:nvPr/>
        </p:nvSpPr>
        <p:spPr>
          <a:xfrm>
            <a:off x="1234440" y="1325880"/>
            <a:ext cx="3108960" cy="77724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Экранирование снижает уровень электромагнитных полей</a:t>
            </a:r>
            <a:endParaRPr lang="en-US" sz="1200" dirty="0"/>
          </a:p>
        </p:txBody>
      </p:sp>
      <p:sp>
        <p:nvSpPr>
          <p:cNvPr id="10" name="Shape 8"/>
          <p:cNvSpPr/>
          <p:nvPr/>
        </p:nvSpPr>
        <p:spPr>
          <a:xfrm>
            <a:off x="4663440" y="1234440"/>
            <a:ext cx="4023360" cy="960120"/>
          </a:xfrm>
          <a:prstGeom prst="roundRect">
            <a:avLst>
              <a:gd name="adj" fmla="val 7619"/>
            </a:avLst>
          </a:prstGeom>
          <a:solidFill>
            <a:srgbClr val="13305A"/>
          </a:solidFill>
          <a:ln w="9525">
            <a:solidFill>
              <a:srgbClr val="24406B"/>
            </a:solidFill>
            <a:prstDash val="solid"/>
          </a:ln>
        </p:spPr>
      </p:sp>
      <p:sp>
        <p:nvSpPr>
          <p:cNvPr id="11" name="Shape 9"/>
          <p:cNvSpPr/>
          <p:nvPr/>
        </p:nvSpPr>
        <p:spPr>
          <a:xfrm>
            <a:off x="4828032" y="1490472"/>
            <a:ext cx="438912" cy="438912"/>
          </a:xfrm>
          <a:prstGeom prst="ellipse">
            <a:avLst/>
          </a:prstGeom>
          <a:solidFill>
            <a:srgbClr val="1FB6D4"/>
          </a:solidFill>
          <a:ln w="12700">
            <a:solidFill>
              <a:srgbClr val="1FB6D4"/>
            </a:solidFill>
            <a:prstDash val="solid"/>
          </a:ln>
        </p:spPr>
      </p:sp>
      <p:sp>
        <p:nvSpPr>
          <p:cNvPr id="12" name="Text 10"/>
          <p:cNvSpPr txBox="1"/>
          <p:nvPr/>
        </p:nvSpPr>
        <p:spPr>
          <a:xfrm>
            <a:off x="4828032" y="1490472"/>
            <a:ext cx="438912" cy="438912"/>
          </a:xfrm>
          <a:prstGeom prst="rect">
            <a:avLst/>
          </a:prstGeom>
          <a:noFill/>
          <a:ln/>
        </p:spPr>
        <p:txBody>
          <a:bodyPr wrap="square" lIns="0" tIns="0" rIns="0" bIns="0" rtlCol="0" anchor="ctr"/>
          <a:lstStyle/>
          <a:p>
            <a:pPr algn="ctr" indent="0" marL="0">
              <a:buNone/>
            </a:pPr>
            <a:r>
              <a:rPr lang="en-US" sz="1500" b="1" dirty="0">
                <a:solidFill>
                  <a:srgbClr val="0B1F3A"/>
                </a:solidFill>
                <a:latin typeface="Arial" pitchFamily="34" charset="0"/>
                <a:ea typeface="Arial" pitchFamily="34" charset="-122"/>
                <a:cs typeface="Arial" pitchFamily="34" charset="-120"/>
              </a:rPr>
              <a:t>2</a:t>
            </a:r>
            <a:endParaRPr lang="en-US" sz="1500" dirty="0"/>
          </a:p>
        </p:txBody>
      </p:sp>
      <p:sp>
        <p:nvSpPr>
          <p:cNvPr id="13" name="Text 11"/>
          <p:cNvSpPr txBox="1"/>
          <p:nvPr/>
        </p:nvSpPr>
        <p:spPr>
          <a:xfrm>
            <a:off x="5440680" y="1325880"/>
            <a:ext cx="3108960" cy="77724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Электрические и магнитные поля требуют разных способов защиты</a:t>
            </a:r>
            <a:endParaRPr lang="en-US" sz="1200" dirty="0"/>
          </a:p>
        </p:txBody>
      </p:sp>
      <p:sp>
        <p:nvSpPr>
          <p:cNvPr id="14" name="Shape 12"/>
          <p:cNvSpPr/>
          <p:nvPr/>
        </p:nvSpPr>
        <p:spPr>
          <a:xfrm>
            <a:off x="457200" y="2331720"/>
            <a:ext cx="4023360" cy="960120"/>
          </a:xfrm>
          <a:prstGeom prst="roundRect">
            <a:avLst>
              <a:gd name="adj" fmla="val 7619"/>
            </a:avLst>
          </a:prstGeom>
          <a:solidFill>
            <a:srgbClr val="13305A"/>
          </a:solidFill>
          <a:ln w="9525">
            <a:solidFill>
              <a:srgbClr val="24406B"/>
            </a:solidFill>
            <a:prstDash val="solid"/>
          </a:ln>
        </p:spPr>
      </p:sp>
      <p:sp>
        <p:nvSpPr>
          <p:cNvPr id="15" name="Shape 13"/>
          <p:cNvSpPr/>
          <p:nvPr/>
        </p:nvSpPr>
        <p:spPr>
          <a:xfrm>
            <a:off x="621792" y="2587752"/>
            <a:ext cx="438912" cy="438912"/>
          </a:xfrm>
          <a:prstGeom prst="ellipse">
            <a:avLst/>
          </a:prstGeom>
          <a:solidFill>
            <a:srgbClr val="1FB6D4"/>
          </a:solidFill>
          <a:ln w="12700">
            <a:solidFill>
              <a:srgbClr val="1FB6D4"/>
            </a:solidFill>
            <a:prstDash val="solid"/>
          </a:ln>
        </p:spPr>
      </p:sp>
      <p:sp>
        <p:nvSpPr>
          <p:cNvPr id="16" name="Text 14"/>
          <p:cNvSpPr txBox="1"/>
          <p:nvPr/>
        </p:nvSpPr>
        <p:spPr>
          <a:xfrm>
            <a:off x="621792" y="2587752"/>
            <a:ext cx="438912" cy="438912"/>
          </a:xfrm>
          <a:prstGeom prst="rect">
            <a:avLst/>
          </a:prstGeom>
          <a:noFill/>
          <a:ln/>
        </p:spPr>
        <p:txBody>
          <a:bodyPr wrap="square" lIns="0" tIns="0" rIns="0" bIns="0" rtlCol="0" anchor="ctr"/>
          <a:lstStyle/>
          <a:p>
            <a:pPr algn="ctr" indent="0" marL="0">
              <a:buNone/>
            </a:pPr>
            <a:r>
              <a:rPr lang="en-US" sz="1500" b="1" dirty="0">
                <a:solidFill>
                  <a:srgbClr val="0B1F3A"/>
                </a:solidFill>
                <a:latin typeface="Arial" pitchFamily="34" charset="0"/>
                <a:ea typeface="Arial" pitchFamily="34" charset="-122"/>
                <a:cs typeface="Arial" pitchFamily="34" charset="-120"/>
              </a:rPr>
              <a:t>3</a:t>
            </a:r>
            <a:endParaRPr lang="en-US" sz="1500" dirty="0"/>
          </a:p>
        </p:txBody>
      </p:sp>
      <p:sp>
        <p:nvSpPr>
          <p:cNvPr id="17" name="Text 15"/>
          <p:cNvSpPr txBox="1"/>
          <p:nvPr/>
        </p:nvSpPr>
        <p:spPr>
          <a:xfrm>
            <a:off x="1234440" y="2423160"/>
            <a:ext cx="3108960" cy="77724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Эффективность зависит от материала, частоты и конструкции</a:t>
            </a:r>
            <a:endParaRPr lang="en-US" sz="1200" dirty="0"/>
          </a:p>
        </p:txBody>
      </p:sp>
      <p:sp>
        <p:nvSpPr>
          <p:cNvPr id="18" name="Shape 16"/>
          <p:cNvSpPr/>
          <p:nvPr/>
        </p:nvSpPr>
        <p:spPr>
          <a:xfrm>
            <a:off x="4663440" y="2331720"/>
            <a:ext cx="4023360" cy="960120"/>
          </a:xfrm>
          <a:prstGeom prst="roundRect">
            <a:avLst>
              <a:gd name="adj" fmla="val 7619"/>
            </a:avLst>
          </a:prstGeom>
          <a:solidFill>
            <a:srgbClr val="13305A"/>
          </a:solidFill>
          <a:ln w="9525">
            <a:solidFill>
              <a:srgbClr val="24406B"/>
            </a:solidFill>
            <a:prstDash val="solid"/>
          </a:ln>
        </p:spPr>
      </p:sp>
      <p:sp>
        <p:nvSpPr>
          <p:cNvPr id="19" name="Shape 17"/>
          <p:cNvSpPr/>
          <p:nvPr/>
        </p:nvSpPr>
        <p:spPr>
          <a:xfrm>
            <a:off x="4828032" y="2587752"/>
            <a:ext cx="438912" cy="438912"/>
          </a:xfrm>
          <a:prstGeom prst="ellipse">
            <a:avLst/>
          </a:prstGeom>
          <a:solidFill>
            <a:srgbClr val="1FB6D4"/>
          </a:solidFill>
          <a:ln w="12700">
            <a:solidFill>
              <a:srgbClr val="1FB6D4"/>
            </a:solidFill>
            <a:prstDash val="solid"/>
          </a:ln>
        </p:spPr>
      </p:sp>
      <p:sp>
        <p:nvSpPr>
          <p:cNvPr id="20" name="Text 18"/>
          <p:cNvSpPr txBox="1"/>
          <p:nvPr/>
        </p:nvSpPr>
        <p:spPr>
          <a:xfrm>
            <a:off x="4828032" y="2587752"/>
            <a:ext cx="438912" cy="438912"/>
          </a:xfrm>
          <a:prstGeom prst="rect">
            <a:avLst/>
          </a:prstGeom>
          <a:noFill/>
          <a:ln/>
        </p:spPr>
        <p:txBody>
          <a:bodyPr wrap="square" lIns="0" tIns="0" rIns="0" bIns="0" rtlCol="0" anchor="ctr"/>
          <a:lstStyle/>
          <a:p>
            <a:pPr algn="ctr" indent="0" marL="0">
              <a:buNone/>
            </a:pPr>
            <a:r>
              <a:rPr lang="en-US" sz="1500" b="1" dirty="0">
                <a:solidFill>
                  <a:srgbClr val="0B1F3A"/>
                </a:solidFill>
                <a:latin typeface="Arial" pitchFamily="34" charset="0"/>
                <a:ea typeface="Arial" pitchFamily="34" charset="-122"/>
                <a:cs typeface="Arial" pitchFamily="34" charset="-120"/>
              </a:rPr>
              <a:t>4</a:t>
            </a:r>
            <a:endParaRPr lang="en-US" sz="1500" dirty="0"/>
          </a:p>
        </p:txBody>
      </p:sp>
      <p:sp>
        <p:nvSpPr>
          <p:cNvPr id="21" name="Text 19"/>
          <p:cNvSpPr txBox="1"/>
          <p:nvPr/>
        </p:nvSpPr>
        <p:spPr>
          <a:xfrm>
            <a:off x="5440680" y="2423160"/>
            <a:ext cx="3108960" cy="77724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Экранирование — один из физических способов защиты информации от технических каналов утечки</a:t>
            </a:r>
            <a:endParaRPr lang="en-US" sz="1200" dirty="0"/>
          </a:p>
        </p:txBody>
      </p:sp>
      <p:pic>
        <p:nvPicPr>
          <p:cNvPr id="22" name="Image 0" descr="preencoded.png">    </p:cNvPr>
          <p:cNvPicPr>
            <a:picLocks noChangeAspect="1"/>
          </p:cNvPicPr>
          <p:nvPr/>
        </p:nvPicPr>
        <p:blipFill>
          <a:blip r:embed="rId1"/>
          <a:stretch>
            <a:fillRect/>
          </a:stretch>
        </p:blipFill>
        <p:spPr>
          <a:xfrm>
            <a:off x="457200" y="3840480"/>
            <a:ext cx="457200" cy="457200"/>
          </a:xfrm>
          <a:prstGeom prst="rect">
            <a:avLst/>
          </a:prstGeom>
        </p:spPr>
      </p:pic>
      <p:sp>
        <p:nvSpPr>
          <p:cNvPr id="23" name="Text 20"/>
          <p:cNvSpPr txBox="1"/>
          <p:nvPr/>
        </p:nvSpPr>
        <p:spPr>
          <a:xfrm>
            <a:off x="1097280" y="3611880"/>
            <a:ext cx="7589520" cy="9144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Главная задача экрана — </a:t>
            </a:r>
            <a:pPr indent="0" marL="0">
              <a:buNone/>
            </a:pPr>
            <a:r>
              <a:rPr lang="en-US" sz="2000" b="1" dirty="0">
                <a:solidFill>
                  <a:srgbClr val="1FB6D4"/>
                </a:solidFill>
                <a:latin typeface="Arial" pitchFamily="34" charset="0"/>
                <a:ea typeface="Arial" pitchFamily="34" charset="-122"/>
                <a:cs typeface="Arial" pitchFamily="34" charset="-120"/>
              </a:rPr>
              <a:t>не дать информативному сигналу выйти за пределы защищаемой области</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Экранирование электрических и магнитных полей</dc:title>
  <dc:subject>Физические основы защиты информации, семинар № 8</dc:subject>
  <dc:creator>PptxGenJS</dc:creator>
  <cp:lastModifiedBy>PptxGenJS</cp:lastModifiedBy>
  <cp:revision>1</cp:revision>
  <dcterms:created xsi:type="dcterms:W3CDTF">2026-10-02T09:57:33Z</dcterms:created>
  <dcterms:modified xsi:type="dcterms:W3CDTF">2026-10-02T09:57:33Z</dcterms:modified>
</cp:coreProperties>
</file>