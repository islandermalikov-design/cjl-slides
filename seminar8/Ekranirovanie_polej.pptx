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Без экрана</c:v>
                </c:pt>
              </c:strCache>
            </c:strRef>
          </c:tx>
          <c:spPr>
            <a:solidFill>
              <a:srgbClr val="44546A"/>
            </a:solidFill>
            <a:effectLst/>
          </c:spPr>
          <c:invertIfNegative val="0"/>
          <c:dLbls>
            <c:numFmt formatCode="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Без экрана</c:v>
                  </c:pt>
                  <c:pt idx="1">
                    <c:v>За экраном</c:v>
                  </c:pt>
                </c:lvl>
              </c:multiLvlStrCache>
            </c:multiLvlStrRef>
          </c:cat>
          <c:val>
            <c:numRef>
              <c:f>Sheet1!$B$2:$B$3</c:f>
              <c:numCache>
                <c:formatCode>General</c:formatCode>
                <c:ptCount val="2"/>
                <c:pt idx="0">
                  <c:v>100</c:v>
                </c:pt>
                <c:pt idx="1">
                  <c:v>0</c:v>
                </c:pt>
              </c:numCache>
            </c:numRef>
          </c:val>
        </c:ser>
        <c:ser>
          <c:idx val="1"/>
          <c:order val="1"/>
          <c:tx>
            <c:strRef>
              <c:f>Sheet1!$C$1</c:f>
              <c:strCache>
                <c:ptCount val="1"/>
                <c:pt idx="0">
                  <c:v>За экраном</c:v>
                </c:pt>
              </c:strCache>
            </c:strRef>
          </c:tx>
          <c:spPr>
            <a:solidFill>
              <a:srgbClr val="0E9AA7"/>
            </a:solidFill>
            <a:effectLst/>
          </c:spPr>
          <c:invertIfNegative val="0"/>
          <c:dLbls>
            <c:numFmt formatCode="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Без экрана</c:v>
                  </c:pt>
                  <c:pt idx="1">
                    <c:v>За экраном</c:v>
                  </c:pt>
                </c:lvl>
              </c:multiLvlStrCache>
            </c:multiLvlStrRef>
          </c:cat>
          <c:val>
            <c:numRef>
              <c:f>Sheet1!$C$2:$C$3</c:f>
              <c:numCache>
                <c:formatCode>General</c:formatCode>
                <c:ptCount val="2"/>
                <c:pt idx="0">
                  <c:v>0</c:v>
                </c:pt>
                <c:pt idx="1">
                  <c:v>10</c:v>
                </c:pt>
              </c:numCache>
            </c:numRef>
          </c:val>
        </c:ser>
        <c:dLbls>
          <c:numFmt formatCode="0;;;"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0"/>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уважаемый преподаватель, уважаемые одногруппники. Тема моего доклада — экранирование электрических и магнитных полей. Это один из базовых физических способов защиты информации от утечки по техническим каналам. За ближайшие несколько минут мы разберёмся, зачем вообще нужны экраны, как они работают в электрическом и в магнитном поле, чем эти два случая отличаются друг от друга, как измеряется эффективность экранирования и где всё это применяется на практике. Начнём с самого главного вопроса — зачем всё это нужно.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вопроса: зачем вообще нужно экранирование? Любое электронное устройство — компьютер, монитор, кабель, блок питания — при работе создаёт электрические и магнитные поля. Токи и напряжения в цепях постоянно меняются, а значит, вокруг устройства возникает электромагнитное излучение. Проблема в том, что часть этих излучений связана с обрабатываемой информацией: по форме сигнала при определённых условиях можно восстановить сами данные. Такие излучения называют побочными электромагнитными излучениями. Если поле выходит за границу контролируемой зоны, его теоретически может принять посторонний человек с чувствительной аппаратурой. Внизу на схеме показана общая логика защиты. Источник создаёт поле, поле встречает экран, и за экраном остаётся уже сильно ослабленный сигнал. Обратите внимание на столбики: слева уровень поля высокий, справа — низкий. Именно в этом смысл экранирования. Дальше посмотрим, как это работает физически, и начнём с электрического поля.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Принцип работы электрического экрана хорошо виден на этой иллюстрации. Слева — заряженный источник, от него расходятся силовые линии электрического поля. В центре — металлическая сетчатая коробка, внутри которой стоит лампочка. В металле есть свободные заряды — электроны. Когда на них действует внешнее поле, они приходят в движение и перераспределяются: на одной стороне экрана накапливается отрицательный заряд, на другой — положительный. Эти заряды создают собственное поле, направленное навстречу внешнему, и внутри проводника оно его компенсирует. В итоге внутри замкнутой проводящей оболочки поле практически равно нулю, а силовые линии огибают экран снаружи. Это и есть знаменитая клетка Фарадея. Важная деталь: сплошной металл не обязателен — сетка тоже работает, если размер ячейки много меньше длины волны. Осталось посмотреть, в каких конструкциях этот принцип применяется на практике.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практике электрическое экранирование выполняется в трёх основных формах. Первая — металлический корпус устройства: он не даёт полю выйти наружу и одновременно защищает электронику от внешних помех. Вторая — экранированный кабель: вокруг жил проходит оплётка или фольга, а ведь именно кабели чаще всего работают как антенны. На схеме видно поперечное сечение: жилы, изоляция, экран и внешняя оболочка. Третья — экранированное помещение, по сути большая клетка Фарадея с заземлением. Эффективность экрана зависит от пяти факторов, они показаны внизу. Первый — проводимость материала: медь, алюминий, сталь. Второй — непрерывность экрана: любая щель или отверстие работает как окно для излучения. Третий — толщина, особенно на низких частотах. Четвёртый — качество соединений: швы, контакты, токопроводящие прокладки. И пятый — заземление, которое отводит наведённые на экране заряды. Как видите, электрическое поле экранировать относительно просто. Совсем другая картина с магнитным полем — к ней мы сейчас перейдём.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же магнитное поле экранировать сложнее? Слева показан обычный немагнитный материал — например, алюминий, медь или пластик. Для постоянного и низкочастотного магнитного поля такой материал почти прозрачен: силовые линии проходят сквозь него практически без искажений. Справа — материал с высокой магнитной проницаемостью. Магнитный поток как бы предпочитает идти именно по нему, потому что сопротивление магнитному потоку в таком материале намного меньше, чем в воздухе. Линии втягиваются в пластину и концентрируются внутри неё. Именно это свойство и используют для экранирования. Главная трудность связана с низкими частотами: вихревые токи в обычном проводнике при этом слабы, и тонкий металлический экран не помогает. Поэтому применяют специальные магнитомягкие материалы — те, которые легко намагничиваются и размагничиваются. О них — на следующем слайде.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Принцип магнитного экранирования — не «остановить» поле, а перенаправить магнитный поток. Экран делают в виде замкнутой оболочки из материала с высокой магнитной проницаемостью. Посмотрите на схему: силовые линии втягиваются в стенки экрана, идут по ним в обход защищаемой области и выходят с другой стороны. Внутри поле сильно ослаблено. Чем выше проницаемость и чем толще стенки, тем лучше эффект. Самые известные материалы — пермаллой, сплав железа и никеля с очень высокой проницаемостью, и электротехническая сталь: она значительно дешевле и применяется гораздо чаще. Для более сильного ослабления используют многослойные экраны — несколько оболочек, разделённых зазором. На высоких частотах картина меняется: там на первый план выходят вихревые токи, и хорошо помогают проводящие экраны из меди и алюминия. И ещё одна практическая деталь: пермаллой чувствителен к ударам и деформациям, после них его свойства ухудшаются. Теперь сравним оба вида экранирования.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сведём всё в одно сравнение. Слева — электрическое поле. Для него применяют проводящие материалы, механизм защиты — перераспределение зарядов, задача решается сравнительно проще, а главное требование — непрерывность экрана. Справа — магнитное поле. Здесь нужны магнитомягкие материалы, механизм — перенаправление магнитного потока, а задача особенно сложна на низких частотах. Ключевой параметр здесь — магнитная проницаемость. Точки в средней строке условно показывают сложность: у электрического поля их две из пяти, у магнитного — четыре. Обратите внимание: это разные физические механизмы, поэтому один и тот же экран не всегда защищает от обоих полей. Тонкая медная фольга хорошо ослабит электрическое поле, но почти никак не повлияет на низкочастотное магнитное. Поэтому при проектировании защиты сначала определяют, какое поле и на какой частоте нужно ослабить. А как понять, насколько хорошо экран справляется со своей задачей? Для этого вводят количественную меру.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Эффективность экранирования обозначают буквами SE — от английского shielding effectiveness. Она показывает, во сколько раз экран ослабляет поле, и выражается в децибелах. Формула на слайде: SE равно двадцати десятичным логарифмам отношения E нулевое к E первое. E нулевое — напряжённость поля в точке без экрана, E первое — в той же точке, но при наличии экрана. Для магнитного поля используется такая же формула, только вместо E подставляют напряжённость магнитного поля H. Чем больше SE, тем сильнее ослабление. Для запоминания: 20 децибел — это ослабление амплитуды в 10 раз, 40 децибел — в 100 раз, 60 децибел — в 1000 раз. Каждые лишние 20 децибел дают ещё десятикратное ослабление. На диаграмме справа показан пример: без экрана уровень поля условно равен ста единицам, за экраном — десяти. Отношение десять, десятичный логарифм равен единице, умножаем на двадцать и получаем 20 децибел. Теперь вернёмся к главной теме курса — защите информации, и посмотрим, где именно применяется всё сказанное.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один из ключевых слайдов. Посмотрите на схему объекта информатизации — места, где обрабатывается защищаемая информация. Штриховой линией обозначена граница контролируемой зоны — территории, где доступ посторонних исключён или находится под контролем. Внутри находится оборудование, которое создаёт информативные излучения, а вокруг него — экранированное помещение. Слева на схеме сигнал доходит до стенки, а за ней его уровень резко падает. Справа за границей зоны условно показан злоумышленник с приёмной аппаратурой: до него сигнал либо не доходит, либо оказывается ниже уровня шума. Задача экранирования — уменьшить возможность выхода информативного сигнала за контролируемую зону. Справа перечислены основные средства: экранированные помещения, экранированные кабели, металлические корпуса, серверные шкафы. Но экран сам по себе не работает: кабели питания и связи, входящие в помещение, могут вынести сигнал наружу, поэтому применяют фильтрацию и правильное заземление. Только комплекс мер даёт результат. Посмотрим, как это выглядит в реальных конструкциях.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несколько практических примеров. Первый — экранированный кабель. Оплётка и фольга вокруг жил снижают собственное излучение кабеля и защищают линию от внешних наводок. Второй — металлический корпус компьютера или блока. Внутри него находится печатная плата, а сам корпус играет роль экрана. Эффективность в основном определяют швы, стыки и заземление. Третий — экранированное помещение: стены из стали или металлической сетки, специальные двери с токопроводящими прокладками и фильтры на вводах кабелей. Такие помещения используют для обработки наиболее важной информации. Четвёртый — серверный или телекоммуникационный шкаф с металлическими стенками и перфорированной дверью. Отверстия для вентиляции делают достаточно мелкими, чтобы они почти не ухудшали экранирование. Во всех четырёх случаях принцип один: замкнутая проводящая оболочка плюс контроль всех отверстий, швов и вводов. Подведём итоги.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Подведём итоги. Первое: экранирование снижает уровень электромагнитных полей — как тех, что излучает само устройство, так и внешних. Второе: электрические и магнитные поля требуют разных способов защиты. Для электрического поля подходят проводящие экраны, для низкочастотного магнитного — магнитомягкие материалы с высокой проницаемостью. Третье: эффективность экрана зависит от материала, частоты поля и конструкции — от швов, отверстий, вводов кабелей и заземления. И четвёртое: экранирование — один из физических способов защиты информации от технических каналов утечки. Применять его нужно вместе с фильтрацией, заземлением и организационными мерами. Если сказать совсем коротко: главная задача экрана — не дать информативному сигналу выйти за пределы защищаемой области. Спасибо за внимание, я готов ответить на ваши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3657600" y="182880"/>
            <a:ext cx="4754880" cy="4754880"/>
          </a:xfrm>
          <a:prstGeom prst="ellipse">
            <a:avLst/>
          </a:prstGeom>
          <a:ln w="12700">
            <a:solidFill>
              <a:srgbClr val="13305A"/>
            </a:solidFill>
            <a:prstDash val="solid"/>
          </a:ln>
        </p:spPr>
      </p:sp>
      <p:sp>
        <p:nvSpPr>
          <p:cNvPr id="3" name="Shape 1"/>
          <p:cNvSpPr/>
          <p:nvPr/>
        </p:nvSpPr>
        <p:spPr>
          <a:xfrm>
            <a:off x="4206240" y="731520"/>
            <a:ext cx="3657600" cy="3657600"/>
          </a:xfrm>
          <a:prstGeom prst="ellipse">
            <a:avLst/>
          </a:prstGeom>
          <a:ln w="19050">
            <a:solidFill>
              <a:srgbClr val="13305A"/>
            </a:solidFill>
            <a:prstDash val="solid"/>
          </a:ln>
        </p:spPr>
      </p:sp>
      <p:pic>
        <p:nvPicPr>
          <p:cNvPr id="4" name="Image 0" descr="preencoded.png">    </p:cNvPr>
          <p:cNvPicPr>
            <a:picLocks noChangeAspect="1"/>
          </p:cNvPicPr>
          <p:nvPr/>
        </p:nvPicPr>
        <p:blipFill>
          <a:blip r:embed="rId1"/>
          <a:srcRect l="0" r="0" t="0" b="0"/>
          <a:stretch/>
        </p:blipFill>
        <p:spPr>
          <a:xfrm>
            <a:off x="4709160" y="502920"/>
            <a:ext cx="3977640" cy="4114800"/>
          </a:xfrm>
          <a:prstGeom prst="rect">
            <a:avLst/>
          </a:prstGeom>
        </p:spPr>
      </p:pic>
      <p:sp>
        <p:nvSpPr>
          <p:cNvPr id="5" name="Shape 2"/>
          <p:cNvSpPr/>
          <p:nvPr/>
        </p:nvSpPr>
        <p:spPr>
          <a:xfrm>
            <a:off x="548640" y="566928"/>
            <a:ext cx="1417320" cy="274320"/>
          </a:xfrm>
          <a:prstGeom prst="roundRect">
            <a:avLst>
              <a:gd name="adj" fmla="val 50000"/>
            </a:avLst>
          </a:prstGeom>
          <a:solidFill>
            <a:srgbClr val="13305A"/>
          </a:solidFill>
          <a:ln w="9525">
            <a:solidFill>
              <a:srgbClr val="1FB6D4"/>
            </a:solidFill>
            <a:prstDash val="solid"/>
          </a:ln>
        </p:spPr>
      </p:sp>
      <p:sp>
        <p:nvSpPr>
          <p:cNvPr id="6" name="Text 3"/>
          <p:cNvSpPr txBox="1"/>
          <p:nvPr/>
        </p:nvSpPr>
        <p:spPr>
          <a:xfrm>
            <a:off x="548640" y="566928"/>
            <a:ext cx="1417320" cy="274320"/>
          </a:xfrm>
          <a:prstGeom prst="rect">
            <a:avLst/>
          </a:prstGeom>
          <a:noFill/>
          <a:ln/>
        </p:spPr>
        <p:txBody>
          <a:bodyPr wrap="square" lIns="0" tIns="0" rIns="0" bIns="0" rtlCol="0" anchor="ctr"/>
          <a:lstStyle/>
          <a:p>
            <a:pPr algn="ctr" indent="0" marL="0">
              <a:buNone/>
            </a:pPr>
            <a:r>
              <a:rPr lang="en-US" sz="900" b="1" spc="200" kern="0" dirty="0">
                <a:solidFill>
                  <a:srgbClr val="1FB6D4"/>
                </a:solidFill>
                <a:latin typeface="Arial" pitchFamily="34" charset="0"/>
                <a:ea typeface="Arial" pitchFamily="34" charset="-122"/>
                <a:cs typeface="Arial" pitchFamily="34" charset="-120"/>
              </a:rPr>
              <a:t>СЕМИНАР № 8</a:t>
            </a:r>
            <a:endParaRPr lang="en-US" sz="900" dirty="0"/>
          </a:p>
        </p:txBody>
      </p:sp>
      <p:sp>
        <p:nvSpPr>
          <p:cNvPr id="7" name="Text 4"/>
          <p:cNvSpPr txBox="1"/>
          <p:nvPr/>
        </p:nvSpPr>
        <p:spPr>
          <a:xfrm>
            <a:off x="548640" y="1097280"/>
            <a:ext cx="4023360" cy="16002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Экранирование электрических и магнитных полей</a:t>
            </a:r>
            <a:endParaRPr lang="en-US" sz="3000" dirty="0"/>
          </a:p>
        </p:txBody>
      </p:sp>
      <p:sp>
        <p:nvSpPr>
          <p:cNvPr id="8" name="Text 5"/>
          <p:cNvSpPr txBox="1"/>
          <p:nvPr/>
        </p:nvSpPr>
        <p:spPr>
          <a:xfrm>
            <a:off x="548640" y="2743200"/>
            <a:ext cx="4023360" cy="365760"/>
          </a:xfrm>
          <a:prstGeom prst="rect">
            <a:avLst/>
          </a:prstGeom>
          <a:noFill/>
          <a:ln/>
        </p:spPr>
        <p:txBody>
          <a:bodyPr wrap="square" lIns="0" tIns="0" rIns="0" bIns="0" rtlCol="0" anchor="t"/>
          <a:lstStyle/>
          <a:p>
            <a:pPr indent="0" marL="0">
              <a:buNone/>
            </a:pPr>
            <a:r>
              <a:rPr lang="en-US" sz="1500" dirty="0">
                <a:solidFill>
                  <a:srgbClr val="1FB6D4"/>
                </a:solidFill>
                <a:latin typeface="Arial" pitchFamily="34" charset="0"/>
                <a:ea typeface="Arial" pitchFamily="34" charset="-122"/>
                <a:cs typeface="Arial" pitchFamily="34" charset="-120"/>
              </a:rPr>
              <a:t>Физические основы защиты информации</a:t>
            </a:r>
            <a:endParaRPr lang="en-US" sz="1500" dirty="0"/>
          </a:p>
        </p:txBody>
      </p:sp>
      <p:sp>
        <p:nvSpPr>
          <p:cNvPr id="9" name="Shape 6"/>
          <p:cNvSpPr/>
          <p:nvPr/>
        </p:nvSpPr>
        <p:spPr>
          <a:xfrm>
            <a:off x="548640" y="3401568"/>
            <a:ext cx="3931920" cy="0"/>
          </a:xfrm>
          <a:prstGeom prst="line">
            <a:avLst/>
          </a:prstGeom>
          <a:noFill/>
          <a:ln w="9525">
            <a:solidFill>
              <a:srgbClr val="24406B"/>
            </a:solidFill>
            <a:prstDash val="solid"/>
          </a:ln>
        </p:spPr>
      </p:sp>
      <p:sp>
        <p:nvSpPr>
          <p:cNvPr id="10" name="Text 7"/>
          <p:cNvSpPr txBox="1"/>
          <p:nvPr/>
        </p:nvSpPr>
        <p:spPr>
          <a:xfrm>
            <a:off x="548640" y="3474720"/>
            <a:ext cx="1188720" cy="274320"/>
          </a:xfrm>
          <a:prstGeom prst="rect">
            <a:avLst/>
          </a:prstGeom>
          <a:noFill/>
          <a:ln/>
        </p:spPr>
        <p:txBody>
          <a:bodyPr wrap="square" lIns="0" tIns="0" rIns="0" bIns="0" rtlCol="0" anchor="ctr"/>
          <a:lstStyle/>
          <a:p>
            <a:pPr indent="0" marL="0">
              <a:buNone/>
            </a:pPr>
            <a:r>
              <a:rPr lang="en-US" sz="800" b="1" spc="150" kern="0" dirty="0">
                <a:solidFill>
                  <a:srgbClr val="8FA6BF"/>
                </a:solidFill>
                <a:latin typeface="Arial" pitchFamily="34" charset="0"/>
                <a:ea typeface="Arial" pitchFamily="34" charset="-122"/>
                <a:cs typeface="Arial" pitchFamily="34" charset="-120"/>
              </a:rPr>
              <a:t>СТУДЕНТ</a:t>
            </a:r>
            <a:endParaRPr lang="en-US" sz="800" dirty="0"/>
          </a:p>
        </p:txBody>
      </p:sp>
      <p:sp>
        <p:nvSpPr>
          <p:cNvPr id="11" name="Text 8"/>
          <p:cNvSpPr txBox="1"/>
          <p:nvPr/>
        </p:nvSpPr>
        <p:spPr>
          <a:xfrm>
            <a:off x="1783080" y="3474720"/>
            <a:ext cx="274320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[Фамилия Имя Отчество]</a:t>
            </a:r>
            <a:endParaRPr lang="en-US" sz="1200" dirty="0"/>
          </a:p>
        </p:txBody>
      </p:sp>
      <p:sp>
        <p:nvSpPr>
          <p:cNvPr id="12" name="Shape 9"/>
          <p:cNvSpPr/>
          <p:nvPr/>
        </p:nvSpPr>
        <p:spPr>
          <a:xfrm>
            <a:off x="548640" y="3803904"/>
            <a:ext cx="3931920" cy="0"/>
          </a:xfrm>
          <a:prstGeom prst="line">
            <a:avLst/>
          </a:prstGeom>
          <a:noFill/>
          <a:ln w="9525">
            <a:solidFill>
              <a:srgbClr val="24406B"/>
            </a:solidFill>
            <a:prstDash val="solid"/>
          </a:ln>
        </p:spPr>
      </p:sp>
      <p:sp>
        <p:nvSpPr>
          <p:cNvPr id="13" name="Text 10"/>
          <p:cNvSpPr txBox="1"/>
          <p:nvPr/>
        </p:nvSpPr>
        <p:spPr>
          <a:xfrm>
            <a:off x="548640" y="3877056"/>
            <a:ext cx="1188720" cy="274320"/>
          </a:xfrm>
          <a:prstGeom prst="rect">
            <a:avLst/>
          </a:prstGeom>
          <a:noFill/>
          <a:ln/>
        </p:spPr>
        <p:txBody>
          <a:bodyPr wrap="square" lIns="0" tIns="0" rIns="0" bIns="0" rtlCol="0" anchor="ctr"/>
          <a:lstStyle/>
          <a:p>
            <a:pPr indent="0" marL="0">
              <a:buNone/>
            </a:pPr>
            <a:r>
              <a:rPr lang="en-US" sz="800" b="1" spc="150" kern="0" dirty="0">
                <a:solidFill>
                  <a:srgbClr val="8FA6BF"/>
                </a:solidFill>
                <a:latin typeface="Arial" pitchFamily="34" charset="0"/>
                <a:ea typeface="Arial" pitchFamily="34" charset="-122"/>
                <a:cs typeface="Arial" pitchFamily="34" charset="-120"/>
              </a:rPr>
              <a:t>ГРУППА</a:t>
            </a:r>
            <a:endParaRPr lang="en-US" sz="800" dirty="0"/>
          </a:p>
        </p:txBody>
      </p:sp>
      <p:sp>
        <p:nvSpPr>
          <p:cNvPr id="14" name="Text 11"/>
          <p:cNvSpPr txBox="1"/>
          <p:nvPr/>
        </p:nvSpPr>
        <p:spPr>
          <a:xfrm>
            <a:off x="1783080" y="3877056"/>
            <a:ext cx="274320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[номер группы]</a:t>
            </a:r>
            <a:endParaRPr lang="en-US" sz="1200" dirty="0"/>
          </a:p>
        </p:txBody>
      </p:sp>
      <p:sp>
        <p:nvSpPr>
          <p:cNvPr id="15" name="Shape 12"/>
          <p:cNvSpPr/>
          <p:nvPr/>
        </p:nvSpPr>
        <p:spPr>
          <a:xfrm>
            <a:off x="548640" y="4206240"/>
            <a:ext cx="3931920" cy="0"/>
          </a:xfrm>
          <a:prstGeom prst="line">
            <a:avLst/>
          </a:prstGeom>
          <a:noFill/>
          <a:ln w="9525">
            <a:solidFill>
              <a:srgbClr val="24406B"/>
            </a:solidFill>
            <a:prstDash val="solid"/>
          </a:ln>
        </p:spPr>
      </p:sp>
      <p:sp>
        <p:nvSpPr>
          <p:cNvPr id="16" name="Text 13"/>
          <p:cNvSpPr txBox="1"/>
          <p:nvPr/>
        </p:nvSpPr>
        <p:spPr>
          <a:xfrm>
            <a:off x="548640" y="4279392"/>
            <a:ext cx="1188720" cy="274320"/>
          </a:xfrm>
          <a:prstGeom prst="rect">
            <a:avLst/>
          </a:prstGeom>
          <a:noFill/>
          <a:ln/>
        </p:spPr>
        <p:txBody>
          <a:bodyPr wrap="square" lIns="0" tIns="0" rIns="0" bIns="0" rtlCol="0" anchor="ctr"/>
          <a:lstStyle/>
          <a:p>
            <a:pPr indent="0" marL="0">
              <a:buNone/>
            </a:pPr>
            <a:r>
              <a:rPr lang="en-US" sz="800" b="1" spc="150" kern="0" dirty="0">
                <a:solidFill>
                  <a:srgbClr val="8FA6BF"/>
                </a:solidFill>
                <a:latin typeface="Arial" pitchFamily="34" charset="0"/>
                <a:ea typeface="Arial" pitchFamily="34" charset="-122"/>
                <a:cs typeface="Arial" pitchFamily="34" charset="-120"/>
              </a:rPr>
              <a:t>ПРЕПОДАВАТЕЛЬ</a:t>
            </a:r>
            <a:endParaRPr lang="en-US" sz="800" dirty="0"/>
          </a:p>
        </p:txBody>
      </p:sp>
      <p:sp>
        <p:nvSpPr>
          <p:cNvPr id="17" name="Text 14"/>
          <p:cNvSpPr txBox="1"/>
          <p:nvPr/>
        </p:nvSpPr>
        <p:spPr>
          <a:xfrm>
            <a:off x="1783080" y="4279392"/>
            <a:ext cx="274320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[ФИО преподавателя]</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ВВЕДЕНИЕ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Зачем вообще нужно экранирование?</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02</a:t>
            </a:r>
            <a:endParaRPr lang="en-US" sz="800" dirty="0"/>
          </a:p>
        </p:txBody>
      </p:sp>
      <p:sp>
        <p:nvSpPr>
          <p:cNvPr id="7" name="Shape 4"/>
          <p:cNvSpPr/>
          <p:nvPr/>
        </p:nvSpPr>
        <p:spPr>
          <a:xfrm>
            <a:off x="457200" y="1280160"/>
            <a:ext cx="1920240" cy="914400"/>
          </a:xfrm>
          <a:prstGeom prst="roundRect">
            <a:avLst>
              <a:gd name="adj" fmla="val 8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8" name="Shape 5"/>
          <p:cNvSpPr/>
          <p:nvPr/>
        </p:nvSpPr>
        <p:spPr>
          <a:xfrm>
            <a:off x="603504" y="1545336"/>
            <a:ext cx="384048" cy="384048"/>
          </a:xfrm>
          <a:prstGeom prst="ellipse">
            <a:avLst/>
          </a:prstGeom>
          <a:solidFill>
            <a:srgbClr val="0B1F3A"/>
          </a:solidFill>
          <a:ln w="12700">
            <a:solidFill>
              <a:srgbClr val="0B1F3A"/>
            </a:solidFill>
            <a:prstDash val="solid"/>
          </a:ln>
        </p:spPr>
      </p:sp>
      <p:pic>
        <p:nvPicPr>
          <p:cNvPr id="9" name="Image 0" descr="preencoded.png">    </p:cNvPr>
          <p:cNvPicPr>
            <a:picLocks noChangeAspect="1"/>
          </p:cNvPicPr>
          <p:nvPr/>
        </p:nvPicPr>
        <p:blipFill>
          <a:blip r:embed="rId1"/>
          <a:stretch>
            <a:fillRect/>
          </a:stretch>
        </p:blipFill>
        <p:spPr>
          <a:xfrm>
            <a:off x="699516" y="1641348"/>
            <a:ext cx="192024" cy="192024"/>
          </a:xfrm>
          <a:prstGeom prst="rect">
            <a:avLst/>
          </a:prstGeom>
        </p:spPr>
      </p:pic>
      <p:sp>
        <p:nvSpPr>
          <p:cNvPr id="10" name="Text 6"/>
          <p:cNvSpPr txBox="1"/>
          <p:nvPr/>
        </p:nvSpPr>
        <p:spPr>
          <a:xfrm>
            <a:off x="1097280" y="1371600"/>
            <a:ext cx="1170432" cy="731520"/>
          </a:xfrm>
          <a:prstGeom prst="rect">
            <a:avLst/>
          </a:prstGeom>
          <a:noFill/>
          <a:ln/>
        </p:spPr>
        <p:txBody>
          <a:bodyPr wrap="square" lIns="0" tIns="0" rIns="0" bIns="0" rtlCol="0" anchor="ctr"/>
          <a:lstStyle/>
          <a:p>
            <a:pPr indent="0" marL="0">
              <a:buNone/>
            </a:pPr>
            <a:r>
              <a:rPr lang="en-US" sz="1000" dirty="0">
                <a:solidFill>
                  <a:srgbClr val="2B3440"/>
                </a:solidFill>
                <a:latin typeface="Arial" pitchFamily="34" charset="0"/>
                <a:ea typeface="Arial" pitchFamily="34" charset="-122"/>
                <a:cs typeface="Arial" pitchFamily="34" charset="-120"/>
              </a:rPr>
              <a:t>Устройства создают электромагнитные поля</a:t>
            </a:r>
            <a:endParaRPr lang="en-US" sz="1000" dirty="0"/>
          </a:p>
        </p:txBody>
      </p:sp>
      <p:sp>
        <p:nvSpPr>
          <p:cNvPr id="11" name="Shape 7"/>
          <p:cNvSpPr/>
          <p:nvPr/>
        </p:nvSpPr>
        <p:spPr>
          <a:xfrm>
            <a:off x="2560320" y="1280160"/>
            <a:ext cx="1920240" cy="914400"/>
          </a:xfrm>
          <a:prstGeom prst="roundRect">
            <a:avLst>
              <a:gd name="adj" fmla="val 8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2" name="Shape 8"/>
          <p:cNvSpPr/>
          <p:nvPr/>
        </p:nvSpPr>
        <p:spPr>
          <a:xfrm>
            <a:off x="2706624" y="1545336"/>
            <a:ext cx="384048" cy="384048"/>
          </a:xfrm>
          <a:prstGeom prst="ellipse">
            <a:avLst/>
          </a:prstGeom>
          <a:solidFill>
            <a:srgbClr val="0B1F3A"/>
          </a:solidFill>
          <a:ln w="12700">
            <a:solidFill>
              <a:srgbClr val="0B1F3A"/>
            </a:solidFill>
            <a:prstDash val="solid"/>
          </a:ln>
        </p:spPr>
      </p:sp>
      <p:pic>
        <p:nvPicPr>
          <p:cNvPr id="13" name="Image 1" descr="preencoded.png">    </p:cNvPr>
          <p:cNvPicPr>
            <a:picLocks noChangeAspect="1"/>
          </p:cNvPicPr>
          <p:nvPr/>
        </p:nvPicPr>
        <p:blipFill>
          <a:blip r:embed="rId2"/>
          <a:stretch>
            <a:fillRect/>
          </a:stretch>
        </p:blipFill>
        <p:spPr>
          <a:xfrm>
            <a:off x="2802636" y="1641348"/>
            <a:ext cx="192024" cy="192024"/>
          </a:xfrm>
          <a:prstGeom prst="rect">
            <a:avLst/>
          </a:prstGeom>
        </p:spPr>
      </p:pic>
      <p:sp>
        <p:nvSpPr>
          <p:cNvPr id="14" name="Text 9"/>
          <p:cNvSpPr txBox="1"/>
          <p:nvPr/>
        </p:nvSpPr>
        <p:spPr>
          <a:xfrm>
            <a:off x="3200400" y="1371600"/>
            <a:ext cx="1170432" cy="731520"/>
          </a:xfrm>
          <a:prstGeom prst="rect">
            <a:avLst/>
          </a:prstGeom>
          <a:noFill/>
          <a:ln/>
        </p:spPr>
        <p:txBody>
          <a:bodyPr wrap="square" lIns="0" tIns="0" rIns="0" bIns="0" rtlCol="0" anchor="ctr"/>
          <a:lstStyle/>
          <a:p>
            <a:pPr indent="0" marL="0">
              <a:buNone/>
            </a:pPr>
            <a:r>
              <a:rPr lang="en-US" sz="1000" dirty="0">
                <a:solidFill>
                  <a:srgbClr val="2B3440"/>
                </a:solidFill>
                <a:latin typeface="Arial" pitchFamily="34" charset="0"/>
                <a:ea typeface="Arial" pitchFamily="34" charset="-122"/>
                <a:cs typeface="Arial" pitchFamily="34" charset="-120"/>
              </a:rPr>
              <a:t>Часть излучений несёт информацию</a:t>
            </a:r>
            <a:endParaRPr lang="en-US" sz="1000" dirty="0"/>
          </a:p>
        </p:txBody>
      </p:sp>
      <p:sp>
        <p:nvSpPr>
          <p:cNvPr id="15" name="Shape 10"/>
          <p:cNvSpPr/>
          <p:nvPr/>
        </p:nvSpPr>
        <p:spPr>
          <a:xfrm>
            <a:off x="4663440" y="1280160"/>
            <a:ext cx="1920240" cy="914400"/>
          </a:xfrm>
          <a:prstGeom prst="roundRect">
            <a:avLst>
              <a:gd name="adj" fmla="val 8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6" name="Shape 11"/>
          <p:cNvSpPr/>
          <p:nvPr/>
        </p:nvSpPr>
        <p:spPr>
          <a:xfrm>
            <a:off x="4809744" y="1545336"/>
            <a:ext cx="384048" cy="384048"/>
          </a:xfrm>
          <a:prstGeom prst="ellipse">
            <a:avLst/>
          </a:prstGeom>
          <a:solidFill>
            <a:srgbClr val="0B1F3A"/>
          </a:solidFill>
          <a:ln w="12700">
            <a:solidFill>
              <a:srgbClr val="0B1F3A"/>
            </a:solidFill>
            <a:prstDash val="solid"/>
          </a:ln>
        </p:spPr>
      </p:sp>
      <p:pic>
        <p:nvPicPr>
          <p:cNvPr id="17" name="Image 2" descr="preencoded.png">    </p:cNvPr>
          <p:cNvPicPr>
            <a:picLocks noChangeAspect="1"/>
          </p:cNvPicPr>
          <p:nvPr/>
        </p:nvPicPr>
        <p:blipFill>
          <a:blip r:embed="rId3"/>
          <a:stretch>
            <a:fillRect/>
          </a:stretch>
        </p:blipFill>
        <p:spPr>
          <a:xfrm>
            <a:off x="4905756" y="1641348"/>
            <a:ext cx="192024" cy="192024"/>
          </a:xfrm>
          <a:prstGeom prst="rect">
            <a:avLst/>
          </a:prstGeom>
        </p:spPr>
      </p:pic>
      <p:sp>
        <p:nvSpPr>
          <p:cNvPr id="18" name="Text 12"/>
          <p:cNvSpPr txBox="1"/>
          <p:nvPr/>
        </p:nvSpPr>
        <p:spPr>
          <a:xfrm>
            <a:off x="5303520" y="1371600"/>
            <a:ext cx="1170432" cy="731520"/>
          </a:xfrm>
          <a:prstGeom prst="rect">
            <a:avLst/>
          </a:prstGeom>
          <a:noFill/>
          <a:ln/>
        </p:spPr>
        <p:txBody>
          <a:bodyPr wrap="square" lIns="0" tIns="0" rIns="0" bIns="0" rtlCol="0" anchor="ctr"/>
          <a:lstStyle/>
          <a:p>
            <a:pPr indent="0" marL="0">
              <a:buNone/>
            </a:pPr>
            <a:r>
              <a:rPr lang="en-US" sz="1000" dirty="0">
                <a:solidFill>
                  <a:srgbClr val="2B3440"/>
                </a:solidFill>
                <a:latin typeface="Arial" pitchFamily="34" charset="0"/>
                <a:ea typeface="Arial" pitchFamily="34" charset="-122"/>
                <a:cs typeface="Arial" pitchFamily="34" charset="-120"/>
              </a:rPr>
              <a:t>Поле выходит за контролируемую зону</a:t>
            </a:r>
            <a:endParaRPr lang="en-US" sz="1000" dirty="0"/>
          </a:p>
        </p:txBody>
      </p:sp>
      <p:sp>
        <p:nvSpPr>
          <p:cNvPr id="19" name="Shape 13"/>
          <p:cNvSpPr/>
          <p:nvPr/>
        </p:nvSpPr>
        <p:spPr>
          <a:xfrm>
            <a:off x="6766560" y="1280160"/>
            <a:ext cx="1920240" cy="914400"/>
          </a:xfrm>
          <a:prstGeom prst="roundRect">
            <a:avLst>
              <a:gd name="adj" fmla="val 8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0" name="Shape 14"/>
          <p:cNvSpPr/>
          <p:nvPr/>
        </p:nvSpPr>
        <p:spPr>
          <a:xfrm>
            <a:off x="6912864" y="1545336"/>
            <a:ext cx="384048" cy="384048"/>
          </a:xfrm>
          <a:prstGeom prst="ellipse">
            <a:avLst/>
          </a:prstGeom>
          <a:solidFill>
            <a:srgbClr val="0E9AA7"/>
          </a:solidFill>
          <a:ln w="12700">
            <a:solidFill>
              <a:srgbClr val="0E9AA7"/>
            </a:solidFill>
            <a:prstDash val="solid"/>
          </a:ln>
        </p:spPr>
      </p:sp>
      <p:pic>
        <p:nvPicPr>
          <p:cNvPr id="21" name="Image 3" descr="preencoded.png">    </p:cNvPr>
          <p:cNvPicPr>
            <a:picLocks noChangeAspect="1"/>
          </p:cNvPicPr>
          <p:nvPr/>
        </p:nvPicPr>
        <p:blipFill>
          <a:blip r:embed="rId4"/>
          <a:stretch>
            <a:fillRect/>
          </a:stretch>
        </p:blipFill>
        <p:spPr>
          <a:xfrm>
            <a:off x="7008876" y="1641348"/>
            <a:ext cx="192024" cy="192024"/>
          </a:xfrm>
          <a:prstGeom prst="rect">
            <a:avLst/>
          </a:prstGeom>
        </p:spPr>
      </p:pic>
      <p:sp>
        <p:nvSpPr>
          <p:cNvPr id="22" name="Text 15"/>
          <p:cNvSpPr txBox="1"/>
          <p:nvPr/>
        </p:nvSpPr>
        <p:spPr>
          <a:xfrm>
            <a:off x="7406640" y="1371600"/>
            <a:ext cx="1170432" cy="731520"/>
          </a:xfrm>
          <a:prstGeom prst="rect">
            <a:avLst/>
          </a:prstGeom>
          <a:noFill/>
          <a:ln/>
        </p:spPr>
        <p:txBody>
          <a:bodyPr wrap="square" lIns="0" tIns="0" rIns="0" bIns="0" rtlCol="0" anchor="ctr"/>
          <a:lstStyle/>
          <a:p>
            <a:pPr indent="0" marL="0">
              <a:buNone/>
            </a:pPr>
            <a:r>
              <a:rPr lang="en-US" sz="1000" dirty="0">
                <a:solidFill>
                  <a:srgbClr val="2B3440"/>
                </a:solidFill>
                <a:latin typeface="Arial" pitchFamily="34" charset="0"/>
                <a:ea typeface="Arial" pitchFamily="34" charset="-122"/>
                <a:cs typeface="Arial" pitchFamily="34" charset="-120"/>
              </a:rPr>
              <a:t>Экран уменьшает уровень поля</a:t>
            </a:r>
            <a:endParaRPr lang="en-US" sz="1000" dirty="0"/>
          </a:p>
        </p:txBody>
      </p:sp>
      <p:sp>
        <p:nvSpPr>
          <p:cNvPr id="23" name="Text 16"/>
          <p:cNvSpPr txBox="1"/>
          <p:nvPr/>
        </p:nvSpPr>
        <p:spPr>
          <a:xfrm>
            <a:off x="457200" y="2395728"/>
            <a:ext cx="3657600" cy="182880"/>
          </a:xfrm>
          <a:prstGeom prst="rect">
            <a:avLst/>
          </a:prstGeom>
          <a:noFill/>
          <a:ln/>
        </p:spPr>
        <p:txBody>
          <a:bodyPr wrap="square" lIns="0" tIns="0" rIns="0" bIns="0" rtlCol="0" anchor="t"/>
          <a:lstStyle/>
          <a:p>
            <a:pPr indent="0" marL="0">
              <a:buNone/>
            </a:pPr>
            <a:r>
              <a:rPr lang="en-US" sz="900" b="1" spc="300" kern="0" dirty="0">
                <a:solidFill>
                  <a:srgbClr val="64748B"/>
                </a:solidFill>
                <a:latin typeface="Arial" pitchFamily="34" charset="0"/>
                <a:ea typeface="Arial" pitchFamily="34" charset="-122"/>
                <a:cs typeface="Arial" pitchFamily="34" charset="-120"/>
              </a:rPr>
              <a:t>ЛОГИКА ЗАЩИТЫ</a:t>
            </a:r>
            <a:endParaRPr lang="en-US" sz="900" dirty="0"/>
          </a:p>
        </p:txBody>
      </p:sp>
      <p:sp>
        <p:nvSpPr>
          <p:cNvPr id="24" name="Shape 17"/>
          <p:cNvSpPr/>
          <p:nvPr/>
        </p:nvSpPr>
        <p:spPr>
          <a:xfrm>
            <a:off x="457200" y="2651760"/>
            <a:ext cx="1783080" cy="2011680"/>
          </a:xfrm>
          <a:prstGeom prst="roundRect">
            <a:avLst>
              <a:gd name="adj" fmla="val 410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5" name="Shape 18"/>
          <p:cNvSpPr/>
          <p:nvPr/>
        </p:nvSpPr>
        <p:spPr>
          <a:xfrm>
            <a:off x="612648" y="2807208"/>
            <a:ext cx="457200" cy="457200"/>
          </a:xfrm>
          <a:prstGeom prst="ellipse">
            <a:avLst/>
          </a:prstGeom>
          <a:solidFill>
            <a:srgbClr val="0B1F3A"/>
          </a:solidFill>
          <a:ln w="12700">
            <a:solidFill>
              <a:srgbClr val="0B1F3A"/>
            </a:solidFill>
            <a:prstDash val="solid"/>
          </a:ln>
        </p:spPr>
      </p:sp>
      <p:pic>
        <p:nvPicPr>
          <p:cNvPr id="26" name="Image 4" descr="preencoded.png">    </p:cNvPr>
          <p:cNvPicPr>
            <a:picLocks noChangeAspect="1"/>
          </p:cNvPicPr>
          <p:nvPr/>
        </p:nvPicPr>
        <p:blipFill>
          <a:blip r:embed="rId5"/>
          <a:stretch>
            <a:fillRect/>
          </a:stretch>
        </p:blipFill>
        <p:spPr>
          <a:xfrm>
            <a:off x="726948" y="2921508"/>
            <a:ext cx="228600" cy="228600"/>
          </a:xfrm>
          <a:prstGeom prst="rect">
            <a:avLst/>
          </a:prstGeom>
        </p:spPr>
      </p:pic>
      <p:sp>
        <p:nvSpPr>
          <p:cNvPr id="27" name="Text 19"/>
          <p:cNvSpPr txBox="1"/>
          <p:nvPr/>
        </p:nvSpPr>
        <p:spPr>
          <a:xfrm>
            <a:off x="594360" y="3401568"/>
            <a:ext cx="1463040" cy="36576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Источник</a:t>
            </a:r>
            <a:endParaRPr lang="en-US" sz="1150" dirty="0"/>
          </a:p>
        </p:txBody>
      </p:sp>
      <p:sp>
        <p:nvSpPr>
          <p:cNvPr id="28" name="Text 20"/>
          <p:cNvSpPr txBox="1"/>
          <p:nvPr/>
        </p:nvSpPr>
        <p:spPr>
          <a:xfrm>
            <a:off x="594360" y="3767328"/>
            <a:ext cx="1463040" cy="36576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устройство с информативными сигналами</a:t>
            </a:r>
            <a:endParaRPr lang="en-US" sz="900" dirty="0"/>
          </a:p>
        </p:txBody>
      </p:sp>
      <p:sp>
        <p:nvSpPr>
          <p:cNvPr id="29" name="Shape 21"/>
          <p:cNvSpPr/>
          <p:nvPr/>
        </p:nvSpPr>
        <p:spPr>
          <a:xfrm>
            <a:off x="2286000" y="3520440"/>
            <a:ext cx="292608" cy="274320"/>
          </a:xfrm>
          <a:prstGeom prst="rightArrow">
            <a:avLst/>
          </a:prstGeom>
          <a:solidFill>
            <a:srgbClr val="1FB6D4"/>
          </a:solidFill>
          <a:ln w="12700">
            <a:solidFill>
              <a:srgbClr val="1FB6D4"/>
            </a:solidFill>
            <a:prstDash val="solid"/>
          </a:ln>
        </p:spPr>
      </p:sp>
      <p:sp>
        <p:nvSpPr>
          <p:cNvPr id="30" name="Shape 22"/>
          <p:cNvSpPr/>
          <p:nvPr/>
        </p:nvSpPr>
        <p:spPr>
          <a:xfrm>
            <a:off x="2606040" y="2651760"/>
            <a:ext cx="1783080" cy="2011680"/>
          </a:xfrm>
          <a:prstGeom prst="roundRect">
            <a:avLst>
              <a:gd name="adj" fmla="val 410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1" name="Shape 23"/>
          <p:cNvSpPr/>
          <p:nvPr/>
        </p:nvSpPr>
        <p:spPr>
          <a:xfrm>
            <a:off x="2761488" y="2807208"/>
            <a:ext cx="457200" cy="457200"/>
          </a:xfrm>
          <a:prstGeom prst="ellipse">
            <a:avLst/>
          </a:prstGeom>
          <a:solidFill>
            <a:srgbClr val="0B1F3A"/>
          </a:solidFill>
          <a:ln w="12700">
            <a:solidFill>
              <a:srgbClr val="0B1F3A"/>
            </a:solidFill>
            <a:prstDash val="solid"/>
          </a:ln>
        </p:spPr>
      </p:sp>
      <p:pic>
        <p:nvPicPr>
          <p:cNvPr id="32" name="Image 5" descr="preencoded.png">    </p:cNvPr>
          <p:cNvPicPr>
            <a:picLocks noChangeAspect="1"/>
          </p:cNvPicPr>
          <p:nvPr/>
        </p:nvPicPr>
        <p:blipFill>
          <a:blip r:embed="rId6"/>
          <a:stretch>
            <a:fillRect/>
          </a:stretch>
        </p:blipFill>
        <p:spPr>
          <a:xfrm>
            <a:off x="2875788" y="2921508"/>
            <a:ext cx="228600" cy="228600"/>
          </a:xfrm>
          <a:prstGeom prst="rect">
            <a:avLst/>
          </a:prstGeom>
        </p:spPr>
      </p:pic>
      <p:sp>
        <p:nvSpPr>
          <p:cNvPr id="33" name="Text 24"/>
          <p:cNvSpPr txBox="1"/>
          <p:nvPr/>
        </p:nvSpPr>
        <p:spPr>
          <a:xfrm>
            <a:off x="2743200" y="3401568"/>
            <a:ext cx="1463040" cy="36576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Электромагнитное поле</a:t>
            </a:r>
            <a:endParaRPr lang="en-US" sz="1150" dirty="0"/>
          </a:p>
        </p:txBody>
      </p:sp>
      <p:sp>
        <p:nvSpPr>
          <p:cNvPr id="34" name="Text 25"/>
          <p:cNvSpPr txBox="1"/>
          <p:nvPr/>
        </p:nvSpPr>
        <p:spPr>
          <a:xfrm>
            <a:off x="2743200" y="3767328"/>
            <a:ext cx="1463040" cy="36576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распространяется в пространстве</a:t>
            </a:r>
            <a:endParaRPr lang="en-US" sz="900" dirty="0"/>
          </a:p>
        </p:txBody>
      </p:sp>
      <p:sp>
        <p:nvSpPr>
          <p:cNvPr id="35" name="Shape 26"/>
          <p:cNvSpPr/>
          <p:nvPr/>
        </p:nvSpPr>
        <p:spPr>
          <a:xfrm>
            <a:off x="2788920" y="4169664"/>
            <a:ext cx="137160" cy="356616"/>
          </a:xfrm>
          <a:prstGeom prst="roundRect">
            <a:avLst>
              <a:gd name="adj" fmla="val 20000"/>
            </a:avLst>
          </a:prstGeom>
          <a:solidFill>
            <a:srgbClr val="1FB6D4"/>
          </a:solidFill>
          <a:ln w="12700">
            <a:solidFill>
              <a:srgbClr val="1FB6D4"/>
            </a:solidFill>
            <a:prstDash val="solid"/>
          </a:ln>
        </p:spPr>
      </p:sp>
      <p:sp>
        <p:nvSpPr>
          <p:cNvPr id="36" name="Shape 27"/>
          <p:cNvSpPr/>
          <p:nvPr/>
        </p:nvSpPr>
        <p:spPr>
          <a:xfrm>
            <a:off x="2999232" y="4324198"/>
            <a:ext cx="137160" cy="202082"/>
          </a:xfrm>
          <a:prstGeom prst="roundRect">
            <a:avLst>
              <a:gd name="adj" fmla="val 20000"/>
            </a:avLst>
          </a:prstGeom>
          <a:solidFill>
            <a:srgbClr val="1FB6D4"/>
          </a:solidFill>
          <a:ln w="12700">
            <a:solidFill>
              <a:srgbClr val="1FB6D4"/>
            </a:solidFill>
            <a:prstDash val="solid"/>
          </a:ln>
        </p:spPr>
      </p:sp>
      <p:sp>
        <p:nvSpPr>
          <p:cNvPr id="37" name="Shape 28"/>
          <p:cNvSpPr/>
          <p:nvPr/>
        </p:nvSpPr>
        <p:spPr>
          <a:xfrm>
            <a:off x="3209544" y="4217213"/>
            <a:ext cx="137160" cy="309067"/>
          </a:xfrm>
          <a:prstGeom prst="roundRect">
            <a:avLst>
              <a:gd name="adj" fmla="val 20000"/>
            </a:avLst>
          </a:prstGeom>
          <a:solidFill>
            <a:srgbClr val="1FB6D4"/>
          </a:solidFill>
          <a:ln w="12700">
            <a:solidFill>
              <a:srgbClr val="1FB6D4"/>
            </a:solidFill>
            <a:prstDash val="solid"/>
          </a:ln>
        </p:spPr>
      </p:sp>
      <p:sp>
        <p:nvSpPr>
          <p:cNvPr id="38" name="Shape 29"/>
          <p:cNvSpPr/>
          <p:nvPr/>
        </p:nvSpPr>
        <p:spPr>
          <a:xfrm>
            <a:off x="3419856" y="4383634"/>
            <a:ext cx="137160" cy="142646"/>
          </a:xfrm>
          <a:prstGeom prst="roundRect">
            <a:avLst>
              <a:gd name="adj" fmla="val 20000"/>
            </a:avLst>
          </a:prstGeom>
          <a:solidFill>
            <a:srgbClr val="1FB6D4"/>
          </a:solidFill>
          <a:ln w="12700">
            <a:solidFill>
              <a:srgbClr val="1FB6D4"/>
            </a:solidFill>
            <a:prstDash val="solid"/>
          </a:ln>
        </p:spPr>
      </p:sp>
      <p:sp>
        <p:nvSpPr>
          <p:cNvPr id="39" name="Shape 30"/>
          <p:cNvSpPr/>
          <p:nvPr/>
        </p:nvSpPr>
        <p:spPr>
          <a:xfrm>
            <a:off x="3630168" y="4169664"/>
            <a:ext cx="137160" cy="356616"/>
          </a:xfrm>
          <a:prstGeom prst="roundRect">
            <a:avLst>
              <a:gd name="adj" fmla="val 20000"/>
            </a:avLst>
          </a:prstGeom>
          <a:solidFill>
            <a:srgbClr val="1FB6D4"/>
          </a:solidFill>
          <a:ln w="12700">
            <a:solidFill>
              <a:srgbClr val="1FB6D4"/>
            </a:solidFill>
            <a:prstDash val="solid"/>
          </a:ln>
        </p:spPr>
      </p:sp>
      <p:sp>
        <p:nvSpPr>
          <p:cNvPr id="40" name="Shape 31"/>
          <p:cNvSpPr/>
          <p:nvPr/>
        </p:nvSpPr>
        <p:spPr>
          <a:xfrm>
            <a:off x="3840480" y="4288536"/>
            <a:ext cx="137160" cy="237744"/>
          </a:xfrm>
          <a:prstGeom prst="roundRect">
            <a:avLst>
              <a:gd name="adj" fmla="val 20000"/>
            </a:avLst>
          </a:prstGeom>
          <a:solidFill>
            <a:srgbClr val="1FB6D4"/>
          </a:solidFill>
          <a:ln w="12700">
            <a:solidFill>
              <a:srgbClr val="1FB6D4"/>
            </a:solidFill>
            <a:prstDash val="solid"/>
          </a:ln>
        </p:spPr>
      </p:sp>
      <p:sp>
        <p:nvSpPr>
          <p:cNvPr id="41" name="Shape 32"/>
          <p:cNvSpPr/>
          <p:nvPr/>
        </p:nvSpPr>
        <p:spPr>
          <a:xfrm>
            <a:off x="4050792" y="4217213"/>
            <a:ext cx="137160" cy="309067"/>
          </a:xfrm>
          <a:prstGeom prst="roundRect">
            <a:avLst>
              <a:gd name="adj" fmla="val 20000"/>
            </a:avLst>
          </a:prstGeom>
          <a:solidFill>
            <a:srgbClr val="1FB6D4"/>
          </a:solidFill>
          <a:ln w="12700">
            <a:solidFill>
              <a:srgbClr val="1FB6D4"/>
            </a:solidFill>
            <a:prstDash val="solid"/>
          </a:ln>
        </p:spPr>
      </p:sp>
      <p:sp>
        <p:nvSpPr>
          <p:cNvPr id="42" name="Shape 33"/>
          <p:cNvSpPr/>
          <p:nvPr/>
        </p:nvSpPr>
        <p:spPr>
          <a:xfrm>
            <a:off x="4434840" y="3520440"/>
            <a:ext cx="292608" cy="274320"/>
          </a:xfrm>
          <a:prstGeom prst="rightArrow">
            <a:avLst/>
          </a:prstGeom>
          <a:solidFill>
            <a:srgbClr val="1FB6D4"/>
          </a:solidFill>
          <a:ln w="12700">
            <a:solidFill>
              <a:srgbClr val="1FB6D4"/>
            </a:solidFill>
            <a:prstDash val="solid"/>
          </a:ln>
        </p:spPr>
      </p:sp>
      <p:sp>
        <p:nvSpPr>
          <p:cNvPr id="43" name="Shape 34"/>
          <p:cNvSpPr/>
          <p:nvPr/>
        </p:nvSpPr>
        <p:spPr>
          <a:xfrm>
            <a:off x="4754880" y="2651760"/>
            <a:ext cx="1783080" cy="2011680"/>
          </a:xfrm>
          <a:prstGeom prst="roundRect">
            <a:avLst>
              <a:gd name="adj" fmla="val 410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4" name="Shape 35"/>
          <p:cNvSpPr/>
          <p:nvPr/>
        </p:nvSpPr>
        <p:spPr>
          <a:xfrm>
            <a:off x="4910328" y="2807208"/>
            <a:ext cx="457200" cy="457200"/>
          </a:xfrm>
          <a:prstGeom prst="ellipse">
            <a:avLst/>
          </a:prstGeom>
          <a:solidFill>
            <a:srgbClr val="0E9AA7"/>
          </a:solidFill>
          <a:ln w="12700">
            <a:solidFill>
              <a:srgbClr val="0E9AA7"/>
            </a:solidFill>
            <a:prstDash val="solid"/>
          </a:ln>
        </p:spPr>
      </p:sp>
      <p:pic>
        <p:nvPicPr>
          <p:cNvPr id="45" name="Image 6" descr="preencoded.png">    </p:cNvPr>
          <p:cNvPicPr>
            <a:picLocks noChangeAspect="1"/>
          </p:cNvPicPr>
          <p:nvPr/>
        </p:nvPicPr>
        <p:blipFill>
          <a:blip r:embed="rId7"/>
          <a:stretch>
            <a:fillRect/>
          </a:stretch>
        </p:blipFill>
        <p:spPr>
          <a:xfrm>
            <a:off x="5024628" y="2921508"/>
            <a:ext cx="228600" cy="228600"/>
          </a:xfrm>
          <a:prstGeom prst="rect">
            <a:avLst/>
          </a:prstGeom>
        </p:spPr>
      </p:pic>
      <p:sp>
        <p:nvSpPr>
          <p:cNvPr id="46" name="Text 36"/>
          <p:cNvSpPr txBox="1"/>
          <p:nvPr/>
        </p:nvSpPr>
        <p:spPr>
          <a:xfrm>
            <a:off x="4892040" y="3401568"/>
            <a:ext cx="1463040" cy="36576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Экран</a:t>
            </a:r>
            <a:endParaRPr lang="en-US" sz="1150" dirty="0"/>
          </a:p>
        </p:txBody>
      </p:sp>
      <p:sp>
        <p:nvSpPr>
          <p:cNvPr id="47" name="Text 37"/>
          <p:cNvSpPr txBox="1"/>
          <p:nvPr/>
        </p:nvSpPr>
        <p:spPr>
          <a:xfrm>
            <a:off x="4892040" y="3767328"/>
            <a:ext cx="1463040" cy="36576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проводящий или магнитомягкий барьер</a:t>
            </a:r>
            <a:endParaRPr lang="en-US" sz="900" dirty="0"/>
          </a:p>
        </p:txBody>
      </p:sp>
      <p:sp>
        <p:nvSpPr>
          <p:cNvPr id="48" name="Shape 38"/>
          <p:cNvSpPr/>
          <p:nvPr/>
        </p:nvSpPr>
        <p:spPr>
          <a:xfrm>
            <a:off x="6583680" y="3520440"/>
            <a:ext cx="292608" cy="274320"/>
          </a:xfrm>
          <a:prstGeom prst="rightArrow">
            <a:avLst/>
          </a:prstGeom>
          <a:solidFill>
            <a:srgbClr val="1FB6D4"/>
          </a:solidFill>
          <a:ln w="12700">
            <a:solidFill>
              <a:srgbClr val="1FB6D4"/>
            </a:solidFill>
            <a:prstDash val="solid"/>
          </a:ln>
        </p:spPr>
      </p:sp>
      <p:sp>
        <p:nvSpPr>
          <p:cNvPr id="49" name="Shape 39"/>
          <p:cNvSpPr/>
          <p:nvPr/>
        </p:nvSpPr>
        <p:spPr>
          <a:xfrm>
            <a:off x="6903720" y="2651760"/>
            <a:ext cx="1783080" cy="2011680"/>
          </a:xfrm>
          <a:prstGeom prst="roundRect">
            <a:avLst>
              <a:gd name="adj" fmla="val 410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50" name="Shape 40"/>
          <p:cNvSpPr/>
          <p:nvPr/>
        </p:nvSpPr>
        <p:spPr>
          <a:xfrm>
            <a:off x="7059168" y="2807208"/>
            <a:ext cx="457200" cy="457200"/>
          </a:xfrm>
          <a:prstGeom prst="ellipse">
            <a:avLst/>
          </a:prstGeom>
          <a:solidFill>
            <a:srgbClr val="0B1F3A"/>
          </a:solidFill>
          <a:ln w="12700">
            <a:solidFill>
              <a:srgbClr val="0B1F3A"/>
            </a:solidFill>
            <a:prstDash val="solid"/>
          </a:ln>
        </p:spPr>
      </p:sp>
      <p:pic>
        <p:nvPicPr>
          <p:cNvPr id="51" name="Image 7" descr="preencoded.png">    </p:cNvPr>
          <p:cNvPicPr>
            <a:picLocks noChangeAspect="1"/>
          </p:cNvPicPr>
          <p:nvPr/>
        </p:nvPicPr>
        <p:blipFill>
          <a:blip r:embed="rId8"/>
          <a:stretch>
            <a:fillRect/>
          </a:stretch>
        </p:blipFill>
        <p:spPr>
          <a:xfrm>
            <a:off x="7173468" y="2921508"/>
            <a:ext cx="228600" cy="228600"/>
          </a:xfrm>
          <a:prstGeom prst="rect">
            <a:avLst/>
          </a:prstGeom>
        </p:spPr>
      </p:pic>
      <p:sp>
        <p:nvSpPr>
          <p:cNvPr id="52" name="Text 41"/>
          <p:cNvSpPr txBox="1"/>
          <p:nvPr/>
        </p:nvSpPr>
        <p:spPr>
          <a:xfrm>
            <a:off x="7040880" y="3401568"/>
            <a:ext cx="1463040" cy="36576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Ослабленный сигнал</a:t>
            </a:r>
            <a:endParaRPr lang="en-US" sz="1150" dirty="0"/>
          </a:p>
        </p:txBody>
      </p:sp>
      <p:sp>
        <p:nvSpPr>
          <p:cNvPr id="53" name="Text 42"/>
          <p:cNvSpPr txBox="1"/>
          <p:nvPr/>
        </p:nvSpPr>
        <p:spPr>
          <a:xfrm>
            <a:off x="7040880" y="3767328"/>
            <a:ext cx="1463040" cy="36576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ниже уровня возможного перехвата</a:t>
            </a:r>
            <a:endParaRPr lang="en-US" sz="900" dirty="0"/>
          </a:p>
        </p:txBody>
      </p:sp>
      <p:sp>
        <p:nvSpPr>
          <p:cNvPr id="54" name="Shape 43"/>
          <p:cNvSpPr/>
          <p:nvPr/>
        </p:nvSpPr>
        <p:spPr>
          <a:xfrm>
            <a:off x="7086600" y="4443070"/>
            <a:ext cx="137160" cy="83210"/>
          </a:xfrm>
          <a:prstGeom prst="roundRect">
            <a:avLst>
              <a:gd name="adj" fmla="val 32967"/>
            </a:avLst>
          </a:prstGeom>
          <a:solidFill>
            <a:srgbClr val="9ADCEA"/>
          </a:solidFill>
          <a:ln w="12700">
            <a:solidFill>
              <a:srgbClr val="9ADCEA"/>
            </a:solidFill>
            <a:prstDash val="solid"/>
          </a:ln>
        </p:spPr>
      </p:sp>
      <p:sp>
        <p:nvSpPr>
          <p:cNvPr id="55" name="Shape 44"/>
          <p:cNvSpPr/>
          <p:nvPr/>
        </p:nvSpPr>
        <p:spPr>
          <a:xfrm>
            <a:off x="7296912" y="4466844"/>
            <a:ext cx="137160" cy="59436"/>
          </a:xfrm>
          <a:prstGeom prst="roundRect">
            <a:avLst>
              <a:gd name="adj" fmla="val 46154"/>
            </a:avLst>
          </a:prstGeom>
          <a:solidFill>
            <a:srgbClr val="9ADCEA"/>
          </a:solidFill>
          <a:ln w="12700">
            <a:solidFill>
              <a:srgbClr val="9ADCEA"/>
            </a:solidFill>
            <a:prstDash val="solid"/>
          </a:ln>
        </p:spPr>
      </p:sp>
      <p:sp>
        <p:nvSpPr>
          <p:cNvPr id="56" name="Shape 45"/>
          <p:cNvSpPr/>
          <p:nvPr/>
        </p:nvSpPr>
        <p:spPr>
          <a:xfrm>
            <a:off x="7507224" y="4443070"/>
            <a:ext cx="137160" cy="83210"/>
          </a:xfrm>
          <a:prstGeom prst="roundRect">
            <a:avLst>
              <a:gd name="adj" fmla="val 32967"/>
            </a:avLst>
          </a:prstGeom>
          <a:solidFill>
            <a:srgbClr val="9ADCEA"/>
          </a:solidFill>
          <a:ln w="12700">
            <a:solidFill>
              <a:srgbClr val="9ADCEA"/>
            </a:solidFill>
            <a:prstDash val="solid"/>
          </a:ln>
        </p:spPr>
      </p:sp>
      <p:sp>
        <p:nvSpPr>
          <p:cNvPr id="57" name="Shape 46"/>
          <p:cNvSpPr/>
          <p:nvPr/>
        </p:nvSpPr>
        <p:spPr>
          <a:xfrm>
            <a:off x="7717536" y="4478731"/>
            <a:ext cx="137160" cy="47549"/>
          </a:xfrm>
          <a:prstGeom prst="roundRect">
            <a:avLst>
              <a:gd name="adj" fmla="val 57692"/>
            </a:avLst>
          </a:prstGeom>
          <a:solidFill>
            <a:srgbClr val="9ADCEA"/>
          </a:solidFill>
          <a:ln w="12700">
            <a:solidFill>
              <a:srgbClr val="9ADCEA"/>
            </a:solidFill>
            <a:prstDash val="solid"/>
          </a:ln>
        </p:spPr>
      </p:sp>
      <p:sp>
        <p:nvSpPr>
          <p:cNvPr id="58" name="Shape 47"/>
          <p:cNvSpPr/>
          <p:nvPr/>
        </p:nvSpPr>
        <p:spPr>
          <a:xfrm>
            <a:off x="7927848" y="4443070"/>
            <a:ext cx="137160" cy="83210"/>
          </a:xfrm>
          <a:prstGeom prst="roundRect">
            <a:avLst>
              <a:gd name="adj" fmla="val 32967"/>
            </a:avLst>
          </a:prstGeom>
          <a:solidFill>
            <a:srgbClr val="9ADCEA"/>
          </a:solidFill>
          <a:ln w="12700">
            <a:solidFill>
              <a:srgbClr val="9ADCEA"/>
            </a:solidFill>
            <a:prstDash val="solid"/>
          </a:ln>
        </p:spPr>
      </p:sp>
      <p:sp>
        <p:nvSpPr>
          <p:cNvPr id="59" name="Shape 48"/>
          <p:cNvSpPr/>
          <p:nvPr/>
        </p:nvSpPr>
        <p:spPr>
          <a:xfrm>
            <a:off x="8138160" y="4466844"/>
            <a:ext cx="137160" cy="59436"/>
          </a:xfrm>
          <a:prstGeom prst="roundRect">
            <a:avLst>
              <a:gd name="adj" fmla="val 46154"/>
            </a:avLst>
          </a:prstGeom>
          <a:solidFill>
            <a:srgbClr val="9ADCEA"/>
          </a:solidFill>
          <a:ln w="12700">
            <a:solidFill>
              <a:srgbClr val="9ADCEA"/>
            </a:solidFill>
            <a:prstDash val="solid"/>
          </a:ln>
        </p:spPr>
      </p:sp>
      <p:sp>
        <p:nvSpPr>
          <p:cNvPr id="60" name="Shape 49"/>
          <p:cNvSpPr/>
          <p:nvPr/>
        </p:nvSpPr>
        <p:spPr>
          <a:xfrm>
            <a:off x="8348472" y="4454957"/>
            <a:ext cx="137160" cy="71323"/>
          </a:xfrm>
          <a:prstGeom prst="roundRect">
            <a:avLst>
              <a:gd name="adj" fmla="val 38462"/>
            </a:avLst>
          </a:prstGeom>
          <a:solidFill>
            <a:srgbClr val="9ADCEA"/>
          </a:solidFill>
          <a:ln w="12700">
            <a:solidFill>
              <a:srgbClr val="9ADCE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ЭЛЕКТРИЧЕСКОЕ ПОЛЕ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Как работает электрический экран</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03</a:t>
            </a:r>
            <a:endParaRPr lang="en-US" sz="800" dirty="0"/>
          </a:p>
        </p:txBody>
      </p:sp>
      <p:pic>
        <p:nvPicPr>
          <p:cNvPr id="7" name="Image 0" descr="preencoded.png">    </p:cNvPr>
          <p:cNvPicPr>
            <a:picLocks noChangeAspect="1"/>
          </p:cNvPicPr>
          <p:nvPr/>
        </p:nvPicPr>
        <p:blipFill>
          <a:blip r:embed="rId1"/>
          <a:stretch>
            <a:fillRect/>
          </a:stretch>
        </p:blipFill>
        <p:spPr>
          <a:xfrm>
            <a:off x="457200" y="1280160"/>
            <a:ext cx="4846320" cy="2926080"/>
          </a:xfrm>
          <a:prstGeom prst="rect">
            <a:avLst/>
          </a:prstGeom>
        </p:spPr>
      </p:pic>
      <p:sp>
        <p:nvSpPr>
          <p:cNvPr id="8" name="Shape 4"/>
          <p:cNvSpPr/>
          <p:nvPr/>
        </p:nvSpPr>
        <p:spPr>
          <a:xfrm>
            <a:off x="640080" y="3813048"/>
            <a:ext cx="1737360" cy="292608"/>
          </a:xfrm>
          <a:prstGeom prst="roundRect">
            <a:avLst>
              <a:gd name="adj" fmla="val 50000"/>
            </a:avLst>
          </a:prstGeom>
          <a:solidFill>
            <a:srgbClr val="0B1F3A"/>
          </a:solidFill>
          <a:ln w="12700">
            <a:solidFill>
              <a:srgbClr val="0B1F3A"/>
            </a:solidFill>
            <a:prstDash val="solid"/>
          </a:ln>
        </p:spPr>
      </p:sp>
      <p:sp>
        <p:nvSpPr>
          <p:cNvPr id="9" name="Text 5"/>
          <p:cNvSpPr txBox="1"/>
          <p:nvPr/>
        </p:nvSpPr>
        <p:spPr>
          <a:xfrm>
            <a:off x="640080" y="3813048"/>
            <a:ext cx="17373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Клетка Фарадея</a:t>
            </a:r>
            <a:endParaRPr lang="en-US" sz="1050" dirty="0"/>
          </a:p>
        </p:txBody>
      </p:sp>
      <p:sp>
        <p:nvSpPr>
          <p:cNvPr id="10" name="Shape 6"/>
          <p:cNvSpPr/>
          <p:nvPr/>
        </p:nvSpPr>
        <p:spPr>
          <a:xfrm>
            <a:off x="5577840" y="1280160"/>
            <a:ext cx="3108960" cy="731520"/>
          </a:xfrm>
          <a:prstGeom prst="roundRect">
            <a:avLst>
              <a:gd name="adj" fmla="val 10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1" name="Shape 7"/>
          <p:cNvSpPr/>
          <p:nvPr/>
        </p:nvSpPr>
        <p:spPr>
          <a:xfrm>
            <a:off x="5715000" y="1463040"/>
            <a:ext cx="365760" cy="365760"/>
          </a:xfrm>
          <a:prstGeom prst="ellipse">
            <a:avLst/>
          </a:prstGeom>
          <a:solidFill>
            <a:srgbClr val="0B1F3A"/>
          </a:solidFill>
          <a:ln w="12700">
            <a:solidFill>
              <a:srgbClr val="0B1F3A"/>
            </a:solidFill>
            <a:prstDash val="solid"/>
          </a:ln>
        </p:spPr>
      </p:sp>
      <p:sp>
        <p:nvSpPr>
          <p:cNvPr id="12" name="Text 8"/>
          <p:cNvSpPr txBox="1"/>
          <p:nvPr/>
        </p:nvSpPr>
        <p:spPr>
          <a:xfrm>
            <a:off x="5715000" y="1463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9"/>
          <p:cNvSpPr txBox="1"/>
          <p:nvPr/>
        </p:nvSpPr>
        <p:spPr>
          <a:xfrm>
            <a:off x="6217920" y="1371600"/>
            <a:ext cx="2377440" cy="2286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Внешнее поле</a:t>
            </a:r>
            <a:endParaRPr lang="en-US" sz="1200" dirty="0"/>
          </a:p>
        </p:txBody>
      </p:sp>
      <p:sp>
        <p:nvSpPr>
          <p:cNvPr id="14" name="Text 10"/>
          <p:cNvSpPr txBox="1"/>
          <p:nvPr/>
        </p:nvSpPr>
        <p:spPr>
          <a:xfrm>
            <a:off x="6217920" y="1609344"/>
            <a:ext cx="2377440" cy="347472"/>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действует на свободные заряды металла</a:t>
            </a:r>
            <a:endParaRPr lang="en-US" sz="950" dirty="0"/>
          </a:p>
        </p:txBody>
      </p:sp>
      <p:sp>
        <p:nvSpPr>
          <p:cNvPr id="15" name="Shape 11"/>
          <p:cNvSpPr/>
          <p:nvPr/>
        </p:nvSpPr>
        <p:spPr>
          <a:xfrm>
            <a:off x="5577840" y="2103120"/>
            <a:ext cx="3108960" cy="731520"/>
          </a:xfrm>
          <a:prstGeom prst="roundRect">
            <a:avLst>
              <a:gd name="adj" fmla="val 10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6" name="Shape 12"/>
          <p:cNvSpPr/>
          <p:nvPr/>
        </p:nvSpPr>
        <p:spPr>
          <a:xfrm>
            <a:off x="5715000" y="2286000"/>
            <a:ext cx="365760" cy="365760"/>
          </a:xfrm>
          <a:prstGeom prst="ellipse">
            <a:avLst/>
          </a:prstGeom>
          <a:solidFill>
            <a:srgbClr val="0B1F3A"/>
          </a:solidFill>
          <a:ln w="12700">
            <a:solidFill>
              <a:srgbClr val="0B1F3A"/>
            </a:solidFill>
            <a:prstDash val="solid"/>
          </a:ln>
        </p:spPr>
      </p:sp>
      <p:sp>
        <p:nvSpPr>
          <p:cNvPr id="17" name="Text 13"/>
          <p:cNvSpPr txBox="1"/>
          <p:nvPr/>
        </p:nvSpPr>
        <p:spPr>
          <a:xfrm>
            <a:off x="5715000" y="2286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8" name="Text 14"/>
          <p:cNvSpPr txBox="1"/>
          <p:nvPr/>
        </p:nvSpPr>
        <p:spPr>
          <a:xfrm>
            <a:off x="6217920" y="2194560"/>
            <a:ext cx="2377440" cy="2286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Перераспределение</a:t>
            </a:r>
            <a:endParaRPr lang="en-US" sz="1200" dirty="0"/>
          </a:p>
        </p:txBody>
      </p:sp>
      <p:sp>
        <p:nvSpPr>
          <p:cNvPr id="19" name="Text 15"/>
          <p:cNvSpPr txBox="1"/>
          <p:nvPr/>
        </p:nvSpPr>
        <p:spPr>
          <a:xfrm>
            <a:off x="6217920" y="2432304"/>
            <a:ext cx="2377440" cy="347472"/>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заряды смещаются к поверхности экрана</a:t>
            </a:r>
            <a:endParaRPr lang="en-US" sz="950" dirty="0"/>
          </a:p>
        </p:txBody>
      </p:sp>
      <p:sp>
        <p:nvSpPr>
          <p:cNvPr id="20" name="Shape 16"/>
          <p:cNvSpPr/>
          <p:nvPr/>
        </p:nvSpPr>
        <p:spPr>
          <a:xfrm>
            <a:off x="5577840" y="2926080"/>
            <a:ext cx="3108960" cy="731520"/>
          </a:xfrm>
          <a:prstGeom prst="roundRect">
            <a:avLst>
              <a:gd name="adj" fmla="val 10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1" name="Shape 17"/>
          <p:cNvSpPr/>
          <p:nvPr/>
        </p:nvSpPr>
        <p:spPr>
          <a:xfrm>
            <a:off x="5715000" y="3108960"/>
            <a:ext cx="365760" cy="365760"/>
          </a:xfrm>
          <a:prstGeom prst="ellipse">
            <a:avLst/>
          </a:prstGeom>
          <a:solidFill>
            <a:srgbClr val="0B1F3A"/>
          </a:solidFill>
          <a:ln w="12700">
            <a:solidFill>
              <a:srgbClr val="0B1F3A"/>
            </a:solidFill>
            <a:prstDash val="solid"/>
          </a:ln>
        </p:spPr>
      </p:sp>
      <p:sp>
        <p:nvSpPr>
          <p:cNvPr id="22" name="Text 18"/>
          <p:cNvSpPr txBox="1"/>
          <p:nvPr/>
        </p:nvSpPr>
        <p:spPr>
          <a:xfrm>
            <a:off x="5715000"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19"/>
          <p:cNvSpPr txBox="1"/>
          <p:nvPr/>
        </p:nvSpPr>
        <p:spPr>
          <a:xfrm>
            <a:off x="6217920" y="3017520"/>
            <a:ext cx="2377440" cy="2286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Компенсация</a:t>
            </a:r>
            <a:endParaRPr lang="en-US" sz="1200" dirty="0"/>
          </a:p>
        </p:txBody>
      </p:sp>
      <p:sp>
        <p:nvSpPr>
          <p:cNvPr id="24" name="Text 20"/>
          <p:cNvSpPr txBox="1"/>
          <p:nvPr/>
        </p:nvSpPr>
        <p:spPr>
          <a:xfrm>
            <a:off x="6217920" y="3255264"/>
            <a:ext cx="2377440" cy="347472"/>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собственное поле зарядов гасит внешнее</a:t>
            </a:r>
            <a:endParaRPr lang="en-US" sz="950" dirty="0"/>
          </a:p>
        </p:txBody>
      </p:sp>
      <p:sp>
        <p:nvSpPr>
          <p:cNvPr id="25" name="Shape 21"/>
          <p:cNvSpPr/>
          <p:nvPr/>
        </p:nvSpPr>
        <p:spPr>
          <a:xfrm>
            <a:off x="5577840" y="3749040"/>
            <a:ext cx="3108960" cy="731520"/>
          </a:xfrm>
          <a:prstGeom prst="roundRect">
            <a:avLst>
              <a:gd name="adj" fmla="val 1000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6" name="Shape 22"/>
          <p:cNvSpPr/>
          <p:nvPr/>
        </p:nvSpPr>
        <p:spPr>
          <a:xfrm>
            <a:off x="5715000" y="3931920"/>
            <a:ext cx="365760" cy="365760"/>
          </a:xfrm>
          <a:prstGeom prst="ellipse">
            <a:avLst/>
          </a:prstGeom>
          <a:solidFill>
            <a:srgbClr val="0E9AA7"/>
          </a:solidFill>
          <a:ln w="12700">
            <a:solidFill>
              <a:srgbClr val="0B1F3A"/>
            </a:solidFill>
            <a:prstDash val="solid"/>
          </a:ln>
        </p:spPr>
      </p:sp>
      <p:sp>
        <p:nvSpPr>
          <p:cNvPr id="27" name="Text 23"/>
          <p:cNvSpPr txBox="1"/>
          <p:nvPr/>
        </p:nvSpPr>
        <p:spPr>
          <a:xfrm>
            <a:off x="5715000" y="3931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8" name="Text 24"/>
          <p:cNvSpPr txBox="1"/>
          <p:nvPr/>
        </p:nvSpPr>
        <p:spPr>
          <a:xfrm>
            <a:off x="6217920" y="3822192"/>
            <a:ext cx="2377440" cy="603504"/>
          </a:xfrm>
          <a:prstGeom prst="rect">
            <a:avLst/>
          </a:prstGeom>
          <a:noFill/>
          <a:ln/>
        </p:spPr>
        <p:txBody>
          <a:bodyPr wrap="square" lIns="0" tIns="0" rIns="0" bIns="0" rtlCol="0" anchor="ctr"/>
          <a:lstStyle/>
          <a:p>
            <a:pPr indent="0" marL="0">
              <a:buNone/>
            </a:pPr>
            <a:r>
              <a:rPr lang="en-US" sz="1400" b="1" dirty="0">
                <a:solidFill>
                  <a:srgbClr val="0B1F3A"/>
                </a:solidFill>
                <a:latin typeface="Arial" pitchFamily="34" charset="0"/>
                <a:ea typeface="Arial" pitchFamily="34" charset="-122"/>
                <a:cs typeface="Arial" pitchFamily="34" charset="-120"/>
              </a:rPr>
              <a:t>Внутри E ≈ 0</a:t>
            </a:r>
            <a:endParaRPr lang="en-US" sz="1400" dirty="0"/>
          </a:p>
          <a:p>
            <a:pPr indent="0" marL="0">
              <a:buNone/>
            </a:pPr>
            <a:r>
              <a:rPr lang="en-US" sz="950" dirty="0">
                <a:solidFill>
                  <a:srgbClr val="64748B"/>
                </a:solidFill>
                <a:latin typeface="Arial" pitchFamily="34" charset="0"/>
                <a:ea typeface="Arial" pitchFamily="34" charset="-122"/>
                <a:cs typeface="Arial" pitchFamily="34" charset="-120"/>
              </a:rPr>
              <a:t>внутри оболочки поля нет</a:t>
            </a:r>
            <a:endParaRPr lang="en-US" sz="1400" dirty="0"/>
          </a:p>
        </p:txBody>
      </p:sp>
      <p:sp>
        <p:nvSpPr>
          <p:cNvPr id="29" name="Shape 25"/>
          <p:cNvSpPr/>
          <p:nvPr/>
        </p:nvSpPr>
        <p:spPr>
          <a:xfrm>
            <a:off x="457200" y="4297680"/>
            <a:ext cx="4846320" cy="365760"/>
          </a:xfrm>
          <a:prstGeom prst="roundRect">
            <a:avLst>
              <a:gd name="adj" fmla="val 20000"/>
            </a:avLst>
          </a:prstGeom>
          <a:solidFill>
            <a:srgbClr val="E4F2F8"/>
          </a:solidFill>
          <a:ln w="12700">
            <a:solidFill>
              <a:srgbClr val="E4F2F8"/>
            </a:solidFill>
            <a:prstDash val="solid"/>
          </a:ln>
        </p:spPr>
      </p:sp>
      <p:sp>
        <p:nvSpPr>
          <p:cNvPr id="30" name="Text 26"/>
          <p:cNvSpPr txBox="1"/>
          <p:nvPr/>
        </p:nvSpPr>
        <p:spPr>
          <a:xfrm>
            <a:off x="594360" y="4297680"/>
            <a:ext cx="4572000" cy="365760"/>
          </a:xfrm>
          <a:prstGeom prst="rect">
            <a:avLst/>
          </a:prstGeom>
          <a:noFill/>
          <a:ln/>
        </p:spPr>
        <p:txBody>
          <a:bodyPr wrap="square" lIns="0" tIns="0" rIns="0" bIns="0" rtlCol="0" anchor="ctr"/>
          <a:lstStyle/>
          <a:p>
            <a:pPr indent="0" marL="0">
              <a:buNone/>
            </a:pPr>
            <a:r>
              <a:rPr lang="en-US" sz="1000" dirty="0">
                <a:solidFill>
                  <a:srgbClr val="0B1F3A"/>
                </a:solidFill>
                <a:latin typeface="Arial" pitchFamily="34" charset="0"/>
                <a:ea typeface="Arial" pitchFamily="34" charset="-122"/>
                <a:cs typeface="Arial" pitchFamily="34" charset="-120"/>
              </a:rPr>
              <a:t>Сетка работает как сплошной экран, если размер ячейки ≪ длины волны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ЭЛЕКТРИЧЕСКОЕ ПОЛЕ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Экранирование электрического поля</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04</a:t>
            </a:r>
            <a:endParaRPr lang="en-US" sz="800" dirty="0"/>
          </a:p>
        </p:txBody>
      </p:sp>
      <p:sp>
        <p:nvSpPr>
          <p:cNvPr id="7" name="Shape 4"/>
          <p:cNvSpPr/>
          <p:nvPr/>
        </p:nvSpPr>
        <p:spPr>
          <a:xfrm>
            <a:off x="457200" y="1280160"/>
            <a:ext cx="2606040" cy="2011680"/>
          </a:xfrm>
          <a:prstGeom prst="roundRect">
            <a:avLst>
              <a:gd name="adj" fmla="val 363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8" name="Shape 5"/>
          <p:cNvSpPr/>
          <p:nvPr/>
        </p:nvSpPr>
        <p:spPr>
          <a:xfrm>
            <a:off x="594360" y="1508760"/>
            <a:ext cx="640080" cy="0"/>
          </a:xfrm>
          <a:prstGeom prst="line">
            <a:avLst/>
          </a:prstGeom>
          <a:noFill/>
          <a:ln w="19050">
            <a:solidFill>
              <a:srgbClr val="1FB6D4"/>
            </a:solidFill>
            <a:prstDash val="solid"/>
            <a:tailEnd type="triangle"/>
          </a:ln>
        </p:spPr>
      </p:sp>
      <p:sp>
        <p:nvSpPr>
          <p:cNvPr id="9" name="Shape 6"/>
          <p:cNvSpPr/>
          <p:nvPr/>
        </p:nvSpPr>
        <p:spPr>
          <a:xfrm>
            <a:off x="594360" y="1737360"/>
            <a:ext cx="640080" cy="0"/>
          </a:xfrm>
          <a:prstGeom prst="line">
            <a:avLst/>
          </a:prstGeom>
          <a:noFill/>
          <a:ln w="19050">
            <a:solidFill>
              <a:srgbClr val="1FB6D4"/>
            </a:solidFill>
            <a:prstDash val="solid"/>
            <a:tailEnd type="triangle"/>
          </a:ln>
        </p:spPr>
      </p:sp>
      <p:sp>
        <p:nvSpPr>
          <p:cNvPr id="10" name="Shape 7"/>
          <p:cNvSpPr/>
          <p:nvPr/>
        </p:nvSpPr>
        <p:spPr>
          <a:xfrm>
            <a:off x="594360" y="1965960"/>
            <a:ext cx="640080" cy="0"/>
          </a:xfrm>
          <a:prstGeom prst="line">
            <a:avLst/>
          </a:prstGeom>
          <a:noFill/>
          <a:ln w="19050">
            <a:solidFill>
              <a:srgbClr val="1FB6D4"/>
            </a:solidFill>
            <a:prstDash val="solid"/>
            <a:tailEnd type="triangle"/>
          </a:ln>
        </p:spPr>
      </p:sp>
      <p:sp>
        <p:nvSpPr>
          <p:cNvPr id="11" name="Shape 8"/>
          <p:cNvSpPr/>
          <p:nvPr/>
        </p:nvSpPr>
        <p:spPr>
          <a:xfrm>
            <a:off x="594360" y="2194560"/>
            <a:ext cx="640080" cy="0"/>
          </a:xfrm>
          <a:prstGeom prst="line">
            <a:avLst/>
          </a:prstGeom>
          <a:noFill/>
          <a:ln w="19050">
            <a:solidFill>
              <a:srgbClr val="1FB6D4"/>
            </a:solidFill>
            <a:prstDash val="solid"/>
            <a:tailEnd type="triangle"/>
          </a:ln>
        </p:spPr>
      </p:sp>
      <p:sp>
        <p:nvSpPr>
          <p:cNvPr id="12" name="Shape 9"/>
          <p:cNvSpPr/>
          <p:nvPr/>
        </p:nvSpPr>
        <p:spPr>
          <a:xfrm>
            <a:off x="594360" y="2423160"/>
            <a:ext cx="640080" cy="0"/>
          </a:xfrm>
          <a:prstGeom prst="line">
            <a:avLst/>
          </a:prstGeom>
          <a:noFill/>
          <a:ln w="19050">
            <a:solidFill>
              <a:srgbClr val="1FB6D4"/>
            </a:solidFill>
            <a:prstDash val="solid"/>
            <a:tailEnd type="triangle"/>
          </a:ln>
        </p:spPr>
      </p:sp>
      <p:sp>
        <p:nvSpPr>
          <p:cNvPr id="13" name="Shape 10"/>
          <p:cNvSpPr/>
          <p:nvPr/>
        </p:nvSpPr>
        <p:spPr>
          <a:xfrm>
            <a:off x="1280160" y="1417320"/>
            <a:ext cx="1005840" cy="1097280"/>
          </a:xfrm>
          <a:prstGeom prst="roundRect">
            <a:avLst>
              <a:gd name="adj" fmla="val 5455"/>
            </a:avLst>
          </a:prstGeom>
          <a:solidFill>
            <a:srgbClr val="FFFFFF"/>
          </a:solidFill>
          <a:ln w="44450">
            <a:solidFill>
              <a:srgbClr val="0B1F3A"/>
            </a:solidFill>
            <a:prstDash val="solid"/>
          </a:ln>
        </p:spPr>
      </p:sp>
      <p:pic>
        <p:nvPicPr>
          <p:cNvPr id="14" name="Image 0" descr="preencoded.png">    </p:cNvPr>
          <p:cNvPicPr>
            <a:picLocks noChangeAspect="1"/>
          </p:cNvPicPr>
          <p:nvPr/>
        </p:nvPicPr>
        <p:blipFill>
          <a:blip r:embed="rId1"/>
          <a:stretch>
            <a:fillRect/>
          </a:stretch>
        </p:blipFill>
        <p:spPr>
          <a:xfrm>
            <a:off x="1554480" y="1801368"/>
            <a:ext cx="457200" cy="329184"/>
          </a:xfrm>
          <a:prstGeom prst="rect">
            <a:avLst/>
          </a:prstGeom>
        </p:spPr>
      </p:pic>
      <p:sp>
        <p:nvSpPr>
          <p:cNvPr id="15" name="Shape 11"/>
          <p:cNvSpPr/>
          <p:nvPr/>
        </p:nvSpPr>
        <p:spPr>
          <a:xfrm>
            <a:off x="2331720" y="1508760"/>
            <a:ext cx="548640" cy="0"/>
          </a:xfrm>
          <a:prstGeom prst="line">
            <a:avLst/>
          </a:prstGeom>
          <a:noFill/>
          <a:ln w="12700">
            <a:solidFill>
              <a:srgbClr val="C9D4DF"/>
            </a:solidFill>
            <a:prstDash val="dash"/>
          </a:ln>
        </p:spPr>
      </p:sp>
      <p:sp>
        <p:nvSpPr>
          <p:cNvPr id="16" name="Shape 12"/>
          <p:cNvSpPr/>
          <p:nvPr/>
        </p:nvSpPr>
        <p:spPr>
          <a:xfrm>
            <a:off x="2331720" y="1737360"/>
            <a:ext cx="548640" cy="0"/>
          </a:xfrm>
          <a:prstGeom prst="line">
            <a:avLst/>
          </a:prstGeom>
          <a:noFill/>
          <a:ln w="12700">
            <a:solidFill>
              <a:srgbClr val="C9D4DF"/>
            </a:solidFill>
            <a:prstDash val="dash"/>
          </a:ln>
        </p:spPr>
      </p:sp>
      <p:sp>
        <p:nvSpPr>
          <p:cNvPr id="17" name="Shape 13"/>
          <p:cNvSpPr/>
          <p:nvPr/>
        </p:nvSpPr>
        <p:spPr>
          <a:xfrm>
            <a:off x="2331720" y="1965960"/>
            <a:ext cx="548640" cy="0"/>
          </a:xfrm>
          <a:prstGeom prst="line">
            <a:avLst/>
          </a:prstGeom>
          <a:noFill/>
          <a:ln w="12700">
            <a:solidFill>
              <a:srgbClr val="C9D4DF"/>
            </a:solidFill>
            <a:prstDash val="dash"/>
          </a:ln>
        </p:spPr>
      </p:sp>
      <p:sp>
        <p:nvSpPr>
          <p:cNvPr id="18" name="Shape 14"/>
          <p:cNvSpPr/>
          <p:nvPr/>
        </p:nvSpPr>
        <p:spPr>
          <a:xfrm>
            <a:off x="2331720" y="2194560"/>
            <a:ext cx="548640" cy="0"/>
          </a:xfrm>
          <a:prstGeom prst="line">
            <a:avLst/>
          </a:prstGeom>
          <a:noFill/>
          <a:ln w="12700">
            <a:solidFill>
              <a:srgbClr val="C9D4DF"/>
            </a:solidFill>
            <a:prstDash val="dash"/>
          </a:ln>
        </p:spPr>
      </p:sp>
      <p:sp>
        <p:nvSpPr>
          <p:cNvPr id="19" name="Shape 15"/>
          <p:cNvSpPr/>
          <p:nvPr/>
        </p:nvSpPr>
        <p:spPr>
          <a:xfrm>
            <a:off x="2331720" y="2423160"/>
            <a:ext cx="548640" cy="0"/>
          </a:xfrm>
          <a:prstGeom prst="line">
            <a:avLst/>
          </a:prstGeom>
          <a:noFill/>
          <a:ln w="12700">
            <a:solidFill>
              <a:srgbClr val="C9D4DF"/>
            </a:solidFill>
            <a:prstDash val="dash"/>
          </a:ln>
        </p:spPr>
      </p:sp>
      <p:sp>
        <p:nvSpPr>
          <p:cNvPr id="20" name="Text 16"/>
          <p:cNvSpPr txBox="1"/>
          <p:nvPr/>
        </p:nvSpPr>
        <p:spPr>
          <a:xfrm>
            <a:off x="594360" y="2697480"/>
            <a:ext cx="2331720" cy="22860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Металлический корпус</a:t>
            </a:r>
            <a:endParaRPr lang="en-US" sz="1150" dirty="0"/>
          </a:p>
        </p:txBody>
      </p:sp>
      <p:sp>
        <p:nvSpPr>
          <p:cNvPr id="21" name="Text 17"/>
          <p:cNvSpPr txBox="1"/>
          <p:nvPr/>
        </p:nvSpPr>
        <p:spPr>
          <a:xfrm>
            <a:off x="594360" y="2944368"/>
            <a:ext cx="2331720" cy="228600"/>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не выпускает поле наружу</a:t>
            </a:r>
            <a:endParaRPr lang="en-US" sz="950" dirty="0"/>
          </a:p>
        </p:txBody>
      </p:sp>
      <p:sp>
        <p:nvSpPr>
          <p:cNvPr id="22" name="Shape 18"/>
          <p:cNvSpPr/>
          <p:nvPr/>
        </p:nvSpPr>
        <p:spPr>
          <a:xfrm>
            <a:off x="3268980" y="1280160"/>
            <a:ext cx="2606040" cy="2011680"/>
          </a:xfrm>
          <a:prstGeom prst="roundRect">
            <a:avLst>
              <a:gd name="adj" fmla="val 363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3" name="Shape 19"/>
          <p:cNvSpPr/>
          <p:nvPr/>
        </p:nvSpPr>
        <p:spPr>
          <a:xfrm>
            <a:off x="3543300" y="1371600"/>
            <a:ext cx="1188720" cy="1188720"/>
          </a:xfrm>
          <a:prstGeom prst="ellipse">
            <a:avLst/>
          </a:prstGeom>
          <a:solidFill>
            <a:srgbClr val="2B3440"/>
          </a:solidFill>
          <a:ln w="6350">
            <a:solidFill>
              <a:srgbClr val="2B3440"/>
            </a:solidFill>
            <a:prstDash val="solid"/>
          </a:ln>
        </p:spPr>
      </p:sp>
      <p:sp>
        <p:nvSpPr>
          <p:cNvPr id="24" name="Shape 20"/>
          <p:cNvSpPr/>
          <p:nvPr/>
        </p:nvSpPr>
        <p:spPr>
          <a:xfrm>
            <a:off x="3653028" y="1481328"/>
            <a:ext cx="969264" cy="969264"/>
          </a:xfrm>
          <a:prstGeom prst="ellipse">
            <a:avLst/>
          </a:prstGeom>
          <a:solidFill>
            <a:srgbClr val="C3CDD8"/>
          </a:solidFill>
          <a:ln w="19050">
            <a:solidFill>
              <a:srgbClr val="8794A3"/>
            </a:solidFill>
            <a:prstDash val="sysDash"/>
          </a:ln>
        </p:spPr>
      </p:sp>
      <p:sp>
        <p:nvSpPr>
          <p:cNvPr id="25" name="Shape 21"/>
          <p:cNvSpPr/>
          <p:nvPr/>
        </p:nvSpPr>
        <p:spPr>
          <a:xfrm>
            <a:off x="3744468" y="1572768"/>
            <a:ext cx="786384" cy="786384"/>
          </a:xfrm>
          <a:prstGeom prst="ellipse">
            <a:avLst/>
          </a:prstGeom>
          <a:solidFill>
            <a:srgbClr val="FFFFFF"/>
          </a:solidFill>
          <a:ln w="6350">
            <a:solidFill>
              <a:srgbClr val="FFFFFF"/>
            </a:solidFill>
            <a:prstDash val="solid"/>
          </a:ln>
        </p:spPr>
      </p:sp>
      <p:sp>
        <p:nvSpPr>
          <p:cNvPr id="26" name="Shape 22"/>
          <p:cNvSpPr/>
          <p:nvPr/>
        </p:nvSpPr>
        <p:spPr>
          <a:xfrm>
            <a:off x="3872484" y="1847088"/>
            <a:ext cx="237744" cy="237744"/>
          </a:xfrm>
          <a:prstGeom prst="ellipse">
            <a:avLst/>
          </a:prstGeom>
          <a:solidFill>
            <a:srgbClr val="0E9AA7"/>
          </a:solidFill>
          <a:ln w="12700">
            <a:solidFill>
              <a:srgbClr val="0B1F3A"/>
            </a:solidFill>
            <a:prstDash val="solid"/>
          </a:ln>
        </p:spPr>
      </p:sp>
      <p:sp>
        <p:nvSpPr>
          <p:cNvPr id="27" name="Shape 23"/>
          <p:cNvSpPr/>
          <p:nvPr/>
        </p:nvSpPr>
        <p:spPr>
          <a:xfrm>
            <a:off x="4165092" y="1847088"/>
            <a:ext cx="237744" cy="237744"/>
          </a:xfrm>
          <a:prstGeom prst="ellipse">
            <a:avLst/>
          </a:prstGeom>
          <a:solidFill>
            <a:srgbClr val="0E9AA7"/>
          </a:solidFill>
          <a:ln w="12700">
            <a:solidFill>
              <a:srgbClr val="0B1F3A"/>
            </a:solidFill>
            <a:prstDash val="solid"/>
          </a:ln>
        </p:spPr>
      </p:sp>
      <p:sp>
        <p:nvSpPr>
          <p:cNvPr id="28" name="Shape 24"/>
          <p:cNvSpPr/>
          <p:nvPr/>
        </p:nvSpPr>
        <p:spPr>
          <a:xfrm flipV="1">
            <a:off x="4640580" y="1417320"/>
            <a:ext cx="320040" cy="91440"/>
          </a:xfrm>
          <a:prstGeom prst="line">
            <a:avLst/>
          </a:prstGeom>
          <a:noFill/>
          <a:ln w="9525">
            <a:solidFill>
              <a:srgbClr val="64748B"/>
            </a:solidFill>
            <a:prstDash val="solid"/>
          </a:ln>
        </p:spPr>
      </p:sp>
      <p:sp>
        <p:nvSpPr>
          <p:cNvPr id="29" name="Text 25"/>
          <p:cNvSpPr txBox="1"/>
          <p:nvPr/>
        </p:nvSpPr>
        <p:spPr>
          <a:xfrm>
            <a:off x="5006340" y="1316736"/>
            <a:ext cx="822960" cy="201168"/>
          </a:xfrm>
          <a:prstGeom prst="rect">
            <a:avLst/>
          </a:prstGeom>
          <a:noFill/>
          <a:ln/>
        </p:spPr>
        <p:txBody>
          <a:bodyPr wrap="square" lIns="0" tIns="0" rIns="0" bIns="0" rtlCol="0" anchor="ctr"/>
          <a:lstStyle/>
          <a:p>
            <a:pPr indent="0" marL="0">
              <a:buNone/>
            </a:pPr>
            <a:r>
              <a:rPr lang="en-US" sz="900" dirty="0">
                <a:solidFill>
                  <a:srgbClr val="2B3440"/>
                </a:solidFill>
                <a:latin typeface="Arial" pitchFamily="34" charset="0"/>
                <a:ea typeface="Arial" pitchFamily="34" charset="-122"/>
                <a:cs typeface="Arial" pitchFamily="34" charset="-120"/>
              </a:rPr>
              <a:t>оболочка</a:t>
            </a:r>
            <a:endParaRPr lang="en-US" sz="900" dirty="0"/>
          </a:p>
        </p:txBody>
      </p:sp>
      <p:sp>
        <p:nvSpPr>
          <p:cNvPr id="30" name="Shape 26"/>
          <p:cNvSpPr/>
          <p:nvPr/>
        </p:nvSpPr>
        <p:spPr>
          <a:xfrm>
            <a:off x="4594860" y="1965960"/>
            <a:ext cx="365760" cy="0"/>
          </a:xfrm>
          <a:prstGeom prst="line">
            <a:avLst/>
          </a:prstGeom>
          <a:noFill/>
          <a:ln w="9525">
            <a:solidFill>
              <a:srgbClr val="64748B"/>
            </a:solidFill>
            <a:prstDash val="solid"/>
          </a:ln>
        </p:spPr>
      </p:sp>
      <p:sp>
        <p:nvSpPr>
          <p:cNvPr id="31" name="Text 27"/>
          <p:cNvSpPr txBox="1"/>
          <p:nvPr/>
        </p:nvSpPr>
        <p:spPr>
          <a:xfrm>
            <a:off x="5006340" y="1865376"/>
            <a:ext cx="822960" cy="201168"/>
          </a:xfrm>
          <a:prstGeom prst="rect">
            <a:avLst/>
          </a:prstGeom>
          <a:noFill/>
          <a:ln/>
        </p:spPr>
        <p:txBody>
          <a:bodyPr wrap="square" lIns="0" tIns="0" rIns="0" bIns="0" rtlCol="0" anchor="ctr"/>
          <a:lstStyle/>
          <a:p>
            <a:pPr indent="0" marL="0">
              <a:buNone/>
            </a:pPr>
            <a:r>
              <a:rPr lang="en-US" sz="900" dirty="0">
                <a:solidFill>
                  <a:srgbClr val="2B3440"/>
                </a:solidFill>
                <a:latin typeface="Arial" pitchFamily="34" charset="0"/>
                <a:ea typeface="Arial" pitchFamily="34" charset="-122"/>
                <a:cs typeface="Arial" pitchFamily="34" charset="-120"/>
              </a:rPr>
              <a:t>экран (оплётка)</a:t>
            </a:r>
            <a:endParaRPr lang="en-US" sz="900" dirty="0"/>
          </a:p>
        </p:txBody>
      </p:sp>
      <p:sp>
        <p:nvSpPr>
          <p:cNvPr id="32" name="Shape 28"/>
          <p:cNvSpPr/>
          <p:nvPr/>
        </p:nvSpPr>
        <p:spPr>
          <a:xfrm>
            <a:off x="4265676" y="2039112"/>
            <a:ext cx="694944" cy="475488"/>
          </a:xfrm>
          <a:prstGeom prst="line">
            <a:avLst/>
          </a:prstGeom>
          <a:noFill/>
          <a:ln w="9525">
            <a:solidFill>
              <a:srgbClr val="64748B"/>
            </a:solidFill>
            <a:prstDash val="solid"/>
          </a:ln>
        </p:spPr>
      </p:sp>
      <p:sp>
        <p:nvSpPr>
          <p:cNvPr id="33" name="Text 29"/>
          <p:cNvSpPr txBox="1"/>
          <p:nvPr/>
        </p:nvSpPr>
        <p:spPr>
          <a:xfrm>
            <a:off x="5006340" y="2414016"/>
            <a:ext cx="822960" cy="201168"/>
          </a:xfrm>
          <a:prstGeom prst="rect">
            <a:avLst/>
          </a:prstGeom>
          <a:noFill/>
          <a:ln/>
        </p:spPr>
        <p:txBody>
          <a:bodyPr wrap="square" lIns="0" tIns="0" rIns="0" bIns="0" rtlCol="0" anchor="ctr"/>
          <a:lstStyle/>
          <a:p>
            <a:pPr indent="0" marL="0">
              <a:buNone/>
            </a:pPr>
            <a:r>
              <a:rPr lang="en-US" sz="900" dirty="0">
                <a:solidFill>
                  <a:srgbClr val="2B3440"/>
                </a:solidFill>
                <a:latin typeface="Arial" pitchFamily="34" charset="0"/>
                <a:ea typeface="Arial" pitchFamily="34" charset="-122"/>
                <a:cs typeface="Arial" pitchFamily="34" charset="-120"/>
              </a:rPr>
              <a:t>жилы</a:t>
            </a:r>
            <a:endParaRPr lang="en-US" sz="900" dirty="0"/>
          </a:p>
        </p:txBody>
      </p:sp>
      <p:sp>
        <p:nvSpPr>
          <p:cNvPr id="34" name="Text 30"/>
          <p:cNvSpPr txBox="1"/>
          <p:nvPr/>
        </p:nvSpPr>
        <p:spPr>
          <a:xfrm>
            <a:off x="3406140" y="2697480"/>
            <a:ext cx="2331720" cy="22860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Экранированный кабель</a:t>
            </a:r>
            <a:endParaRPr lang="en-US" sz="1150" dirty="0"/>
          </a:p>
        </p:txBody>
      </p:sp>
      <p:sp>
        <p:nvSpPr>
          <p:cNvPr id="35" name="Text 31"/>
          <p:cNvSpPr txBox="1"/>
          <p:nvPr/>
        </p:nvSpPr>
        <p:spPr>
          <a:xfrm>
            <a:off x="3406140" y="2944368"/>
            <a:ext cx="2331720" cy="228600"/>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оплётка или фольга вокруг жил</a:t>
            </a:r>
            <a:endParaRPr lang="en-US" sz="950" dirty="0"/>
          </a:p>
        </p:txBody>
      </p:sp>
      <p:sp>
        <p:nvSpPr>
          <p:cNvPr id="36" name="Shape 32"/>
          <p:cNvSpPr/>
          <p:nvPr/>
        </p:nvSpPr>
        <p:spPr>
          <a:xfrm>
            <a:off x="6080760" y="1280160"/>
            <a:ext cx="2606040" cy="2011680"/>
          </a:xfrm>
          <a:prstGeom prst="roundRect">
            <a:avLst>
              <a:gd name="adj" fmla="val 363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7" name="Shape 33"/>
          <p:cNvSpPr/>
          <p:nvPr/>
        </p:nvSpPr>
        <p:spPr>
          <a:xfrm>
            <a:off x="6217920" y="1572768"/>
            <a:ext cx="694944" cy="0"/>
          </a:xfrm>
          <a:prstGeom prst="line">
            <a:avLst/>
          </a:prstGeom>
          <a:noFill/>
          <a:ln w="19050">
            <a:solidFill>
              <a:srgbClr val="1FB6D4"/>
            </a:solidFill>
            <a:prstDash val="solid"/>
            <a:tailEnd type="triangle"/>
          </a:ln>
        </p:spPr>
      </p:sp>
      <p:sp>
        <p:nvSpPr>
          <p:cNvPr id="38" name="Shape 34"/>
          <p:cNvSpPr/>
          <p:nvPr/>
        </p:nvSpPr>
        <p:spPr>
          <a:xfrm>
            <a:off x="6217920" y="1773936"/>
            <a:ext cx="694944" cy="0"/>
          </a:xfrm>
          <a:prstGeom prst="line">
            <a:avLst/>
          </a:prstGeom>
          <a:noFill/>
          <a:ln w="19050">
            <a:solidFill>
              <a:srgbClr val="1FB6D4"/>
            </a:solidFill>
            <a:prstDash val="solid"/>
            <a:tailEnd type="triangle"/>
          </a:ln>
        </p:spPr>
      </p:sp>
      <p:sp>
        <p:nvSpPr>
          <p:cNvPr id="39" name="Shape 35"/>
          <p:cNvSpPr/>
          <p:nvPr/>
        </p:nvSpPr>
        <p:spPr>
          <a:xfrm>
            <a:off x="6217920" y="1975104"/>
            <a:ext cx="694944" cy="0"/>
          </a:xfrm>
          <a:prstGeom prst="line">
            <a:avLst/>
          </a:prstGeom>
          <a:noFill/>
          <a:ln w="19050">
            <a:solidFill>
              <a:srgbClr val="1FB6D4"/>
            </a:solidFill>
            <a:prstDash val="solid"/>
            <a:tailEnd type="triangle"/>
          </a:ln>
        </p:spPr>
      </p:sp>
      <p:sp>
        <p:nvSpPr>
          <p:cNvPr id="40" name="Shape 36"/>
          <p:cNvSpPr/>
          <p:nvPr/>
        </p:nvSpPr>
        <p:spPr>
          <a:xfrm>
            <a:off x="6217920" y="2176272"/>
            <a:ext cx="694944" cy="0"/>
          </a:xfrm>
          <a:prstGeom prst="line">
            <a:avLst/>
          </a:prstGeom>
          <a:noFill/>
          <a:ln w="19050">
            <a:solidFill>
              <a:srgbClr val="1FB6D4"/>
            </a:solidFill>
            <a:prstDash val="solid"/>
            <a:tailEnd type="triangle"/>
          </a:ln>
        </p:spPr>
      </p:sp>
      <p:sp>
        <p:nvSpPr>
          <p:cNvPr id="41" name="Shape 37"/>
          <p:cNvSpPr/>
          <p:nvPr/>
        </p:nvSpPr>
        <p:spPr>
          <a:xfrm>
            <a:off x="6949440" y="1417320"/>
            <a:ext cx="1554480" cy="914400"/>
          </a:xfrm>
          <a:prstGeom prst="rect">
            <a:avLst/>
          </a:prstGeom>
          <a:solidFill>
            <a:srgbClr val="FFFFFF"/>
          </a:solidFill>
          <a:ln w="44450">
            <a:solidFill>
              <a:srgbClr val="0E9AA7"/>
            </a:solidFill>
            <a:prstDash val="solid"/>
          </a:ln>
        </p:spPr>
      </p:sp>
      <p:sp>
        <p:nvSpPr>
          <p:cNvPr id="42" name="Shape 38"/>
          <p:cNvSpPr/>
          <p:nvPr/>
        </p:nvSpPr>
        <p:spPr>
          <a:xfrm>
            <a:off x="7150608" y="1645920"/>
            <a:ext cx="292608" cy="502920"/>
          </a:xfrm>
          <a:prstGeom prst="roundRect">
            <a:avLst>
              <a:gd name="adj" fmla="val 9375"/>
            </a:avLst>
          </a:prstGeom>
          <a:solidFill>
            <a:srgbClr val="0B1F3A"/>
          </a:solidFill>
          <a:ln w="12700">
            <a:solidFill>
              <a:srgbClr val="0B1F3A"/>
            </a:solidFill>
            <a:prstDash val="solid"/>
          </a:ln>
        </p:spPr>
      </p:sp>
      <p:sp>
        <p:nvSpPr>
          <p:cNvPr id="43" name="Shape 39"/>
          <p:cNvSpPr/>
          <p:nvPr/>
        </p:nvSpPr>
        <p:spPr>
          <a:xfrm>
            <a:off x="7498080" y="1645920"/>
            <a:ext cx="292608" cy="502920"/>
          </a:xfrm>
          <a:prstGeom prst="roundRect">
            <a:avLst>
              <a:gd name="adj" fmla="val 9375"/>
            </a:avLst>
          </a:prstGeom>
          <a:solidFill>
            <a:srgbClr val="0B1F3A"/>
          </a:solidFill>
          <a:ln w="12700">
            <a:solidFill>
              <a:srgbClr val="0B1F3A"/>
            </a:solidFill>
            <a:prstDash val="solid"/>
          </a:ln>
        </p:spPr>
      </p:sp>
      <p:sp>
        <p:nvSpPr>
          <p:cNvPr id="44" name="Shape 40"/>
          <p:cNvSpPr/>
          <p:nvPr/>
        </p:nvSpPr>
        <p:spPr>
          <a:xfrm>
            <a:off x="7845552" y="1645920"/>
            <a:ext cx="292608" cy="502920"/>
          </a:xfrm>
          <a:prstGeom prst="roundRect">
            <a:avLst>
              <a:gd name="adj" fmla="val 9375"/>
            </a:avLst>
          </a:prstGeom>
          <a:solidFill>
            <a:srgbClr val="0B1F3A"/>
          </a:solidFill>
          <a:ln w="12700">
            <a:solidFill>
              <a:srgbClr val="0B1F3A"/>
            </a:solidFill>
            <a:prstDash val="solid"/>
          </a:ln>
        </p:spPr>
      </p:sp>
      <p:sp>
        <p:nvSpPr>
          <p:cNvPr id="45" name="Shape 41"/>
          <p:cNvSpPr/>
          <p:nvPr/>
        </p:nvSpPr>
        <p:spPr>
          <a:xfrm>
            <a:off x="8485632" y="1691640"/>
            <a:ext cx="54864" cy="548640"/>
          </a:xfrm>
          <a:prstGeom prst="rect">
            <a:avLst/>
          </a:prstGeom>
          <a:solidFill>
            <a:srgbClr val="E4F2F8"/>
          </a:solidFill>
          <a:ln w="12700">
            <a:solidFill>
              <a:srgbClr val="0E9AA7"/>
            </a:solidFill>
            <a:prstDash val="solid"/>
          </a:ln>
        </p:spPr>
      </p:sp>
      <p:sp>
        <p:nvSpPr>
          <p:cNvPr id="46" name="Shape 42"/>
          <p:cNvSpPr/>
          <p:nvPr/>
        </p:nvSpPr>
        <p:spPr>
          <a:xfrm>
            <a:off x="7223760" y="2331720"/>
            <a:ext cx="0" cy="164592"/>
          </a:xfrm>
          <a:prstGeom prst="line">
            <a:avLst/>
          </a:prstGeom>
          <a:noFill/>
          <a:ln w="19050">
            <a:solidFill>
              <a:srgbClr val="2B3440"/>
            </a:solidFill>
            <a:prstDash val="solid"/>
          </a:ln>
        </p:spPr>
      </p:sp>
      <p:sp>
        <p:nvSpPr>
          <p:cNvPr id="47" name="Shape 43"/>
          <p:cNvSpPr/>
          <p:nvPr/>
        </p:nvSpPr>
        <p:spPr>
          <a:xfrm>
            <a:off x="7077456" y="2496312"/>
            <a:ext cx="292608" cy="0"/>
          </a:xfrm>
          <a:prstGeom prst="line">
            <a:avLst/>
          </a:prstGeom>
          <a:noFill/>
          <a:ln w="19050">
            <a:solidFill>
              <a:srgbClr val="2B3440"/>
            </a:solidFill>
            <a:prstDash val="solid"/>
          </a:ln>
        </p:spPr>
      </p:sp>
      <p:sp>
        <p:nvSpPr>
          <p:cNvPr id="48" name="Shape 44"/>
          <p:cNvSpPr/>
          <p:nvPr/>
        </p:nvSpPr>
        <p:spPr>
          <a:xfrm>
            <a:off x="7132320" y="2542032"/>
            <a:ext cx="182880" cy="0"/>
          </a:xfrm>
          <a:prstGeom prst="line">
            <a:avLst/>
          </a:prstGeom>
          <a:noFill/>
          <a:ln w="19050">
            <a:solidFill>
              <a:srgbClr val="2B3440"/>
            </a:solidFill>
            <a:prstDash val="solid"/>
          </a:ln>
        </p:spPr>
      </p:sp>
      <p:sp>
        <p:nvSpPr>
          <p:cNvPr id="49" name="Shape 45"/>
          <p:cNvSpPr/>
          <p:nvPr/>
        </p:nvSpPr>
        <p:spPr>
          <a:xfrm>
            <a:off x="7182612" y="2587752"/>
            <a:ext cx="82296" cy="0"/>
          </a:xfrm>
          <a:prstGeom prst="line">
            <a:avLst/>
          </a:prstGeom>
          <a:noFill/>
          <a:ln w="19050">
            <a:solidFill>
              <a:srgbClr val="2B3440"/>
            </a:solidFill>
            <a:prstDash val="solid"/>
          </a:ln>
        </p:spPr>
      </p:sp>
      <p:sp>
        <p:nvSpPr>
          <p:cNvPr id="50" name="Text 46"/>
          <p:cNvSpPr txBox="1"/>
          <p:nvPr/>
        </p:nvSpPr>
        <p:spPr>
          <a:xfrm>
            <a:off x="6217920" y="2697480"/>
            <a:ext cx="2331720" cy="228600"/>
          </a:xfrm>
          <a:prstGeom prst="rect">
            <a:avLst/>
          </a:prstGeom>
          <a:noFill/>
          <a:ln/>
        </p:spPr>
        <p:txBody>
          <a:bodyPr wrap="square" lIns="0" tIns="0" rIns="0" bIns="0" rtlCol="0" anchor="t"/>
          <a:lstStyle/>
          <a:p>
            <a:pPr indent="0" marL="0">
              <a:buNone/>
            </a:pPr>
            <a:r>
              <a:rPr lang="en-US" sz="1150" b="1" dirty="0">
                <a:solidFill>
                  <a:srgbClr val="0B1F3A"/>
                </a:solidFill>
                <a:latin typeface="Arial" pitchFamily="34" charset="0"/>
                <a:ea typeface="Arial" pitchFamily="34" charset="-122"/>
                <a:cs typeface="Arial" pitchFamily="34" charset="-120"/>
              </a:rPr>
              <a:t>Экранированное помещение</a:t>
            </a:r>
            <a:endParaRPr lang="en-US" sz="1150" dirty="0"/>
          </a:p>
        </p:txBody>
      </p:sp>
      <p:sp>
        <p:nvSpPr>
          <p:cNvPr id="51" name="Text 47"/>
          <p:cNvSpPr txBox="1"/>
          <p:nvPr/>
        </p:nvSpPr>
        <p:spPr>
          <a:xfrm>
            <a:off x="6217920" y="2944368"/>
            <a:ext cx="2331720" cy="228600"/>
          </a:xfrm>
          <a:prstGeom prst="rect">
            <a:avLst/>
          </a:prstGeom>
          <a:noFill/>
          <a:ln/>
        </p:spPr>
        <p:txBody>
          <a:bodyPr wrap="square" lIns="0" tIns="0" rIns="0" bIns="0" rtlCol="0" anchor="t"/>
          <a:lstStyle/>
          <a:p>
            <a:pPr indent="0" marL="0">
              <a:buNone/>
            </a:pPr>
            <a:r>
              <a:rPr lang="en-US" sz="950" dirty="0">
                <a:solidFill>
                  <a:srgbClr val="64748B"/>
                </a:solidFill>
                <a:latin typeface="Arial" pitchFamily="34" charset="0"/>
                <a:ea typeface="Arial" pitchFamily="34" charset="-122"/>
                <a:cs typeface="Arial" pitchFamily="34" charset="-120"/>
              </a:rPr>
              <a:t>клетка Фарадея с заземлением</a:t>
            </a:r>
            <a:endParaRPr lang="en-US" sz="950" dirty="0"/>
          </a:p>
        </p:txBody>
      </p:sp>
      <p:sp>
        <p:nvSpPr>
          <p:cNvPr id="52" name="Text 48"/>
          <p:cNvSpPr txBox="1"/>
          <p:nvPr/>
        </p:nvSpPr>
        <p:spPr>
          <a:xfrm>
            <a:off x="457200" y="3429000"/>
            <a:ext cx="4572000" cy="182880"/>
          </a:xfrm>
          <a:prstGeom prst="rect">
            <a:avLst/>
          </a:prstGeom>
          <a:noFill/>
          <a:ln/>
        </p:spPr>
        <p:txBody>
          <a:bodyPr wrap="square" lIns="0" tIns="0" rIns="0" bIns="0" rtlCol="0" anchor="t"/>
          <a:lstStyle/>
          <a:p>
            <a:pPr indent="0" marL="0">
              <a:buNone/>
            </a:pPr>
            <a:r>
              <a:rPr lang="en-US" sz="900" b="1" spc="300" kern="0" dirty="0">
                <a:solidFill>
                  <a:srgbClr val="64748B"/>
                </a:solidFill>
                <a:latin typeface="Arial" pitchFamily="34" charset="0"/>
                <a:ea typeface="Arial" pitchFamily="34" charset="-122"/>
                <a:cs typeface="Arial" pitchFamily="34" charset="-120"/>
              </a:rPr>
              <a:t>ОТ ЧЕГО ЗАВИСИТ ЭФФЕКТИВНОСТЬ</a:t>
            </a:r>
            <a:endParaRPr lang="en-US" sz="900" dirty="0"/>
          </a:p>
        </p:txBody>
      </p:sp>
      <p:sp>
        <p:nvSpPr>
          <p:cNvPr id="53" name="Shape 49"/>
          <p:cNvSpPr/>
          <p:nvPr/>
        </p:nvSpPr>
        <p:spPr>
          <a:xfrm>
            <a:off x="457200" y="3703320"/>
            <a:ext cx="1536192" cy="960120"/>
          </a:xfrm>
          <a:prstGeom prst="roundRect">
            <a:avLst>
              <a:gd name="adj" fmla="val 761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54" name="Shape 50"/>
          <p:cNvSpPr/>
          <p:nvPr/>
        </p:nvSpPr>
        <p:spPr>
          <a:xfrm>
            <a:off x="594360" y="3822192"/>
            <a:ext cx="365760" cy="365760"/>
          </a:xfrm>
          <a:prstGeom prst="ellipse">
            <a:avLst/>
          </a:prstGeom>
          <a:solidFill>
            <a:srgbClr val="0B1F3A"/>
          </a:solidFill>
          <a:ln w="12700">
            <a:solidFill>
              <a:srgbClr val="0B1F3A"/>
            </a:solidFill>
            <a:prstDash val="solid"/>
          </a:ln>
        </p:spPr>
      </p:sp>
      <p:pic>
        <p:nvPicPr>
          <p:cNvPr id="55" name="Image 1" descr="preencoded.png">    </p:cNvPr>
          <p:cNvPicPr>
            <a:picLocks noChangeAspect="1"/>
          </p:cNvPicPr>
          <p:nvPr/>
        </p:nvPicPr>
        <p:blipFill>
          <a:blip r:embed="rId2"/>
          <a:stretch>
            <a:fillRect/>
          </a:stretch>
        </p:blipFill>
        <p:spPr>
          <a:xfrm>
            <a:off x="685800" y="3913632"/>
            <a:ext cx="182880" cy="182880"/>
          </a:xfrm>
          <a:prstGeom prst="rect">
            <a:avLst/>
          </a:prstGeom>
        </p:spPr>
      </p:pic>
      <p:sp>
        <p:nvSpPr>
          <p:cNvPr id="56" name="Text 51"/>
          <p:cNvSpPr txBox="1"/>
          <p:nvPr/>
        </p:nvSpPr>
        <p:spPr>
          <a:xfrm>
            <a:off x="594360" y="4242816"/>
            <a:ext cx="1325880" cy="201168"/>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Проводимость</a:t>
            </a:r>
            <a:endParaRPr lang="en-US" sz="1100" dirty="0"/>
          </a:p>
        </p:txBody>
      </p:sp>
      <p:sp>
        <p:nvSpPr>
          <p:cNvPr id="57" name="Text 52"/>
          <p:cNvSpPr txBox="1"/>
          <p:nvPr/>
        </p:nvSpPr>
        <p:spPr>
          <a:xfrm>
            <a:off x="594360" y="4443984"/>
            <a:ext cx="132588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Cu, Al, сталь</a:t>
            </a:r>
            <a:endParaRPr lang="en-US" sz="900" dirty="0"/>
          </a:p>
        </p:txBody>
      </p:sp>
      <p:sp>
        <p:nvSpPr>
          <p:cNvPr id="58" name="Shape 53"/>
          <p:cNvSpPr/>
          <p:nvPr/>
        </p:nvSpPr>
        <p:spPr>
          <a:xfrm>
            <a:off x="2130552" y="3703320"/>
            <a:ext cx="1536192" cy="960120"/>
          </a:xfrm>
          <a:prstGeom prst="roundRect">
            <a:avLst>
              <a:gd name="adj" fmla="val 761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59" name="Shape 54"/>
          <p:cNvSpPr/>
          <p:nvPr/>
        </p:nvSpPr>
        <p:spPr>
          <a:xfrm>
            <a:off x="2267712" y="3822192"/>
            <a:ext cx="365760" cy="365760"/>
          </a:xfrm>
          <a:prstGeom prst="ellipse">
            <a:avLst/>
          </a:prstGeom>
          <a:solidFill>
            <a:srgbClr val="0B1F3A"/>
          </a:solidFill>
          <a:ln w="12700">
            <a:solidFill>
              <a:srgbClr val="0B1F3A"/>
            </a:solidFill>
            <a:prstDash val="solid"/>
          </a:ln>
        </p:spPr>
      </p:sp>
      <p:pic>
        <p:nvPicPr>
          <p:cNvPr id="60" name="Image 2" descr="preencoded.png">    </p:cNvPr>
          <p:cNvPicPr>
            <a:picLocks noChangeAspect="1"/>
          </p:cNvPicPr>
          <p:nvPr/>
        </p:nvPicPr>
        <p:blipFill>
          <a:blip r:embed="rId3"/>
          <a:stretch>
            <a:fillRect/>
          </a:stretch>
        </p:blipFill>
        <p:spPr>
          <a:xfrm>
            <a:off x="2359152" y="3913632"/>
            <a:ext cx="182880" cy="182880"/>
          </a:xfrm>
          <a:prstGeom prst="rect">
            <a:avLst/>
          </a:prstGeom>
        </p:spPr>
      </p:pic>
      <p:sp>
        <p:nvSpPr>
          <p:cNvPr id="61" name="Text 55"/>
          <p:cNvSpPr txBox="1"/>
          <p:nvPr/>
        </p:nvSpPr>
        <p:spPr>
          <a:xfrm>
            <a:off x="2267712" y="4242816"/>
            <a:ext cx="1325880" cy="201168"/>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Непрерывность</a:t>
            </a:r>
            <a:endParaRPr lang="en-US" sz="1100" dirty="0"/>
          </a:p>
        </p:txBody>
      </p:sp>
      <p:sp>
        <p:nvSpPr>
          <p:cNvPr id="62" name="Text 56"/>
          <p:cNvSpPr txBox="1"/>
          <p:nvPr/>
        </p:nvSpPr>
        <p:spPr>
          <a:xfrm>
            <a:off x="2267712" y="4443984"/>
            <a:ext cx="132588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без щелей и окон</a:t>
            </a:r>
            <a:endParaRPr lang="en-US" sz="900" dirty="0"/>
          </a:p>
        </p:txBody>
      </p:sp>
      <p:sp>
        <p:nvSpPr>
          <p:cNvPr id="63" name="Shape 57"/>
          <p:cNvSpPr/>
          <p:nvPr/>
        </p:nvSpPr>
        <p:spPr>
          <a:xfrm>
            <a:off x="3803904" y="3703320"/>
            <a:ext cx="1536192" cy="960120"/>
          </a:xfrm>
          <a:prstGeom prst="roundRect">
            <a:avLst>
              <a:gd name="adj" fmla="val 761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64" name="Shape 58"/>
          <p:cNvSpPr/>
          <p:nvPr/>
        </p:nvSpPr>
        <p:spPr>
          <a:xfrm>
            <a:off x="3941064" y="3822192"/>
            <a:ext cx="365760" cy="365760"/>
          </a:xfrm>
          <a:prstGeom prst="ellipse">
            <a:avLst/>
          </a:prstGeom>
          <a:solidFill>
            <a:srgbClr val="0B1F3A"/>
          </a:solidFill>
          <a:ln w="12700">
            <a:solidFill>
              <a:srgbClr val="0B1F3A"/>
            </a:solidFill>
            <a:prstDash val="solid"/>
          </a:ln>
        </p:spPr>
      </p:sp>
      <p:pic>
        <p:nvPicPr>
          <p:cNvPr id="65" name="Image 3" descr="preencoded.png">    </p:cNvPr>
          <p:cNvPicPr>
            <a:picLocks noChangeAspect="1"/>
          </p:cNvPicPr>
          <p:nvPr/>
        </p:nvPicPr>
        <p:blipFill>
          <a:blip r:embed="rId4"/>
          <a:stretch>
            <a:fillRect/>
          </a:stretch>
        </p:blipFill>
        <p:spPr>
          <a:xfrm>
            <a:off x="4032504" y="3913632"/>
            <a:ext cx="182880" cy="182880"/>
          </a:xfrm>
          <a:prstGeom prst="rect">
            <a:avLst/>
          </a:prstGeom>
        </p:spPr>
      </p:pic>
      <p:sp>
        <p:nvSpPr>
          <p:cNvPr id="66" name="Text 59"/>
          <p:cNvSpPr txBox="1"/>
          <p:nvPr/>
        </p:nvSpPr>
        <p:spPr>
          <a:xfrm>
            <a:off x="3941064" y="4242816"/>
            <a:ext cx="1325880" cy="201168"/>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Толщина</a:t>
            </a:r>
            <a:endParaRPr lang="en-US" sz="1100" dirty="0"/>
          </a:p>
        </p:txBody>
      </p:sp>
      <p:sp>
        <p:nvSpPr>
          <p:cNvPr id="67" name="Text 60"/>
          <p:cNvSpPr txBox="1"/>
          <p:nvPr/>
        </p:nvSpPr>
        <p:spPr>
          <a:xfrm>
            <a:off x="3941064" y="4443984"/>
            <a:ext cx="132588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особенно на НЧ</a:t>
            </a:r>
            <a:endParaRPr lang="en-US" sz="900" dirty="0"/>
          </a:p>
        </p:txBody>
      </p:sp>
      <p:sp>
        <p:nvSpPr>
          <p:cNvPr id="68" name="Shape 61"/>
          <p:cNvSpPr/>
          <p:nvPr/>
        </p:nvSpPr>
        <p:spPr>
          <a:xfrm>
            <a:off x="5477256" y="3703320"/>
            <a:ext cx="1536192" cy="960120"/>
          </a:xfrm>
          <a:prstGeom prst="roundRect">
            <a:avLst>
              <a:gd name="adj" fmla="val 761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69" name="Shape 62"/>
          <p:cNvSpPr/>
          <p:nvPr/>
        </p:nvSpPr>
        <p:spPr>
          <a:xfrm>
            <a:off x="5614416" y="3822192"/>
            <a:ext cx="365760" cy="365760"/>
          </a:xfrm>
          <a:prstGeom prst="ellipse">
            <a:avLst/>
          </a:prstGeom>
          <a:solidFill>
            <a:srgbClr val="0B1F3A"/>
          </a:solidFill>
          <a:ln w="12700">
            <a:solidFill>
              <a:srgbClr val="0B1F3A"/>
            </a:solidFill>
            <a:prstDash val="solid"/>
          </a:ln>
        </p:spPr>
      </p:sp>
      <p:pic>
        <p:nvPicPr>
          <p:cNvPr id="70" name="Image 4" descr="preencoded.png">    </p:cNvPr>
          <p:cNvPicPr>
            <a:picLocks noChangeAspect="1"/>
          </p:cNvPicPr>
          <p:nvPr/>
        </p:nvPicPr>
        <p:blipFill>
          <a:blip r:embed="rId5"/>
          <a:stretch>
            <a:fillRect/>
          </a:stretch>
        </p:blipFill>
        <p:spPr>
          <a:xfrm>
            <a:off x="5705856" y="3913632"/>
            <a:ext cx="182880" cy="182880"/>
          </a:xfrm>
          <a:prstGeom prst="rect">
            <a:avLst/>
          </a:prstGeom>
        </p:spPr>
      </p:pic>
      <p:sp>
        <p:nvSpPr>
          <p:cNvPr id="71" name="Text 63"/>
          <p:cNvSpPr txBox="1"/>
          <p:nvPr/>
        </p:nvSpPr>
        <p:spPr>
          <a:xfrm>
            <a:off x="5614416" y="4242816"/>
            <a:ext cx="1325880" cy="201168"/>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Соединения</a:t>
            </a:r>
            <a:endParaRPr lang="en-US" sz="1100" dirty="0"/>
          </a:p>
        </p:txBody>
      </p:sp>
      <p:sp>
        <p:nvSpPr>
          <p:cNvPr id="72" name="Text 64"/>
          <p:cNvSpPr txBox="1"/>
          <p:nvPr/>
        </p:nvSpPr>
        <p:spPr>
          <a:xfrm>
            <a:off x="5614416" y="4443984"/>
            <a:ext cx="132588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швы, прокладки</a:t>
            </a:r>
            <a:endParaRPr lang="en-US" sz="900" dirty="0"/>
          </a:p>
        </p:txBody>
      </p:sp>
      <p:sp>
        <p:nvSpPr>
          <p:cNvPr id="73" name="Shape 65"/>
          <p:cNvSpPr/>
          <p:nvPr/>
        </p:nvSpPr>
        <p:spPr>
          <a:xfrm>
            <a:off x="7150608" y="3703320"/>
            <a:ext cx="1536192" cy="960120"/>
          </a:xfrm>
          <a:prstGeom prst="roundRect">
            <a:avLst>
              <a:gd name="adj" fmla="val 761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74" name="Shape 66"/>
          <p:cNvSpPr/>
          <p:nvPr/>
        </p:nvSpPr>
        <p:spPr>
          <a:xfrm>
            <a:off x="7287768" y="3822192"/>
            <a:ext cx="365760" cy="365760"/>
          </a:xfrm>
          <a:prstGeom prst="ellipse">
            <a:avLst/>
          </a:prstGeom>
          <a:solidFill>
            <a:srgbClr val="0B1F3A"/>
          </a:solidFill>
          <a:ln w="12700">
            <a:solidFill>
              <a:srgbClr val="0B1F3A"/>
            </a:solidFill>
            <a:prstDash val="solid"/>
          </a:ln>
        </p:spPr>
      </p:sp>
      <p:pic>
        <p:nvPicPr>
          <p:cNvPr id="75" name="Image 5" descr="preencoded.png">    </p:cNvPr>
          <p:cNvPicPr>
            <a:picLocks noChangeAspect="1"/>
          </p:cNvPicPr>
          <p:nvPr/>
        </p:nvPicPr>
        <p:blipFill>
          <a:blip r:embed="rId6"/>
          <a:stretch>
            <a:fillRect/>
          </a:stretch>
        </p:blipFill>
        <p:spPr>
          <a:xfrm>
            <a:off x="7379208" y="3913632"/>
            <a:ext cx="182880" cy="182880"/>
          </a:xfrm>
          <a:prstGeom prst="rect">
            <a:avLst/>
          </a:prstGeom>
        </p:spPr>
      </p:pic>
      <p:sp>
        <p:nvSpPr>
          <p:cNvPr id="76" name="Text 67"/>
          <p:cNvSpPr txBox="1"/>
          <p:nvPr/>
        </p:nvSpPr>
        <p:spPr>
          <a:xfrm>
            <a:off x="7287768" y="4242816"/>
            <a:ext cx="1325880" cy="201168"/>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Заземление</a:t>
            </a:r>
            <a:endParaRPr lang="en-US" sz="1100" dirty="0"/>
          </a:p>
        </p:txBody>
      </p:sp>
      <p:sp>
        <p:nvSpPr>
          <p:cNvPr id="77" name="Text 68"/>
          <p:cNvSpPr txBox="1"/>
          <p:nvPr/>
        </p:nvSpPr>
        <p:spPr>
          <a:xfrm>
            <a:off x="7287768" y="4443984"/>
            <a:ext cx="132588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отвод зарядов</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МАГНИТНОЕ ПОЛЕ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Почему магнитное поле экранировать сложнее</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05</a:t>
            </a:r>
            <a:endParaRPr lang="en-US" sz="800" dirty="0"/>
          </a:p>
        </p:txBody>
      </p:sp>
      <p:sp>
        <p:nvSpPr>
          <p:cNvPr id="7" name="Shape 4"/>
          <p:cNvSpPr/>
          <p:nvPr/>
        </p:nvSpPr>
        <p:spPr>
          <a:xfrm>
            <a:off x="457200" y="1280160"/>
            <a:ext cx="3931920" cy="2514600"/>
          </a:xfrm>
          <a:prstGeom prst="roundRect">
            <a:avLst>
              <a:gd name="adj" fmla="val 290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8" name="Text 5"/>
          <p:cNvSpPr txBox="1"/>
          <p:nvPr/>
        </p:nvSpPr>
        <p:spPr>
          <a:xfrm>
            <a:off x="640080" y="1389888"/>
            <a:ext cx="3566160" cy="256032"/>
          </a:xfrm>
          <a:prstGeom prst="rect">
            <a:avLst/>
          </a:prstGeom>
          <a:noFill/>
          <a:ln/>
        </p:spPr>
        <p:txBody>
          <a:bodyPr wrap="square" lIns="0" tIns="0" rIns="0" bIns="0" rtlCol="0" anchor="t"/>
          <a:lstStyle/>
          <a:p>
            <a:pPr indent="0" marL="0">
              <a:buNone/>
            </a:pPr>
            <a:r>
              <a:rPr lang="en-US" sz="1300" b="1" dirty="0">
                <a:solidFill>
                  <a:srgbClr val="0B1F3A"/>
                </a:solidFill>
                <a:latin typeface="Arial" pitchFamily="34" charset="0"/>
                <a:ea typeface="Arial" pitchFamily="34" charset="-122"/>
                <a:cs typeface="Arial" pitchFamily="34" charset="-120"/>
              </a:rPr>
              <a:t>Обычный материал</a:t>
            </a:r>
            <a:endParaRPr lang="en-US" sz="1300" dirty="0"/>
          </a:p>
        </p:txBody>
      </p:sp>
      <p:sp>
        <p:nvSpPr>
          <p:cNvPr id="9" name="Text 6"/>
          <p:cNvSpPr txBox="1"/>
          <p:nvPr/>
        </p:nvSpPr>
        <p:spPr>
          <a:xfrm>
            <a:off x="640080" y="1645920"/>
            <a:ext cx="3566160" cy="201168"/>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μ ≈ 1: алюминий, медь, пластик — поле проходит насквозь</a:t>
            </a:r>
            <a:endParaRPr lang="en-US" sz="1000" dirty="0"/>
          </a:p>
        </p:txBody>
      </p:sp>
      <p:sp>
        <p:nvSpPr>
          <p:cNvPr id="10" name="Shape 7"/>
          <p:cNvSpPr/>
          <p:nvPr/>
        </p:nvSpPr>
        <p:spPr>
          <a:xfrm>
            <a:off x="1691640" y="2697480"/>
            <a:ext cx="1463040" cy="457200"/>
          </a:xfrm>
          <a:prstGeom prst="rect">
            <a:avLst/>
          </a:prstGeom>
          <a:solidFill>
            <a:srgbClr val="DDE4EC"/>
          </a:solidFill>
          <a:ln w="12700">
            <a:solidFill>
              <a:srgbClr val="9AA8B8"/>
            </a:solidFill>
            <a:prstDash val="solid"/>
          </a:ln>
        </p:spPr>
      </p:sp>
      <p:sp>
        <p:nvSpPr>
          <p:cNvPr id="11" name="Shape 8"/>
          <p:cNvSpPr/>
          <p:nvPr/>
        </p:nvSpPr>
        <p:spPr>
          <a:xfrm>
            <a:off x="594360" y="219456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12" name="Shape 9"/>
          <p:cNvSpPr/>
          <p:nvPr/>
        </p:nvSpPr>
        <p:spPr>
          <a:xfrm rot="5400000">
            <a:off x="1036320" y="2148840"/>
            <a:ext cx="91440" cy="100584"/>
          </a:xfrm>
          <a:prstGeom prst="triangle">
            <a:avLst/>
          </a:prstGeom>
          <a:solidFill>
            <a:srgbClr val="5CC3D9"/>
          </a:solidFill>
          <a:ln w="12700">
            <a:solidFill>
              <a:srgbClr val="5CC3D9"/>
            </a:solidFill>
            <a:prstDash val="solid"/>
          </a:ln>
        </p:spPr>
      </p:sp>
      <p:sp>
        <p:nvSpPr>
          <p:cNvPr id="13" name="Shape 10"/>
          <p:cNvSpPr/>
          <p:nvPr/>
        </p:nvSpPr>
        <p:spPr>
          <a:xfrm rot="5400000">
            <a:off x="3840480" y="2148840"/>
            <a:ext cx="91440" cy="100584"/>
          </a:xfrm>
          <a:prstGeom prst="triangle">
            <a:avLst/>
          </a:prstGeom>
          <a:solidFill>
            <a:srgbClr val="5CC3D9"/>
          </a:solidFill>
          <a:ln w="12700">
            <a:solidFill>
              <a:srgbClr val="5CC3D9"/>
            </a:solidFill>
            <a:prstDash val="solid"/>
          </a:ln>
        </p:spPr>
      </p:sp>
      <p:sp>
        <p:nvSpPr>
          <p:cNvPr id="14" name="Shape 11"/>
          <p:cNvSpPr/>
          <p:nvPr/>
        </p:nvSpPr>
        <p:spPr>
          <a:xfrm>
            <a:off x="594360" y="237744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15" name="Shape 12"/>
          <p:cNvSpPr/>
          <p:nvPr/>
        </p:nvSpPr>
        <p:spPr>
          <a:xfrm rot="5400000">
            <a:off x="1036320" y="2331720"/>
            <a:ext cx="91440" cy="100584"/>
          </a:xfrm>
          <a:prstGeom prst="triangle">
            <a:avLst/>
          </a:prstGeom>
          <a:solidFill>
            <a:srgbClr val="5CC3D9"/>
          </a:solidFill>
          <a:ln w="12700">
            <a:solidFill>
              <a:srgbClr val="5CC3D9"/>
            </a:solidFill>
            <a:prstDash val="solid"/>
          </a:ln>
        </p:spPr>
      </p:sp>
      <p:sp>
        <p:nvSpPr>
          <p:cNvPr id="16" name="Shape 13"/>
          <p:cNvSpPr/>
          <p:nvPr/>
        </p:nvSpPr>
        <p:spPr>
          <a:xfrm rot="5400000">
            <a:off x="3840480" y="2331720"/>
            <a:ext cx="91440" cy="100584"/>
          </a:xfrm>
          <a:prstGeom prst="triangle">
            <a:avLst/>
          </a:prstGeom>
          <a:solidFill>
            <a:srgbClr val="5CC3D9"/>
          </a:solidFill>
          <a:ln w="12700">
            <a:solidFill>
              <a:srgbClr val="5CC3D9"/>
            </a:solidFill>
            <a:prstDash val="solid"/>
          </a:ln>
        </p:spPr>
      </p:sp>
      <p:sp>
        <p:nvSpPr>
          <p:cNvPr id="17" name="Shape 14"/>
          <p:cNvSpPr/>
          <p:nvPr/>
        </p:nvSpPr>
        <p:spPr>
          <a:xfrm>
            <a:off x="594360" y="256032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18" name="Shape 15"/>
          <p:cNvSpPr/>
          <p:nvPr/>
        </p:nvSpPr>
        <p:spPr>
          <a:xfrm rot="5400000">
            <a:off x="1036320" y="2514600"/>
            <a:ext cx="91440" cy="100584"/>
          </a:xfrm>
          <a:prstGeom prst="triangle">
            <a:avLst/>
          </a:prstGeom>
          <a:solidFill>
            <a:srgbClr val="5CC3D9"/>
          </a:solidFill>
          <a:ln w="12700">
            <a:solidFill>
              <a:srgbClr val="5CC3D9"/>
            </a:solidFill>
            <a:prstDash val="solid"/>
          </a:ln>
        </p:spPr>
      </p:sp>
      <p:sp>
        <p:nvSpPr>
          <p:cNvPr id="19" name="Shape 16"/>
          <p:cNvSpPr/>
          <p:nvPr/>
        </p:nvSpPr>
        <p:spPr>
          <a:xfrm rot="5400000">
            <a:off x="3840480" y="2514600"/>
            <a:ext cx="91440" cy="100584"/>
          </a:xfrm>
          <a:prstGeom prst="triangle">
            <a:avLst/>
          </a:prstGeom>
          <a:solidFill>
            <a:srgbClr val="5CC3D9"/>
          </a:solidFill>
          <a:ln w="12700">
            <a:solidFill>
              <a:srgbClr val="5CC3D9"/>
            </a:solidFill>
            <a:prstDash val="solid"/>
          </a:ln>
        </p:spPr>
      </p:sp>
      <p:sp>
        <p:nvSpPr>
          <p:cNvPr id="20" name="Shape 17"/>
          <p:cNvSpPr/>
          <p:nvPr/>
        </p:nvSpPr>
        <p:spPr>
          <a:xfrm>
            <a:off x="594360" y="274320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21" name="Shape 18"/>
          <p:cNvSpPr/>
          <p:nvPr/>
        </p:nvSpPr>
        <p:spPr>
          <a:xfrm rot="5400000">
            <a:off x="1036320" y="2697480"/>
            <a:ext cx="91440" cy="100584"/>
          </a:xfrm>
          <a:prstGeom prst="triangle">
            <a:avLst/>
          </a:prstGeom>
          <a:solidFill>
            <a:srgbClr val="5CC3D9"/>
          </a:solidFill>
          <a:ln w="12700">
            <a:solidFill>
              <a:srgbClr val="5CC3D9"/>
            </a:solidFill>
            <a:prstDash val="solid"/>
          </a:ln>
        </p:spPr>
      </p:sp>
      <p:sp>
        <p:nvSpPr>
          <p:cNvPr id="22" name="Shape 19"/>
          <p:cNvSpPr/>
          <p:nvPr/>
        </p:nvSpPr>
        <p:spPr>
          <a:xfrm rot="5400000">
            <a:off x="3840480" y="2697480"/>
            <a:ext cx="91440" cy="100584"/>
          </a:xfrm>
          <a:prstGeom prst="triangle">
            <a:avLst/>
          </a:prstGeom>
          <a:solidFill>
            <a:srgbClr val="5CC3D9"/>
          </a:solidFill>
          <a:ln w="12700">
            <a:solidFill>
              <a:srgbClr val="5CC3D9"/>
            </a:solidFill>
            <a:prstDash val="solid"/>
          </a:ln>
        </p:spPr>
      </p:sp>
      <p:sp>
        <p:nvSpPr>
          <p:cNvPr id="23" name="Shape 20"/>
          <p:cNvSpPr/>
          <p:nvPr/>
        </p:nvSpPr>
        <p:spPr>
          <a:xfrm>
            <a:off x="594360" y="292608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24" name="Shape 21"/>
          <p:cNvSpPr/>
          <p:nvPr/>
        </p:nvSpPr>
        <p:spPr>
          <a:xfrm rot="5400000">
            <a:off x="1036320" y="2880360"/>
            <a:ext cx="91440" cy="100584"/>
          </a:xfrm>
          <a:prstGeom prst="triangle">
            <a:avLst/>
          </a:prstGeom>
          <a:solidFill>
            <a:srgbClr val="5CC3D9"/>
          </a:solidFill>
          <a:ln w="12700">
            <a:solidFill>
              <a:srgbClr val="5CC3D9"/>
            </a:solidFill>
            <a:prstDash val="solid"/>
          </a:ln>
        </p:spPr>
      </p:sp>
      <p:sp>
        <p:nvSpPr>
          <p:cNvPr id="25" name="Shape 22"/>
          <p:cNvSpPr/>
          <p:nvPr/>
        </p:nvSpPr>
        <p:spPr>
          <a:xfrm rot="5400000">
            <a:off x="3840480" y="2880360"/>
            <a:ext cx="91440" cy="100584"/>
          </a:xfrm>
          <a:prstGeom prst="triangle">
            <a:avLst/>
          </a:prstGeom>
          <a:solidFill>
            <a:srgbClr val="5CC3D9"/>
          </a:solidFill>
          <a:ln w="12700">
            <a:solidFill>
              <a:srgbClr val="5CC3D9"/>
            </a:solidFill>
            <a:prstDash val="solid"/>
          </a:ln>
        </p:spPr>
      </p:sp>
      <p:sp>
        <p:nvSpPr>
          <p:cNvPr id="26" name="Shape 23"/>
          <p:cNvSpPr/>
          <p:nvPr/>
        </p:nvSpPr>
        <p:spPr>
          <a:xfrm>
            <a:off x="594360" y="310896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27" name="Shape 24"/>
          <p:cNvSpPr/>
          <p:nvPr/>
        </p:nvSpPr>
        <p:spPr>
          <a:xfrm rot="5400000">
            <a:off x="1036320" y="3063240"/>
            <a:ext cx="91440" cy="100584"/>
          </a:xfrm>
          <a:prstGeom prst="triangle">
            <a:avLst/>
          </a:prstGeom>
          <a:solidFill>
            <a:srgbClr val="5CC3D9"/>
          </a:solidFill>
          <a:ln w="12700">
            <a:solidFill>
              <a:srgbClr val="5CC3D9"/>
            </a:solidFill>
            <a:prstDash val="solid"/>
          </a:ln>
        </p:spPr>
      </p:sp>
      <p:sp>
        <p:nvSpPr>
          <p:cNvPr id="28" name="Shape 25"/>
          <p:cNvSpPr/>
          <p:nvPr/>
        </p:nvSpPr>
        <p:spPr>
          <a:xfrm rot="5400000">
            <a:off x="3840480" y="3063240"/>
            <a:ext cx="91440" cy="100584"/>
          </a:xfrm>
          <a:prstGeom prst="triangle">
            <a:avLst/>
          </a:prstGeom>
          <a:solidFill>
            <a:srgbClr val="5CC3D9"/>
          </a:solidFill>
          <a:ln w="12700">
            <a:solidFill>
              <a:srgbClr val="5CC3D9"/>
            </a:solidFill>
            <a:prstDash val="solid"/>
          </a:ln>
        </p:spPr>
      </p:sp>
      <p:sp>
        <p:nvSpPr>
          <p:cNvPr id="29" name="Shape 26"/>
          <p:cNvSpPr/>
          <p:nvPr/>
        </p:nvSpPr>
        <p:spPr>
          <a:xfrm>
            <a:off x="594360" y="329184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30" name="Shape 27"/>
          <p:cNvSpPr/>
          <p:nvPr/>
        </p:nvSpPr>
        <p:spPr>
          <a:xfrm rot="5400000">
            <a:off x="1036320" y="3246120"/>
            <a:ext cx="91440" cy="100584"/>
          </a:xfrm>
          <a:prstGeom prst="triangle">
            <a:avLst/>
          </a:prstGeom>
          <a:solidFill>
            <a:srgbClr val="5CC3D9"/>
          </a:solidFill>
          <a:ln w="12700">
            <a:solidFill>
              <a:srgbClr val="5CC3D9"/>
            </a:solidFill>
            <a:prstDash val="solid"/>
          </a:ln>
        </p:spPr>
      </p:sp>
      <p:sp>
        <p:nvSpPr>
          <p:cNvPr id="31" name="Shape 28"/>
          <p:cNvSpPr/>
          <p:nvPr/>
        </p:nvSpPr>
        <p:spPr>
          <a:xfrm rot="5400000">
            <a:off x="3840480" y="3246120"/>
            <a:ext cx="91440" cy="100584"/>
          </a:xfrm>
          <a:prstGeom prst="triangle">
            <a:avLst/>
          </a:prstGeom>
          <a:solidFill>
            <a:srgbClr val="5CC3D9"/>
          </a:solidFill>
          <a:ln w="12700">
            <a:solidFill>
              <a:srgbClr val="5CC3D9"/>
            </a:solidFill>
            <a:prstDash val="solid"/>
          </a:ln>
        </p:spPr>
      </p:sp>
      <p:sp>
        <p:nvSpPr>
          <p:cNvPr id="32" name="Shape 29"/>
          <p:cNvSpPr/>
          <p:nvPr/>
        </p:nvSpPr>
        <p:spPr>
          <a:xfrm>
            <a:off x="594360" y="347472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33" name="Shape 30"/>
          <p:cNvSpPr/>
          <p:nvPr/>
        </p:nvSpPr>
        <p:spPr>
          <a:xfrm rot="5400000">
            <a:off x="1036320" y="3429000"/>
            <a:ext cx="91440" cy="100584"/>
          </a:xfrm>
          <a:prstGeom prst="triangle">
            <a:avLst/>
          </a:prstGeom>
          <a:solidFill>
            <a:srgbClr val="5CC3D9"/>
          </a:solidFill>
          <a:ln w="12700">
            <a:solidFill>
              <a:srgbClr val="5CC3D9"/>
            </a:solidFill>
            <a:prstDash val="solid"/>
          </a:ln>
        </p:spPr>
      </p:sp>
      <p:sp>
        <p:nvSpPr>
          <p:cNvPr id="34" name="Shape 31"/>
          <p:cNvSpPr/>
          <p:nvPr/>
        </p:nvSpPr>
        <p:spPr>
          <a:xfrm rot="5400000">
            <a:off x="3840480" y="3429000"/>
            <a:ext cx="91440" cy="100584"/>
          </a:xfrm>
          <a:prstGeom prst="triangle">
            <a:avLst/>
          </a:prstGeom>
          <a:solidFill>
            <a:srgbClr val="5CC3D9"/>
          </a:solidFill>
          <a:ln w="12700">
            <a:solidFill>
              <a:srgbClr val="5CC3D9"/>
            </a:solidFill>
            <a:prstDash val="solid"/>
          </a:ln>
        </p:spPr>
      </p:sp>
      <p:sp>
        <p:nvSpPr>
          <p:cNvPr id="35" name="Shape 32"/>
          <p:cNvSpPr/>
          <p:nvPr/>
        </p:nvSpPr>
        <p:spPr>
          <a:xfrm>
            <a:off x="594360" y="365760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5CC3D9"/>
            </a:solidFill>
            <a:prstDash val="solid"/>
          </a:ln>
        </p:spPr>
      </p:sp>
      <p:sp>
        <p:nvSpPr>
          <p:cNvPr id="36" name="Shape 33"/>
          <p:cNvSpPr/>
          <p:nvPr/>
        </p:nvSpPr>
        <p:spPr>
          <a:xfrm rot="5400000">
            <a:off x="1036320" y="3611880"/>
            <a:ext cx="91440" cy="100584"/>
          </a:xfrm>
          <a:prstGeom prst="triangle">
            <a:avLst/>
          </a:prstGeom>
          <a:solidFill>
            <a:srgbClr val="5CC3D9"/>
          </a:solidFill>
          <a:ln w="12700">
            <a:solidFill>
              <a:srgbClr val="5CC3D9"/>
            </a:solidFill>
            <a:prstDash val="solid"/>
          </a:ln>
        </p:spPr>
      </p:sp>
      <p:sp>
        <p:nvSpPr>
          <p:cNvPr id="37" name="Shape 34"/>
          <p:cNvSpPr/>
          <p:nvPr/>
        </p:nvSpPr>
        <p:spPr>
          <a:xfrm rot="5400000">
            <a:off x="3840480" y="3611880"/>
            <a:ext cx="91440" cy="100584"/>
          </a:xfrm>
          <a:prstGeom prst="triangle">
            <a:avLst/>
          </a:prstGeom>
          <a:solidFill>
            <a:srgbClr val="5CC3D9"/>
          </a:solidFill>
          <a:ln w="12700">
            <a:solidFill>
              <a:srgbClr val="5CC3D9"/>
            </a:solidFill>
            <a:prstDash val="solid"/>
          </a:ln>
        </p:spPr>
      </p:sp>
      <p:sp>
        <p:nvSpPr>
          <p:cNvPr id="38" name="Shape 35"/>
          <p:cNvSpPr/>
          <p:nvPr/>
        </p:nvSpPr>
        <p:spPr>
          <a:xfrm>
            <a:off x="4754880" y="1280160"/>
            <a:ext cx="3931920" cy="2514600"/>
          </a:xfrm>
          <a:prstGeom prst="roundRect">
            <a:avLst>
              <a:gd name="adj" fmla="val 2909"/>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9" name="Text 36"/>
          <p:cNvSpPr txBox="1"/>
          <p:nvPr/>
        </p:nvSpPr>
        <p:spPr>
          <a:xfrm>
            <a:off x="4937760" y="1389888"/>
            <a:ext cx="3566160" cy="256032"/>
          </a:xfrm>
          <a:prstGeom prst="rect">
            <a:avLst/>
          </a:prstGeom>
          <a:noFill/>
          <a:ln/>
        </p:spPr>
        <p:txBody>
          <a:bodyPr wrap="square" lIns="0" tIns="0" rIns="0" bIns="0" rtlCol="0" anchor="t"/>
          <a:lstStyle/>
          <a:p>
            <a:pPr indent="0" marL="0">
              <a:buNone/>
            </a:pPr>
            <a:r>
              <a:rPr lang="en-US" sz="1300" b="1" dirty="0">
                <a:solidFill>
                  <a:srgbClr val="0B1F3A"/>
                </a:solidFill>
                <a:latin typeface="Arial" pitchFamily="34" charset="0"/>
                <a:ea typeface="Arial" pitchFamily="34" charset="-122"/>
                <a:cs typeface="Arial" pitchFamily="34" charset="-120"/>
              </a:rPr>
              <a:t>Материал с высокой μ</a:t>
            </a:r>
            <a:endParaRPr lang="en-US" sz="1300" dirty="0"/>
          </a:p>
        </p:txBody>
      </p:sp>
      <p:sp>
        <p:nvSpPr>
          <p:cNvPr id="40" name="Text 37"/>
          <p:cNvSpPr txBox="1"/>
          <p:nvPr/>
        </p:nvSpPr>
        <p:spPr>
          <a:xfrm>
            <a:off x="4937760" y="1645920"/>
            <a:ext cx="3566160" cy="201168"/>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μ ≫ 1: пермаллой, электротехническая сталь — поток втягивается</a:t>
            </a:r>
            <a:endParaRPr lang="en-US" sz="1000" dirty="0"/>
          </a:p>
        </p:txBody>
      </p:sp>
      <p:sp>
        <p:nvSpPr>
          <p:cNvPr id="41" name="Shape 38"/>
          <p:cNvSpPr/>
          <p:nvPr/>
        </p:nvSpPr>
        <p:spPr>
          <a:xfrm>
            <a:off x="5989320" y="2697480"/>
            <a:ext cx="1463040" cy="457200"/>
          </a:xfrm>
          <a:prstGeom prst="rect">
            <a:avLst/>
          </a:prstGeom>
          <a:solidFill>
            <a:srgbClr val="13305A"/>
          </a:solidFill>
          <a:ln w="12700">
            <a:solidFill>
              <a:srgbClr val="0B1F3A"/>
            </a:solidFill>
            <a:prstDash val="solid"/>
          </a:ln>
        </p:spPr>
      </p:sp>
      <p:sp>
        <p:nvSpPr>
          <p:cNvPr id="42" name="Shape 39"/>
          <p:cNvSpPr/>
          <p:nvPr/>
        </p:nvSpPr>
        <p:spPr>
          <a:xfrm>
            <a:off x="4892040" y="2194560"/>
            <a:ext cx="3657600" cy="555955"/>
          </a:xfrm>
          <a:custGeom>
            <a:avLst/>
            <a:gdLst/>
            <a:ahLst/>
            <a:cxnLst/>
            <a:rect l="l" t="t" r="r" b="b"/>
            <a:pathLst>
              <a:path w="3657600" h="555955">
                <a:moveTo>
                  <a:pt x="0" y="0"/>
                </a:moveTo>
                <a:lnTo>
                  <a:pt x="60960" y="0"/>
                </a:lnTo>
                <a:lnTo>
                  <a:pt x="121920" y="0"/>
                </a:lnTo>
                <a:lnTo>
                  <a:pt x="182880" y="0"/>
                </a:lnTo>
                <a:lnTo>
                  <a:pt x="243840" y="0"/>
                </a:lnTo>
                <a:lnTo>
                  <a:pt x="304800" y="0"/>
                </a:lnTo>
                <a:lnTo>
                  <a:pt x="365760" y="5545"/>
                </a:lnTo>
                <a:lnTo>
                  <a:pt x="426720" y="28546"/>
                </a:lnTo>
                <a:lnTo>
                  <a:pt x="487680" y="66433"/>
                </a:lnTo>
                <a:lnTo>
                  <a:pt x="548640" y="115989"/>
                </a:lnTo>
                <a:lnTo>
                  <a:pt x="609600" y="173994"/>
                </a:lnTo>
                <a:lnTo>
                  <a:pt x="670560" y="237230"/>
                </a:lnTo>
                <a:lnTo>
                  <a:pt x="731520" y="302477"/>
                </a:lnTo>
                <a:lnTo>
                  <a:pt x="792480" y="366517"/>
                </a:lnTo>
                <a:lnTo>
                  <a:pt x="853440" y="426131"/>
                </a:lnTo>
                <a:lnTo>
                  <a:pt x="914400" y="478101"/>
                </a:lnTo>
                <a:lnTo>
                  <a:pt x="975360" y="519208"/>
                </a:lnTo>
                <a:lnTo>
                  <a:pt x="1036320" y="546232"/>
                </a:lnTo>
                <a:lnTo>
                  <a:pt x="1097280" y="555955"/>
                </a:lnTo>
                <a:lnTo>
                  <a:pt x="1158240" y="555955"/>
                </a:lnTo>
                <a:lnTo>
                  <a:pt x="1219200" y="555955"/>
                </a:lnTo>
                <a:lnTo>
                  <a:pt x="1280160" y="555955"/>
                </a:lnTo>
                <a:lnTo>
                  <a:pt x="1341120" y="555955"/>
                </a:lnTo>
                <a:lnTo>
                  <a:pt x="1402080" y="555955"/>
                </a:lnTo>
                <a:lnTo>
                  <a:pt x="1463040" y="555955"/>
                </a:lnTo>
                <a:lnTo>
                  <a:pt x="1524000" y="555955"/>
                </a:lnTo>
                <a:lnTo>
                  <a:pt x="1584960" y="555955"/>
                </a:lnTo>
                <a:lnTo>
                  <a:pt x="1645920" y="555955"/>
                </a:lnTo>
                <a:lnTo>
                  <a:pt x="1706880" y="555955"/>
                </a:lnTo>
                <a:lnTo>
                  <a:pt x="1767840" y="555955"/>
                </a:lnTo>
                <a:lnTo>
                  <a:pt x="1828800" y="555955"/>
                </a:lnTo>
                <a:lnTo>
                  <a:pt x="1889760" y="555955"/>
                </a:lnTo>
                <a:lnTo>
                  <a:pt x="1950720" y="555955"/>
                </a:lnTo>
                <a:lnTo>
                  <a:pt x="2011680" y="555955"/>
                </a:lnTo>
                <a:lnTo>
                  <a:pt x="2072640" y="555955"/>
                </a:lnTo>
                <a:lnTo>
                  <a:pt x="2133600" y="555955"/>
                </a:lnTo>
                <a:lnTo>
                  <a:pt x="2194560" y="555955"/>
                </a:lnTo>
                <a:lnTo>
                  <a:pt x="2255520" y="555955"/>
                </a:lnTo>
                <a:lnTo>
                  <a:pt x="2316480" y="555955"/>
                </a:lnTo>
                <a:lnTo>
                  <a:pt x="2377440" y="555955"/>
                </a:lnTo>
                <a:lnTo>
                  <a:pt x="2438400" y="555955"/>
                </a:lnTo>
                <a:lnTo>
                  <a:pt x="2499360" y="555955"/>
                </a:lnTo>
                <a:lnTo>
                  <a:pt x="2560320" y="555955"/>
                </a:lnTo>
                <a:lnTo>
                  <a:pt x="2621280" y="546232"/>
                </a:lnTo>
                <a:lnTo>
                  <a:pt x="2682240" y="519208"/>
                </a:lnTo>
                <a:lnTo>
                  <a:pt x="2743200" y="478101"/>
                </a:lnTo>
                <a:lnTo>
                  <a:pt x="2804160" y="426131"/>
                </a:lnTo>
                <a:lnTo>
                  <a:pt x="2865120" y="366517"/>
                </a:lnTo>
                <a:lnTo>
                  <a:pt x="2926080" y="302477"/>
                </a:lnTo>
                <a:lnTo>
                  <a:pt x="2987040" y="237230"/>
                </a:lnTo>
                <a:lnTo>
                  <a:pt x="3048000" y="173994"/>
                </a:lnTo>
                <a:lnTo>
                  <a:pt x="3108960" y="115989"/>
                </a:lnTo>
                <a:lnTo>
                  <a:pt x="3169920" y="66433"/>
                </a:lnTo>
                <a:lnTo>
                  <a:pt x="3230880" y="28546"/>
                </a:lnTo>
                <a:lnTo>
                  <a:pt x="3291840" y="5545"/>
                </a:lnTo>
                <a:lnTo>
                  <a:pt x="3352800" y="0"/>
                </a:lnTo>
                <a:lnTo>
                  <a:pt x="3413760" y="0"/>
                </a:lnTo>
                <a:lnTo>
                  <a:pt x="3474720" y="0"/>
                </a:lnTo>
                <a:lnTo>
                  <a:pt x="3535680" y="0"/>
                </a:lnTo>
                <a:lnTo>
                  <a:pt x="3596640" y="0"/>
                </a:lnTo>
                <a:lnTo>
                  <a:pt x="3657600" y="0"/>
                </a:lnTo>
              </a:path>
            </a:pathLst>
          </a:custGeom>
          <a:noFill/>
          <a:ln w="15875">
            <a:solidFill>
              <a:srgbClr val="1FB6D4"/>
            </a:solidFill>
            <a:prstDash val="solid"/>
          </a:ln>
        </p:spPr>
      </p:sp>
      <p:sp>
        <p:nvSpPr>
          <p:cNvPr id="43" name="Shape 40"/>
          <p:cNvSpPr/>
          <p:nvPr/>
        </p:nvSpPr>
        <p:spPr>
          <a:xfrm rot="6992289">
            <a:off x="5334000" y="2215273"/>
            <a:ext cx="91440" cy="100584"/>
          </a:xfrm>
          <a:prstGeom prst="triangle">
            <a:avLst/>
          </a:prstGeom>
          <a:solidFill>
            <a:srgbClr val="1FB6D4"/>
          </a:solidFill>
          <a:ln w="12700">
            <a:solidFill>
              <a:srgbClr val="1FB6D4"/>
            </a:solidFill>
            <a:prstDash val="solid"/>
          </a:ln>
        </p:spPr>
      </p:sp>
      <p:sp>
        <p:nvSpPr>
          <p:cNvPr id="44" name="Shape 41"/>
          <p:cNvSpPr/>
          <p:nvPr/>
        </p:nvSpPr>
        <p:spPr>
          <a:xfrm rot="3807711">
            <a:off x="8138160" y="2154385"/>
            <a:ext cx="91440" cy="100584"/>
          </a:xfrm>
          <a:prstGeom prst="triangle">
            <a:avLst/>
          </a:prstGeom>
          <a:solidFill>
            <a:srgbClr val="1FB6D4"/>
          </a:solidFill>
          <a:ln w="12700">
            <a:solidFill>
              <a:srgbClr val="1FB6D4"/>
            </a:solidFill>
            <a:prstDash val="solid"/>
          </a:ln>
        </p:spPr>
      </p:sp>
      <p:sp>
        <p:nvSpPr>
          <p:cNvPr id="45" name="Shape 42"/>
          <p:cNvSpPr/>
          <p:nvPr/>
        </p:nvSpPr>
        <p:spPr>
          <a:xfrm>
            <a:off x="4892040" y="2377440"/>
            <a:ext cx="3657600" cy="416966"/>
          </a:xfrm>
          <a:custGeom>
            <a:avLst/>
            <a:gdLst/>
            <a:ahLst/>
            <a:cxnLst/>
            <a:rect l="l" t="t" r="r" b="b"/>
            <a:pathLst>
              <a:path w="3657600" h="416966">
                <a:moveTo>
                  <a:pt x="0" y="0"/>
                </a:moveTo>
                <a:lnTo>
                  <a:pt x="60960" y="0"/>
                </a:lnTo>
                <a:lnTo>
                  <a:pt x="121920" y="0"/>
                </a:lnTo>
                <a:lnTo>
                  <a:pt x="182880" y="0"/>
                </a:lnTo>
                <a:lnTo>
                  <a:pt x="243840" y="0"/>
                </a:lnTo>
                <a:lnTo>
                  <a:pt x="304800" y="0"/>
                </a:lnTo>
                <a:lnTo>
                  <a:pt x="365760" y="4159"/>
                </a:lnTo>
                <a:lnTo>
                  <a:pt x="426720" y="21409"/>
                </a:lnTo>
                <a:lnTo>
                  <a:pt x="487680" y="49825"/>
                </a:lnTo>
                <a:lnTo>
                  <a:pt x="548640" y="86992"/>
                </a:lnTo>
                <a:lnTo>
                  <a:pt x="609600" y="130496"/>
                </a:lnTo>
                <a:lnTo>
                  <a:pt x="670560" y="177922"/>
                </a:lnTo>
                <a:lnTo>
                  <a:pt x="731520" y="226858"/>
                </a:lnTo>
                <a:lnTo>
                  <a:pt x="792480" y="274888"/>
                </a:lnTo>
                <a:lnTo>
                  <a:pt x="853440" y="319598"/>
                </a:lnTo>
                <a:lnTo>
                  <a:pt x="914400" y="358576"/>
                </a:lnTo>
                <a:lnTo>
                  <a:pt x="975360" y="389406"/>
                </a:lnTo>
                <a:lnTo>
                  <a:pt x="1036320" y="409674"/>
                </a:lnTo>
                <a:lnTo>
                  <a:pt x="1097280" y="416966"/>
                </a:lnTo>
                <a:lnTo>
                  <a:pt x="1158240" y="416966"/>
                </a:lnTo>
                <a:lnTo>
                  <a:pt x="1219200" y="416966"/>
                </a:lnTo>
                <a:lnTo>
                  <a:pt x="1280160" y="416966"/>
                </a:lnTo>
                <a:lnTo>
                  <a:pt x="1341120" y="416966"/>
                </a:lnTo>
                <a:lnTo>
                  <a:pt x="1402080" y="416966"/>
                </a:lnTo>
                <a:lnTo>
                  <a:pt x="1463040" y="416966"/>
                </a:lnTo>
                <a:lnTo>
                  <a:pt x="1524000" y="416966"/>
                </a:lnTo>
                <a:lnTo>
                  <a:pt x="1584960" y="416966"/>
                </a:lnTo>
                <a:lnTo>
                  <a:pt x="1645920" y="416966"/>
                </a:lnTo>
                <a:lnTo>
                  <a:pt x="1706880" y="416966"/>
                </a:lnTo>
                <a:lnTo>
                  <a:pt x="1767840" y="416966"/>
                </a:lnTo>
                <a:lnTo>
                  <a:pt x="1828800" y="416966"/>
                </a:lnTo>
                <a:lnTo>
                  <a:pt x="1889760" y="416966"/>
                </a:lnTo>
                <a:lnTo>
                  <a:pt x="1950720" y="416966"/>
                </a:lnTo>
                <a:lnTo>
                  <a:pt x="2011680" y="416966"/>
                </a:lnTo>
                <a:lnTo>
                  <a:pt x="2072640" y="416966"/>
                </a:lnTo>
                <a:lnTo>
                  <a:pt x="2133600" y="416966"/>
                </a:lnTo>
                <a:lnTo>
                  <a:pt x="2194560" y="416966"/>
                </a:lnTo>
                <a:lnTo>
                  <a:pt x="2255520" y="416966"/>
                </a:lnTo>
                <a:lnTo>
                  <a:pt x="2316480" y="416966"/>
                </a:lnTo>
                <a:lnTo>
                  <a:pt x="2377440" y="416966"/>
                </a:lnTo>
                <a:lnTo>
                  <a:pt x="2438400" y="416966"/>
                </a:lnTo>
                <a:lnTo>
                  <a:pt x="2499360" y="416966"/>
                </a:lnTo>
                <a:lnTo>
                  <a:pt x="2560320" y="416966"/>
                </a:lnTo>
                <a:lnTo>
                  <a:pt x="2621280" y="409674"/>
                </a:lnTo>
                <a:lnTo>
                  <a:pt x="2682240" y="389406"/>
                </a:lnTo>
                <a:lnTo>
                  <a:pt x="2743200" y="358576"/>
                </a:lnTo>
                <a:lnTo>
                  <a:pt x="2804160" y="319598"/>
                </a:lnTo>
                <a:lnTo>
                  <a:pt x="2865120" y="274888"/>
                </a:lnTo>
                <a:lnTo>
                  <a:pt x="2926080" y="226858"/>
                </a:lnTo>
                <a:lnTo>
                  <a:pt x="2987040" y="177922"/>
                </a:lnTo>
                <a:lnTo>
                  <a:pt x="3048000" y="130496"/>
                </a:lnTo>
                <a:lnTo>
                  <a:pt x="3108960" y="86992"/>
                </a:lnTo>
                <a:lnTo>
                  <a:pt x="3169920" y="49825"/>
                </a:lnTo>
                <a:lnTo>
                  <a:pt x="3230880" y="21409"/>
                </a:lnTo>
                <a:lnTo>
                  <a:pt x="3291840" y="4159"/>
                </a:lnTo>
                <a:lnTo>
                  <a:pt x="3352800" y="0"/>
                </a:lnTo>
                <a:lnTo>
                  <a:pt x="3413760" y="0"/>
                </a:lnTo>
                <a:lnTo>
                  <a:pt x="3474720" y="0"/>
                </a:lnTo>
                <a:lnTo>
                  <a:pt x="3535680" y="0"/>
                </a:lnTo>
                <a:lnTo>
                  <a:pt x="3596640" y="0"/>
                </a:lnTo>
                <a:lnTo>
                  <a:pt x="3657600" y="0"/>
                </a:lnTo>
              </a:path>
            </a:pathLst>
          </a:custGeom>
          <a:noFill/>
          <a:ln w="15875">
            <a:solidFill>
              <a:srgbClr val="1FB6D4"/>
            </a:solidFill>
            <a:prstDash val="solid"/>
          </a:ln>
        </p:spPr>
      </p:sp>
      <p:sp>
        <p:nvSpPr>
          <p:cNvPr id="46" name="Shape 43"/>
          <p:cNvSpPr/>
          <p:nvPr/>
        </p:nvSpPr>
        <p:spPr>
          <a:xfrm rot="6632036">
            <a:off x="5334000" y="2381545"/>
            <a:ext cx="91440" cy="100584"/>
          </a:xfrm>
          <a:prstGeom prst="triangle">
            <a:avLst/>
          </a:prstGeom>
          <a:solidFill>
            <a:srgbClr val="1FB6D4"/>
          </a:solidFill>
          <a:ln w="12700">
            <a:solidFill>
              <a:srgbClr val="1FB6D4"/>
            </a:solidFill>
            <a:prstDash val="solid"/>
          </a:ln>
        </p:spPr>
      </p:sp>
      <p:sp>
        <p:nvSpPr>
          <p:cNvPr id="47" name="Shape 44"/>
          <p:cNvSpPr/>
          <p:nvPr/>
        </p:nvSpPr>
        <p:spPr>
          <a:xfrm rot="4167964">
            <a:off x="8138160" y="2335879"/>
            <a:ext cx="91440" cy="100584"/>
          </a:xfrm>
          <a:prstGeom prst="triangle">
            <a:avLst/>
          </a:prstGeom>
          <a:solidFill>
            <a:srgbClr val="1FB6D4"/>
          </a:solidFill>
          <a:ln w="12700">
            <a:solidFill>
              <a:srgbClr val="1FB6D4"/>
            </a:solidFill>
            <a:prstDash val="solid"/>
          </a:ln>
        </p:spPr>
      </p:sp>
      <p:sp>
        <p:nvSpPr>
          <p:cNvPr id="48" name="Shape 45"/>
          <p:cNvSpPr/>
          <p:nvPr/>
        </p:nvSpPr>
        <p:spPr>
          <a:xfrm>
            <a:off x="4892040" y="2560320"/>
            <a:ext cx="3657600" cy="277978"/>
          </a:xfrm>
          <a:custGeom>
            <a:avLst/>
            <a:gdLst/>
            <a:ahLst/>
            <a:cxnLst/>
            <a:rect l="l" t="t" r="r" b="b"/>
            <a:pathLst>
              <a:path w="3657600" h="277978">
                <a:moveTo>
                  <a:pt x="0" y="0"/>
                </a:moveTo>
                <a:lnTo>
                  <a:pt x="60960" y="0"/>
                </a:lnTo>
                <a:lnTo>
                  <a:pt x="121920" y="0"/>
                </a:lnTo>
                <a:lnTo>
                  <a:pt x="182880" y="0"/>
                </a:lnTo>
                <a:lnTo>
                  <a:pt x="243840" y="0"/>
                </a:lnTo>
                <a:lnTo>
                  <a:pt x="304800" y="0"/>
                </a:lnTo>
                <a:lnTo>
                  <a:pt x="365760" y="2772"/>
                </a:lnTo>
                <a:lnTo>
                  <a:pt x="426720" y="14273"/>
                </a:lnTo>
                <a:lnTo>
                  <a:pt x="487680" y="33217"/>
                </a:lnTo>
                <a:lnTo>
                  <a:pt x="548640" y="57995"/>
                </a:lnTo>
                <a:lnTo>
                  <a:pt x="609600" y="86997"/>
                </a:lnTo>
                <a:lnTo>
                  <a:pt x="670560" y="118615"/>
                </a:lnTo>
                <a:lnTo>
                  <a:pt x="731520" y="151238"/>
                </a:lnTo>
                <a:lnTo>
                  <a:pt x="792480" y="183258"/>
                </a:lnTo>
                <a:lnTo>
                  <a:pt x="853440" y="213066"/>
                </a:lnTo>
                <a:lnTo>
                  <a:pt x="914400" y="239051"/>
                </a:lnTo>
                <a:lnTo>
                  <a:pt x="975360" y="259604"/>
                </a:lnTo>
                <a:lnTo>
                  <a:pt x="1036320" y="273116"/>
                </a:lnTo>
                <a:lnTo>
                  <a:pt x="1097280" y="277978"/>
                </a:lnTo>
                <a:lnTo>
                  <a:pt x="1158240" y="277978"/>
                </a:lnTo>
                <a:lnTo>
                  <a:pt x="1219200" y="277978"/>
                </a:lnTo>
                <a:lnTo>
                  <a:pt x="1280160" y="277978"/>
                </a:lnTo>
                <a:lnTo>
                  <a:pt x="1341120" y="277978"/>
                </a:lnTo>
                <a:lnTo>
                  <a:pt x="1402080" y="277978"/>
                </a:lnTo>
                <a:lnTo>
                  <a:pt x="1463040" y="277978"/>
                </a:lnTo>
                <a:lnTo>
                  <a:pt x="1524000" y="277978"/>
                </a:lnTo>
                <a:lnTo>
                  <a:pt x="1584960" y="277978"/>
                </a:lnTo>
                <a:lnTo>
                  <a:pt x="1645920" y="277978"/>
                </a:lnTo>
                <a:lnTo>
                  <a:pt x="1706880" y="277978"/>
                </a:lnTo>
                <a:lnTo>
                  <a:pt x="1767840" y="277978"/>
                </a:lnTo>
                <a:lnTo>
                  <a:pt x="1828800" y="277978"/>
                </a:lnTo>
                <a:lnTo>
                  <a:pt x="1889760" y="277978"/>
                </a:lnTo>
                <a:lnTo>
                  <a:pt x="1950720" y="277978"/>
                </a:lnTo>
                <a:lnTo>
                  <a:pt x="2011680" y="277978"/>
                </a:lnTo>
                <a:lnTo>
                  <a:pt x="2072640" y="277978"/>
                </a:lnTo>
                <a:lnTo>
                  <a:pt x="2133600" y="277978"/>
                </a:lnTo>
                <a:lnTo>
                  <a:pt x="2194560" y="277978"/>
                </a:lnTo>
                <a:lnTo>
                  <a:pt x="2255520" y="277978"/>
                </a:lnTo>
                <a:lnTo>
                  <a:pt x="2316480" y="277978"/>
                </a:lnTo>
                <a:lnTo>
                  <a:pt x="2377440" y="277978"/>
                </a:lnTo>
                <a:lnTo>
                  <a:pt x="2438400" y="277978"/>
                </a:lnTo>
                <a:lnTo>
                  <a:pt x="2499360" y="277978"/>
                </a:lnTo>
                <a:lnTo>
                  <a:pt x="2560320" y="277978"/>
                </a:lnTo>
                <a:lnTo>
                  <a:pt x="2621280" y="273116"/>
                </a:lnTo>
                <a:lnTo>
                  <a:pt x="2682240" y="259604"/>
                </a:lnTo>
                <a:lnTo>
                  <a:pt x="2743200" y="239051"/>
                </a:lnTo>
                <a:lnTo>
                  <a:pt x="2804160" y="213066"/>
                </a:lnTo>
                <a:lnTo>
                  <a:pt x="2865120" y="183258"/>
                </a:lnTo>
                <a:lnTo>
                  <a:pt x="2926080" y="151238"/>
                </a:lnTo>
                <a:lnTo>
                  <a:pt x="2987040" y="118615"/>
                </a:lnTo>
                <a:lnTo>
                  <a:pt x="3048000" y="86997"/>
                </a:lnTo>
                <a:lnTo>
                  <a:pt x="3108960" y="57995"/>
                </a:lnTo>
                <a:lnTo>
                  <a:pt x="3169920" y="33217"/>
                </a:lnTo>
                <a:lnTo>
                  <a:pt x="3230880" y="14273"/>
                </a:lnTo>
                <a:lnTo>
                  <a:pt x="3291840" y="2772"/>
                </a:lnTo>
                <a:lnTo>
                  <a:pt x="3352800" y="0"/>
                </a:lnTo>
                <a:lnTo>
                  <a:pt x="3413760" y="0"/>
                </a:lnTo>
                <a:lnTo>
                  <a:pt x="3474720" y="0"/>
                </a:lnTo>
                <a:lnTo>
                  <a:pt x="3535680" y="0"/>
                </a:lnTo>
                <a:lnTo>
                  <a:pt x="3596640" y="0"/>
                </a:lnTo>
                <a:lnTo>
                  <a:pt x="3657600" y="0"/>
                </a:lnTo>
              </a:path>
            </a:pathLst>
          </a:custGeom>
          <a:noFill/>
          <a:ln w="15875">
            <a:solidFill>
              <a:srgbClr val="1FB6D4"/>
            </a:solidFill>
            <a:prstDash val="solid"/>
          </a:ln>
        </p:spPr>
      </p:sp>
      <p:sp>
        <p:nvSpPr>
          <p:cNvPr id="49" name="Shape 46"/>
          <p:cNvSpPr/>
          <p:nvPr/>
        </p:nvSpPr>
        <p:spPr>
          <a:xfrm rot="6241225">
            <a:off x="5334000" y="2547817"/>
            <a:ext cx="91440" cy="100584"/>
          </a:xfrm>
          <a:prstGeom prst="triangle">
            <a:avLst/>
          </a:prstGeom>
          <a:solidFill>
            <a:srgbClr val="1FB6D4"/>
          </a:solidFill>
          <a:ln w="12700">
            <a:solidFill>
              <a:srgbClr val="1FB6D4"/>
            </a:solidFill>
            <a:prstDash val="solid"/>
          </a:ln>
        </p:spPr>
      </p:sp>
      <p:sp>
        <p:nvSpPr>
          <p:cNvPr id="50" name="Shape 47"/>
          <p:cNvSpPr/>
          <p:nvPr/>
        </p:nvSpPr>
        <p:spPr>
          <a:xfrm rot="4558775">
            <a:off x="8138160" y="2517372"/>
            <a:ext cx="91440" cy="100584"/>
          </a:xfrm>
          <a:prstGeom prst="triangle">
            <a:avLst/>
          </a:prstGeom>
          <a:solidFill>
            <a:srgbClr val="1FB6D4"/>
          </a:solidFill>
          <a:ln w="12700">
            <a:solidFill>
              <a:srgbClr val="1FB6D4"/>
            </a:solidFill>
            <a:prstDash val="solid"/>
          </a:ln>
        </p:spPr>
      </p:sp>
      <p:sp>
        <p:nvSpPr>
          <p:cNvPr id="51" name="Shape 48"/>
          <p:cNvSpPr/>
          <p:nvPr/>
        </p:nvSpPr>
        <p:spPr>
          <a:xfrm>
            <a:off x="4892040" y="2743200"/>
            <a:ext cx="3657600" cy="138989"/>
          </a:xfrm>
          <a:custGeom>
            <a:avLst/>
            <a:gdLst/>
            <a:ahLst/>
            <a:cxnLst/>
            <a:rect l="l" t="t" r="r" b="b"/>
            <a:pathLst>
              <a:path w="3657600" h="138989">
                <a:moveTo>
                  <a:pt x="0" y="0"/>
                </a:moveTo>
                <a:lnTo>
                  <a:pt x="60960" y="0"/>
                </a:lnTo>
                <a:lnTo>
                  <a:pt x="121920" y="0"/>
                </a:lnTo>
                <a:lnTo>
                  <a:pt x="182880" y="0"/>
                </a:lnTo>
                <a:lnTo>
                  <a:pt x="243840" y="0"/>
                </a:lnTo>
                <a:lnTo>
                  <a:pt x="304800" y="0"/>
                </a:lnTo>
                <a:lnTo>
                  <a:pt x="365760" y="1386"/>
                </a:lnTo>
                <a:lnTo>
                  <a:pt x="426720" y="7136"/>
                </a:lnTo>
                <a:lnTo>
                  <a:pt x="487680" y="16608"/>
                </a:lnTo>
                <a:lnTo>
                  <a:pt x="548640" y="28997"/>
                </a:lnTo>
                <a:lnTo>
                  <a:pt x="609600" y="43499"/>
                </a:lnTo>
                <a:lnTo>
                  <a:pt x="670560" y="59307"/>
                </a:lnTo>
                <a:lnTo>
                  <a:pt x="731520" y="75619"/>
                </a:lnTo>
                <a:lnTo>
                  <a:pt x="792480" y="91629"/>
                </a:lnTo>
                <a:lnTo>
                  <a:pt x="853440" y="106533"/>
                </a:lnTo>
                <a:lnTo>
                  <a:pt x="914400" y="119525"/>
                </a:lnTo>
                <a:lnTo>
                  <a:pt x="975360" y="129802"/>
                </a:lnTo>
                <a:lnTo>
                  <a:pt x="1036320" y="136558"/>
                </a:lnTo>
                <a:lnTo>
                  <a:pt x="1097280" y="138989"/>
                </a:lnTo>
                <a:lnTo>
                  <a:pt x="1158240" y="138989"/>
                </a:lnTo>
                <a:lnTo>
                  <a:pt x="1219200" y="138989"/>
                </a:lnTo>
                <a:lnTo>
                  <a:pt x="1280160" y="138989"/>
                </a:lnTo>
                <a:lnTo>
                  <a:pt x="1341120" y="138989"/>
                </a:lnTo>
                <a:lnTo>
                  <a:pt x="1402080" y="138989"/>
                </a:lnTo>
                <a:lnTo>
                  <a:pt x="1463040" y="138989"/>
                </a:lnTo>
                <a:lnTo>
                  <a:pt x="1524000" y="138989"/>
                </a:lnTo>
                <a:lnTo>
                  <a:pt x="1584960" y="138989"/>
                </a:lnTo>
                <a:lnTo>
                  <a:pt x="1645920" y="138989"/>
                </a:lnTo>
                <a:lnTo>
                  <a:pt x="1706880" y="138989"/>
                </a:lnTo>
                <a:lnTo>
                  <a:pt x="1767840" y="138989"/>
                </a:lnTo>
                <a:lnTo>
                  <a:pt x="1828800" y="138989"/>
                </a:lnTo>
                <a:lnTo>
                  <a:pt x="1889760" y="138989"/>
                </a:lnTo>
                <a:lnTo>
                  <a:pt x="1950720" y="138989"/>
                </a:lnTo>
                <a:lnTo>
                  <a:pt x="2011680" y="138989"/>
                </a:lnTo>
                <a:lnTo>
                  <a:pt x="2072640" y="138989"/>
                </a:lnTo>
                <a:lnTo>
                  <a:pt x="2133600" y="138989"/>
                </a:lnTo>
                <a:lnTo>
                  <a:pt x="2194560" y="138989"/>
                </a:lnTo>
                <a:lnTo>
                  <a:pt x="2255520" y="138989"/>
                </a:lnTo>
                <a:lnTo>
                  <a:pt x="2316480" y="138989"/>
                </a:lnTo>
                <a:lnTo>
                  <a:pt x="2377440" y="138989"/>
                </a:lnTo>
                <a:lnTo>
                  <a:pt x="2438400" y="138989"/>
                </a:lnTo>
                <a:lnTo>
                  <a:pt x="2499360" y="138989"/>
                </a:lnTo>
                <a:lnTo>
                  <a:pt x="2560320" y="138989"/>
                </a:lnTo>
                <a:lnTo>
                  <a:pt x="2621280" y="136558"/>
                </a:lnTo>
                <a:lnTo>
                  <a:pt x="2682240" y="129802"/>
                </a:lnTo>
                <a:lnTo>
                  <a:pt x="2743200" y="119525"/>
                </a:lnTo>
                <a:lnTo>
                  <a:pt x="2804160" y="106533"/>
                </a:lnTo>
                <a:lnTo>
                  <a:pt x="2865120" y="91629"/>
                </a:lnTo>
                <a:lnTo>
                  <a:pt x="2926080" y="75619"/>
                </a:lnTo>
                <a:lnTo>
                  <a:pt x="2987040" y="59307"/>
                </a:lnTo>
                <a:lnTo>
                  <a:pt x="3048000" y="43499"/>
                </a:lnTo>
                <a:lnTo>
                  <a:pt x="3108960" y="28997"/>
                </a:lnTo>
                <a:lnTo>
                  <a:pt x="3169920" y="16608"/>
                </a:lnTo>
                <a:lnTo>
                  <a:pt x="3230880" y="7136"/>
                </a:lnTo>
                <a:lnTo>
                  <a:pt x="3291840" y="1386"/>
                </a:lnTo>
                <a:lnTo>
                  <a:pt x="3352800" y="0"/>
                </a:lnTo>
                <a:lnTo>
                  <a:pt x="3413760" y="0"/>
                </a:lnTo>
                <a:lnTo>
                  <a:pt x="3474720" y="0"/>
                </a:lnTo>
                <a:lnTo>
                  <a:pt x="3535680" y="0"/>
                </a:lnTo>
                <a:lnTo>
                  <a:pt x="3596640" y="0"/>
                </a:lnTo>
                <a:lnTo>
                  <a:pt x="3657600" y="0"/>
                </a:lnTo>
              </a:path>
            </a:pathLst>
          </a:custGeom>
          <a:noFill/>
          <a:ln w="15875">
            <a:solidFill>
              <a:srgbClr val="1FB6D4"/>
            </a:solidFill>
            <a:prstDash val="solid"/>
          </a:ln>
        </p:spPr>
      </p:sp>
      <p:sp>
        <p:nvSpPr>
          <p:cNvPr id="52" name="Shape 49"/>
          <p:cNvSpPr/>
          <p:nvPr/>
        </p:nvSpPr>
        <p:spPr>
          <a:xfrm rot="5827005">
            <a:off x="5334000" y="2714088"/>
            <a:ext cx="91440" cy="100584"/>
          </a:xfrm>
          <a:prstGeom prst="triangle">
            <a:avLst/>
          </a:prstGeom>
          <a:solidFill>
            <a:srgbClr val="1FB6D4"/>
          </a:solidFill>
          <a:ln w="12700">
            <a:solidFill>
              <a:srgbClr val="1FB6D4"/>
            </a:solidFill>
            <a:prstDash val="solid"/>
          </a:ln>
        </p:spPr>
      </p:sp>
      <p:sp>
        <p:nvSpPr>
          <p:cNvPr id="53" name="Shape 50"/>
          <p:cNvSpPr/>
          <p:nvPr/>
        </p:nvSpPr>
        <p:spPr>
          <a:xfrm rot="4972995">
            <a:off x="8138160" y="2698866"/>
            <a:ext cx="91440" cy="100584"/>
          </a:xfrm>
          <a:prstGeom prst="triangle">
            <a:avLst/>
          </a:prstGeom>
          <a:solidFill>
            <a:srgbClr val="1FB6D4"/>
          </a:solidFill>
          <a:ln w="12700">
            <a:solidFill>
              <a:srgbClr val="1FB6D4"/>
            </a:solidFill>
            <a:prstDash val="solid"/>
          </a:ln>
        </p:spPr>
      </p:sp>
      <p:sp>
        <p:nvSpPr>
          <p:cNvPr id="54" name="Shape 51"/>
          <p:cNvSpPr/>
          <p:nvPr/>
        </p:nvSpPr>
        <p:spPr>
          <a:xfrm>
            <a:off x="4892040" y="2926080"/>
            <a:ext cx="3657600" cy="9144"/>
          </a:xfrm>
          <a:custGeom>
            <a:avLst/>
            <a:gdLst/>
            <a:ahLst/>
            <a:cxnLst/>
            <a:rect l="l" t="t" r="r" b="b"/>
            <a:pathLst>
              <a:path w="3657600" h="9144">
                <a:moveTo>
                  <a:pt x="0" y="0"/>
                </a:moveTo>
                <a:lnTo>
                  <a:pt x="60960" y="0"/>
                </a:lnTo>
                <a:lnTo>
                  <a:pt x="121920" y="0"/>
                </a:lnTo>
                <a:lnTo>
                  <a:pt x="182880" y="0"/>
                </a:lnTo>
                <a:lnTo>
                  <a:pt x="243840" y="0"/>
                </a:lnTo>
                <a:lnTo>
                  <a:pt x="304800" y="0"/>
                </a:lnTo>
                <a:lnTo>
                  <a:pt x="365760" y="0"/>
                </a:lnTo>
                <a:lnTo>
                  <a:pt x="426720" y="0"/>
                </a:lnTo>
                <a:lnTo>
                  <a:pt x="487680" y="0"/>
                </a:lnTo>
                <a:lnTo>
                  <a:pt x="548640" y="0"/>
                </a:lnTo>
                <a:lnTo>
                  <a:pt x="609600" y="0"/>
                </a:lnTo>
                <a:lnTo>
                  <a:pt x="670560" y="0"/>
                </a:lnTo>
                <a:lnTo>
                  <a:pt x="731520" y="0"/>
                </a:lnTo>
                <a:lnTo>
                  <a:pt x="792480" y="0"/>
                </a:lnTo>
                <a:lnTo>
                  <a:pt x="853440" y="0"/>
                </a:lnTo>
                <a:lnTo>
                  <a:pt x="914400" y="0"/>
                </a:lnTo>
                <a:lnTo>
                  <a:pt x="975360" y="0"/>
                </a:lnTo>
                <a:lnTo>
                  <a:pt x="1036320" y="0"/>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0"/>
                </a:lnTo>
                <a:lnTo>
                  <a:pt x="2682240" y="0"/>
                </a:lnTo>
                <a:lnTo>
                  <a:pt x="2743200" y="0"/>
                </a:lnTo>
                <a:lnTo>
                  <a:pt x="2804160" y="0"/>
                </a:lnTo>
                <a:lnTo>
                  <a:pt x="2865120" y="0"/>
                </a:lnTo>
                <a:lnTo>
                  <a:pt x="2926080" y="0"/>
                </a:lnTo>
                <a:lnTo>
                  <a:pt x="2987040" y="0"/>
                </a:lnTo>
                <a:lnTo>
                  <a:pt x="3048000" y="0"/>
                </a:lnTo>
                <a:lnTo>
                  <a:pt x="3108960" y="0"/>
                </a:lnTo>
                <a:lnTo>
                  <a:pt x="3169920" y="0"/>
                </a:lnTo>
                <a:lnTo>
                  <a:pt x="3230880" y="0"/>
                </a:lnTo>
                <a:lnTo>
                  <a:pt x="3291840" y="0"/>
                </a:lnTo>
                <a:lnTo>
                  <a:pt x="3352800" y="0"/>
                </a:lnTo>
                <a:lnTo>
                  <a:pt x="3413760" y="0"/>
                </a:lnTo>
                <a:lnTo>
                  <a:pt x="3474720" y="0"/>
                </a:lnTo>
                <a:lnTo>
                  <a:pt x="3535680" y="0"/>
                </a:lnTo>
                <a:lnTo>
                  <a:pt x="3596640" y="0"/>
                </a:lnTo>
                <a:lnTo>
                  <a:pt x="3657600" y="0"/>
                </a:lnTo>
              </a:path>
            </a:pathLst>
          </a:custGeom>
          <a:noFill/>
          <a:ln w="15875">
            <a:solidFill>
              <a:srgbClr val="1FB6D4"/>
            </a:solidFill>
            <a:prstDash val="solid"/>
          </a:ln>
        </p:spPr>
      </p:sp>
      <p:sp>
        <p:nvSpPr>
          <p:cNvPr id="55" name="Shape 52"/>
          <p:cNvSpPr/>
          <p:nvPr/>
        </p:nvSpPr>
        <p:spPr>
          <a:xfrm rot="5400000">
            <a:off x="5334000" y="2880360"/>
            <a:ext cx="91440" cy="100584"/>
          </a:xfrm>
          <a:prstGeom prst="triangle">
            <a:avLst/>
          </a:prstGeom>
          <a:solidFill>
            <a:srgbClr val="1FB6D4"/>
          </a:solidFill>
          <a:ln w="12700">
            <a:solidFill>
              <a:srgbClr val="1FB6D4"/>
            </a:solidFill>
            <a:prstDash val="solid"/>
          </a:ln>
        </p:spPr>
      </p:sp>
      <p:sp>
        <p:nvSpPr>
          <p:cNvPr id="56" name="Shape 53"/>
          <p:cNvSpPr/>
          <p:nvPr/>
        </p:nvSpPr>
        <p:spPr>
          <a:xfrm rot="5400000">
            <a:off x="8138160" y="2880360"/>
            <a:ext cx="91440" cy="100584"/>
          </a:xfrm>
          <a:prstGeom prst="triangle">
            <a:avLst/>
          </a:prstGeom>
          <a:solidFill>
            <a:srgbClr val="1FB6D4"/>
          </a:solidFill>
          <a:ln w="12700">
            <a:solidFill>
              <a:srgbClr val="1FB6D4"/>
            </a:solidFill>
            <a:prstDash val="solid"/>
          </a:ln>
        </p:spPr>
      </p:sp>
      <p:sp>
        <p:nvSpPr>
          <p:cNvPr id="57" name="Shape 54"/>
          <p:cNvSpPr/>
          <p:nvPr/>
        </p:nvSpPr>
        <p:spPr>
          <a:xfrm>
            <a:off x="4892040" y="2969971"/>
            <a:ext cx="3657600" cy="138989"/>
          </a:xfrm>
          <a:custGeom>
            <a:avLst/>
            <a:gdLst/>
            <a:ahLst/>
            <a:cxnLst/>
            <a:rect l="l" t="t" r="r" b="b"/>
            <a:pathLst>
              <a:path w="3657600" h="138989">
                <a:moveTo>
                  <a:pt x="0" y="138989"/>
                </a:moveTo>
                <a:lnTo>
                  <a:pt x="60960" y="138989"/>
                </a:lnTo>
                <a:lnTo>
                  <a:pt x="121920" y="138989"/>
                </a:lnTo>
                <a:lnTo>
                  <a:pt x="182880" y="138989"/>
                </a:lnTo>
                <a:lnTo>
                  <a:pt x="243840" y="138989"/>
                </a:lnTo>
                <a:lnTo>
                  <a:pt x="304800" y="138989"/>
                </a:lnTo>
                <a:lnTo>
                  <a:pt x="365760" y="137603"/>
                </a:lnTo>
                <a:lnTo>
                  <a:pt x="426720" y="131852"/>
                </a:lnTo>
                <a:lnTo>
                  <a:pt x="487680" y="122380"/>
                </a:lnTo>
                <a:lnTo>
                  <a:pt x="548640" y="109992"/>
                </a:lnTo>
                <a:lnTo>
                  <a:pt x="609600" y="95490"/>
                </a:lnTo>
                <a:lnTo>
                  <a:pt x="670560" y="79681"/>
                </a:lnTo>
                <a:lnTo>
                  <a:pt x="731520" y="63370"/>
                </a:lnTo>
                <a:lnTo>
                  <a:pt x="792480" y="47360"/>
                </a:lnTo>
                <a:lnTo>
                  <a:pt x="853440" y="32456"/>
                </a:lnTo>
                <a:lnTo>
                  <a:pt x="914400" y="19464"/>
                </a:lnTo>
                <a:lnTo>
                  <a:pt x="975360" y="9187"/>
                </a:lnTo>
                <a:lnTo>
                  <a:pt x="1036320" y="2431"/>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2431"/>
                </a:lnTo>
                <a:lnTo>
                  <a:pt x="2682240" y="9187"/>
                </a:lnTo>
                <a:lnTo>
                  <a:pt x="2743200" y="19464"/>
                </a:lnTo>
                <a:lnTo>
                  <a:pt x="2804160" y="32456"/>
                </a:lnTo>
                <a:lnTo>
                  <a:pt x="2865120" y="47360"/>
                </a:lnTo>
                <a:lnTo>
                  <a:pt x="2926080" y="63370"/>
                </a:lnTo>
                <a:lnTo>
                  <a:pt x="2987040" y="79681"/>
                </a:lnTo>
                <a:lnTo>
                  <a:pt x="3048000" y="95490"/>
                </a:lnTo>
                <a:lnTo>
                  <a:pt x="3108960" y="109992"/>
                </a:lnTo>
                <a:lnTo>
                  <a:pt x="3169920" y="122380"/>
                </a:lnTo>
                <a:lnTo>
                  <a:pt x="3230880" y="131852"/>
                </a:lnTo>
                <a:lnTo>
                  <a:pt x="3291840" y="137603"/>
                </a:lnTo>
                <a:lnTo>
                  <a:pt x="3352800" y="138989"/>
                </a:lnTo>
                <a:lnTo>
                  <a:pt x="3413760" y="138989"/>
                </a:lnTo>
                <a:lnTo>
                  <a:pt x="3474720" y="138989"/>
                </a:lnTo>
                <a:lnTo>
                  <a:pt x="3535680" y="138989"/>
                </a:lnTo>
                <a:lnTo>
                  <a:pt x="3596640" y="138989"/>
                </a:lnTo>
                <a:lnTo>
                  <a:pt x="3657600" y="138989"/>
                </a:lnTo>
              </a:path>
            </a:pathLst>
          </a:custGeom>
          <a:noFill/>
          <a:ln w="15875">
            <a:solidFill>
              <a:srgbClr val="1FB6D4"/>
            </a:solidFill>
            <a:prstDash val="solid"/>
          </a:ln>
        </p:spPr>
      </p:sp>
      <p:sp>
        <p:nvSpPr>
          <p:cNvPr id="58" name="Shape 55"/>
          <p:cNvSpPr/>
          <p:nvPr/>
        </p:nvSpPr>
        <p:spPr>
          <a:xfrm rot="4972995">
            <a:off x="5334000" y="3046632"/>
            <a:ext cx="91440" cy="100584"/>
          </a:xfrm>
          <a:prstGeom prst="triangle">
            <a:avLst/>
          </a:prstGeom>
          <a:solidFill>
            <a:srgbClr val="1FB6D4"/>
          </a:solidFill>
          <a:ln w="12700">
            <a:solidFill>
              <a:srgbClr val="1FB6D4"/>
            </a:solidFill>
            <a:prstDash val="solid"/>
          </a:ln>
        </p:spPr>
      </p:sp>
      <p:sp>
        <p:nvSpPr>
          <p:cNvPr id="59" name="Shape 56"/>
          <p:cNvSpPr/>
          <p:nvPr/>
        </p:nvSpPr>
        <p:spPr>
          <a:xfrm rot="5827005">
            <a:off x="8138160" y="3061854"/>
            <a:ext cx="91440" cy="100584"/>
          </a:xfrm>
          <a:prstGeom prst="triangle">
            <a:avLst/>
          </a:prstGeom>
          <a:solidFill>
            <a:srgbClr val="1FB6D4"/>
          </a:solidFill>
          <a:ln w="12700">
            <a:solidFill>
              <a:srgbClr val="1FB6D4"/>
            </a:solidFill>
            <a:prstDash val="solid"/>
          </a:ln>
        </p:spPr>
      </p:sp>
      <p:sp>
        <p:nvSpPr>
          <p:cNvPr id="60" name="Shape 57"/>
          <p:cNvSpPr/>
          <p:nvPr/>
        </p:nvSpPr>
        <p:spPr>
          <a:xfrm>
            <a:off x="4892040" y="3013862"/>
            <a:ext cx="3657600" cy="277978"/>
          </a:xfrm>
          <a:custGeom>
            <a:avLst/>
            <a:gdLst/>
            <a:ahLst/>
            <a:cxnLst/>
            <a:rect l="l" t="t" r="r" b="b"/>
            <a:pathLst>
              <a:path w="3657600" h="277978">
                <a:moveTo>
                  <a:pt x="0" y="277978"/>
                </a:moveTo>
                <a:lnTo>
                  <a:pt x="60960" y="277978"/>
                </a:lnTo>
                <a:lnTo>
                  <a:pt x="121920" y="277978"/>
                </a:lnTo>
                <a:lnTo>
                  <a:pt x="182880" y="277978"/>
                </a:lnTo>
                <a:lnTo>
                  <a:pt x="243840" y="277978"/>
                </a:lnTo>
                <a:lnTo>
                  <a:pt x="304800" y="277978"/>
                </a:lnTo>
                <a:lnTo>
                  <a:pt x="365760" y="275205"/>
                </a:lnTo>
                <a:lnTo>
                  <a:pt x="426720" y="263705"/>
                </a:lnTo>
                <a:lnTo>
                  <a:pt x="487680" y="244761"/>
                </a:lnTo>
                <a:lnTo>
                  <a:pt x="548640" y="219983"/>
                </a:lnTo>
                <a:lnTo>
                  <a:pt x="609600" y="190981"/>
                </a:lnTo>
                <a:lnTo>
                  <a:pt x="670560" y="159363"/>
                </a:lnTo>
                <a:lnTo>
                  <a:pt x="731520" y="126739"/>
                </a:lnTo>
                <a:lnTo>
                  <a:pt x="792480" y="94719"/>
                </a:lnTo>
                <a:lnTo>
                  <a:pt x="853440" y="64912"/>
                </a:lnTo>
                <a:lnTo>
                  <a:pt x="914400" y="38927"/>
                </a:lnTo>
                <a:lnTo>
                  <a:pt x="975360" y="18374"/>
                </a:lnTo>
                <a:lnTo>
                  <a:pt x="1036320" y="4862"/>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4862"/>
                </a:lnTo>
                <a:lnTo>
                  <a:pt x="2682240" y="18374"/>
                </a:lnTo>
                <a:lnTo>
                  <a:pt x="2743200" y="38927"/>
                </a:lnTo>
                <a:lnTo>
                  <a:pt x="2804160" y="64912"/>
                </a:lnTo>
                <a:lnTo>
                  <a:pt x="2865120" y="94719"/>
                </a:lnTo>
                <a:lnTo>
                  <a:pt x="2926080" y="126739"/>
                </a:lnTo>
                <a:lnTo>
                  <a:pt x="2987040" y="159363"/>
                </a:lnTo>
                <a:lnTo>
                  <a:pt x="3048000" y="190981"/>
                </a:lnTo>
                <a:lnTo>
                  <a:pt x="3108960" y="219983"/>
                </a:lnTo>
                <a:lnTo>
                  <a:pt x="3169920" y="244761"/>
                </a:lnTo>
                <a:lnTo>
                  <a:pt x="3230880" y="263705"/>
                </a:lnTo>
                <a:lnTo>
                  <a:pt x="3291840" y="275205"/>
                </a:lnTo>
                <a:lnTo>
                  <a:pt x="3352800" y="277978"/>
                </a:lnTo>
                <a:lnTo>
                  <a:pt x="3413760" y="277978"/>
                </a:lnTo>
                <a:lnTo>
                  <a:pt x="3474720" y="277978"/>
                </a:lnTo>
                <a:lnTo>
                  <a:pt x="3535680" y="277978"/>
                </a:lnTo>
                <a:lnTo>
                  <a:pt x="3596640" y="277978"/>
                </a:lnTo>
                <a:lnTo>
                  <a:pt x="3657600" y="277978"/>
                </a:lnTo>
              </a:path>
            </a:pathLst>
          </a:custGeom>
          <a:noFill/>
          <a:ln w="15875">
            <a:solidFill>
              <a:srgbClr val="1FB6D4"/>
            </a:solidFill>
            <a:prstDash val="solid"/>
          </a:ln>
        </p:spPr>
      </p:sp>
      <p:sp>
        <p:nvSpPr>
          <p:cNvPr id="61" name="Shape 58"/>
          <p:cNvSpPr/>
          <p:nvPr/>
        </p:nvSpPr>
        <p:spPr>
          <a:xfrm rot="4558775">
            <a:off x="5334000" y="3212903"/>
            <a:ext cx="91440" cy="100584"/>
          </a:xfrm>
          <a:prstGeom prst="triangle">
            <a:avLst/>
          </a:prstGeom>
          <a:solidFill>
            <a:srgbClr val="1FB6D4"/>
          </a:solidFill>
          <a:ln w="12700">
            <a:solidFill>
              <a:srgbClr val="1FB6D4"/>
            </a:solidFill>
            <a:prstDash val="solid"/>
          </a:ln>
        </p:spPr>
      </p:sp>
      <p:sp>
        <p:nvSpPr>
          <p:cNvPr id="62" name="Shape 59"/>
          <p:cNvSpPr/>
          <p:nvPr/>
        </p:nvSpPr>
        <p:spPr>
          <a:xfrm rot="6241225">
            <a:off x="8138160" y="3243348"/>
            <a:ext cx="91440" cy="100584"/>
          </a:xfrm>
          <a:prstGeom prst="triangle">
            <a:avLst/>
          </a:prstGeom>
          <a:solidFill>
            <a:srgbClr val="1FB6D4"/>
          </a:solidFill>
          <a:ln w="12700">
            <a:solidFill>
              <a:srgbClr val="1FB6D4"/>
            </a:solidFill>
            <a:prstDash val="solid"/>
          </a:ln>
        </p:spPr>
      </p:sp>
      <p:sp>
        <p:nvSpPr>
          <p:cNvPr id="63" name="Shape 60"/>
          <p:cNvSpPr/>
          <p:nvPr/>
        </p:nvSpPr>
        <p:spPr>
          <a:xfrm>
            <a:off x="4892040" y="3057754"/>
            <a:ext cx="3657600" cy="416966"/>
          </a:xfrm>
          <a:custGeom>
            <a:avLst/>
            <a:gdLst/>
            <a:ahLst/>
            <a:cxnLst/>
            <a:rect l="l" t="t" r="r" b="b"/>
            <a:pathLst>
              <a:path w="3657600" h="416966">
                <a:moveTo>
                  <a:pt x="0" y="416966"/>
                </a:moveTo>
                <a:lnTo>
                  <a:pt x="60960" y="416966"/>
                </a:lnTo>
                <a:lnTo>
                  <a:pt x="121920" y="416966"/>
                </a:lnTo>
                <a:lnTo>
                  <a:pt x="182880" y="416966"/>
                </a:lnTo>
                <a:lnTo>
                  <a:pt x="243840" y="416966"/>
                </a:lnTo>
                <a:lnTo>
                  <a:pt x="304800" y="416966"/>
                </a:lnTo>
                <a:lnTo>
                  <a:pt x="365760" y="412808"/>
                </a:lnTo>
                <a:lnTo>
                  <a:pt x="426720" y="395557"/>
                </a:lnTo>
                <a:lnTo>
                  <a:pt x="487680" y="367141"/>
                </a:lnTo>
                <a:lnTo>
                  <a:pt x="548640" y="329975"/>
                </a:lnTo>
                <a:lnTo>
                  <a:pt x="609600" y="286471"/>
                </a:lnTo>
                <a:lnTo>
                  <a:pt x="670560" y="239044"/>
                </a:lnTo>
                <a:lnTo>
                  <a:pt x="731520" y="190109"/>
                </a:lnTo>
                <a:lnTo>
                  <a:pt x="792480" y="142079"/>
                </a:lnTo>
                <a:lnTo>
                  <a:pt x="853440" y="97368"/>
                </a:lnTo>
                <a:lnTo>
                  <a:pt x="914400" y="58391"/>
                </a:lnTo>
                <a:lnTo>
                  <a:pt x="975360" y="27561"/>
                </a:lnTo>
                <a:lnTo>
                  <a:pt x="1036320" y="7293"/>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7293"/>
                </a:lnTo>
                <a:lnTo>
                  <a:pt x="2682240" y="27561"/>
                </a:lnTo>
                <a:lnTo>
                  <a:pt x="2743200" y="58391"/>
                </a:lnTo>
                <a:lnTo>
                  <a:pt x="2804160" y="97368"/>
                </a:lnTo>
                <a:lnTo>
                  <a:pt x="2865120" y="142079"/>
                </a:lnTo>
                <a:lnTo>
                  <a:pt x="2926080" y="190109"/>
                </a:lnTo>
                <a:lnTo>
                  <a:pt x="2987040" y="239044"/>
                </a:lnTo>
                <a:lnTo>
                  <a:pt x="3048000" y="286471"/>
                </a:lnTo>
                <a:lnTo>
                  <a:pt x="3108960" y="329975"/>
                </a:lnTo>
                <a:lnTo>
                  <a:pt x="3169920" y="367141"/>
                </a:lnTo>
                <a:lnTo>
                  <a:pt x="3230880" y="395557"/>
                </a:lnTo>
                <a:lnTo>
                  <a:pt x="3291840" y="412808"/>
                </a:lnTo>
                <a:lnTo>
                  <a:pt x="3352800" y="416966"/>
                </a:lnTo>
                <a:lnTo>
                  <a:pt x="3413760" y="416966"/>
                </a:lnTo>
                <a:lnTo>
                  <a:pt x="3474720" y="416966"/>
                </a:lnTo>
                <a:lnTo>
                  <a:pt x="3535680" y="416966"/>
                </a:lnTo>
                <a:lnTo>
                  <a:pt x="3596640" y="416966"/>
                </a:lnTo>
                <a:lnTo>
                  <a:pt x="3657600" y="416966"/>
                </a:lnTo>
              </a:path>
            </a:pathLst>
          </a:custGeom>
          <a:noFill/>
          <a:ln w="15875">
            <a:solidFill>
              <a:srgbClr val="1FB6D4"/>
            </a:solidFill>
            <a:prstDash val="solid"/>
          </a:ln>
        </p:spPr>
      </p:sp>
      <p:sp>
        <p:nvSpPr>
          <p:cNvPr id="64" name="Shape 61"/>
          <p:cNvSpPr/>
          <p:nvPr/>
        </p:nvSpPr>
        <p:spPr>
          <a:xfrm rot="4167964">
            <a:off x="5334000" y="3379175"/>
            <a:ext cx="91440" cy="100584"/>
          </a:xfrm>
          <a:prstGeom prst="triangle">
            <a:avLst/>
          </a:prstGeom>
          <a:solidFill>
            <a:srgbClr val="1FB6D4"/>
          </a:solidFill>
          <a:ln w="12700">
            <a:solidFill>
              <a:srgbClr val="1FB6D4"/>
            </a:solidFill>
            <a:prstDash val="solid"/>
          </a:ln>
        </p:spPr>
      </p:sp>
      <p:sp>
        <p:nvSpPr>
          <p:cNvPr id="65" name="Shape 62"/>
          <p:cNvSpPr/>
          <p:nvPr/>
        </p:nvSpPr>
        <p:spPr>
          <a:xfrm rot="6632036">
            <a:off x="8138160" y="3424841"/>
            <a:ext cx="91440" cy="100584"/>
          </a:xfrm>
          <a:prstGeom prst="triangle">
            <a:avLst/>
          </a:prstGeom>
          <a:solidFill>
            <a:srgbClr val="1FB6D4"/>
          </a:solidFill>
          <a:ln w="12700">
            <a:solidFill>
              <a:srgbClr val="1FB6D4"/>
            </a:solidFill>
            <a:prstDash val="solid"/>
          </a:ln>
        </p:spPr>
      </p:sp>
      <p:sp>
        <p:nvSpPr>
          <p:cNvPr id="66" name="Shape 63"/>
          <p:cNvSpPr/>
          <p:nvPr/>
        </p:nvSpPr>
        <p:spPr>
          <a:xfrm>
            <a:off x="4892040" y="3101645"/>
            <a:ext cx="3657600" cy="555955"/>
          </a:xfrm>
          <a:custGeom>
            <a:avLst/>
            <a:gdLst/>
            <a:ahLst/>
            <a:cxnLst/>
            <a:rect l="l" t="t" r="r" b="b"/>
            <a:pathLst>
              <a:path w="3657600" h="555955">
                <a:moveTo>
                  <a:pt x="0" y="555955"/>
                </a:moveTo>
                <a:lnTo>
                  <a:pt x="60960" y="555955"/>
                </a:lnTo>
                <a:lnTo>
                  <a:pt x="121920" y="555955"/>
                </a:lnTo>
                <a:lnTo>
                  <a:pt x="182880" y="555955"/>
                </a:lnTo>
                <a:lnTo>
                  <a:pt x="243840" y="555955"/>
                </a:lnTo>
                <a:lnTo>
                  <a:pt x="304800" y="555955"/>
                </a:lnTo>
                <a:lnTo>
                  <a:pt x="365760" y="550410"/>
                </a:lnTo>
                <a:lnTo>
                  <a:pt x="426720" y="527410"/>
                </a:lnTo>
                <a:lnTo>
                  <a:pt x="487680" y="489522"/>
                </a:lnTo>
                <a:lnTo>
                  <a:pt x="548640" y="439966"/>
                </a:lnTo>
                <a:lnTo>
                  <a:pt x="609600" y="381961"/>
                </a:lnTo>
                <a:lnTo>
                  <a:pt x="670560" y="318726"/>
                </a:lnTo>
                <a:lnTo>
                  <a:pt x="731520" y="253478"/>
                </a:lnTo>
                <a:lnTo>
                  <a:pt x="792480" y="189438"/>
                </a:lnTo>
                <a:lnTo>
                  <a:pt x="853440" y="129824"/>
                </a:lnTo>
                <a:lnTo>
                  <a:pt x="914400" y="77854"/>
                </a:lnTo>
                <a:lnTo>
                  <a:pt x="975360" y="36748"/>
                </a:lnTo>
                <a:lnTo>
                  <a:pt x="1036320" y="9723"/>
                </a:lnTo>
                <a:lnTo>
                  <a:pt x="1097280" y="0"/>
                </a:lnTo>
                <a:lnTo>
                  <a:pt x="1158240" y="0"/>
                </a:lnTo>
                <a:lnTo>
                  <a:pt x="1219200" y="0"/>
                </a:lnTo>
                <a:lnTo>
                  <a:pt x="1280160" y="0"/>
                </a:lnTo>
                <a:lnTo>
                  <a:pt x="1341120" y="0"/>
                </a:lnTo>
                <a:lnTo>
                  <a:pt x="1402080" y="0"/>
                </a:lnTo>
                <a:lnTo>
                  <a:pt x="1463040" y="0"/>
                </a:lnTo>
                <a:lnTo>
                  <a:pt x="1524000" y="0"/>
                </a:lnTo>
                <a:lnTo>
                  <a:pt x="1584960" y="0"/>
                </a:lnTo>
                <a:lnTo>
                  <a:pt x="1645920" y="0"/>
                </a:lnTo>
                <a:lnTo>
                  <a:pt x="1706880" y="0"/>
                </a:lnTo>
                <a:lnTo>
                  <a:pt x="1767840" y="0"/>
                </a:lnTo>
                <a:lnTo>
                  <a:pt x="1828800" y="0"/>
                </a:lnTo>
                <a:lnTo>
                  <a:pt x="1889760" y="0"/>
                </a:lnTo>
                <a:lnTo>
                  <a:pt x="1950720" y="0"/>
                </a:lnTo>
                <a:lnTo>
                  <a:pt x="2011680" y="0"/>
                </a:lnTo>
                <a:lnTo>
                  <a:pt x="2072640" y="0"/>
                </a:lnTo>
                <a:lnTo>
                  <a:pt x="2133600" y="0"/>
                </a:lnTo>
                <a:lnTo>
                  <a:pt x="2194560" y="0"/>
                </a:lnTo>
                <a:lnTo>
                  <a:pt x="2255520" y="0"/>
                </a:lnTo>
                <a:lnTo>
                  <a:pt x="2316480" y="0"/>
                </a:lnTo>
                <a:lnTo>
                  <a:pt x="2377440" y="0"/>
                </a:lnTo>
                <a:lnTo>
                  <a:pt x="2438400" y="0"/>
                </a:lnTo>
                <a:lnTo>
                  <a:pt x="2499360" y="0"/>
                </a:lnTo>
                <a:lnTo>
                  <a:pt x="2560320" y="0"/>
                </a:lnTo>
                <a:lnTo>
                  <a:pt x="2621280" y="9723"/>
                </a:lnTo>
                <a:lnTo>
                  <a:pt x="2682240" y="36748"/>
                </a:lnTo>
                <a:lnTo>
                  <a:pt x="2743200" y="77854"/>
                </a:lnTo>
                <a:lnTo>
                  <a:pt x="2804160" y="129824"/>
                </a:lnTo>
                <a:lnTo>
                  <a:pt x="2865120" y="189438"/>
                </a:lnTo>
                <a:lnTo>
                  <a:pt x="2926080" y="253478"/>
                </a:lnTo>
                <a:lnTo>
                  <a:pt x="2987040" y="318726"/>
                </a:lnTo>
                <a:lnTo>
                  <a:pt x="3048000" y="381961"/>
                </a:lnTo>
                <a:lnTo>
                  <a:pt x="3108960" y="439966"/>
                </a:lnTo>
                <a:lnTo>
                  <a:pt x="3169920" y="489522"/>
                </a:lnTo>
                <a:lnTo>
                  <a:pt x="3230880" y="527410"/>
                </a:lnTo>
                <a:lnTo>
                  <a:pt x="3291840" y="550410"/>
                </a:lnTo>
                <a:lnTo>
                  <a:pt x="3352800" y="555955"/>
                </a:lnTo>
                <a:lnTo>
                  <a:pt x="3413760" y="555955"/>
                </a:lnTo>
                <a:lnTo>
                  <a:pt x="3474720" y="555955"/>
                </a:lnTo>
                <a:lnTo>
                  <a:pt x="3535680" y="555955"/>
                </a:lnTo>
                <a:lnTo>
                  <a:pt x="3596640" y="555955"/>
                </a:lnTo>
                <a:lnTo>
                  <a:pt x="3657600" y="555955"/>
                </a:lnTo>
              </a:path>
            </a:pathLst>
          </a:custGeom>
          <a:noFill/>
          <a:ln w="15875">
            <a:solidFill>
              <a:srgbClr val="1FB6D4"/>
            </a:solidFill>
            <a:prstDash val="solid"/>
          </a:ln>
        </p:spPr>
      </p:sp>
      <p:sp>
        <p:nvSpPr>
          <p:cNvPr id="67" name="Shape 64"/>
          <p:cNvSpPr/>
          <p:nvPr/>
        </p:nvSpPr>
        <p:spPr>
          <a:xfrm rot="3807711">
            <a:off x="5334000" y="3545447"/>
            <a:ext cx="91440" cy="100584"/>
          </a:xfrm>
          <a:prstGeom prst="triangle">
            <a:avLst/>
          </a:prstGeom>
          <a:solidFill>
            <a:srgbClr val="1FB6D4"/>
          </a:solidFill>
          <a:ln w="12700">
            <a:solidFill>
              <a:srgbClr val="1FB6D4"/>
            </a:solidFill>
            <a:prstDash val="solid"/>
          </a:ln>
        </p:spPr>
      </p:sp>
      <p:sp>
        <p:nvSpPr>
          <p:cNvPr id="68" name="Shape 65"/>
          <p:cNvSpPr/>
          <p:nvPr/>
        </p:nvSpPr>
        <p:spPr>
          <a:xfrm rot="6992289">
            <a:off x="8138160" y="3606335"/>
            <a:ext cx="91440" cy="100584"/>
          </a:xfrm>
          <a:prstGeom prst="triangle">
            <a:avLst/>
          </a:prstGeom>
          <a:solidFill>
            <a:srgbClr val="1FB6D4"/>
          </a:solidFill>
          <a:ln w="12700">
            <a:solidFill>
              <a:srgbClr val="1FB6D4"/>
            </a:solidFill>
            <a:prstDash val="solid"/>
          </a:ln>
        </p:spPr>
      </p:sp>
      <p:sp>
        <p:nvSpPr>
          <p:cNvPr id="69" name="Shape 66"/>
          <p:cNvSpPr/>
          <p:nvPr/>
        </p:nvSpPr>
        <p:spPr>
          <a:xfrm>
            <a:off x="457200" y="3931920"/>
            <a:ext cx="2651760" cy="749808"/>
          </a:xfrm>
          <a:prstGeom prst="roundRect">
            <a:avLst>
              <a:gd name="adj" fmla="val 975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70" name="Shape 67"/>
          <p:cNvSpPr/>
          <p:nvPr/>
        </p:nvSpPr>
        <p:spPr>
          <a:xfrm>
            <a:off x="621792" y="4105656"/>
            <a:ext cx="402336" cy="402336"/>
          </a:xfrm>
          <a:prstGeom prst="ellipse">
            <a:avLst/>
          </a:prstGeom>
          <a:solidFill>
            <a:srgbClr val="0B1F3A"/>
          </a:solidFill>
          <a:ln w="12700">
            <a:solidFill>
              <a:srgbClr val="0B1F3A"/>
            </a:solidFill>
            <a:prstDash val="solid"/>
          </a:ln>
        </p:spPr>
      </p:sp>
      <p:pic>
        <p:nvPicPr>
          <p:cNvPr id="71" name="Image 0" descr="preencoded.png">    </p:cNvPr>
          <p:cNvPicPr>
            <a:picLocks noChangeAspect="1"/>
          </p:cNvPicPr>
          <p:nvPr/>
        </p:nvPicPr>
        <p:blipFill>
          <a:blip r:embed="rId1"/>
          <a:stretch>
            <a:fillRect/>
          </a:stretch>
        </p:blipFill>
        <p:spPr>
          <a:xfrm>
            <a:off x="722376" y="4206240"/>
            <a:ext cx="201168" cy="201168"/>
          </a:xfrm>
          <a:prstGeom prst="rect">
            <a:avLst/>
          </a:prstGeom>
        </p:spPr>
      </p:pic>
      <p:sp>
        <p:nvSpPr>
          <p:cNvPr id="72" name="Text 68"/>
          <p:cNvSpPr txBox="1"/>
          <p:nvPr/>
        </p:nvSpPr>
        <p:spPr>
          <a:xfrm>
            <a:off x="1143000" y="4005072"/>
            <a:ext cx="1920240" cy="201168"/>
          </a:xfrm>
          <a:prstGeom prst="rect">
            <a:avLst/>
          </a:prstGeom>
          <a:noFill/>
          <a:ln/>
        </p:spPr>
        <p:txBody>
          <a:bodyPr wrap="square" lIns="0" tIns="0" rIns="0" bIns="0" rtlCol="0" anchor="t"/>
          <a:lstStyle/>
          <a:p>
            <a:pPr indent="0" marL="0">
              <a:buNone/>
            </a:pPr>
            <a:r>
              <a:rPr lang="en-US" sz="1050" b="1" dirty="0">
                <a:solidFill>
                  <a:srgbClr val="0B1F3A"/>
                </a:solidFill>
                <a:latin typeface="Arial" pitchFamily="34" charset="0"/>
                <a:ea typeface="Arial" pitchFamily="34" charset="-122"/>
                <a:cs typeface="Arial" pitchFamily="34" charset="-120"/>
              </a:rPr>
              <a:t>Поле проникает</a:t>
            </a:r>
            <a:endParaRPr lang="en-US" sz="1050" dirty="0"/>
          </a:p>
        </p:txBody>
      </p:sp>
      <p:sp>
        <p:nvSpPr>
          <p:cNvPr id="73" name="Text 69"/>
          <p:cNvSpPr txBox="1"/>
          <p:nvPr/>
        </p:nvSpPr>
        <p:spPr>
          <a:xfrm>
            <a:off x="1143000" y="4206240"/>
            <a:ext cx="1920240" cy="411480"/>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магнитное поле проходит через многие материалы</a:t>
            </a:r>
            <a:endParaRPr lang="en-US" sz="850" dirty="0"/>
          </a:p>
        </p:txBody>
      </p:sp>
      <p:sp>
        <p:nvSpPr>
          <p:cNvPr id="74" name="Shape 70"/>
          <p:cNvSpPr/>
          <p:nvPr/>
        </p:nvSpPr>
        <p:spPr>
          <a:xfrm>
            <a:off x="3246120" y="3931920"/>
            <a:ext cx="2651760" cy="749808"/>
          </a:xfrm>
          <a:prstGeom prst="roundRect">
            <a:avLst>
              <a:gd name="adj" fmla="val 975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75" name="Shape 71"/>
          <p:cNvSpPr/>
          <p:nvPr/>
        </p:nvSpPr>
        <p:spPr>
          <a:xfrm>
            <a:off x="3410712" y="4105656"/>
            <a:ext cx="402336" cy="402336"/>
          </a:xfrm>
          <a:prstGeom prst="ellipse">
            <a:avLst/>
          </a:prstGeom>
          <a:solidFill>
            <a:srgbClr val="0B1F3A"/>
          </a:solidFill>
          <a:ln w="12700">
            <a:solidFill>
              <a:srgbClr val="0B1F3A"/>
            </a:solidFill>
            <a:prstDash val="solid"/>
          </a:ln>
        </p:spPr>
      </p:sp>
      <p:pic>
        <p:nvPicPr>
          <p:cNvPr id="76" name="Image 1" descr="preencoded.png">    </p:cNvPr>
          <p:cNvPicPr>
            <a:picLocks noChangeAspect="1"/>
          </p:cNvPicPr>
          <p:nvPr/>
        </p:nvPicPr>
        <p:blipFill>
          <a:blip r:embed="rId2"/>
          <a:stretch>
            <a:fillRect/>
          </a:stretch>
        </p:blipFill>
        <p:spPr>
          <a:xfrm>
            <a:off x="3511296" y="4206240"/>
            <a:ext cx="201168" cy="201168"/>
          </a:xfrm>
          <a:prstGeom prst="rect">
            <a:avLst/>
          </a:prstGeom>
        </p:spPr>
      </p:pic>
      <p:sp>
        <p:nvSpPr>
          <p:cNvPr id="77" name="Text 72"/>
          <p:cNvSpPr txBox="1"/>
          <p:nvPr/>
        </p:nvSpPr>
        <p:spPr>
          <a:xfrm>
            <a:off x="3931920" y="4005072"/>
            <a:ext cx="1920240" cy="201168"/>
          </a:xfrm>
          <a:prstGeom prst="rect">
            <a:avLst/>
          </a:prstGeom>
          <a:noFill/>
          <a:ln/>
        </p:spPr>
        <p:txBody>
          <a:bodyPr wrap="square" lIns="0" tIns="0" rIns="0" bIns="0" rtlCol="0" anchor="t"/>
          <a:lstStyle/>
          <a:p>
            <a:pPr indent="0" marL="0">
              <a:buNone/>
            </a:pPr>
            <a:r>
              <a:rPr lang="en-US" sz="1050" b="1" dirty="0">
                <a:solidFill>
                  <a:srgbClr val="0B1F3A"/>
                </a:solidFill>
                <a:latin typeface="Arial" pitchFamily="34" charset="0"/>
                <a:ea typeface="Arial" pitchFamily="34" charset="-122"/>
                <a:cs typeface="Arial" pitchFamily="34" charset="-120"/>
              </a:rPr>
              <a:t>Сложнее на НЧ</a:t>
            </a:r>
            <a:endParaRPr lang="en-US" sz="1050" dirty="0"/>
          </a:p>
        </p:txBody>
      </p:sp>
      <p:sp>
        <p:nvSpPr>
          <p:cNvPr id="78" name="Text 73"/>
          <p:cNvSpPr txBox="1"/>
          <p:nvPr/>
        </p:nvSpPr>
        <p:spPr>
          <a:xfrm>
            <a:off x="3931920" y="4206240"/>
            <a:ext cx="1920240" cy="411480"/>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вихревые токи слабы — обычный экран не помогает</a:t>
            </a:r>
            <a:endParaRPr lang="en-US" sz="850" dirty="0"/>
          </a:p>
        </p:txBody>
      </p:sp>
      <p:sp>
        <p:nvSpPr>
          <p:cNvPr id="79" name="Shape 74"/>
          <p:cNvSpPr/>
          <p:nvPr/>
        </p:nvSpPr>
        <p:spPr>
          <a:xfrm>
            <a:off x="6035040" y="3931920"/>
            <a:ext cx="2651760" cy="749808"/>
          </a:xfrm>
          <a:prstGeom prst="roundRect">
            <a:avLst>
              <a:gd name="adj" fmla="val 9756"/>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80" name="Shape 75"/>
          <p:cNvSpPr/>
          <p:nvPr/>
        </p:nvSpPr>
        <p:spPr>
          <a:xfrm>
            <a:off x="6199632" y="4105656"/>
            <a:ext cx="402336" cy="402336"/>
          </a:xfrm>
          <a:prstGeom prst="ellipse">
            <a:avLst/>
          </a:prstGeom>
          <a:solidFill>
            <a:srgbClr val="0E9AA7"/>
          </a:solidFill>
          <a:ln w="12700">
            <a:solidFill>
              <a:srgbClr val="0E9AA7"/>
            </a:solidFill>
            <a:prstDash val="solid"/>
          </a:ln>
        </p:spPr>
      </p:sp>
      <p:pic>
        <p:nvPicPr>
          <p:cNvPr id="81" name="Image 2" descr="preencoded.png">    </p:cNvPr>
          <p:cNvPicPr>
            <a:picLocks noChangeAspect="1"/>
          </p:cNvPicPr>
          <p:nvPr/>
        </p:nvPicPr>
        <p:blipFill>
          <a:blip r:embed="rId3"/>
          <a:stretch>
            <a:fillRect/>
          </a:stretch>
        </p:blipFill>
        <p:spPr>
          <a:xfrm>
            <a:off x="6300216" y="4206240"/>
            <a:ext cx="201168" cy="201168"/>
          </a:xfrm>
          <a:prstGeom prst="rect">
            <a:avLst/>
          </a:prstGeom>
        </p:spPr>
      </p:pic>
      <p:sp>
        <p:nvSpPr>
          <p:cNvPr id="82" name="Text 76"/>
          <p:cNvSpPr txBox="1"/>
          <p:nvPr/>
        </p:nvSpPr>
        <p:spPr>
          <a:xfrm>
            <a:off x="6720840" y="4005072"/>
            <a:ext cx="1920240" cy="201168"/>
          </a:xfrm>
          <a:prstGeom prst="rect">
            <a:avLst/>
          </a:prstGeom>
          <a:noFill/>
          <a:ln/>
        </p:spPr>
        <p:txBody>
          <a:bodyPr wrap="square" lIns="0" tIns="0" rIns="0" bIns="0" rtlCol="0" anchor="t"/>
          <a:lstStyle/>
          <a:p>
            <a:pPr indent="0" marL="0">
              <a:buNone/>
            </a:pPr>
            <a:r>
              <a:rPr lang="en-US" sz="1050" b="1" dirty="0">
                <a:solidFill>
                  <a:srgbClr val="0B1F3A"/>
                </a:solidFill>
                <a:latin typeface="Arial" pitchFamily="34" charset="0"/>
                <a:ea typeface="Arial" pitchFamily="34" charset="-122"/>
                <a:cs typeface="Arial" pitchFamily="34" charset="-120"/>
              </a:rPr>
              <a:t>Магнитомягкие материалы</a:t>
            </a:r>
            <a:endParaRPr lang="en-US" sz="1050" dirty="0"/>
          </a:p>
        </p:txBody>
      </p:sp>
      <p:sp>
        <p:nvSpPr>
          <p:cNvPr id="83" name="Text 77"/>
          <p:cNvSpPr txBox="1"/>
          <p:nvPr/>
        </p:nvSpPr>
        <p:spPr>
          <a:xfrm>
            <a:off x="6720840" y="4206240"/>
            <a:ext cx="1920240" cy="411480"/>
          </a:xfrm>
          <a:prstGeom prst="rect">
            <a:avLst/>
          </a:prstGeom>
          <a:noFill/>
          <a:ln/>
        </p:spPr>
        <p:txBody>
          <a:bodyPr wrap="square" lIns="0" tIns="0" rIns="0" bIns="0" rtlCol="0" anchor="t"/>
          <a:lstStyle/>
          <a:p>
            <a:pPr indent="0" marL="0">
              <a:buNone/>
            </a:pPr>
            <a:r>
              <a:rPr lang="en-US" sz="850" dirty="0">
                <a:solidFill>
                  <a:srgbClr val="64748B"/>
                </a:solidFill>
                <a:latin typeface="Arial" pitchFamily="34" charset="0"/>
                <a:ea typeface="Arial" pitchFamily="34" charset="-122"/>
                <a:cs typeface="Arial" pitchFamily="34" charset="-120"/>
              </a:rPr>
              <a:t>высокая проницаемость направляет поток</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МАГНИТНОЕ ПОЛЕ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Экранирование магнитного поля</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06</a:t>
            </a:r>
            <a:endParaRPr lang="en-US" sz="800" dirty="0"/>
          </a:p>
        </p:txBody>
      </p:sp>
      <p:sp>
        <p:nvSpPr>
          <p:cNvPr id="7" name="Shape 4"/>
          <p:cNvSpPr/>
          <p:nvPr/>
        </p:nvSpPr>
        <p:spPr>
          <a:xfrm>
            <a:off x="457200" y="1280160"/>
            <a:ext cx="5120640" cy="3383280"/>
          </a:xfrm>
          <a:prstGeom prst="roundRect">
            <a:avLst>
              <a:gd name="adj" fmla="val 2162"/>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8" name="Shape 5"/>
          <p:cNvSpPr/>
          <p:nvPr/>
        </p:nvSpPr>
        <p:spPr>
          <a:xfrm>
            <a:off x="1920240" y="1965960"/>
            <a:ext cx="2194560" cy="1554480"/>
          </a:xfrm>
          <a:prstGeom prst="rect">
            <a:avLst/>
          </a:prstGeom>
          <a:solidFill>
            <a:srgbClr val="13305A"/>
          </a:solidFill>
          <a:ln w="12700">
            <a:solidFill>
              <a:srgbClr val="0B1F3A"/>
            </a:solidFill>
            <a:prstDash val="solid"/>
          </a:ln>
        </p:spPr>
      </p:sp>
      <p:sp>
        <p:nvSpPr>
          <p:cNvPr id="9" name="Shape 6"/>
          <p:cNvSpPr/>
          <p:nvPr/>
        </p:nvSpPr>
        <p:spPr>
          <a:xfrm>
            <a:off x="2103120" y="2148840"/>
            <a:ext cx="1828800" cy="1188720"/>
          </a:xfrm>
          <a:prstGeom prst="rect">
            <a:avLst/>
          </a:prstGeom>
          <a:solidFill>
            <a:srgbClr val="EAF6FA"/>
          </a:solidFill>
          <a:ln w="12700">
            <a:solidFill>
              <a:srgbClr val="EAF6FA"/>
            </a:solidFill>
            <a:prstDash val="solid"/>
          </a:ln>
        </p:spPr>
      </p:sp>
      <p:pic>
        <p:nvPicPr>
          <p:cNvPr id="10" name="Image 0" descr="preencoded.png">    </p:cNvPr>
          <p:cNvPicPr>
            <a:picLocks noChangeAspect="1"/>
          </p:cNvPicPr>
          <p:nvPr/>
        </p:nvPicPr>
        <p:blipFill>
          <a:blip r:embed="rId1"/>
          <a:stretch>
            <a:fillRect/>
          </a:stretch>
        </p:blipFill>
        <p:spPr>
          <a:xfrm>
            <a:off x="2834640" y="2450592"/>
            <a:ext cx="365760" cy="274320"/>
          </a:xfrm>
          <a:prstGeom prst="rect">
            <a:avLst/>
          </a:prstGeom>
        </p:spPr>
      </p:pic>
      <p:sp>
        <p:nvSpPr>
          <p:cNvPr id="11" name="Text 7"/>
          <p:cNvSpPr txBox="1"/>
          <p:nvPr/>
        </p:nvSpPr>
        <p:spPr>
          <a:xfrm>
            <a:off x="2240280" y="2761488"/>
            <a:ext cx="1554480" cy="182880"/>
          </a:xfrm>
          <a:prstGeom prst="rect">
            <a:avLst/>
          </a:prstGeom>
          <a:noFill/>
          <a:ln/>
        </p:spPr>
        <p:txBody>
          <a:bodyPr wrap="square" lIns="0" tIns="0" rIns="0" bIns="0" rtlCol="0" anchor="t"/>
          <a:lstStyle/>
          <a:p>
            <a:pPr algn="ctr" indent="0" marL="0">
              <a:buNone/>
            </a:pPr>
            <a:r>
              <a:rPr lang="en-US" sz="900" b="1" dirty="0">
                <a:solidFill>
                  <a:srgbClr val="0B1F3A"/>
                </a:solidFill>
                <a:latin typeface="Arial" pitchFamily="34" charset="0"/>
                <a:ea typeface="Arial" pitchFamily="34" charset="-122"/>
                <a:cs typeface="Arial" pitchFamily="34" charset="-120"/>
              </a:rPr>
              <a:t>Защищаемая область</a:t>
            </a:r>
            <a:endParaRPr lang="en-US" sz="900" dirty="0"/>
          </a:p>
        </p:txBody>
      </p:sp>
      <p:sp>
        <p:nvSpPr>
          <p:cNvPr id="12" name="Text 8"/>
          <p:cNvSpPr txBox="1"/>
          <p:nvPr/>
        </p:nvSpPr>
        <p:spPr>
          <a:xfrm>
            <a:off x="2240280" y="2944368"/>
            <a:ext cx="1554480" cy="182880"/>
          </a:xfrm>
          <a:prstGeom prst="rect">
            <a:avLst/>
          </a:prstGeom>
          <a:noFill/>
          <a:ln/>
        </p:spPr>
        <p:txBody>
          <a:bodyPr wrap="square" lIns="0" tIns="0" rIns="0" bIns="0" rtlCol="0" anchor="t"/>
          <a:lstStyle/>
          <a:p>
            <a:pPr algn="ctr" indent="0" marL="0">
              <a:buNone/>
            </a:pPr>
            <a:r>
              <a:rPr lang="en-US" sz="900" dirty="0">
                <a:solidFill>
                  <a:srgbClr val="0E9AA7"/>
                </a:solidFill>
                <a:latin typeface="Arial" pitchFamily="34" charset="0"/>
                <a:ea typeface="Arial" pitchFamily="34" charset="-122"/>
                <a:cs typeface="Arial" pitchFamily="34" charset="-120"/>
              </a:rPr>
              <a:t>B ≈ 0</a:t>
            </a:r>
            <a:endParaRPr lang="en-US" sz="900" dirty="0"/>
          </a:p>
        </p:txBody>
      </p:sp>
      <p:sp>
        <p:nvSpPr>
          <p:cNvPr id="13" name="Shape 9"/>
          <p:cNvSpPr/>
          <p:nvPr/>
        </p:nvSpPr>
        <p:spPr>
          <a:xfrm>
            <a:off x="731520" y="1508760"/>
            <a:ext cx="4572000" cy="499242"/>
          </a:xfrm>
          <a:custGeom>
            <a:avLst/>
            <a:gdLst/>
            <a:ahLst/>
            <a:cxnLst/>
            <a:rect l="l" t="t" r="r" b="b"/>
            <a:pathLst>
              <a:path w="4572000" h="499242">
                <a:moveTo>
                  <a:pt x="0" y="0"/>
                </a:moveTo>
                <a:lnTo>
                  <a:pt x="28408" y="4607"/>
                </a:lnTo>
                <a:lnTo>
                  <a:pt x="63981" y="9645"/>
                </a:lnTo>
                <a:lnTo>
                  <a:pt x="105719" y="15170"/>
                </a:lnTo>
                <a:lnTo>
                  <a:pt x="152622" y="21234"/>
                </a:lnTo>
                <a:lnTo>
                  <a:pt x="203691" y="27892"/>
                </a:lnTo>
                <a:lnTo>
                  <a:pt x="257925" y="35198"/>
                </a:lnTo>
                <a:lnTo>
                  <a:pt x="314325" y="43205"/>
                </a:lnTo>
                <a:lnTo>
                  <a:pt x="371892" y="51969"/>
                </a:lnTo>
                <a:lnTo>
                  <a:pt x="429625" y="61542"/>
                </a:lnTo>
                <a:lnTo>
                  <a:pt x="486525" y="71979"/>
                </a:lnTo>
                <a:lnTo>
                  <a:pt x="541592" y="83334"/>
                </a:lnTo>
                <a:lnTo>
                  <a:pt x="593827" y="95660"/>
                </a:lnTo>
                <a:lnTo>
                  <a:pt x="642229" y="109012"/>
                </a:lnTo>
                <a:lnTo>
                  <a:pt x="685800" y="123444"/>
                </a:lnTo>
                <a:lnTo>
                  <a:pt x="725822" y="139810"/>
                </a:lnTo>
                <a:lnTo>
                  <a:pt x="764310" y="158642"/>
                </a:lnTo>
                <a:lnTo>
                  <a:pt x="801366" y="179507"/>
                </a:lnTo>
                <a:lnTo>
                  <a:pt x="837089" y="201973"/>
                </a:lnTo>
                <a:lnTo>
                  <a:pt x="871579" y="225609"/>
                </a:lnTo>
                <a:lnTo>
                  <a:pt x="904936" y="249983"/>
                </a:lnTo>
                <a:lnTo>
                  <a:pt x="937260" y="274663"/>
                </a:lnTo>
                <a:lnTo>
                  <a:pt x="968651" y="299217"/>
                </a:lnTo>
                <a:lnTo>
                  <a:pt x="999209" y="323213"/>
                </a:lnTo>
                <a:lnTo>
                  <a:pt x="1029033" y="346219"/>
                </a:lnTo>
                <a:lnTo>
                  <a:pt x="1058225" y="367804"/>
                </a:lnTo>
                <a:lnTo>
                  <a:pt x="1086883" y="387535"/>
                </a:lnTo>
                <a:lnTo>
                  <a:pt x="1115108" y="404981"/>
                </a:lnTo>
                <a:lnTo>
                  <a:pt x="1143000" y="419710"/>
                </a:lnTo>
                <a:lnTo>
                  <a:pt x="1168892" y="432018"/>
                </a:lnTo>
                <a:lnTo>
                  <a:pt x="1191519" y="442599"/>
                </a:lnTo>
                <a:lnTo>
                  <a:pt x="1211580" y="451614"/>
                </a:lnTo>
                <a:lnTo>
                  <a:pt x="1229775" y="459226"/>
                </a:lnTo>
                <a:lnTo>
                  <a:pt x="1246803" y="465596"/>
                </a:lnTo>
                <a:lnTo>
                  <a:pt x="1263365" y="470887"/>
                </a:lnTo>
                <a:lnTo>
                  <a:pt x="1280160" y="475259"/>
                </a:lnTo>
                <a:lnTo>
                  <a:pt x="1297888" y="478876"/>
                </a:lnTo>
                <a:lnTo>
                  <a:pt x="1317249" y="481899"/>
                </a:lnTo>
                <a:lnTo>
                  <a:pt x="1338943" y="484491"/>
                </a:lnTo>
                <a:lnTo>
                  <a:pt x="1363669" y="486812"/>
                </a:lnTo>
                <a:lnTo>
                  <a:pt x="1392127" y="489025"/>
                </a:lnTo>
                <a:lnTo>
                  <a:pt x="1425018" y="491293"/>
                </a:lnTo>
                <a:lnTo>
                  <a:pt x="1463040" y="493776"/>
                </a:lnTo>
                <a:lnTo>
                  <a:pt x="1506336" y="496057"/>
                </a:lnTo>
                <a:lnTo>
                  <a:pt x="1554213" y="497663"/>
                </a:lnTo>
                <a:lnTo>
                  <a:pt x="1606123" y="498675"/>
                </a:lnTo>
                <a:lnTo>
                  <a:pt x="1661515" y="499174"/>
                </a:lnTo>
                <a:lnTo>
                  <a:pt x="1719840" y="499242"/>
                </a:lnTo>
                <a:lnTo>
                  <a:pt x="1780547" y="498958"/>
                </a:lnTo>
                <a:lnTo>
                  <a:pt x="1843088" y="498405"/>
                </a:lnTo>
                <a:lnTo>
                  <a:pt x="1906911" y="497663"/>
                </a:lnTo>
                <a:lnTo>
                  <a:pt x="1971467" y="496813"/>
                </a:lnTo>
                <a:lnTo>
                  <a:pt x="2036206" y="495935"/>
                </a:lnTo>
                <a:lnTo>
                  <a:pt x="2100579" y="495112"/>
                </a:lnTo>
                <a:lnTo>
                  <a:pt x="2164036" y="494424"/>
                </a:lnTo>
                <a:lnTo>
                  <a:pt x="2226026" y="493951"/>
                </a:lnTo>
                <a:lnTo>
                  <a:pt x="2286000" y="493776"/>
                </a:lnTo>
                <a:lnTo>
                  <a:pt x="2345974" y="493951"/>
                </a:lnTo>
                <a:lnTo>
                  <a:pt x="2407964" y="494424"/>
                </a:lnTo>
                <a:lnTo>
                  <a:pt x="2471421" y="495112"/>
                </a:lnTo>
                <a:lnTo>
                  <a:pt x="2535794" y="495935"/>
                </a:lnTo>
                <a:lnTo>
                  <a:pt x="2600533" y="496813"/>
                </a:lnTo>
                <a:lnTo>
                  <a:pt x="2665089" y="497663"/>
                </a:lnTo>
                <a:lnTo>
                  <a:pt x="2728913" y="498405"/>
                </a:lnTo>
                <a:lnTo>
                  <a:pt x="2791453" y="498958"/>
                </a:lnTo>
                <a:lnTo>
                  <a:pt x="2852160" y="499242"/>
                </a:lnTo>
                <a:lnTo>
                  <a:pt x="2910485" y="499174"/>
                </a:lnTo>
                <a:lnTo>
                  <a:pt x="2965877" y="498675"/>
                </a:lnTo>
                <a:lnTo>
                  <a:pt x="3017787" y="497663"/>
                </a:lnTo>
                <a:lnTo>
                  <a:pt x="3065664" y="496057"/>
                </a:lnTo>
                <a:lnTo>
                  <a:pt x="3108960" y="493776"/>
                </a:lnTo>
                <a:lnTo>
                  <a:pt x="3146982" y="491293"/>
                </a:lnTo>
                <a:lnTo>
                  <a:pt x="3179873" y="489025"/>
                </a:lnTo>
                <a:lnTo>
                  <a:pt x="3208331" y="486812"/>
                </a:lnTo>
                <a:lnTo>
                  <a:pt x="3233057" y="484491"/>
                </a:lnTo>
                <a:lnTo>
                  <a:pt x="3254751" y="481899"/>
                </a:lnTo>
                <a:lnTo>
                  <a:pt x="3274112" y="478876"/>
                </a:lnTo>
                <a:lnTo>
                  <a:pt x="3291840" y="475259"/>
                </a:lnTo>
                <a:lnTo>
                  <a:pt x="3308635" y="470887"/>
                </a:lnTo>
                <a:lnTo>
                  <a:pt x="3325197" y="465596"/>
                </a:lnTo>
                <a:lnTo>
                  <a:pt x="3342225" y="459226"/>
                </a:lnTo>
                <a:lnTo>
                  <a:pt x="3360420" y="451614"/>
                </a:lnTo>
                <a:lnTo>
                  <a:pt x="3380481" y="442599"/>
                </a:lnTo>
                <a:lnTo>
                  <a:pt x="3403108" y="432018"/>
                </a:lnTo>
                <a:lnTo>
                  <a:pt x="3429000" y="419710"/>
                </a:lnTo>
                <a:lnTo>
                  <a:pt x="3456892" y="404981"/>
                </a:lnTo>
                <a:lnTo>
                  <a:pt x="3485117" y="387535"/>
                </a:lnTo>
                <a:lnTo>
                  <a:pt x="3513775" y="367804"/>
                </a:lnTo>
                <a:lnTo>
                  <a:pt x="3542967" y="346219"/>
                </a:lnTo>
                <a:lnTo>
                  <a:pt x="3572791" y="323213"/>
                </a:lnTo>
                <a:lnTo>
                  <a:pt x="3603349" y="299217"/>
                </a:lnTo>
                <a:lnTo>
                  <a:pt x="3634740" y="274663"/>
                </a:lnTo>
                <a:lnTo>
                  <a:pt x="3667064" y="249983"/>
                </a:lnTo>
                <a:lnTo>
                  <a:pt x="3700421" y="225609"/>
                </a:lnTo>
                <a:lnTo>
                  <a:pt x="3734911" y="201973"/>
                </a:lnTo>
                <a:lnTo>
                  <a:pt x="3770634" y="179507"/>
                </a:lnTo>
                <a:lnTo>
                  <a:pt x="3807690" y="158642"/>
                </a:lnTo>
                <a:lnTo>
                  <a:pt x="3846178" y="139810"/>
                </a:lnTo>
                <a:lnTo>
                  <a:pt x="3886200" y="123444"/>
                </a:lnTo>
                <a:lnTo>
                  <a:pt x="3929771" y="109012"/>
                </a:lnTo>
                <a:lnTo>
                  <a:pt x="3978173" y="95660"/>
                </a:lnTo>
                <a:lnTo>
                  <a:pt x="4030408" y="83334"/>
                </a:lnTo>
                <a:lnTo>
                  <a:pt x="4085475" y="71979"/>
                </a:lnTo>
                <a:lnTo>
                  <a:pt x="4142375" y="61542"/>
                </a:lnTo>
                <a:lnTo>
                  <a:pt x="4200108" y="51969"/>
                </a:lnTo>
                <a:lnTo>
                  <a:pt x="4257675" y="43205"/>
                </a:lnTo>
                <a:lnTo>
                  <a:pt x="4314075" y="35198"/>
                </a:lnTo>
                <a:lnTo>
                  <a:pt x="4368309" y="27892"/>
                </a:lnTo>
                <a:lnTo>
                  <a:pt x="4419378" y="21234"/>
                </a:lnTo>
                <a:lnTo>
                  <a:pt x="4466281" y="15170"/>
                </a:lnTo>
                <a:lnTo>
                  <a:pt x="4508019" y="9645"/>
                </a:lnTo>
                <a:lnTo>
                  <a:pt x="4543592" y="4607"/>
                </a:lnTo>
                <a:lnTo>
                  <a:pt x="4572000" y="0"/>
                </a:lnTo>
              </a:path>
            </a:pathLst>
          </a:custGeom>
          <a:noFill/>
          <a:ln w="19050">
            <a:solidFill>
              <a:srgbClr val="1FB6D4"/>
            </a:solidFill>
            <a:prstDash val="solid"/>
          </a:ln>
        </p:spPr>
      </p:sp>
      <p:sp>
        <p:nvSpPr>
          <p:cNvPr id="14" name="Shape 10"/>
          <p:cNvSpPr/>
          <p:nvPr/>
        </p:nvSpPr>
        <p:spPr>
          <a:xfrm rot="6848857">
            <a:off x="1450110" y="1621682"/>
            <a:ext cx="91440" cy="100584"/>
          </a:xfrm>
          <a:prstGeom prst="triangle">
            <a:avLst/>
          </a:prstGeom>
          <a:solidFill>
            <a:srgbClr val="1FB6D4"/>
          </a:solidFill>
          <a:ln w="12700">
            <a:solidFill>
              <a:srgbClr val="1FB6D4"/>
            </a:solidFill>
            <a:prstDash val="solid"/>
          </a:ln>
        </p:spPr>
      </p:sp>
      <p:sp>
        <p:nvSpPr>
          <p:cNvPr id="15" name="Shape 11"/>
          <p:cNvSpPr/>
          <p:nvPr/>
        </p:nvSpPr>
        <p:spPr>
          <a:xfrm rot="4541154">
            <a:off x="4716208" y="1546374"/>
            <a:ext cx="91440" cy="100584"/>
          </a:xfrm>
          <a:prstGeom prst="triangle">
            <a:avLst/>
          </a:prstGeom>
          <a:solidFill>
            <a:srgbClr val="1FB6D4"/>
          </a:solidFill>
          <a:ln w="12700">
            <a:solidFill>
              <a:srgbClr val="1FB6D4"/>
            </a:solidFill>
            <a:prstDash val="solid"/>
          </a:ln>
        </p:spPr>
      </p:sp>
      <p:sp>
        <p:nvSpPr>
          <p:cNvPr id="16" name="Shape 12"/>
          <p:cNvSpPr/>
          <p:nvPr/>
        </p:nvSpPr>
        <p:spPr>
          <a:xfrm>
            <a:off x="731520" y="3478398"/>
            <a:ext cx="4572000" cy="499242"/>
          </a:xfrm>
          <a:custGeom>
            <a:avLst/>
            <a:gdLst/>
            <a:ahLst/>
            <a:cxnLst/>
            <a:rect l="l" t="t" r="r" b="b"/>
            <a:pathLst>
              <a:path w="4572000" h="499242">
                <a:moveTo>
                  <a:pt x="0" y="499242"/>
                </a:moveTo>
                <a:lnTo>
                  <a:pt x="28408" y="494635"/>
                </a:lnTo>
                <a:lnTo>
                  <a:pt x="63981" y="489597"/>
                </a:lnTo>
                <a:lnTo>
                  <a:pt x="105719" y="484072"/>
                </a:lnTo>
                <a:lnTo>
                  <a:pt x="152622" y="478008"/>
                </a:lnTo>
                <a:lnTo>
                  <a:pt x="203691" y="471350"/>
                </a:lnTo>
                <a:lnTo>
                  <a:pt x="257925" y="464044"/>
                </a:lnTo>
                <a:lnTo>
                  <a:pt x="314325" y="456037"/>
                </a:lnTo>
                <a:lnTo>
                  <a:pt x="371892" y="447273"/>
                </a:lnTo>
                <a:lnTo>
                  <a:pt x="429625" y="437700"/>
                </a:lnTo>
                <a:lnTo>
                  <a:pt x="486525" y="427263"/>
                </a:lnTo>
                <a:lnTo>
                  <a:pt x="541592" y="415908"/>
                </a:lnTo>
                <a:lnTo>
                  <a:pt x="593827" y="403582"/>
                </a:lnTo>
                <a:lnTo>
                  <a:pt x="642229" y="390230"/>
                </a:lnTo>
                <a:lnTo>
                  <a:pt x="685800" y="375798"/>
                </a:lnTo>
                <a:lnTo>
                  <a:pt x="725822" y="359432"/>
                </a:lnTo>
                <a:lnTo>
                  <a:pt x="764310" y="340600"/>
                </a:lnTo>
                <a:lnTo>
                  <a:pt x="801366" y="319735"/>
                </a:lnTo>
                <a:lnTo>
                  <a:pt x="837089" y="297269"/>
                </a:lnTo>
                <a:lnTo>
                  <a:pt x="871579" y="273633"/>
                </a:lnTo>
                <a:lnTo>
                  <a:pt x="904936" y="249259"/>
                </a:lnTo>
                <a:lnTo>
                  <a:pt x="937260" y="224579"/>
                </a:lnTo>
                <a:lnTo>
                  <a:pt x="968651" y="200025"/>
                </a:lnTo>
                <a:lnTo>
                  <a:pt x="999209" y="176029"/>
                </a:lnTo>
                <a:lnTo>
                  <a:pt x="1029033" y="153023"/>
                </a:lnTo>
                <a:lnTo>
                  <a:pt x="1058225" y="131438"/>
                </a:lnTo>
                <a:lnTo>
                  <a:pt x="1086883" y="111707"/>
                </a:lnTo>
                <a:lnTo>
                  <a:pt x="1115108" y="94261"/>
                </a:lnTo>
                <a:lnTo>
                  <a:pt x="1143000" y="79532"/>
                </a:lnTo>
                <a:lnTo>
                  <a:pt x="1168892" y="67224"/>
                </a:lnTo>
                <a:lnTo>
                  <a:pt x="1191519" y="56643"/>
                </a:lnTo>
                <a:lnTo>
                  <a:pt x="1211580" y="47628"/>
                </a:lnTo>
                <a:lnTo>
                  <a:pt x="1229775" y="40016"/>
                </a:lnTo>
                <a:lnTo>
                  <a:pt x="1246803" y="33646"/>
                </a:lnTo>
                <a:lnTo>
                  <a:pt x="1263365" y="28355"/>
                </a:lnTo>
                <a:lnTo>
                  <a:pt x="1280160" y="23983"/>
                </a:lnTo>
                <a:lnTo>
                  <a:pt x="1297888" y="20366"/>
                </a:lnTo>
                <a:lnTo>
                  <a:pt x="1317249" y="17342"/>
                </a:lnTo>
                <a:lnTo>
                  <a:pt x="1338943" y="14751"/>
                </a:lnTo>
                <a:lnTo>
                  <a:pt x="1363669" y="12430"/>
                </a:lnTo>
                <a:lnTo>
                  <a:pt x="1392127" y="10217"/>
                </a:lnTo>
                <a:lnTo>
                  <a:pt x="1425018" y="7949"/>
                </a:lnTo>
                <a:lnTo>
                  <a:pt x="1463040" y="5466"/>
                </a:lnTo>
                <a:lnTo>
                  <a:pt x="1506336" y="3185"/>
                </a:lnTo>
                <a:lnTo>
                  <a:pt x="1554213" y="1579"/>
                </a:lnTo>
                <a:lnTo>
                  <a:pt x="1606123" y="567"/>
                </a:lnTo>
                <a:lnTo>
                  <a:pt x="1661515" y="67"/>
                </a:lnTo>
                <a:lnTo>
                  <a:pt x="1719840" y="0"/>
                </a:lnTo>
                <a:lnTo>
                  <a:pt x="1780547" y="283"/>
                </a:lnTo>
                <a:lnTo>
                  <a:pt x="1843088" y="837"/>
                </a:lnTo>
                <a:lnTo>
                  <a:pt x="1906911" y="1579"/>
                </a:lnTo>
                <a:lnTo>
                  <a:pt x="1971467" y="2429"/>
                </a:lnTo>
                <a:lnTo>
                  <a:pt x="2036206" y="3307"/>
                </a:lnTo>
                <a:lnTo>
                  <a:pt x="2100579" y="4130"/>
                </a:lnTo>
                <a:lnTo>
                  <a:pt x="2164036" y="4818"/>
                </a:lnTo>
                <a:lnTo>
                  <a:pt x="2226026" y="5290"/>
                </a:lnTo>
                <a:lnTo>
                  <a:pt x="2286000" y="5466"/>
                </a:lnTo>
                <a:lnTo>
                  <a:pt x="2345974" y="5290"/>
                </a:lnTo>
                <a:lnTo>
                  <a:pt x="2407964" y="4818"/>
                </a:lnTo>
                <a:lnTo>
                  <a:pt x="2471421" y="4130"/>
                </a:lnTo>
                <a:lnTo>
                  <a:pt x="2535794" y="3307"/>
                </a:lnTo>
                <a:lnTo>
                  <a:pt x="2600533" y="2429"/>
                </a:lnTo>
                <a:lnTo>
                  <a:pt x="2665089" y="1579"/>
                </a:lnTo>
                <a:lnTo>
                  <a:pt x="2728913" y="837"/>
                </a:lnTo>
                <a:lnTo>
                  <a:pt x="2791453" y="283"/>
                </a:lnTo>
                <a:lnTo>
                  <a:pt x="2852160" y="0"/>
                </a:lnTo>
                <a:lnTo>
                  <a:pt x="2910485" y="67"/>
                </a:lnTo>
                <a:lnTo>
                  <a:pt x="2965877" y="567"/>
                </a:lnTo>
                <a:lnTo>
                  <a:pt x="3017787" y="1579"/>
                </a:lnTo>
                <a:lnTo>
                  <a:pt x="3065664" y="3185"/>
                </a:lnTo>
                <a:lnTo>
                  <a:pt x="3108960" y="5466"/>
                </a:lnTo>
                <a:lnTo>
                  <a:pt x="3146982" y="7949"/>
                </a:lnTo>
                <a:lnTo>
                  <a:pt x="3179873" y="10217"/>
                </a:lnTo>
                <a:lnTo>
                  <a:pt x="3208331" y="12430"/>
                </a:lnTo>
                <a:lnTo>
                  <a:pt x="3233057" y="14751"/>
                </a:lnTo>
                <a:lnTo>
                  <a:pt x="3254751" y="17342"/>
                </a:lnTo>
                <a:lnTo>
                  <a:pt x="3274112" y="20366"/>
                </a:lnTo>
                <a:lnTo>
                  <a:pt x="3291840" y="23983"/>
                </a:lnTo>
                <a:lnTo>
                  <a:pt x="3308635" y="28355"/>
                </a:lnTo>
                <a:lnTo>
                  <a:pt x="3325197" y="33646"/>
                </a:lnTo>
                <a:lnTo>
                  <a:pt x="3342225" y="40016"/>
                </a:lnTo>
                <a:lnTo>
                  <a:pt x="3360420" y="47628"/>
                </a:lnTo>
                <a:lnTo>
                  <a:pt x="3380481" y="56643"/>
                </a:lnTo>
                <a:lnTo>
                  <a:pt x="3403108" y="67224"/>
                </a:lnTo>
                <a:lnTo>
                  <a:pt x="3429000" y="79532"/>
                </a:lnTo>
                <a:lnTo>
                  <a:pt x="3456892" y="94261"/>
                </a:lnTo>
                <a:lnTo>
                  <a:pt x="3485117" y="111707"/>
                </a:lnTo>
                <a:lnTo>
                  <a:pt x="3513775" y="131438"/>
                </a:lnTo>
                <a:lnTo>
                  <a:pt x="3542967" y="153023"/>
                </a:lnTo>
                <a:lnTo>
                  <a:pt x="3572791" y="176029"/>
                </a:lnTo>
                <a:lnTo>
                  <a:pt x="3603349" y="200025"/>
                </a:lnTo>
                <a:lnTo>
                  <a:pt x="3634740" y="224579"/>
                </a:lnTo>
                <a:lnTo>
                  <a:pt x="3667064" y="249259"/>
                </a:lnTo>
                <a:lnTo>
                  <a:pt x="3700421" y="273633"/>
                </a:lnTo>
                <a:lnTo>
                  <a:pt x="3734911" y="297269"/>
                </a:lnTo>
                <a:lnTo>
                  <a:pt x="3770634" y="319735"/>
                </a:lnTo>
                <a:lnTo>
                  <a:pt x="3807690" y="340600"/>
                </a:lnTo>
                <a:lnTo>
                  <a:pt x="3846178" y="359432"/>
                </a:lnTo>
                <a:lnTo>
                  <a:pt x="3886200" y="375798"/>
                </a:lnTo>
                <a:lnTo>
                  <a:pt x="3929771" y="390230"/>
                </a:lnTo>
                <a:lnTo>
                  <a:pt x="3978173" y="403582"/>
                </a:lnTo>
                <a:lnTo>
                  <a:pt x="4030408" y="415908"/>
                </a:lnTo>
                <a:lnTo>
                  <a:pt x="4085475" y="427263"/>
                </a:lnTo>
                <a:lnTo>
                  <a:pt x="4142375" y="437700"/>
                </a:lnTo>
                <a:lnTo>
                  <a:pt x="4200108" y="447273"/>
                </a:lnTo>
                <a:lnTo>
                  <a:pt x="4257675" y="456037"/>
                </a:lnTo>
                <a:lnTo>
                  <a:pt x="4314075" y="464044"/>
                </a:lnTo>
                <a:lnTo>
                  <a:pt x="4368309" y="471350"/>
                </a:lnTo>
                <a:lnTo>
                  <a:pt x="4419378" y="478008"/>
                </a:lnTo>
                <a:lnTo>
                  <a:pt x="4466281" y="484072"/>
                </a:lnTo>
                <a:lnTo>
                  <a:pt x="4508019" y="489597"/>
                </a:lnTo>
                <a:lnTo>
                  <a:pt x="4543592" y="494635"/>
                </a:lnTo>
                <a:lnTo>
                  <a:pt x="4572000" y="499242"/>
                </a:lnTo>
              </a:path>
            </a:pathLst>
          </a:custGeom>
          <a:noFill/>
          <a:ln w="19050">
            <a:solidFill>
              <a:srgbClr val="1FB6D4"/>
            </a:solidFill>
            <a:prstDash val="solid"/>
          </a:ln>
        </p:spPr>
      </p:sp>
      <p:sp>
        <p:nvSpPr>
          <p:cNvPr id="17" name="Shape 13"/>
          <p:cNvSpPr/>
          <p:nvPr/>
        </p:nvSpPr>
        <p:spPr>
          <a:xfrm rot="3951143">
            <a:off x="1450110" y="3773278"/>
            <a:ext cx="91440" cy="100584"/>
          </a:xfrm>
          <a:prstGeom prst="triangle">
            <a:avLst/>
          </a:prstGeom>
          <a:solidFill>
            <a:srgbClr val="1FB6D4"/>
          </a:solidFill>
          <a:ln w="12700">
            <a:solidFill>
              <a:srgbClr val="1FB6D4"/>
            </a:solidFill>
            <a:prstDash val="solid"/>
          </a:ln>
        </p:spPr>
      </p:sp>
      <p:sp>
        <p:nvSpPr>
          <p:cNvPr id="18" name="Shape 14"/>
          <p:cNvSpPr/>
          <p:nvPr/>
        </p:nvSpPr>
        <p:spPr>
          <a:xfrm rot="6258846">
            <a:off x="4716208" y="3848586"/>
            <a:ext cx="91440" cy="100584"/>
          </a:xfrm>
          <a:prstGeom prst="triangle">
            <a:avLst/>
          </a:prstGeom>
          <a:solidFill>
            <a:srgbClr val="1FB6D4"/>
          </a:solidFill>
          <a:ln w="12700">
            <a:solidFill>
              <a:srgbClr val="1FB6D4"/>
            </a:solidFill>
            <a:prstDash val="solid"/>
          </a:ln>
        </p:spPr>
      </p:sp>
      <p:sp>
        <p:nvSpPr>
          <p:cNvPr id="19" name="Shape 15"/>
          <p:cNvSpPr/>
          <p:nvPr/>
        </p:nvSpPr>
        <p:spPr>
          <a:xfrm>
            <a:off x="731520" y="1783080"/>
            <a:ext cx="4572000" cy="277357"/>
          </a:xfrm>
          <a:custGeom>
            <a:avLst/>
            <a:gdLst/>
            <a:ahLst/>
            <a:cxnLst/>
            <a:rect l="l" t="t" r="r" b="b"/>
            <a:pathLst>
              <a:path w="4572000" h="277357">
                <a:moveTo>
                  <a:pt x="0" y="0"/>
                </a:moveTo>
                <a:lnTo>
                  <a:pt x="28408" y="2559"/>
                </a:lnTo>
                <a:lnTo>
                  <a:pt x="63981" y="5358"/>
                </a:lnTo>
                <a:lnTo>
                  <a:pt x="105719" y="8428"/>
                </a:lnTo>
                <a:lnTo>
                  <a:pt x="152622" y="11797"/>
                </a:lnTo>
                <a:lnTo>
                  <a:pt x="203691" y="15495"/>
                </a:lnTo>
                <a:lnTo>
                  <a:pt x="257925" y="19554"/>
                </a:lnTo>
                <a:lnTo>
                  <a:pt x="314325" y="24003"/>
                </a:lnTo>
                <a:lnTo>
                  <a:pt x="371892" y="28872"/>
                </a:lnTo>
                <a:lnTo>
                  <a:pt x="429625" y="34190"/>
                </a:lnTo>
                <a:lnTo>
                  <a:pt x="486525" y="39988"/>
                </a:lnTo>
                <a:lnTo>
                  <a:pt x="541592" y="46296"/>
                </a:lnTo>
                <a:lnTo>
                  <a:pt x="593827" y="53145"/>
                </a:lnTo>
                <a:lnTo>
                  <a:pt x="642229" y="60562"/>
                </a:lnTo>
                <a:lnTo>
                  <a:pt x="685800" y="68580"/>
                </a:lnTo>
                <a:lnTo>
                  <a:pt x="725822" y="77672"/>
                </a:lnTo>
                <a:lnTo>
                  <a:pt x="764310" y="88134"/>
                </a:lnTo>
                <a:lnTo>
                  <a:pt x="801366" y="99726"/>
                </a:lnTo>
                <a:lnTo>
                  <a:pt x="837089" y="112207"/>
                </a:lnTo>
                <a:lnTo>
                  <a:pt x="871579" y="125338"/>
                </a:lnTo>
                <a:lnTo>
                  <a:pt x="904936" y="138879"/>
                </a:lnTo>
                <a:lnTo>
                  <a:pt x="937260" y="152590"/>
                </a:lnTo>
                <a:lnTo>
                  <a:pt x="968651" y="166232"/>
                </a:lnTo>
                <a:lnTo>
                  <a:pt x="999209" y="179563"/>
                </a:lnTo>
                <a:lnTo>
                  <a:pt x="1029033" y="192344"/>
                </a:lnTo>
                <a:lnTo>
                  <a:pt x="1058225" y="204335"/>
                </a:lnTo>
                <a:lnTo>
                  <a:pt x="1086883" y="215297"/>
                </a:lnTo>
                <a:lnTo>
                  <a:pt x="1115108" y="224989"/>
                </a:lnTo>
                <a:lnTo>
                  <a:pt x="1143000" y="233172"/>
                </a:lnTo>
                <a:lnTo>
                  <a:pt x="1168892" y="240010"/>
                </a:lnTo>
                <a:lnTo>
                  <a:pt x="1191519" y="245888"/>
                </a:lnTo>
                <a:lnTo>
                  <a:pt x="1211580" y="250897"/>
                </a:lnTo>
                <a:lnTo>
                  <a:pt x="1229775" y="255126"/>
                </a:lnTo>
                <a:lnTo>
                  <a:pt x="1246803" y="258665"/>
                </a:lnTo>
                <a:lnTo>
                  <a:pt x="1263365" y="261604"/>
                </a:lnTo>
                <a:lnTo>
                  <a:pt x="1280160" y="264033"/>
                </a:lnTo>
                <a:lnTo>
                  <a:pt x="1297888" y="266042"/>
                </a:lnTo>
                <a:lnTo>
                  <a:pt x="1317249" y="267722"/>
                </a:lnTo>
                <a:lnTo>
                  <a:pt x="1338943" y="269162"/>
                </a:lnTo>
                <a:lnTo>
                  <a:pt x="1363669" y="270451"/>
                </a:lnTo>
                <a:lnTo>
                  <a:pt x="1392127" y="271681"/>
                </a:lnTo>
                <a:lnTo>
                  <a:pt x="1425018" y="272940"/>
                </a:lnTo>
                <a:lnTo>
                  <a:pt x="1463040" y="274320"/>
                </a:lnTo>
                <a:lnTo>
                  <a:pt x="1506336" y="275587"/>
                </a:lnTo>
                <a:lnTo>
                  <a:pt x="1554213" y="276479"/>
                </a:lnTo>
                <a:lnTo>
                  <a:pt x="1606123" y="277042"/>
                </a:lnTo>
                <a:lnTo>
                  <a:pt x="1661515" y="277319"/>
                </a:lnTo>
                <a:lnTo>
                  <a:pt x="1719840" y="277357"/>
                </a:lnTo>
                <a:lnTo>
                  <a:pt x="1780547" y="277199"/>
                </a:lnTo>
                <a:lnTo>
                  <a:pt x="1843088" y="276892"/>
                </a:lnTo>
                <a:lnTo>
                  <a:pt x="1906911" y="276479"/>
                </a:lnTo>
                <a:lnTo>
                  <a:pt x="1971467" y="276007"/>
                </a:lnTo>
                <a:lnTo>
                  <a:pt x="2036206" y="275520"/>
                </a:lnTo>
                <a:lnTo>
                  <a:pt x="2100579" y="275062"/>
                </a:lnTo>
                <a:lnTo>
                  <a:pt x="2164036" y="274680"/>
                </a:lnTo>
                <a:lnTo>
                  <a:pt x="2226026" y="274417"/>
                </a:lnTo>
                <a:lnTo>
                  <a:pt x="2286000" y="274320"/>
                </a:lnTo>
                <a:lnTo>
                  <a:pt x="2345974" y="274417"/>
                </a:lnTo>
                <a:lnTo>
                  <a:pt x="2407964" y="274680"/>
                </a:lnTo>
                <a:lnTo>
                  <a:pt x="2471421" y="275062"/>
                </a:lnTo>
                <a:lnTo>
                  <a:pt x="2535794" y="275520"/>
                </a:lnTo>
                <a:lnTo>
                  <a:pt x="2600533" y="276007"/>
                </a:lnTo>
                <a:lnTo>
                  <a:pt x="2665089" y="276479"/>
                </a:lnTo>
                <a:lnTo>
                  <a:pt x="2728913" y="276892"/>
                </a:lnTo>
                <a:lnTo>
                  <a:pt x="2791453" y="277199"/>
                </a:lnTo>
                <a:lnTo>
                  <a:pt x="2852160" y="277357"/>
                </a:lnTo>
                <a:lnTo>
                  <a:pt x="2910485" y="277319"/>
                </a:lnTo>
                <a:lnTo>
                  <a:pt x="2965877" y="277042"/>
                </a:lnTo>
                <a:lnTo>
                  <a:pt x="3017787" y="276479"/>
                </a:lnTo>
                <a:lnTo>
                  <a:pt x="3065664" y="275587"/>
                </a:lnTo>
                <a:lnTo>
                  <a:pt x="3108960" y="274320"/>
                </a:lnTo>
                <a:lnTo>
                  <a:pt x="3146982" y="272940"/>
                </a:lnTo>
                <a:lnTo>
                  <a:pt x="3179873" y="271681"/>
                </a:lnTo>
                <a:lnTo>
                  <a:pt x="3208331" y="270451"/>
                </a:lnTo>
                <a:lnTo>
                  <a:pt x="3233057" y="269162"/>
                </a:lnTo>
                <a:lnTo>
                  <a:pt x="3254751" y="267722"/>
                </a:lnTo>
                <a:lnTo>
                  <a:pt x="3274112" y="266042"/>
                </a:lnTo>
                <a:lnTo>
                  <a:pt x="3291840" y="264033"/>
                </a:lnTo>
                <a:lnTo>
                  <a:pt x="3308635" y="261604"/>
                </a:lnTo>
                <a:lnTo>
                  <a:pt x="3325197" y="258665"/>
                </a:lnTo>
                <a:lnTo>
                  <a:pt x="3342225" y="255126"/>
                </a:lnTo>
                <a:lnTo>
                  <a:pt x="3360420" y="250897"/>
                </a:lnTo>
                <a:lnTo>
                  <a:pt x="3380481" y="245888"/>
                </a:lnTo>
                <a:lnTo>
                  <a:pt x="3403108" y="240010"/>
                </a:lnTo>
                <a:lnTo>
                  <a:pt x="3429000" y="233172"/>
                </a:lnTo>
                <a:lnTo>
                  <a:pt x="3456892" y="224989"/>
                </a:lnTo>
                <a:lnTo>
                  <a:pt x="3485117" y="215297"/>
                </a:lnTo>
                <a:lnTo>
                  <a:pt x="3513775" y="204335"/>
                </a:lnTo>
                <a:lnTo>
                  <a:pt x="3542967" y="192344"/>
                </a:lnTo>
                <a:lnTo>
                  <a:pt x="3572791" y="179563"/>
                </a:lnTo>
                <a:lnTo>
                  <a:pt x="3603349" y="166232"/>
                </a:lnTo>
                <a:lnTo>
                  <a:pt x="3634740" y="152591"/>
                </a:lnTo>
                <a:lnTo>
                  <a:pt x="3667064" y="138879"/>
                </a:lnTo>
                <a:lnTo>
                  <a:pt x="3700421" y="125338"/>
                </a:lnTo>
                <a:lnTo>
                  <a:pt x="3734911" y="112207"/>
                </a:lnTo>
                <a:lnTo>
                  <a:pt x="3770634" y="99726"/>
                </a:lnTo>
                <a:lnTo>
                  <a:pt x="3807690" y="88134"/>
                </a:lnTo>
                <a:lnTo>
                  <a:pt x="3846178" y="77672"/>
                </a:lnTo>
                <a:lnTo>
                  <a:pt x="3886200" y="68580"/>
                </a:lnTo>
                <a:lnTo>
                  <a:pt x="3929771" y="60562"/>
                </a:lnTo>
                <a:lnTo>
                  <a:pt x="3978173" y="53145"/>
                </a:lnTo>
                <a:lnTo>
                  <a:pt x="4030408" y="46296"/>
                </a:lnTo>
                <a:lnTo>
                  <a:pt x="4085475" y="39988"/>
                </a:lnTo>
                <a:lnTo>
                  <a:pt x="4142375" y="34190"/>
                </a:lnTo>
                <a:lnTo>
                  <a:pt x="4200108" y="28872"/>
                </a:lnTo>
                <a:lnTo>
                  <a:pt x="4257675" y="24003"/>
                </a:lnTo>
                <a:lnTo>
                  <a:pt x="4314075" y="19554"/>
                </a:lnTo>
                <a:lnTo>
                  <a:pt x="4368309" y="15495"/>
                </a:lnTo>
                <a:lnTo>
                  <a:pt x="4419378" y="11797"/>
                </a:lnTo>
                <a:lnTo>
                  <a:pt x="4466281" y="8428"/>
                </a:lnTo>
                <a:lnTo>
                  <a:pt x="4508019" y="5358"/>
                </a:lnTo>
                <a:lnTo>
                  <a:pt x="4543592" y="2559"/>
                </a:lnTo>
                <a:lnTo>
                  <a:pt x="4572000" y="0"/>
                </a:lnTo>
              </a:path>
            </a:pathLst>
          </a:custGeom>
          <a:noFill/>
          <a:ln w="19050">
            <a:solidFill>
              <a:srgbClr val="1FB6D4"/>
            </a:solidFill>
            <a:prstDash val="solid"/>
          </a:ln>
        </p:spPr>
      </p:sp>
      <p:sp>
        <p:nvSpPr>
          <p:cNvPr id="20" name="Shape 16"/>
          <p:cNvSpPr/>
          <p:nvPr/>
        </p:nvSpPr>
        <p:spPr>
          <a:xfrm rot="6239153">
            <a:off x="1450110" y="1825494"/>
            <a:ext cx="91440" cy="100584"/>
          </a:xfrm>
          <a:prstGeom prst="triangle">
            <a:avLst/>
          </a:prstGeom>
          <a:solidFill>
            <a:srgbClr val="1FB6D4"/>
          </a:solidFill>
          <a:ln w="12700">
            <a:solidFill>
              <a:srgbClr val="1FB6D4"/>
            </a:solidFill>
            <a:prstDash val="solid"/>
          </a:ln>
        </p:spPr>
      </p:sp>
      <p:sp>
        <p:nvSpPr>
          <p:cNvPr id="21" name="Shape 17"/>
          <p:cNvSpPr/>
          <p:nvPr/>
        </p:nvSpPr>
        <p:spPr>
          <a:xfrm rot="4915908">
            <a:off x="4716208" y="1783656"/>
            <a:ext cx="91440" cy="100584"/>
          </a:xfrm>
          <a:prstGeom prst="triangle">
            <a:avLst/>
          </a:prstGeom>
          <a:solidFill>
            <a:srgbClr val="1FB6D4"/>
          </a:solidFill>
          <a:ln w="12700">
            <a:solidFill>
              <a:srgbClr val="1FB6D4"/>
            </a:solidFill>
            <a:prstDash val="solid"/>
          </a:ln>
        </p:spPr>
      </p:sp>
      <p:sp>
        <p:nvSpPr>
          <p:cNvPr id="22" name="Shape 18"/>
          <p:cNvSpPr/>
          <p:nvPr/>
        </p:nvSpPr>
        <p:spPr>
          <a:xfrm>
            <a:off x="731520" y="3425963"/>
            <a:ext cx="4572000" cy="277357"/>
          </a:xfrm>
          <a:custGeom>
            <a:avLst/>
            <a:gdLst/>
            <a:ahLst/>
            <a:cxnLst/>
            <a:rect l="l" t="t" r="r" b="b"/>
            <a:pathLst>
              <a:path w="4572000" h="277357">
                <a:moveTo>
                  <a:pt x="0" y="277357"/>
                </a:moveTo>
                <a:lnTo>
                  <a:pt x="28408" y="274797"/>
                </a:lnTo>
                <a:lnTo>
                  <a:pt x="63981" y="271998"/>
                </a:lnTo>
                <a:lnTo>
                  <a:pt x="105719" y="268929"/>
                </a:lnTo>
                <a:lnTo>
                  <a:pt x="152622" y="265560"/>
                </a:lnTo>
                <a:lnTo>
                  <a:pt x="203691" y="261861"/>
                </a:lnTo>
                <a:lnTo>
                  <a:pt x="257925" y="257802"/>
                </a:lnTo>
                <a:lnTo>
                  <a:pt x="314325" y="253354"/>
                </a:lnTo>
                <a:lnTo>
                  <a:pt x="371892" y="248485"/>
                </a:lnTo>
                <a:lnTo>
                  <a:pt x="429625" y="243167"/>
                </a:lnTo>
                <a:lnTo>
                  <a:pt x="486525" y="237368"/>
                </a:lnTo>
                <a:lnTo>
                  <a:pt x="541592" y="231060"/>
                </a:lnTo>
                <a:lnTo>
                  <a:pt x="593827" y="224212"/>
                </a:lnTo>
                <a:lnTo>
                  <a:pt x="642229" y="216794"/>
                </a:lnTo>
                <a:lnTo>
                  <a:pt x="685800" y="208777"/>
                </a:lnTo>
                <a:lnTo>
                  <a:pt x="725822" y="199684"/>
                </a:lnTo>
                <a:lnTo>
                  <a:pt x="764310" y="189222"/>
                </a:lnTo>
                <a:lnTo>
                  <a:pt x="801366" y="177631"/>
                </a:lnTo>
                <a:lnTo>
                  <a:pt x="837089" y="165149"/>
                </a:lnTo>
                <a:lnTo>
                  <a:pt x="871579" y="152018"/>
                </a:lnTo>
                <a:lnTo>
                  <a:pt x="904936" y="138477"/>
                </a:lnTo>
                <a:lnTo>
                  <a:pt x="937260" y="124766"/>
                </a:lnTo>
                <a:lnTo>
                  <a:pt x="968651" y="111125"/>
                </a:lnTo>
                <a:lnTo>
                  <a:pt x="999209" y="97794"/>
                </a:lnTo>
                <a:lnTo>
                  <a:pt x="1029033" y="85013"/>
                </a:lnTo>
                <a:lnTo>
                  <a:pt x="1058225" y="73021"/>
                </a:lnTo>
                <a:lnTo>
                  <a:pt x="1086883" y="62059"/>
                </a:lnTo>
                <a:lnTo>
                  <a:pt x="1115108" y="52367"/>
                </a:lnTo>
                <a:lnTo>
                  <a:pt x="1143000" y="44185"/>
                </a:lnTo>
                <a:lnTo>
                  <a:pt x="1168892" y="37347"/>
                </a:lnTo>
                <a:lnTo>
                  <a:pt x="1191519" y="31468"/>
                </a:lnTo>
                <a:lnTo>
                  <a:pt x="1211580" y="26460"/>
                </a:lnTo>
                <a:lnTo>
                  <a:pt x="1229775" y="22231"/>
                </a:lnTo>
                <a:lnTo>
                  <a:pt x="1246803" y="18692"/>
                </a:lnTo>
                <a:lnTo>
                  <a:pt x="1263365" y="15753"/>
                </a:lnTo>
                <a:lnTo>
                  <a:pt x="1280160" y="13324"/>
                </a:lnTo>
                <a:lnTo>
                  <a:pt x="1297888" y="11314"/>
                </a:lnTo>
                <a:lnTo>
                  <a:pt x="1317249" y="9635"/>
                </a:lnTo>
                <a:lnTo>
                  <a:pt x="1338943" y="8195"/>
                </a:lnTo>
                <a:lnTo>
                  <a:pt x="1363669" y="6905"/>
                </a:lnTo>
                <a:lnTo>
                  <a:pt x="1392127" y="5676"/>
                </a:lnTo>
                <a:lnTo>
                  <a:pt x="1425018" y="4416"/>
                </a:lnTo>
                <a:lnTo>
                  <a:pt x="1463040" y="3037"/>
                </a:lnTo>
                <a:lnTo>
                  <a:pt x="1506336" y="1769"/>
                </a:lnTo>
                <a:lnTo>
                  <a:pt x="1554213" y="877"/>
                </a:lnTo>
                <a:lnTo>
                  <a:pt x="1606123" y="315"/>
                </a:lnTo>
                <a:lnTo>
                  <a:pt x="1661515" y="37"/>
                </a:lnTo>
                <a:lnTo>
                  <a:pt x="1719840" y="0"/>
                </a:lnTo>
                <a:lnTo>
                  <a:pt x="1780547" y="157"/>
                </a:lnTo>
                <a:lnTo>
                  <a:pt x="1843088" y="465"/>
                </a:lnTo>
                <a:lnTo>
                  <a:pt x="1906911" y="877"/>
                </a:lnTo>
                <a:lnTo>
                  <a:pt x="1971467" y="1350"/>
                </a:lnTo>
                <a:lnTo>
                  <a:pt x="2036206" y="1837"/>
                </a:lnTo>
                <a:lnTo>
                  <a:pt x="2100579" y="2294"/>
                </a:lnTo>
                <a:lnTo>
                  <a:pt x="2164036" y="2677"/>
                </a:lnTo>
                <a:lnTo>
                  <a:pt x="2226026" y="2939"/>
                </a:lnTo>
                <a:lnTo>
                  <a:pt x="2286000" y="3037"/>
                </a:lnTo>
                <a:lnTo>
                  <a:pt x="2345974" y="2939"/>
                </a:lnTo>
                <a:lnTo>
                  <a:pt x="2407964" y="2677"/>
                </a:lnTo>
                <a:lnTo>
                  <a:pt x="2471421" y="2294"/>
                </a:lnTo>
                <a:lnTo>
                  <a:pt x="2535794" y="1837"/>
                </a:lnTo>
                <a:lnTo>
                  <a:pt x="2600533" y="1350"/>
                </a:lnTo>
                <a:lnTo>
                  <a:pt x="2665089" y="877"/>
                </a:lnTo>
                <a:lnTo>
                  <a:pt x="2728913" y="465"/>
                </a:lnTo>
                <a:lnTo>
                  <a:pt x="2791453" y="157"/>
                </a:lnTo>
                <a:lnTo>
                  <a:pt x="2852160" y="0"/>
                </a:lnTo>
                <a:lnTo>
                  <a:pt x="2910485" y="37"/>
                </a:lnTo>
                <a:lnTo>
                  <a:pt x="2965877" y="315"/>
                </a:lnTo>
                <a:lnTo>
                  <a:pt x="3017787" y="877"/>
                </a:lnTo>
                <a:lnTo>
                  <a:pt x="3065664" y="1769"/>
                </a:lnTo>
                <a:lnTo>
                  <a:pt x="3108960" y="3037"/>
                </a:lnTo>
                <a:lnTo>
                  <a:pt x="3146982" y="4416"/>
                </a:lnTo>
                <a:lnTo>
                  <a:pt x="3179873" y="5676"/>
                </a:lnTo>
                <a:lnTo>
                  <a:pt x="3208331" y="6905"/>
                </a:lnTo>
                <a:lnTo>
                  <a:pt x="3233057" y="8195"/>
                </a:lnTo>
                <a:lnTo>
                  <a:pt x="3254751" y="9635"/>
                </a:lnTo>
                <a:lnTo>
                  <a:pt x="3274112" y="11314"/>
                </a:lnTo>
                <a:lnTo>
                  <a:pt x="3291840" y="13324"/>
                </a:lnTo>
                <a:lnTo>
                  <a:pt x="3308635" y="15753"/>
                </a:lnTo>
                <a:lnTo>
                  <a:pt x="3325197" y="18692"/>
                </a:lnTo>
                <a:lnTo>
                  <a:pt x="3342225" y="22231"/>
                </a:lnTo>
                <a:lnTo>
                  <a:pt x="3360420" y="26460"/>
                </a:lnTo>
                <a:lnTo>
                  <a:pt x="3380481" y="31468"/>
                </a:lnTo>
                <a:lnTo>
                  <a:pt x="3403108" y="37347"/>
                </a:lnTo>
                <a:lnTo>
                  <a:pt x="3429000" y="44185"/>
                </a:lnTo>
                <a:lnTo>
                  <a:pt x="3456892" y="52367"/>
                </a:lnTo>
                <a:lnTo>
                  <a:pt x="3485117" y="62059"/>
                </a:lnTo>
                <a:lnTo>
                  <a:pt x="3513775" y="73021"/>
                </a:lnTo>
                <a:lnTo>
                  <a:pt x="3542967" y="85013"/>
                </a:lnTo>
                <a:lnTo>
                  <a:pt x="3572791" y="97794"/>
                </a:lnTo>
                <a:lnTo>
                  <a:pt x="3603349" y="111125"/>
                </a:lnTo>
                <a:lnTo>
                  <a:pt x="3634740" y="124766"/>
                </a:lnTo>
                <a:lnTo>
                  <a:pt x="3667064" y="138477"/>
                </a:lnTo>
                <a:lnTo>
                  <a:pt x="3700421" y="152018"/>
                </a:lnTo>
                <a:lnTo>
                  <a:pt x="3734911" y="165149"/>
                </a:lnTo>
                <a:lnTo>
                  <a:pt x="3770634" y="177631"/>
                </a:lnTo>
                <a:lnTo>
                  <a:pt x="3807690" y="189222"/>
                </a:lnTo>
                <a:lnTo>
                  <a:pt x="3846178" y="199684"/>
                </a:lnTo>
                <a:lnTo>
                  <a:pt x="3886200" y="208777"/>
                </a:lnTo>
                <a:lnTo>
                  <a:pt x="3929771" y="216794"/>
                </a:lnTo>
                <a:lnTo>
                  <a:pt x="3978173" y="224212"/>
                </a:lnTo>
                <a:lnTo>
                  <a:pt x="4030408" y="231060"/>
                </a:lnTo>
                <a:lnTo>
                  <a:pt x="4085475" y="237368"/>
                </a:lnTo>
                <a:lnTo>
                  <a:pt x="4142375" y="243167"/>
                </a:lnTo>
                <a:lnTo>
                  <a:pt x="4200108" y="248485"/>
                </a:lnTo>
                <a:lnTo>
                  <a:pt x="4257675" y="253354"/>
                </a:lnTo>
                <a:lnTo>
                  <a:pt x="4314075" y="257802"/>
                </a:lnTo>
                <a:lnTo>
                  <a:pt x="4368309" y="261861"/>
                </a:lnTo>
                <a:lnTo>
                  <a:pt x="4419378" y="265560"/>
                </a:lnTo>
                <a:lnTo>
                  <a:pt x="4466281" y="268929"/>
                </a:lnTo>
                <a:lnTo>
                  <a:pt x="4508019" y="271998"/>
                </a:lnTo>
                <a:lnTo>
                  <a:pt x="4543592" y="274797"/>
                </a:lnTo>
                <a:lnTo>
                  <a:pt x="4572000" y="277357"/>
                </a:lnTo>
              </a:path>
            </a:pathLst>
          </a:custGeom>
          <a:noFill/>
          <a:ln w="19050">
            <a:solidFill>
              <a:srgbClr val="1FB6D4"/>
            </a:solidFill>
            <a:prstDash val="solid"/>
          </a:ln>
        </p:spPr>
      </p:sp>
      <p:sp>
        <p:nvSpPr>
          <p:cNvPr id="23" name="Shape 19"/>
          <p:cNvSpPr/>
          <p:nvPr/>
        </p:nvSpPr>
        <p:spPr>
          <a:xfrm rot="4560847">
            <a:off x="1450110" y="3569466"/>
            <a:ext cx="91440" cy="100584"/>
          </a:xfrm>
          <a:prstGeom prst="triangle">
            <a:avLst/>
          </a:prstGeom>
          <a:solidFill>
            <a:srgbClr val="1FB6D4"/>
          </a:solidFill>
          <a:ln w="12700">
            <a:solidFill>
              <a:srgbClr val="1FB6D4"/>
            </a:solidFill>
            <a:prstDash val="solid"/>
          </a:ln>
        </p:spPr>
      </p:sp>
      <p:sp>
        <p:nvSpPr>
          <p:cNvPr id="24" name="Shape 20"/>
          <p:cNvSpPr/>
          <p:nvPr/>
        </p:nvSpPr>
        <p:spPr>
          <a:xfrm rot="5884092">
            <a:off x="4716208" y="3611304"/>
            <a:ext cx="91440" cy="100584"/>
          </a:xfrm>
          <a:prstGeom prst="triangle">
            <a:avLst/>
          </a:prstGeom>
          <a:solidFill>
            <a:srgbClr val="1FB6D4"/>
          </a:solidFill>
          <a:ln w="12700">
            <a:solidFill>
              <a:srgbClr val="1FB6D4"/>
            </a:solidFill>
            <a:prstDash val="solid"/>
          </a:ln>
        </p:spPr>
      </p:sp>
      <p:sp>
        <p:nvSpPr>
          <p:cNvPr id="25" name="Shape 21"/>
          <p:cNvSpPr/>
          <p:nvPr/>
        </p:nvSpPr>
        <p:spPr>
          <a:xfrm>
            <a:off x="731520" y="2057400"/>
            <a:ext cx="4572000" cy="55471"/>
          </a:xfrm>
          <a:custGeom>
            <a:avLst/>
            <a:gdLst/>
            <a:ahLst/>
            <a:cxnLst/>
            <a:rect l="l" t="t" r="r" b="b"/>
            <a:pathLst>
              <a:path w="4572000" h="55471">
                <a:moveTo>
                  <a:pt x="0" y="0"/>
                </a:moveTo>
                <a:lnTo>
                  <a:pt x="28408" y="512"/>
                </a:lnTo>
                <a:lnTo>
                  <a:pt x="63981" y="1072"/>
                </a:lnTo>
                <a:lnTo>
                  <a:pt x="105719" y="1686"/>
                </a:lnTo>
                <a:lnTo>
                  <a:pt x="152622" y="2359"/>
                </a:lnTo>
                <a:lnTo>
                  <a:pt x="203691" y="3099"/>
                </a:lnTo>
                <a:lnTo>
                  <a:pt x="257925" y="3911"/>
                </a:lnTo>
                <a:lnTo>
                  <a:pt x="314325" y="4801"/>
                </a:lnTo>
                <a:lnTo>
                  <a:pt x="371892" y="5774"/>
                </a:lnTo>
                <a:lnTo>
                  <a:pt x="429625" y="6838"/>
                </a:lnTo>
                <a:lnTo>
                  <a:pt x="486525" y="7998"/>
                </a:lnTo>
                <a:lnTo>
                  <a:pt x="541592" y="9259"/>
                </a:lnTo>
                <a:lnTo>
                  <a:pt x="593827" y="10629"/>
                </a:lnTo>
                <a:lnTo>
                  <a:pt x="642229" y="12112"/>
                </a:lnTo>
                <a:lnTo>
                  <a:pt x="685800" y="13716"/>
                </a:lnTo>
                <a:lnTo>
                  <a:pt x="725822" y="15534"/>
                </a:lnTo>
                <a:lnTo>
                  <a:pt x="764310" y="17627"/>
                </a:lnTo>
                <a:lnTo>
                  <a:pt x="801366" y="19945"/>
                </a:lnTo>
                <a:lnTo>
                  <a:pt x="837089" y="22441"/>
                </a:lnTo>
                <a:lnTo>
                  <a:pt x="871579" y="25068"/>
                </a:lnTo>
                <a:lnTo>
                  <a:pt x="904936" y="27776"/>
                </a:lnTo>
                <a:lnTo>
                  <a:pt x="937260" y="30518"/>
                </a:lnTo>
                <a:lnTo>
                  <a:pt x="968651" y="33246"/>
                </a:lnTo>
                <a:lnTo>
                  <a:pt x="999209" y="35913"/>
                </a:lnTo>
                <a:lnTo>
                  <a:pt x="1029033" y="38469"/>
                </a:lnTo>
                <a:lnTo>
                  <a:pt x="1058225" y="40867"/>
                </a:lnTo>
                <a:lnTo>
                  <a:pt x="1086883" y="43059"/>
                </a:lnTo>
                <a:lnTo>
                  <a:pt x="1115108" y="44998"/>
                </a:lnTo>
                <a:lnTo>
                  <a:pt x="1143000" y="46634"/>
                </a:lnTo>
                <a:lnTo>
                  <a:pt x="1168892" y="48002"/>
                </a:lnTo>
                <a:lnTo>
                  <a:pt x="1191519" y="49178"/>
                </a:lnTo>
                <a:lnTo>
                  <a:pt x="1211580" y="50179"/>
                </a:lnTo>
                <a:lnTo>
                  <a:pt x="1229775" y="51025"/>
                </a:lnTo>
                <a:lnTo>
                  <a:pt x="1246803" y="51733"/>
                </a:lnTo>
                <a:lnTo>
                  <a:pt x="1263365" y="52321"/>
                </a:lnTo>
                <a:lnTo>
                  <a:pt x="1280160" y="52807"/>
                </a:lnTo>
                <a:lnTo>
                  <a:pt x="1297888" y="53208"/>
                </a:lnTo>
                <a:lnTo>
                  <a:pt x="1317249" y="53544"/>
                </a:lnTo>
                <a:lnTo>
                  <a:pt x="1338943" y="53832"/>
                </a:lnTo>
                <a:lnTo>
                  <a:pt x="1363669" y="54090"/>
                </a:lnTo>
                <a:lnTo>
                  <a:pt x="1392127" y="54336"/>
                </a:lnTo>
                <a:lnTo>
                  <a:pt x="1425018" y="54588"/>
                </a:lnTo>
                <a:lnTo>
                  <a:pt x="1463040" y="54864"/>
                </a:lnTo>
                <a:lnTo>
                  <a:pt x="1506336" y="55117"/>
                </a:lnTo>
                <a:lnTo>
                  <a:pt x="1554213" y="55296"/>
                </a:lnTo>
                <a:lnTo>
                  <a:pt x="1606123" y="55408"/>
                </a:lnTo>
                <a:lnTo>
                  <a:pt x="1661515" y="55464"/>
                </a:lnTo>
                <a:lnTo>
                  <a:pt x="1719840" y="55471"/>
                </a:lnTo>
                <a:lnTo>
                  <a:pt x="1780547" y="55440"/>
                </a:lnTo>
                <a:lnTo>
                  <a:pt x="1843088" y="55378"/>
                </a:lnTo>
                <a:lnTo>
                  <a:pt x="1906911" y="55296"/>
                </a:lnTo>
                <a:lnTo>
                  <a:pt x="1971467" y="55201"/>
                </a:lnTo>
                <a:lnTo>
                  <a:pt x="2036206" y="55104"/>
                </a:lnTo>
                <a:lnTo>
                  <a:pt x="2100579" y="55012"/>
                </a:lnTo>
                <a:lnTo>
                  <a:pt x="2164036" y="54936"/>
                </a:lnTo>
                <a:lnTo>
                  <a:pt x="2226026" y="54883"/>
                </a:lnTo>
                <a:lnTo>
                  <a:pt x="2286000" y="54864"/>
                </a:lnTo>
                <a:lnTo>
                  <a:pt x="2345974" y="54883"/>
                </a:lnTo>
                <a:lnTo>
                  <a:pt x="2407964" y="54936"/>
                </a:lnTo>
                <a:lnTo>
                  <a:pt x="2471421" y="55012"/>
                </a:lnTo>
                <a:lnTo>
                  <a:pt x="2535794" y="55104"/>
                </a:lnTo>
                <a:lnTo>
                  <a:pt x="2600533" y="55201"/>
                </a:lnTo>
                <a:lnTo>
                  <a:pt x="2665089" y="55296"/>
                </a:lnTo>
                <a:lnTo>
                  <a:pt x="2728913" y="55378"/>
                </a:lnTo>
                <a:lnTo>
                  <a:pt x="2791453" y="55440"/>
                </a:lnTo>
                <a:lnTo>
                  <a:pt x="2852160" y="55471"/>
                </a:lnTo>
                <a:lnTo>
                  <a:pt x="2910485" y="55464"/>
                </a:lnTo>
                <a:lnTo>
                  <a:pt x="2965877" y="55408"/>
                </a:lnTo>
                <a:lnTo>
                  <a:pt x="3017787" y="55296"/>
                </a:lnTo>
                <a:lnTo>
                  <a:pt x="3065664" y="55117"/>
                </a:lnTo>
                <a:lnTo>
                  <a:pt x="3108960" y="54864"/>
                </a:lnTo>
                <a:lnTo>
                  <a:pt x="3146982" y="54588"/>
                </a:lnTo>
                <a:lnTo>
                  <a:pt x="3179873" y="54336"/>
                </a:lnTo>
                <a:lnTo>
                  <a:pt x="3208331" y="54090"/>
                </a:lnTo>
                <a:lnTo>
                  <a:pt x="3233057" y="53832"/>
                </a:lnTo>
                <a:lnTo>
                  <a:pt x="3254751" y="53544"/>
                </a:lnTo>
                <a:lnTo>
                  <a:pt x="3274112" y="53208"/>
                </a:lnTo>
                <a:lnTo>
                  <a:pt x="3291840" y="52807"/>
                </a:lnTo>
                <a:lnTo>
                  <a:pt x="3308635" y="52321"/>
                </a:lnTo>
                <a:lnTo>
                  <a:pt x="3325197" y="51733"/>
                </a:lnTo>
                <a:lnTo>
                  <a:pt x="3342225" y="51025"/>
                </a:lnTo>
                <a:lnTo>
                  <a:pt x="3360420" y="50179"/>
                </a:lnTo>
                <a:lnTo>
                  <a:pt x="3380481" y="49178"/>
                </a:lnTo>
                <a:lnTo>
                  <a:pt x="3403108" y="48002"/>
                </a:lnTo>
                <a:lnTo>
                  <a:pt x="3429000" y="46634"/>
                </a:lnTo>
                <a:lnTo>
                  <a:pt x="3456892" y="44998"/>
                </a:lnTo>
                <a:lnTo>
                  <a:pt x="3485117" y="43059"/>
                </a:lnTo>
                <a:lnTo>
                  <a:pt x="3513775" y="40867"/>
                </a:lnTo>
                <a:lnTo>
                  <a:pt x="3542967" y="38469"/>
                </a:lnTo>
                <a:lnTo>
                  <a:pt x="3572791" y="35913"/>
                </a:lnTo>
                <a:lnTo>
                  <a:pt x="3603349" y="33246"/>
                </a:lnTo>
                <a:lnTo>
                  <a:pt x="3634740" y="30518"/>
                </a:lnTo>
                <a:lnTo>
                  <a:pt x="3667064" y="27776"/>
                </a:lnTo>
                <a:lnTo>
                  <a:pt x="3700421" y="25068"/>
                </a:lnTo>
                <a:lnTo>
                  <a:pt x="3734911" y="22441"/>
                </a:lnTo>
                <a:lnTo>
                  <a:pt x="3770634" y="19945"/>
                </a:lnTo>
                <a:lnTo>
                  <a:pt x="3807690" y="17627"/>
                </a:lnTo>
                <a:lnTo>
                  <a:pt x="3846178" y="15534"/>
                </a:lnTo>
                <a:lnTo>
                  <a:pt x="3886200" y="13716"/>
                </a:lnTo>
                <a:lnTo>
                  <a:pt x="3929771" y="12112"/>
                </a:lnTo>
                <a:lnTo>
                  <a:pt x="3978173" y="10629"/>
                </a:lnTo>
                <a:lnTo>
                  <a:pt x="4030408" y="9259"/>
                </a:lnTo>
                <a:lnTo>
                  <a:pt x="4085475" y="7998"/>
                </a:lnTo>
                <a:lnTo>
                  <a:pt x="4142375" y="6838"/>
                </a:lnTo>
                <a:lnTo>
                  <a:pt x="4200108" y="5774"/>
                </a:lnTo>
                <a:lnTo>
                  <a:pt x="4257675" y="4801"/>
                </a:lnTo>
                <a:lnTo>
                  <a:pt x="4314075" y="3911"/>
                </a:lnTo>
                <a:lnTo>
                  <a:pt x="4368309" y="3099"/>
                </a:lnTo>
                <a:lnTo>
                  <a:pt x="4419378" y="2359"/>
                </a:lnTo>
                <a:lnTo>
                  <a:pt x="4466281" y="1686"/>
                </a:lnTo>
                <a:lnTo>
                  <a:pt x="4508019" y="1072"/>
                </a:lnTo>
                <a:lnTo>
                  <a:pt x="4543592" y="512"/>
                </a:lnTo>
                <a:lnTo>
                  <a:pt x="4572000" y="0"/>
                </a:lnTo>
              </a:path>
            </a:pathLst>
          </a:custGeom>
          <a:noFill/>
          <a:ln w="19050">
            <a:solidFill>
              <a:srgbClr val="1FB6D4"/>
            </a:solidFill>
            <a:prstDash val="solid"/>
          </a:ln>
        </p:spPr>
      </p:sp>
      <p:sp>
        <p:nvSpPr>
          <p:cNvPr id="26" name="Shape 22"/>
          <p:cNvSpPr/>
          <p:nvPr/>
        </p:nvSpPr>
        <p:spPr>
          <a:xfrm rot="5571104">
            <a:off x="1450110" y="2029307"/>
            <a:ext cx="91440" cy="100584"/>
          </a:xfrm>
          <a:prstGeom prst="triangle">
            <a:avLst/>
          </a:prstGeom>
          <a:solidFill>
            <a:srgbClr val="1FB6D4"/>
          </a:solidFill>
          <a:ln w="12700">
            <a:solidFill>
              <a:srgbClr val="1FB6D4"/>
            </a:solidFill>
            <a:prstDash val="solid"/>
          </a:ln>
        </p:spPr>
      </p:sp>
      <p:sp>
        <p:nvSpPr>
          <p:cNvPr id="27" name="Shape 23"/>
          <p:cNvSpPr/>
          <p:nvPr/>
        </p:nvSpPr>
        <p:spPr>
          <a:xfrm rot="5302563">
            <a:off x="4716208" y="2020939"/>
            <a:ext cx="91440" cy="100584"/>
          </a:xfrm>
          <a:prstGeom prst="triangle">
            <a:avLst/>
          </a:prstGeom>
          <a:solidFill>
            <a:srgbClr val="1FB6D4"/>
          </a:solidFill>
          <a:ln w="12700">
            <a:solidFill>
              <a:srgbClr val="1FB6D4"/>
            </a:solidFill>
            <a:prstDash val="solid"/>
          </a:ln>
        </p:spPr>
      </p:sp>
      <p:sp>
        <p:nvSpPr>
          <p:cNvPr id="28" name="Shape 24"/>
          <p:cNvSpPr/>
          <p:nvPr/>
        </p:nvSpPr>
        <p:spPr>
          <a:xfrm>
            <a:off x="731520" y="3373529"/>
            <a:ext cx="4572000" cy="55471"/>
          </a:xfrm>
          <a:custGeom>
            <a:avLst/>
            <a:gdLst/>
            <a:ahLst/>
            <a:cxnLst/>
            <a:rect l="l" t="t" r="r" b="b"/>
            <a:pathLst>
              <a:path w="4572000" h="55471">
                <a:moveTo>
                  <a:pt x="0" y="55471"/>
                </a:moveTo>
                <a:lnTo>
                  <a:pt x="28408" y="54959"/>
                </a:lnTo>
                <a:lnTo>
                  <a:pt x="63981" y="54400"/>
                </a:lnTo>
                <a:lnTo>
                  <a:pt x="105719" y="53786"/>
                </a:lnTo>
                <a:lnTo>
                  <a:pt x="152622" y="53112"/>
                </a:lnTo>
                <a:lnTo>
                  <a:pt x="203691" y="52372"/>
                </a:lnTo>
                <a:lnTo>
                  <a:pt x="257925" y="51560"/>
                </a:lnTo>
                <a:lnTo>
                  <a:pt x="314325" y="50671"/>
                </a:lnTo>
                <a:lnTo>
                  <a:pt x="371892" y="49697"/>
                </a:lnTo>
                <a:lnTo>
                  <a:pt x="429625" y="48633"/>
                </a:lnTo>
                <a:lnTo>
                  <a:pt x="486525" y="47474"/>
                </a:lnTo>
                <a:lnTo>
                  <a:pt x="541592" y="46212"/>
                </a:lnTo>
                <a:lnTo>
                  <a:pt x="593827" y="44842"/>
                </a:lnTo>
                <a:lnTo>
                  <a:pt x="642229" y="43359"/>
                </a:lnTo>
                <a:lnTo>
                  <a:pt x="685800" y="41755"/>
                </a:lnTo>
                <a:lnTo>
                  <a:pt x="725822" y="39937"/>
                </a:lnTo>
                <a:lnTo>
                  <a:pt x="764310" y="37844"/>
                </a:lnTo>
                <a:lnTo>
                  <a:pt x="801366" y="35526"/>
                </a:lnTo>
                <a:lnTo>
                  <a:pt x="837089" y="33030"/>
                </a:lnTo>
                <a:lnTo>
                  <a:pt x="871579" y="30404"/>
                </a:lnTo>
                <a:lnTo>
                  <a:pt x="904936" y="27695"/>
                </a:lnTo>
                <a:lnTo>
                  <a:pt x="937260" y="24953"/>
                </a:lnTo>
                <a:lnTo>
                  <a:pt x="968651" y="22225"/>
                </a:lnTo>
                <a:lnTo>
                  <a:pt x="999209" y="19559"/>
                </a:lnTo>
                <a:lnTo>
                  <a:pt x="1029033" y="17003"/>
                </a:lnTo>
                <a:lnTo>
                  <a:pt x="1058225" y="14604"/>
                </a:lnTo>
                <a:lnTo>
                  <a:pt x="1086883" y="12412"/>
                </a:lnTo>
                <a:lnTo>
                  <a:pt x="1115108" y="10473"/>
                </a:lnTo>
                <a:lnTo>
                  <a:pt x="1143000" y="8837"/>
                </a:lnTo>
                <a:lnTo>
                  <a:pt x="1168892" y="7469"/>
                </a:lnTo>
                <a:lnTo>
                  <a:pt x="1191519" y="6294"/>
                </a:lnTo>
                <a:lnTo>
                  <a:pt x="1211580" y="5292"/>
                </a:lnTo>
                <a:lnTo>
                  <a:pt x="1229775" y="4446"/>
                </a:lnTo>
                <a:lnTo>
                  <a:pt x="1246803" y="3738"/>
                </a:lnTo>
                <a:lnTo>
                  <a:pt x="1263365" y="3151"/>
                </a:lnTo>
                <a:lnTo>
                  <a:pt x="1280160" y="2665"/>
                </a:lnTo>
                <a:lnTo>
                  <a:pt x="1297888" y="2263"/>
                </a:lnTo>
                <a:lnTo>
                  <a:pt x="1317249" y="1927"/>
                </a:lnTo>
                <a:lnTo>
                  <a:pt x="1338943" y="1639"/>
                </a:lnTo>
                <a:lnTo>
                  <a:pt x="1363669" y="1381"/>
                </a:lnTo>
                <a:lnTo>
                  <a:pt x="1392127" y="1135"/>
                </a:lnTo>
                <a:lnTo>
                  <a:pt x="1425018" y="883"/>
                </a:lnTo>
                <a:lnTo>
                  <a:pt x="1463040" y="607"/>
                </a:lnTo>
                <a:lnTo>
                  <a:pt x="1506336" y="354"/>
                </a:lnTo>
                <a:lnTo>
                  <a:pt x="1554213" y="175"/>
                </a:lnTo>
                <a:lnTo>
                  <a:pt x="1606123" y="63"/>
                </a:lnTo>
                <a:lnTo>
                  <a:pt x="1661515" y="7"/>
                </a:lnTo>
                <a:lnTo>
                  <a:pt x="1719840" y="0"/>
                </a:lnTo>
                <a:lnTo>
                  <a:pt x="1780547" y="31"/>
                </a:lnTo>
                <a:lnTo>
                  <a:pt x="1843088" y="93"/>
                </a:lnTo>
                <a:lnTo>
                  <a:pt x="1906911" y="175"/>
                </a:lnTo>
                <a:lnTo>
                  <a:pt x="1971467" y="270"/>
                </a:lnTo>
                <a:lnTo>
                  <a:pt x="2036206" y="367"/>
                </a:lnTo>
                <a:lnTo>
                  <a:pt x="2100579" y="459"/>
                </a:lnTo>
                <a:lnTo>
                  <a:pt x="2164036" y="535"/>
                </a:lnTo>
                <a:lnTo>
                  <a:pt x="2226026" y="588"/>
                </a:lnTo>
                <a:lnTo>
                  <a:pt x="2286000" y="607"/>
                </a:lnTo>
                <a:lnTo>
                  <a:pt x="2345974" y="588"/>
                </a:lnTo>
                <a:lnTo>
                  <a:pt x="2407964" y="535"/>
                </a:lnTo>
                <a:lnTo>
                  <a:pt x="2471421" y="459"/>
                </a:lnTo>
                <a:lnTo>
                  <a:pt x="2535794" y="367"/>
                </a:lnTo>
                <a:lnTo>
                  <a:pt x="2600533" y="270"/>
                </a:lnTo>
                <a:lnTo>
                  <a:pt x="2665089" y="175"/>
                </a:lnTo>
                <a:lnTo>
                  <a:pt x="2728913" y="93"/>
                </a:lnTo>
                <a:lnTo>
                  <a:pt x="2791453" y="31"/>
                </a:lnTo>
                <a:lnTo>
                  <a:pt x="2852160" y="0"/>
                </a:lnTo>
                <a:lnTo>
                  <a:pt x="2910485" y="7"/>
                </a:lnTo>
                <a:lnTo>
                  <a:pt x="2965877" y="63"/>
                </a:lnTo>
                <a:lnTo>
                  <a:pt x="3017787" y="175"/>
                </a:lnTo>
                <a:lnTo>
                  <a:pt x="3065664" y="354"/>
                </a:lnTo>
                <a:lnTo>
                  <a:pt x="3108960" y="607"/>
                </a:lnTo>
                <a:lnTo>
                  <a:pt x="3146982" y="883"/>
                </a:lnTo>
                <a:lnTo>
                  <a:pt x="3179873" y="1135"/>
                </a:lnTo>
                <a:lnTo>
                  <a:pt x="3208331" y="1381"/>
                </a:lnTo>
                <a:lnTo>
                  <a:pt x="3233057" y="1639"/>
                </a:lnTo>
                <a:lnTo>
                  <a:pt x="3254751" y="1927"/>
                </a:lnTo>
                <a:lnTo>
                  <a:pt x="3274112" y="2263"/>
                </a:lnTo>
                <a:lnTo>
                  <a:pt x="3291840" y="2665"/>
                </a:lnTo>
                <a:lnTo>
                  <a:pt x="3308635" y="3151"/>
                </a:lnTo>
                <a:lnTo>
                  <a:pt x="3325197" y="3738"/>
                </a:lnTo>
                <a:lnTo>
                  <a:pt x="3342225" y="4446"/>
                </a:lnTo>
                <a:lnTo>
                  <a:pt x="3360420" y="5292"/>
                </a:lnTo>
                <a:lnTo>
                  <a:pt x="3380481" y="6294"/>
                </a:lnTo>
                <a:lnTo>
                  <a:pt x="3403108" y="7469"/>
                </a:lnTo>
                <a:lnTo>
                  <a:pt x="3429000" y="8837"/>
                </a:lnTo>
                <a:lnTo>
                  <a:pt x="3456892" y="10473"/>
                </a:lnTo>
                <a:lnTo>
                  <a:pt x="3485117" y="12412"/>
                </a:lnTo>
                <a:lnTo>
                  <a:pt x="3513775" y="14604"/>
                </a:lnTo>
                <a:lnTo>
                  <a:pt x="3542967" y="17003"/>
                </a:lnTo>
                <a:lnTo>
                  <a:pt x="3572791" y="19559"/>
                </a:lnTo>
                <a:lnTo>
                  <a:pt x="3603349" y="22225"/>
                </a:lnTo>
                <a:lnTo>
                  <a:pt x="3634740" y="24953"/>
                </a:lnTo>
                <a:lnTo>
                  <a:pt x="3667064" y="27695"/>
                </a:lnTo>
                <a:lnTo>
                  <a:pt x="3700421" y="30404"/>
                </a:lnTo>
                <a:lnTo>
                  <a:pt x="3734911" y="33030"/>
                </a:lnTo>
                <a:lnTo>
                  <a:pt x="3770634" y="35526"/>
                </a:lnTo>
                <a:lnTo>
                  <a:pt x="3807690" y="37844"/>
                </a:lnTo>
                <a:lnTo>
                  <a:pt x="3846178" y="39937"/>
                </a:lnTo>
                <a:lnTo>
                  <a:pt x="3886200" y="41755"/>
                </a:lnTo>
                <a:lnTo>
                  <a:pt x="3929771" y="43359"/>
                </a:lnTo>
                <a:lnTo>
                  <a:pt x="3978173" y="44842"/>
                </a:lnTo>
                <a:lnTo>
                  <a:pt x="4030408" y="46212"/>
                </a:lnTo>
                <a:lnTo>
                  <a:pt x="4085475" y="47474"/>
                </a:lnTo>
                <a:lnTo>
                  <a:pt x="4142375" y="48633"/>
                </a:lnTo>
                <a:lnTo>
                  <a:pt x="4200108" y="49697"/>
                </a:lnTo>
                <a:lnTo>
                  <a:pt x="4257675" y="50671"/>
                </a:lnTo>
                <a:lnTo>
                  <a:pt x="4314075" y="51560"/>
                </a:lnTo>
                <a:lnTo>
                  <a:pt x="4368309" y="52372"/>
                </a:lnTo>
                <a:lnTo>
                  <a:pt x="4419378" y="53112"/>
                </a:lnTo>
                <a:lnTo>
                  <a:pt x="4466281" y="53786"/>
                </a:lnTo>
                <a:lnTo>
                  <a:pt x="4508019" y="54400"/>
                </a:lnTo>
                <a:lnTo>
                  <a:pt x="4543592" y="54959"/>
                </a:lnTo>
                <a:lnTo>
                  <a:pt x="4572000" y="55471"/>
                </a:lnTo>
              </a:path>
            </a:pathLst>
          </a:custGeom>
          <a:noFill/>
          <a:ln w="19050">
            <a:solidFill>
              <a:srgbClr val="1FB6D4"/>
            </a:solidFill>
            <a:prstDash val="solid"/>
          </a:ln>
        </p:spPr>
      </p:sp>
      <p:sp>
        <p:nvSpPr>
          <p:cNvPr id="29" name="Shape 25"/>
          <p:cNvSpPr/>
          <p:nvPr/>
        </p:nvSpPr>
        <p:spPr>
          <a:xfrm rot="5228896">
            <a:off x="1450110" y="3365653"/>
            <a:ext cx="91440" cy="100584"/>
          </a:xfrm>
          <a:prstGeom prst="triangle">
            <a:avLst/>
          </a:prstGeom>
          <a:solidFill>
            <a:srgbClr val="1FB6D4"/>
          </a:solidFill>
          <a:ln w="12700">
            <a:solidFill>
              <a:srgbClr val="1FB6D4"/>
            </a:solidFill>
            <a:prstDash val="solid"/>
          </a:ln>
        </p:spPr>
      </p:sp>
      <p:sp>
        <p:nvSpPr>
          <p:cNvPr id="30" name="Shape 26"/>
          <p:cNvSpPr/>
          <p:nvPr/>
        </p:nvSpPr>
        <p:spPr>
          <a:xfrm rot="5497437">
            <a:off x="4716208" y="3374021"/>
            <a:ext cx="91440" cy="100584"/>
          </a:xfrm>
          <a:prstGeom prst="triangle">
            <a:avLst/>
          </a:prstGeom>
          <a:solidFill>
            <a:srgbClr val="1FB6D4"/>
          </a:solidFill>
          <a:ln w="12700">
            <a:solidFill>
              <a:srgbClr val="1FB6D4"/>
            </a:solidFill>
            <a:prstDash val="solid"/>
          </a:ln>
        </p:spPr>
      </p:sp>
      <p:sp>
        <p:nvSpPr>
          <p:cNvPr id="31" name="Shape 27"/>
          <p:cNvSpPr/>
          <p:nvPr/>
        </p:nvSpPr>
        <p:spPr>
          <a:xfrm>
            <a:off x="731520" y="2542032"/>
            <a:ext cx="1207008" cy="0"/>
          </a:xfrm>
          <a:prstGeom prst="line">
            <a:avLst/>
          </a:prstGeom>
          <a:noFill/>
          <a:ln w="19050">
            <a:solidFill>
              <a:srgbClr val="1FB6D4"/>
            </a:solidFill>
            <a:prstDash val="solid"/>
            <a:tailEnd type="triangle"/>
          </a:ln>
        </p:spPr>
      </p:sp>
      <p:sp>
        <p:nvSpPr>
          <p:cNvPr id="32" name="Shape 28"/>
          <p:cNvSpPr/>
          <p:nvPr/>
        </p:nvSpPr>
        <p:spPr>
          <a:xfrm>
            <a:off x="4114800" y="2542032"/>
            <a:ext cx="1188720" cy="0"/>
          </a:xfrm>
          <a:prstGeom prst="line">
            <a:avLst/>
          </a:prstGeom>
          <a:noFill/>
          <a:ln w="19050">
            <a:solidFill>
              <a:srgbClr val="1FB6D4"/>
            </a:solidFill>
            <a:prstDash val="solid"/>
            <a:tailEnd type="triangle"/>
          </a:ln>
        </p:spPr>
      </p:sp>
      <p:sp>
        <p:nvSpPr>
          <p:cNvPr id="33" name="Shape 29"/>
          <p:cNvSpPr/>
          <p:nvPr/>
        </p:nvSpPr>
        <p:spPr>
          <a:xfrm>
            <a:off x="731520" y="2944368"/>
            <a:ext cx="1207008" cy="0"/>
          </a:xfrm>
          <a:prstGeom prst="line">
            <a:avLst/>
          </a:prstGeom>
          <a:noFill/>
          <a:ln w="19050">
            <a:solidFill>
              <a:srgbClr val="1FB6D4"/>
            </a:solidFill>
            <a:prstDash val="solid"/>
            <a:tailEnd type="triangle"/>
          </a:ln>
        </p:spPr>
      </p:sp>
      <p:sp>
        <p:nvSpPr>
          <p:cNvPr id="34" name="Shape 30"/>
          <p:cNvSpPr/>
          <p:nvPr/>
        </p:nvSpPr>
        <p:spPr>
          <a:xfrm>
            <a:off x="4114800" y="2944368"/>
            <a:ext cx="1188720" cy="0"/>
          </a:xfrm>
          <a:prstGeom prst="line">
            <a:avLst/>
          </a:prstGeom>
          <a:noFill/>
          <a:ln w="19050">
            <a:solidFill>
              <a:srgbClr val="1FB6D4"/>
            </a:solidFill>
            <a:prstDash val="solid"/>
            <a:tailEnd type="triangle"/>
          </a:ln>
        </p:spPr>
      </p:sp>
      <p:sp>
        <p:nvSpPr>
          <p:cNvPr id="35" name="Text 31"/>
          <p:cNvSpPr txBox="1"/>
          <p:nvPr/>
        </p:nvSpPr>
        <p:spPr>
          <a:xfrm>
            <a:off x="640080" y="1371600"/>
            <a:ext cx="1280160" cy="182880"/>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внешнее поле</a:t>
            </a:r>
            <a:endParaRPr lang="en-US" sz="900" dirty="0"/>
          </a:p>
        </p:txBody>
      </p:sp>
      <p:sp>
        <p:nvSpPr>
          <p:cNvPr id="36" name="Text 32"/>
          <p:cNvSpPr txBox="1"/>
          <p:nvPr/>
        </p:nvSpPr>
        <p:spPr>
          <a:xfrm>
            <a:off x="640080" y="4224528"/>
            <a:ext cx="4754880" cy="274320"/>
          </a:xfrm>
          <a:prstGeom prst="rect">
            <a:avLst/>
          </a:prstGeom>
          <a:noFill/>
          <a:ln/>
        </p:spPr>
        <p:txBody>
          <a:bodyPr wrap="square" lIns="0" tIns="0" rIns="0" bIns="0" rtlCol="0" anchor="t"/>
          <a:lstStyle/>
          <a:p>
            <a:pPr algn="l" indent="0" marL="0">
              <a:buNone/>
            </a:pPr>
            <a:r>
              <a:rPr lang="en-US" sz="1050" b="1" dirty="0">
                <a:solidFill>
                  <a:srgbClr val="0B1F3A"/>
                </a:solidFill>
                <a:latin typeface="Arial" pitchFamily="34" charset="0"/>
                <a:ea typeface="Arial" pitchFamily="34" charset="-122"/>
                <a:cs typeface="Arial" pitchFamily="34" charset="-120"/>
              </a:rPr>
              <a:t>Поток идёт по стенкам экрана и огибает область</a:t>
            </a:r>
            <a:endParaRPr lang="en-US" sz="1050" dirty="0"/>
          </a:p>
        </p:txBody>
      </p:sp>
      <p:sp>
        <p:nvSpPr>
          <p:cNvPr id="37" name="Shape 33"/>
          <p:cNvSpPr/>
          <p:nvPr/>
        </p:nvSpPr>
        <p:spPr>
          <a:xfrm>
            <a:off x="5806440" y="1280160"/>
            <a:ext cx="2880360" cy="612648"/>
          </a:xfrm>
          <a:prstGeom prst="roundRect">
            <a:avLst>
              <a:gd name="adj" fmla="val 1194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8" name="Shape 34"/>
          <p:cNvSpPr/>
          <p:nvPr/>
        </p:nvSpPr>
        <p:spPr>
          <a:xfrm>
            <a:off x="5943600" y="1403604"/>
            <a:ext cx="365760" cy="365760"/>
          </a:xfrm>
          <a:prstGeom prst="ellipse">
            <a:avLst/>
          </a:prstGeom>
          <a:solidFill>
            <a:srgbClr val="0B1F3A"/>
          </a:solidFill>
          <a:ln w="12700">
            <a:solidFill>
              <a:srgbClr val="0B1F3A"/>
            </a:solidFill>
            <a:prstDash val="solid"/>
          </a:ln>
        </p:spPr>
      </p:sp>
      <p:pic>
        <p:nvPicPr>
          <p:cNvPr id="39" name="Image 1" descr="preencoded.png">    </p:cNvPr>
          <p:cNvPicPr>
            <a:picLocks noChangeAspect="1"/>
          </p:cNvPicPr>
          <p:nvPr/>
        </p:nvPicPr>
        <p:blipFill>
          <a:blip r:embed="rId2"/>
          <a:stretch>
            <a:fillRect/>
          </a:stretch>
        </p:blipFill>
        <p:spPr>
          <a:xfrm>
            <a:off x="6035040" y="1495044"/>
            <a:ext cx="182880" cy="182880"/>
          </a:xfrm>
          <a:prstGeom prst="rect">
            <a:avLst/>
          </a:prstGeom>
        </p:spPr>
      </p:pic>
      <p:sp>
        <p:nvSpPr>
          <p:cNvPr id="40" name="Text 35"/>
          <p:cNvSpPr txBox="1"/>
          <p:nvPr/>
        </p:nvSpPr>
        <p:spPr>
          <a:xfrm>
            <a:off x="6446520" y="1371600"/>
            <a:ext cx="2194560" cy="219456"/>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Высокая проницаемость μ</a:t>
            </a:r>
            <a:endParaRPr lang="en-US" sz="1100" dirty="0"/>
          </a:p>
        </p:txBody>
      </p:sp>
      <p:sp>
        <p:nvSpPr>
          <p:cNvPr id="41" name="Text 36"/>
          <p:cNvSpPr txBox="1"/>
          <p:nvPr/>
        </p:nvSpPr>
        <p:spPr>
          <a:xfrm>
            <a:off x="6446520" y="1600200"/>
            <a:ext cx="2194560" cy="201168"/>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поток «втягивается» в стенки</a:t>
            </a:r>
            <a:endParaRPr lang="en-US" sz="900" dirty="0"/>
          </a:p>
        </p:txBody>
      </p:sp>
      <p:sp>
        <p:nvSpPr>
          <p:cNvPr id="42" name="Shape 37"/>
          <p:cNvSpPr/>
          <p:nvPr/>
        </p:nvSpPr>
        <p:spPr>
          <a:xfrm>
            <a:off x="5806440" y="1961388"/>
            <a:ext cx="2880360" cy="612648"/>
          </a:xfrm>
          <a:prstGeom prst="roundRect">
            <a:avLst>
              <a:gd name="adj" fmla="val 1194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3" name="Shape 38"/>
          <p:cNvSpPr/>
          <p:nvPr/>
        </p:nvSpPr>
        <p:spPr>
          <a:xfrm>
            <a:off x="5943600" y="2084832"/>
            <a:ext cx="365760" cy="365760"/>
          </a:xfrm>
          <a:prstGeom prst="ellipse">
            <a:avLst/>
          </a:prstGeom>
          <a:solidFill>
            <a:srgbClr val="0B1F3A"/>
          </a:solidFill>
          <a:ln w="12700">
            <a:solidFill>
              <a:srgbClr val="0B1F3A"/>
            </a:solidFill>
            <a:prstDash val="solid"/>
          </a:ln>
        </p:spPr>
      </p:sp>
      <p:pic>
        <p:nvPicPr>
          <p:cNvPr id="44" name="Image 2" descr="preencoded.png">    </p:cNvPr>
          <p:cNvPicPr>
            <a:picLocks noChangeAspect="1"/>
          </p:cNvPicPr>
          <p:nvPr/>
        </p:nvPicPr>
        <p:blipFill>
          <a:blip r:embed="rId3"/>
          <a:stretch>
            <a:fillRect/>
          </a:stretch>
        </p:blipFill>
        <p:spPr>
          <a:xfrm>
            <a:off x="6035040" y="2176272"/>
            <a:ext cx="182880" cy="182880"/>
          </a:xfrm>
          <a:prstGeom prst="rect">
            <a:avLst/>
          </a:prstGeom>
        </p:spPr>
      </p:pic>
      <p:sp>
        <p:nvSpPr>
          <p:cNvPr id="45" name="Text 39"/>
          <p:cNvSpPr txBox="1"/>
          <p:nvPr/>
        </p:nvSpPr>
        <p:spPr>
          <a:xfrm>
            <a:off x="6446520" y="2052828"/>
            <a:ext cx="2194560" cy="219456"/>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Пермаллой</a:t>
            </a:r>
            <a:endParaRPr lang="en-US" sz="1100" dirty="0"/>
          </a:p>
        </p:txBody>
      </p:sp>
      <p:sp>
        <p:nvSpPr>
          <p:cNvPr id="46" name="Text 40"/>
          <p:cNvSpPr txBox="1"/>
          <p:nvPr/>
        </p:nvSpPr>
        <p:spPr>
          <a:xfrm>
            <a:off x="6446520" y="2281428"/>
            <a:ext cx="2194560" cy="201168"/>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сплав Fe–Ni, μ до 10⁵</a:t>
            </a:r>
            <a:endParaRPr lang="en-US" sz="900" dirty="0"/>
          </a:p>
        </p:txBody>
      </p:sp>
      <p:sp>
        <p:nvSpPr>
          <p:cNvPr id="47" name="Shape 41"/>
          <p:cNvSpPr/>
          <p:nvPr/>
        </p:nvSpPr>
        <p:spPr>
          <a:xfrm>
            <a:off x="5806440" y="2642616"/>
            <a:ext cx="2880360" cy="612648"/>
          </a:xfrm>
          <a:prstGeom prst="roundRect">
            <a:avLst>
              <a:gd name="adj" fmla="val 1194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8" name="Shape 42"/>
          <p:cNvSpPr/>
          <p:nvPr/>
        </p:nvSpPr>
        <p:spPr>
          <a:xfrm>
            <a:off x="5943600" y="2766060"/>
            <a:ext cx="365760" cy="365760"/>
          </a:xfrm>
          <a:prstGeom prst="ellipse">
            <a:avLst/>
          </a:prstGeom>
          <a:solidFill>
            <a:srgbClr val="0B1F3A"/>
          </a:solidFill>
          <a:ln w="12700">
            <a:solidFill>
              <a:srgbClr val="0B1F3A"/>
            </a:solidFill>
            <a:prstDash val="solid"/>
          </a:ln>
        </p:spPr>
      </p:sp>
      <p:pic>
        <p:nvPicPr>
          <p:cNvPr id="49" name="Image 3" descr="preencoded.png">    </p:cNvPr>
          <p:cNvPicPr>
            <a:picLocks noChangeAspect="1"/>
          </p:cNvPicPr>
          <p:nvPr/>
        </p:nvPicPr>
        <p:blipFill>
          <a:blip r:embed="rId4"/>
          <a:stretch>
            <a:fillRect/>
          </a:stretch>
        </p:blipFill>
        <p:spPr>
          <a:xfrm>
            <a:off x="6035040" y="2857500"/>
            <a:ext cx="182880" cy="182880"/>
          </a:xfrm>
          <a:prstGeom prst="rect">
            <a:avLst/>
          </a:prstGeom>
        </p:spPr>
      </p:pic>
      <p:sp>
        <p:nvSpPr>
          <p:cNvPr id="50" name="Text 43"/>
          <p:cNvSpPr txBox="1"/>
          <p:nvPr/>
        </p:nvSpPr>
        <p:spPr>
          <a:xfrm>
            <a:off x="6446520" y="2734056"/>
            <a:ext cx="2194560" cy="219456"/>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Электротехническая сталь</a:t>
            </a:r>
            <a:endParaRPr lang="en-US" sz="1100" dirty="0"/>
          </a:p>
        </p:txBody>
      </p:sp>
      <p:sp>
        <p:nvSpPr>
          <p:cNvPr id="51" name="Text 44"/>
          <p:cNvSpPr txBox="1"/>
          <p:nvPr/>
        </p:nvSpPr>
        <p:spPr>
          <a:xfrm>
            <a:off x="6446520" y="2962656"/>
            <a:ext cx="2194560" cy="201168"/>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дешевле, μ порядка 10³–10⁴</a:t>
            </a:r>
            <a:endParaRPr lang="en-US" sz="900" dirty="0"/>
          </a:p>
        </p:txBody>
      </p:sp>
      <p:sp>
        <p:nvSpPr>
          <p:cNvPr id="52" name="Shape 45"/>
          <p:cNvSpPr/>
          <p:nvPr/>
        </p:nvSpPr>
        <p:spPr>
          <a:xfrm>
            <a:off x="5806440" y="3323844"/>
            <a:ext cx="2880360" cy="612648"/>
          </a:xfrm>
          <a:prstGeom prst="roundRect">
            <a:avLst>
              <a:gd name="adj" fmla="val 1194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53" name="Shape 46"/>
          <p:cNvSpPr/>
          <p:nvPr/>
        </p:nvSpPr>
        <p:spPr>
          <a:xfrm>
            <a:off x="5943600" y="3447288"/>
            <a:ext cx="365760" cy="365760"/>
          </a:xfrm>
          <a:prstGeom prst="ellipse">
            <a:avLst/>
          </a:prstGeom>
          <a:solidFill>
            <a:srgbClr val="0B1F3A"/>
          </a:solidFill>
          <a:ln w="12700">
            <a:solidFill>
              <a:srgbClr val="0B1F3A"/>
            </a:solidFill>
            <a:prstDash val="solid"/>
          </a:ln>
        </p:spPr>
      </p:sp>
      <p:pic>
        <p:nvPicPr>
          <p:cNvPr id="54" name="Image 4" descr="preencoded.png">    </p:cNvPr>
          <p:cNvPicPr>
            <a:picLocks noChangeAspect="1"/>
          </p:cNvPicPr>
          <p:nvPr/>
        </p:nvPicPr>
        <p:blipFill>
          <a:blip r:embed="rId5"/>
          <a:stretch>
            <a:fillRect/>
          </a:stretch>
        </p:blipFill>
        <p:spPr>
          <a:xfrm>
            <a:off x="6035040" y="3538728"/>
            <a:ext cx="182880" cy="182880"/>
          </a:xfrm>
          <a:prstGeom prst="rect">
            <a:avLst/>
          </a:prstGeom>
        </p:spPr>
      </p:pic>
      <p:sp>
        <p:nvSpPr>
          <p:cNvPr id="55" name="Text 47"/>
          <p:cNvSpPr txBox="1"/>
          <p:nvPr/>
        </p:nvSpPr>
        <p:spPr>
          <a:xfrm>
            <a:off x="6446520" y="3415284"/>
            <a:ext cx="2194560" cy="219456"/>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Многослойные экраны</a:t>
            </a:r>
            <a:endParaRPr lang="en-US" sz="1100" dirty="0"/>
          </a:p>
        </p:txBody>
      </p:sp>
      <p:sp>
        <p:nvSpPr>
          <p:cNvPr id="56" name="Text 48"/>
          <p:cNvSpPr txBox="1"/>
          <p:nvPr/>
        </p:nvSpPr>
        <p:spPr>
          <a:xfrm>
            <a:off x="6446520" y="3643884"/>
            <a:ext cx="2194560" cy="201168"/>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слои с зазором усиливают эффект</a:t>
            </a:r>
            <a:endParaRPr lang="en-US" sz="900" dirty="0"/>
          </a:p>
        </p:txBody>
      </p:sp>
      <p:sp>
        <p:nvSpPr>
          <p:cNvPr id="57" name="Shape 49"/>
          <p:cNvSpPr/>
          <p:nvPr/>
        </p:nvSpPr>
        <p:spPr>
          <a:xfrm>
            <a:off x="5806440" y="4005072"/>
            <a:ext cx="2880360" cy="612648"/>
          </a:xfrm>
          <a:prstGeom prst="roundRect">
            <a:avLst>
              <a:gd name="adj" fmla="val 1194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58" name="Shape 50"/>
          <p:cNvSpPr/>
          <p:nvPr/>
        </p:nvSpPr>
        <p:spPr>
          <a:xfrm>
            <a:off x="5943600" y="4128516"/>
            <a:ext cx="365760" cy="365760"/>
          </a:xfrm>
          <a:prstGeom prst="ellipse">
            <a:avLst/>
          </a:prstGeom>
          <a:solidFill>
            <a:srgbClr val="0E9AA7"/>
          </a:solidFill>
          <a:ln w="12700">
            <a:solidFill>
              <a:srgbClr val="0E9AA7"/>
            </a:solidFill>
            <a:prstDash val="solid"/>
          </a:ln>
        </p:spPr>
      </p:sp>
      <p:pic>
        <p:nvPicPr>
          <p:cNvPr id="59" name="Image 5" descr="preencoded.png">    </p:cNvPr>
          <p:cNvPicPr>
            <a:picLocks noChangeAspect="1"/>
          </p:cNvPicPr>
          <p:nvPr/>
        </p:nvPicPr>
        <p:blipFill>
          <a:blip r:embed="rId6"/>
          <a:stretch>
            <a:fillRect/>
          </a:stretch>
        </p:blipFill>
        <p:spPr>
          <a:xfrm>
            <a:off x="6035040" y="4219956"/>
            <a:ext cx="182880" cy="182880"/>
          </a:xfrm>
          <a:prstGeom prst="rect">
            <a:avLst/>
          </a:prstGeom>
        </p:spPr>
      </p:pic>
      <p:sp>
        <p:nvSpPr>
          <p:cNvPr id="60" name="Text 51"/>
          <p:cNvSpPr txBox="1"/>
          <p:nvPr/>
        </p:nvSpPr>
        <p:spPr>
          <a:xfrm>
            <a:off x="6446520" y="4096512"/>
            <a:ext cx="2194560" cy="219456"/>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Высокие частоты</a:t>
            </a:r>
            <a:endParaRPr lang="en-US" sz="1100" dirty="0"/>
          </a:p>
        </p:txBody>
      </p:sp>
      <p:sp>
        <p:nvSpPr>
          <p:cNvPr id="61" name="Text 52"/>
          <p:cNvSpPr txBox="1"/>
          <p:nvPr/>
        </p:nvSpPr>
        <p:spPr>
          <a:xfrm>
            <a:off x="6446520" y="4325112"/>
            <a:ext cx="2194560" cy="201168"/>
          </a:xfrm>
          <a:prstGeom prst="rect">
            <a:avLst/>
          </a:prstGeom>
          <a:noFill/>
          <a:ln/>
        </p:spPr>
        <p:txBody>
          <a:bodyPr wrap="square" lIns="0" tIns="0" rIns="0" bIns="0" rtlCol="0" anchor="t"/>
          <a:lstStyle/>
          <a:p>
            <a:pPr indent="0" marL="0">
              <a:buNone/>
            </a:pPr>
            <a:r>
              <a:rPr lang="en-US" sz="900" dirty="0">
                <a:solidFill>
                  <a:srgbClr val="64748B"/>
                </a:solidFill>
                <a:latin typeface="Arial" pitchFamily="34" charset="0"/>
                <a:ea typeface="Arial" pitchFamily="34" charset="-122"/>
                <a:cs typeface="Arial" pitchFamily="34" charset="-120"/>
              </a:rPr>
              <a:t>работают вихревые токи: Cu, 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СРАВНЕНИЕ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Электрическое и магнитное экранирование</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07</a:t>
            </a:r>
            <a:endParaRPr lang="en-US" sz="800" dirty="0"/>
          </a:p>
        </p:txBody>
      </p:sp>
      <p:sp>
        <p:nvSpPr>
          <p:cNvPr id="7" name="Shape 4"/>
          <p:cNvSpPr/>
          <p:nvPr/>
        </p:nvSpPr>
        <p:spPr>
          <a:xfrm>
            <a:off x="457200" y="1280160"/>
            <a:ext cx="3429000" cy="566928"/>
          </a:xfrm>
          <a:prstGeom prst="roundRect">
            <a:avLst>
              <a:gd name="adj" fmla="val 12903"/>
            </a:avLst>
          </a:prstGeom>
          <a:solidFill>
            <a:srgbClr val="0B1F3A"/>
          </a:solidFill>
          <a:ln w="12700">
            <a:solidFill>
              <a:srgbClr val="0B1F3A"/>
            </a:solidFill>
            <a:prstDash val="solid"/>
          </a:ln>
          <a:effectLst>
            <a:outerShdw sx="100000" sy="100000" kx="0" ky="0" algn="bl" rotWithShape="0" blurRad="101600" dist="25400" dir="5400000">
              <a:srgbClr val="0B1F3A">
                <a:alpha val="10000"/>
              </a:srgbClr>
            </a:outerShdw>
          </a:effectLst>
        </p:spPr>
      </p:sp>
      <p:pic>
        <p:nvPicPr>
          <p:cNvPr id="8" name="Image 0" descr="preencoded.png">    </p:cNvPr>
          <p:cNvPicPr>
            <a:picLocks noChangeAspect="1"/>
          </p:cNvPicPr>
          <p:nvPr/>
        </p:nvPicPr>
        <p:blipFill>
          <a:blip r:embed="rId1"/>
          <a:stretch>
            <a:fillRect/>
          </a:stretch>
        </p:blipFill>
        <p:spPr>
          <a:xfrm>
            <a:off x="658368" y="1444752"/>
            <a:ext cx="237744" cy="237744"/>
          </a:xfrm>
          <a:prstGeom prst="rect">
            <a:avLst/>
          </a:prstGeom>
        </p:spPr>
      </p:pic>
      <p:sp>
        <p:nvSpPr>
          <p:cNvPr id="9" name="Text 5"/>
          <p:cNvSpPr txBox="1"/>
          <p:nvPr/>
        </p:nvSpPr>
        <p:spPr>
          <a:xfrm>
            <a:off x="1024128" y="1280160"/>
            <a:ext cx="2788920"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Arial" pitchFamily="34" charset="0"/>
                <a:ea typeface="Arial" pitchFamily="34" charset="-122"/>
                <a:cs typeface="Arial" pitchFamily="34" charset="-120"/>
              </a:rPr>
              <a:t>ЭЛЕКТРИЧЕСКОЕ ПОЛЕ</a:t>
            </a:r>
            <a:endParaRPr lang="en-US" sz="1300" dirty="0"/>
          </a:p>
        </p:txBody>
      </p:sp>
      <p:sp>
        <p:nvSpPr>
          <p:cNvPr id="10" name="Shape 6"/>
          <p:cNvSpPr/>
          <p:nvPr/>
        </p:nvSpPr>
        <p:spPr>
          <a:xfrm>
            <a:off x="5257800" y="1280160"/>
            <a:ext cx="3429000" cy="566928"/>
          </a:xfrm>
          <a:prstGeom prst="roundRect">
            <a:avLst>
              <a:gd name="adj" fmla="val 12903"/>
            </a:avLst>
          </a:prstGeom>
          <a:solidFill>
            <a:srgbClr val="0E9AA7"/>
          </a:solidFill>
          <a:ln w="12700">
            <a:solidFill>
              <a:srgbClr val="0E9AA7"/>
            </a:solidFill>
            <a:prstDash val="solid"/>
          </a:ln>
          <a:effectLst>
            <a:outerShdw sx="100000" sy="100000" kx="0" ky="0" algn="bl" rotWithShape="0" blurRad="101600" dist="25400" dir="5400000">
              <a:srgbClr val="0B1F3A">
                <a:alpha val="10000"/>
              </a:srgbClr>
            </a:outerShdw>
          </a:effectLst>
        </p:spPr>
      </p:sp>
      <p:pic>
        <p:nvPicPr>
          <p:cNvPr id="11" name="Image 1" descr="preencoded.png">    </p:cNvPr>
          <p:cNvPicPr>
            <a:picLocks noChangeAspect="1"/>
          </p:cNvPicPr>
          <p:nvPr/>
        </p:nvPicPr>
        <p:blipFill>
          <a:blip r:embed="rId2"/>
          <a:stretch>
            <a:fillRect/>
          </a:stretch>
        </p:blipFill>
        <p:spPr>
          <a:xfrm>
            <a:off x="5458968" y="1444752"/>
            <a:ext cx="237744" cy="237744"/>
          </a:xfrm>
          <a:prstGeom prst="rect">
            <a:avLst/>
          </a:prstGeom>
        </p:spPr>
      </p:pic>
      <p:sp>
        <p:nvSpPr>
          <p:cNvPr id="12" name="Text 7"/>
          <p:cNvSpPr txBox="1"/>
          <p:nvPr/>
        </p:nvSpPr>
        <p:spPr>
          <a:xfrm>
            <a:off x="5824728" y="1280160"/>
            <a:ext cx="2788920"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Arial" pitchFamily="34" charset="0"/>
                <a:ea typeface="Arial" pitchFamily="34" charset="-122"/>
                <a:cs typeface="Arial" pitchFamily="34" charset="-120"/>
              </a:rPr>
              <a:t>МАГНИТНОЕ ПОЛЕ</a:t>
            </a:r>
            <a:endParaRPr lang="en-US" sz="1300" dirty="0"/>
          </a:p>
        </p:txBody>
      </p:sp>
      <p:sp>
        <p:nvSpPr>
          <p:cNvPr id="13" name="Text 8"/>
          <p:cNvSpPr txBox="1"/>
          <p:nvPr/>
        </p:nvSpPr>
        <p:spPr>
          <a:xfrm>
            <a:off x="3931920" y="1965960"/>
            <a:ext cx="1280160" cy="594360"/>
          </a:xfrm>
          <a:prstGeom prst="rect">
            <a:avLst/>
          </a:prstGeom>
          <a:noFill/>
          <a:ln/>
        </p:spPr>
        <p:txBody>
          <a:bodyPr wrap="square" lIns="0" tIns="0" rIns="0" bIns="0" rtlCol="0" anchor="ctr"/>
          <a:lstStyle/>
          <a:p>
            <a:pPr algn="ctr" indent="0" marL="0">
              <a:buNone/>
            </a:pPr>
            <a:r>
              <a:rPr lang="en-US" sz="850" b="1" spc="150" kern="0" dirty="0">
                <a:solidFill>
                  <a:srgbClr val="64748B"/>
                </a:solidFill>
                <a:latin typeface="Arial" pitchFamily="34" charset="0"/>
                <a:ea typeface="Arial" pitchFamily="34" charset="-122"/>
                <a:cs typeface="Arial" pitchFamily="34" charset="-120"/>
              </a:rPr>
              <a:t>МАТЕРИАЛ</a:t>
            </a:r>
            <a:endParaRPr lang="en-US" sz="850" dirty="0"/>
          </a:p>
        </p:txBody>
      </p:sp>
      <p:sp>
        <p:nvSpPr>
          <p:cNvPr id="14" name="Shape 9"/>
          <p:cNvSpPr/>
          <p:nvPr/>
        </p:nvSpPr>
        <p:spPr>
          <a:xfrm>
            <a:off x="457200" y="19659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5" name="Text 10"/>
          <p:cNvSpPr txBox="1"/>
          <p:nvPr/>
        </p:nvSpPr>
        <p:spPr>
          <a:xfrm>
            <a:off x="640080" y="19659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Проводящие материалы</a:t>
            </a:r>
            <a:endParaRPr lang="en-US" sz="1150" dirty="0"/>
          </a:p>
        </p:txBody>
      </p:sp>
      <p:sp>
        <p:nvSpPr>
          <p:cNvPr id="16" name="Shape 11"/>
          <p:cNvSpPr/>
          <p:nvPr/>
        </p:nvSpPr>
        <p:spPr>
          <a:xfrm>
            <a:off x="5257800" y="19659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7" name="Text 12"/>
          <p:cNvSpPr txBox="1"/>
          <p:nvPr/>
        </p:nvSpPr>
        <p:spPr>
          <a:xfrm>
            <a:off x="5440680" y="19659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Магнитомягкие материалы</a:t>
            </a:r>
            <a:endParaRPr lang="en-US" sz="1150" dirty="0"/>
          </a:p>
        </p:txBody>
      </p:sp>
      <p:sp>
        <p:nvSpPr>
          <p:cNvPr id="18" name="Text 13"/>
          <p:cNvSpPr txBox="1"/>
          <p:nvPr/>
        </p:nvSpPr>
        <p:spPr>
          <a:xfrm>
            <a:off x="3931920" y="2651760"/>
            <a:ext cx="1280160" cy="594360"/>
          </a:xfrm>
          <a:prstGeom prst="rect">
            <a:avLst/>
          </a:prstGeom>
          <a:noFill/>
          <a:ln/>
        </p:spPr>
        <p:txBody>
          <a:bodyPr wrap="square" lIns="0" tIns="0" rIns="0" bIns="0" rtlCol="0" anchor="ctr"/>
          <a:lstStyle/>
          <a:p>
            <a:pPr algn="ctr" indent="0" marL="0">
              <a:buNone/>
            </a:pPr>
            <a:r>
              <a:rPr lang="en-US" sz="850" b="1" spc="150" kern="0" dirty="0">
                <a:solidFill>
                  <a:srgbClr val="64748B"/>
                </a:solidFill>
                <a:latin typeface="Arial" pitchFamily="34" charset="0"/>
                <a:ea typeface="Arial" pitchFamily="34" charset="-122"/>
                <a:cs typeface="Arial" pitchFamily="34" charset="-120"/>
              </a:rPr>
              <a:t>МЕХАНИЗМ</a:t>
            </a:r>
            <a:endParaRPr lang="en-US" sz="850" dirty="0"/>
          </a:p>
        </p:txBody>
      </p:sp>
      <p:sp>
        <p:nvSpPr>
          <p:cNvPr id="19" name="Shape 14"/>
          <p:cNvSpPr/>
          <p:nvPr/>
        </p:nvSpPr>
        <p:spPr>
          <a:xfrm>
            <a:off x="457200" y="26517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0" name="Text 15"/>
          <p:cNvSpPr txBox="1"/>
          <p:nvPr/>
        </p:nvSpPr>
        <p:spPr>
          <a:xfrm>
            <a:off x="640080" y="26517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Перераспределение зарядов</a:t>
            </a:r>
            <a:endParaRPr lang="en-US" sz="1150" dirty="0"/>
          </a:p>
        </p:txBody>
      </p:sp>
      <p:sp>
        <p:nvSpPr>
          <p:cNvPr id="21" name="Shape 16"/>
          <p:cNvSpPr/>
          <p:nvPr/>
        </p:nvSpPr>
        <p:spPr>
          <a:xfrm>
            <a:off x="5257800" y="26517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2" name="Text 17"/>
          <p:cNvSpPr txBox="1"/>
          <p:nvPr/>
        </p:nvSpPr>
        <p:spPr>
          <a:xfrm>
            <a:off x="5440680" y="26517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Перенаправление магнитного потока</a:t>
            </a:r>
            <a:endParaRPr lang="en-US" sz="1150" dirty="0"/>
          </a:p>
        </p:txBody>
      </p:sp>
      <p:sp>
        <p:nvSpPr>
          <p:cNvPr id="23" name="Text 18"/>
          <p:cNvSpPr txBox="1"/>
          <p:nvPr/>
        </p:nvSpPr>
        <p:spPr>
          <a:xfrm>
            <a:off x="3931920" y="3337560"/>
            <a:ext cx="1280160" cy="594360"/>
          </a:xfrm>
          <a:prstGeom prst="rect">
            <a:avLst/>
          </a:prstGeom>
          <a:noFill/>
          <a:ln/>
        </p:spPr>
        <p:txBody>
          <a:bodyPr wrap="square" lIns="0" tIns="0" rIns="0" bIns="0" rtlCol="0" anchor="ctr"/>
          <a:lstStyle/>
          <a:p>
            <a:pPr algn="ctr" indent="0" marL="0">
              <a:buNone/>
            </a:pPr>
            <a:r>
              <a:rPr lang="en-US" sz="850" b="1" spc="150" kern="0" dirty="0">
                <a:solidFill>
                  <a:srgbClr val="64748B"/>
                </a:solidFill>
                <a:latin typeface="Arial" pitchFamily="34" charset="0"/>
                <a:ea typeface="Arial" pitchFamily="34" charset="-122"/>
                <a:cs typeface="Arial" pitchFamily="34" charset="-120"/>
              </a:rPr>
              <a:t>СЛОЖНОСТЬ</a:t>
            </a:r>
            <a:endParaRPr lang="en-US" sz="850" dirty="0"/>
          </a:p>
        </p:txBody>
      </p:sp>
      <p:sp>
        <p:nvSpPr>
          <p:cNvPr id="24" name="Shape 19"/>
          <p:cNvSpPr/>
          <p:nvPr/>
        </p:nvSpPr>
        <p:spPr>
          <a:xfrm>
            <a:off x="457200" y="33375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5" name="Text 20"/>
          <p:cNvSpPr txBox="1"/>
          <p:nvPr/>
        </p:nvSpPr>
        <p:spPr>
          <a:xfrm>
            <a:off x="640080" y="3337560"/>
            <a:ext cx="219456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Сравнительно проще</a:t>
            </a:r>
            <a:endParaRPr lang="en-US" sz="1150" dirty="0"/>
          </a:p>
        </p:txBody>
      </p:sp>
      <p:sp>
        <p:nvSpPr>
          <p:cNvPr id="26" name="Shape 21"/>
          <p:cNvSpPr/>
          <p:nvPr/>
        </p:nvSpPr>
        <p:spPr>
          <a:xfrm>
            <a:off x="2926080" y="3575304"/>
            <a:ext cx="118872" cy="118872"/>
          </a:xfrm>
          <a:prstGeom prst="ellipse">
            <a:avLst/>
          </a:prstGeom>
          <a:solidFill>
            <a:srgbClr val="0B1F3A"/>
          </a:solidFill>
          <a:ln w="12700">
            <a:solidFill>
              <a:srgbClr val="0B1F3A"/>
            </a:solidFill>
            <a:prstDash val="solid"/>
          </a:ln>
        </p:spPr>
      </p:sp>
      <p:sp>
        <p:nvSpPr>
          <p:cNvPr id="27" name="Shape 22"/>
          <p:cNvSpPr/>
          <p:nvPr/>
        </p:nvSpPr>
        <p:spPr>
          <a:xfrm>
            <a:off x="3099816" y="3575304"/>
            <a:ext cx="118872" cy="118872"/>
          </a:xfrm>
          <a:prstGeom prst="ellipse">
            <a:avLst/>
          </a:prstGeom>
          <a:solidFill>
            <a:srgbClr val="0B1F3A"/>
          </a:solidFill>
          <a:ln w="12700">
            <a:solidFill>
              <a:srgbClr val="0B1F3A"/>
            </a:solidFill>
            <a:prstDash val="solid"/>
          </a:ln>
        </p:spPr>
      </p:sp>
      <p:sp>
        <p:nvSpPr>
          <p:cNvPr id="28" name="Shape 23"/>
          <p:cNvSpPr/>
          <p:nvPr/>
        </p:nvSpPr>
        <p:spPr>
          <a:xfrm>
            <a:off x="3273552" y="3575304"/>
            <a:ext cx="118872" cy="118872"/>
          </a:xfrm>
          <a:prstGeom prst="ellipse">
            <a:avLst/>
          </a:prstGeom>
          <a:solidFill>
            <a:srgbClr val="D5DEE7"/>
          </a:solidFill>
          <a:ln w="12700">
            <a:solidFill>
              <a:srgbClr val="D5DEE7"/>
            </a:solidFill>
            <a:prstDash val="solid"/>
          </a:ln>
        </p:spPr>
      </p:sp>
      <p:sp>
        <p:nvSpPr>
          <p:cNvPr id="29" name="Shape 24"/>
          <p:cNvSpPr/>
          <p:nvPr/>
        </p:nvSpPr>
        <p:spPr>
          <a:xfrm>
            <a:off x="3447288" y="3575304"/>
            <a:ext cx="118872" cy="118872"/>
          </a:xfrm>
          <a:prstGeom prst="ellipse">
            <a:avLst/>
          </a:prstGeom>
          <a:solidFill>
            <a:srgbClr val="D5DEE7"/>
          </a:solidFill>
          <a:ln w="12700">
            <a:solidFill>
              <a:srgbClr val="D5DEE7"/>
            </a:solidFill>
            <a:prstDash val="solid"/>
          </a:ln>
        </p:spPr>
      </p:sp>
      <p:sp>
        <p:nvSpPr>
          <p:cNvPr id="30" name="Shape 25"/>
          <p:cNvSpPr/>
          <p:nvPr/>
        </p:nvSpPr>
        <p:spPr>
          <a:xfrm>
            <a:off x="3621024" y="3575304"/>
            <a:ext cx="118872" cy="118872"/>
          </a:xfrm>
          <a:prstGeom prst="ellipse">
            <a:avLst/>
          </a:prstGeom>
          <a:solidFill>
            <a:srgbClr val="D5DEE7"/>
          </a:solidFill>
          <a:ln w="12700">
            <a:solidFill>
              <a:srgbClr val="D5DEE7"/>
            </a:solidFill>
            <a:prstDash val="solid"/>
          </a:ln>
        </p:spPr>
      </p:sp>
      <p:sp>
        <p:nvSpPr>
          <p:cNvPr id="31" name="Shape 26"/>
          <p:cNvSpPr/>
          <p:nvPr/>
        </p:nvSpPr>
        <p:spPr>
          <a:xfrm>
            <a:off x="5257800" y="33375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2" name="Text 27"/>
          <p:cNvSpPr txBox="1"/>
          <p:nvPr/>
        </p:nvSpPr>
        <p:spPr>
          <a:xfrm>
            <a:off x="5440680" y="3337560"/>
            <a:ext cx="219456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Особенно сложно на низких частотах</a:t>
            </a:r>
            <a:endParaRPr lang="en-US" sz="1150" dirty="0"/>
          </a:p>
        </p:txBody>
      </p:sp>
      <p:sp>
        <p:nvSpPr>
          <p:cNvPr id="33" name="Shape 28"/>
          <p:cNvSpPr/>
          <p:nvPr/>
        </p:nvSpPr>
        <p:spPr>
          <a:xfrm>
            <a:off x="7726680" y="3575304"/>
            <a:ext cx="118872" cy="118872"/>
          </a:xfrm>
          <a:prstGeom prst="ellipse">
            <a:avLst/>
          </a:prstGeom>
          <a:solidFill>
            <a:srgbClr val="0E9AA7"/>
          </a:solidFill>
          <a:ln w="12700">
            <a:solidFill>
              <a:srgbClr val="0E9AA7"/>
            </a:solidFill>
            <a:prstDash val="solid"/>
          </a:ln>
        </p:spPr>
      </p:sp>
      <p:sp>
        <p:nvSpPr>
          <p:cNvPr id="34" name="Shape 29"/>
          <p:cNvSpPr/>
          <p:nvPr/>
        </p:nvSpPr>
        <p:spPr>
          <a:xfrm>
            <a:off x="7900416" y="3575304"/>
            <a:ext cx="118872" cy="118872"/>
          </a:xfrm>
          <a:prstGeom prst="ellipse">
            <a:avLst/>
          </a:prstGeom>
          <a:solidFill>
            <a:srgbClr val="0E9AA7"/>
          </a:solidFill>
          <a:ln w="12700">
            <a:solidFill>
              <a:srgbClr val="0E9AA7"/>
            </a:solidFill>
            <a:prstDash val="solid"/>
          </a:ln>
        </p:spPr>
      </p:sp>
      <p:sp>
        <p:nvSpPr>
          <p:cNvPr id="35" name="Shape 30"/>
          <p:cNvSpPr/>
          <p:nvPr/>
        </p:nvSpPr>
        <p:spPr>
          <a:xfrm>
            <a:off x="8074152" y="3575304"/>
            <a:ext cx="118872" cy="118872"/>
          </a:xfrm>
          <a:prstGeom prst="ellipse">
            <a:avLst/>
          </a:prstGeom>
          <a:solidFill>
            <a:srgbClr val="0E9AA7"/>
          </a:solidFill>
          <a:ln w="12700">
            <a:solidFill>
              <a:srgbClr val="0E9AA7"/>
            </a:solidFill>
            <a:prstDash val="solid"/>
          </a:ln>
        </p:spPr>
      </p:sp>
      <p:sp>
        <p:nvSpPr>
          <p:cNvPr id="36" name="Shape 31"/>
          <p:cNvSpPr/>
          <p:nvPr/>
        </p:nvSpPr>
        <p:spPr>
          <a:xfrm>
            <a:off x="8247888" y="3575304"/>
            <a:ext cx="118872" cy="118872"/>
          </a:xfrm>
          <a:prstGeom prst="ellipse">
            <a:avLst/>
          </a:prstGeom>
          <a:solidFill>
            <a:srgbClr val="0E9AA7"/>
          </a:solidFill>
          <a:ln w="12700">
            <a:solidFill>
              <a:srgbClr val="0E9AA7"/>
            </a:solidFill>
            <a:prstDash val="solid"/>
          </a:ln>
        </p:spPr>
      </p:sp>
      <p:sp>
        <p:nvSpPr>
          <p:cNvPr id="37" name="Shape 32"/>
          <p:cNvSpPr/>
          <p:nvPr/>
        </p:nvSpPr>
        <p:spPr>
          <a:xfrm>
            <a:off x="8421624" y="3575304"/>
            <a:ext cx="118872" cy="118872"/>
          </a:xfrm>
          <a:prstGeom prst="ellipse">
            <a:avLst/>
          </a:prstGeom>
          <a:solidFill>
            <a:srgbClr val="D5DEE7"/>
          </a:solidFill>
          <a:ln w="12700">
            <a:solidFill>
              <a:srgbClr val="D5DEE7"/>
            </a:solidFill>
            <a:prstDash val="solid"/>
          </a:ln>
        </p:spPr>
      </p:sp>
      <p:sp>
        <p:nvSpPr>
          <p:cNvPr id="38" name="Text 33"/>
          <p:cNvSpPr txBox="1"/>
          <p:nvPr/>
        </p:nvSpPr>
        <p:spPr>
          <a:xfrm>
            <a:off x="3931920" y="4023360"/>
            <a:ext cx="1280160" cy="594360"/>
          </a:xfrm>
          <a:prstGeom prst="rect">
            <a:avLst/>
          </a:prstGeom>
          <a:noFill/>
          <a:ln/>
        </p:spPr>
        <p:txBody>
          <a:bodyPr wrap="square" lIns="0" tIns="0" rIns="0" bIns="0" rtlCol="0" anchor="ctr"/>
          <a:lstStyle/>
          <a:p>
            <a:pPr algn="ctr" indent="0" marL="0">
              <a:buNone/>
            </a:pPr>
            <a:r>
              <a:rPr lang="en-US" sz="850" b="1" spc="150" kern="0" dirty="0">
                <a:solidFill>
                  <a:srgbClr val="64748B"/>
                </a:solidFill>
                <a:latin typeface="Arial" pitchFamily="34" charset="0"/>
                <a:ea typeface="Arial" pitchFamily="34" charset="-122"/>
                <a:cs typeface="Arial" pitchFamily="34" charset="-120"/>
              </a:rPr>
              <a:t>КЛЮЧЕВОЕ</a:t>
            </a:r>
            <a:endParaRPr lang="en-US" sz="850" dirty="0"/>
          </a:p>
        </p:txBody>
      </p:sp>
      <p:sp>
        <p:nvSpPr>
          <p:cNvPr id="39" name="Shape 34"/>
          <p:cNvSpPr/>
          <p:nvPr/>
        </p:nvSpPr>
        <p:spPr>
          <a:xfrm>
            <a:off x="457200" y="40233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0" name="Text 35"/>
          <p:cNvSpPr txBox="1"/>
          <p:nvPr/>
        </p:nvSpPr>
        <p:spPr>
          <a:xfrm>
            <a:off x="640080" y="40233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Непрерывность экрана</a:t>
            </a:r>
            <a:endParaRPr lang="en-US" sz="1150" dirty="0"/>
          </a:p>
        </p:txBody>
      </p:sp>
      <p:sp>
        <p:nvSpPr>
          <p:cNvPr id="41" name="Shape 36"/>
          <p:cNvSpPr/>
          <p:nvPr/>
        </p:nvSpPr>
        <p:spPr>
          <a:xfrm>
            <a:off x="5257800" y="4023360"/>
            <a:ext cx="3429000" cy="594360"/>
          </a:xfrm>
          <a:prstGeom prst="roundRect">
            <a:avLst>
              <a:gd name="adj" fmla="val 12308"/>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2" name="Text 37"/>
          <p:cNvSpPr txBox="1"/>
          <p:nvPr/>
        </p:nvSpPr>
        <p:spPr>
          <a:xfrm>
            <a:off x="5440680" y="4023360"/>
            <a:ext cx="3063240" cy="594360"/>
          </a:xfrm>
          <a:prstGeom prst="rect">
            <a:avLst/>
          </a:prstGeom>
          <a:noFill/>
          <a:ln/>
        </p:spPr>
        <p:txBody>
          <a:bodyPr wrap="square" lIns="0" tIns="0" rIns="0" bIns="0" rtlCol="0" anchor="ctr"/>
          <a:lstStyle/>
          <a:p>
            <a:pPr indent="0" marL="0">
              <a:buNone/>
            </a:pPr>
            <a:r>
              <a:rPr lang="en-US" sz="1150" b="1" dirty="0">
                <a:solidFill>
                  <a:srgbClr val="0B1F3A"/>
                </a:solidFill>
                <a:latin typeface="Arial" pitchFamily="34" charset="0"/>
                <a:ea typeface="Arial" pitchFamily="34" charset="-122"/>
                <a:cs typeface="Arial" pitchFamily="34" charset="-120"/>
              </a:rPr>
              <a:t>Магнитная проницаемость μ</a:t>
            </a:r>
            <a:endParaRPr lang="en-US" sz="1150" dirty="0"/>
          </a:p>
        </p:txBody>
      </p:sp>
      <p:sp>
        <p:nvSpPr>
          <p:cNvPr id="43" name="Shape 38"/>
          <p:cNvSpPr/>
          <p:nvPr/>
        </p:nvSpPr>
        <p:spPr>
          <a:xfrm>
            <a:off x="4315968" y="1344168"/>
            <a:ext cx="512064" cy="438912"/>
          </a:xfrm>
          <a:prstGeom prst="ellipse">
            <a:avLst/>
          </a:prstGeom>
          <a:solidFill>
            <a:srgbClr val="FFFFFF"/>
          </a:solidFill>
          <a:ln w="12700">
            <a:solidFill>
              <a:srgbClr val="DDE5EC"/>
            </a:solidFill>
            <a:prstDash val="solid"/>
          </a:ln>
        </p:spPr>
      </p:sp>
      <p:sp>
        <p:nvSpPr>
          <p:cNvPr id="44" name="Text 39"/>
          <p:cNvSpPr txBox="1"/>
          <p:nvPr/>
        </p:nvSpPr>
        <p:spPr>
          <a:xfrm>
            <a:off x="4315968" y="1344168"/>
            <a:ext cx="512064" cy="438912"/>
          </a:xfrm>
          <a:prstGeom prst="rect">
            <a:avLst/>
          </a:prstGeom>
          <a:noFill/>
          <a:ln/>
        </p:spPr>
        <p:txBody>
          <a:bodyPr wrap="square" lIns="0" tIns="0" rIns="0" bIns="0" rtlCol="0" anchor="ctr"/>
          <a:lstStyle/>
          <a:p>
            <a:pPr algn="ctr" indent="0" marL="0">
              <a:buNone/>
            </a:pPr>
            <a:r>
              <a:rPr lang="en-US" sz="1100" b="1" dirty="0">
                <a:solidFill>
                  <a:srgbClr val="0B1F3A"/>
                </a:solidFill>
                <a:latin typeface="Arial" pitchFamily="34" charset="0"/>
                <a:ea typeface="Arial" pitchFamily="34" charset="-122"/>
                <a:cs typeface="Arial" pitchFamily="34" charset="-120"/>
              </a:rPr>
              <a:t>vs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КОЛИЧЕСТВЕННАЯ ОЦЕНКА</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Эффективность экранирования</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08</a:t>
            </a:r>
            <a:endParaRPr lang="en-US" sz="800" dirty="0"/>
          </a:p>
        </p:txBody>
      </p:sp>
      <p:sp>
        <p:nvSpPr>
          <p:cNvPr id="7" name="Shape 4"/>
          <p:cNvSpPr/>
          <p:nvPr/>
        </p:nvSpPr>
        <p:spPr>
          <a:xfrm>
            <a:off x="457200" y="1280160"/>
            <a:ext cx="4937760" cy="1645920"/>
          </a:xfrm>
          <a:prstGeom prst="roundRect">
            <a:avLst>
              <a:gd name="adj" fmla="val 5556"/>
            </a:avLst>
          </a:prstGeom>
          <a:solidFill>
            <a:srgbClr val="0B1F3A"/>
          </a:solidFill>
          <a:ln w="12700">
            <a:solidFill>
              <a:srgbClr val="0B1F3A"/>
            </a:solidFill>
            <a:prstDash val="solid"/>
          </a:ln>
          <a:effectLst>
            <a:outerShdw sx="100000" sy="100000" kx="0" ky="0" algn="bl" rotWithShape="0" blurRad="101600" dist="25400" dir="5400000">
              <a:srgbClr val="0B1F3A">
                <a:alpha val="10000"/>
              </a:srgbClr>
            </a:outerShdw>
          </a:effectLst>
        </p:spPr>
      </p:sp>
      <p:sp>
        <p:nvSpPr>
          <p:cNvPr id="8" name="Text 5"/>
          <p:cNvSpPr txBox="1"/>
          <p:nvPr/>
        </p:nvSpPr>
        <p:spPr>
          <a:xfrm>
            <a:off x="457200" y="1417320"/>
            <a:ext cx="4937760" cy="182880"/>
          </a:xfrm>
          <a:prstGeom prst="rect">
            <a:avLst/>
          </a:prstGeom>
          <a:noFill/>
          <a:ln/>
        </p:spPr>
        <p:txBody>
          <a:bodyPr wrap="square" lIns="0" tIns="0" rIns="0" bIns="0" rtlCol="0" anchor="t"/>
          <a:lstStyle/>
          <a:p>
            <a:pPr algn="ctr" indent="0" marL="0">
              <a:buNone/>
            </a:pPr>
            <a:r>
              <a:rPr lang="en-US" sz="900" b="1" spc="300" kern="0" dirty="0">
                <a:solidFill>
                  <a:srgbClr val="1FB6D4"/>
                </a:solidFill>
                <a:latin typeface="Arial" pitchFamily="34" charset="0"/>
                <a:ea typeface="Arial" pitchFamily="34" charset="-122"/>
                <a:cs typeface="Arial" pitchFamily="34" charset="-120"/>
              </a:rPr>
              <a:t>ЭФФЕКТИВНОСТЬ ЭКРАНИРОВАНИЯ, дБ</a:t>
            </a:r>
            <a:endParaRPr lang="en-US" sz="900" dirty="0"/>
          </a:p>
        </p:txBody>
      </p:sp>
      <p:sp>
        <p:nvSpPr>
          <p:cNvPr id="9" name="Text 6"/>
          <p:cNvSpPr txBox="1"/>
          <p:nvPr/>
        </p:nvSpPr>
        <p:spPr>
          <a:xfrm>
            <a:off x="457200" y="1691640"/>
            <a:ext cx="493776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SE = 20 lg(E</a:t>
            </a:r>
            <a:pPr algn="ctr" indent="0" marL="0">
              <a:buNone/>
            </a:pPr>
            <a:r>
              <a:rPr lang="en-US" sz="3200" b="1" baseline="-40000" dirty="0">
                <a:solidFill>
                  <a:srgbClr val="FFFFFF"/>
                </a:solidFill>
                <a:latin typeface="Arial" pitchFamily="34" charset="0"/>
                <a:ea typeface="Arial" pitchFamily="34" charset="-122"/>
                <a:cs typeface="Arial" pitchFamily="34" charset="-120"/>
              </a:rPr>
              <a:t>0</a:t>
            </a:r>
            <a:pPr algn="ctr" indent="0" marL="0">
              <a:buNone/>
            </a:pPr>
            <a:r>
              <a:rPr lang="en-US" sz="3200" b="1" dirty="0">
                <a:solidFill>
                  <a:srgbClr val="FFFFFF"/>
                </a:solidFill>
                <a:latin typeface="Arial" pitchFamily="34" charset="0"/>
                <a:ea typeface="Arial" pitchFamily="34" charset="-122"/>
                <a:cs typeface="Arial" pitchFamily="34" charset="-120"/>
              </a:rPr>
              <a:t> / E</a:t>
            </a:r>
            <a:pPr algn="ctr" indent="0" marL="0">
              <a:buNone/>
            </a:pPr>
            <a:r>
              <a:rPr lang="en-US" sz="3200" b="1" baseline="-40000" dirty="0">
                <a:solidFill>
                  <a:srgbClr val="FFFFFF"/>
                </a:solidFill>
                <a:latin typeface="Arial" pitchFamily="34" charset="0"/>
                <a:ea typeface="Arial" pitchFamily="34" charset="-122"/>
                <a:cs typeface="Arial" pitchFamily="34" charset="-120"/>
              </a:rPr>
              <a:t>1</a:t>
            </a:r>
            <a:pPr algn="ctr" indent="0" marL="0">
              <a:buNone/>
            </a:pPr>
            <a:r>
              <a:rPr lang="en-US" sz="3200" b="1" dirty="0">
                <a:solidFill>
                  <a:srgbClr val="FFFFFF"/>
                </a:solidFill>
                <a:latin typeface="Arial" pitchFamily="34" charset="0"/>
                <a:ea typeface="Arial" pitchFamily="34" charset="-122"/>
                <a:cs typeface="Arial" pitchFamily="34" charset="-120"/>
              </a:rPr>
              <a:t>)</a:t>
            </a:r>
            <a:endParaRPr lang="en-US" sz="3200" dirty="0"/>
          </a:p>
        </p:txBody>
      </p:sp>
      <p:sp>
        <p:nvSpPr>
          <p:cNvPr id="10" name="Text 7"/>
          <p:cNvSpPr txBox="1"/>
          <p:nvPr/>
        </p:nvSpPr>
        <p:spPr>
          <a:xfrm>
            <a:off x="457200" y="2487168"/>
            <a:ext cx="4937760" cy="274320"/>
          </a:xfrm>
          <a:prstGeom prst="rect">
            <a:avLst/>
          </a:prstGeom>
          <a:noFill/>
          <a:ln/>
        </p:spPr>
        <p:txBody>
          <a:bodyPr wrap="square" lIns="0" tIns="0" rIns="0" bIns="0" rtlCol="0" anchor="ctr"/>
          <a:lstStyle/>
          <a:p>
            <a:pPr algn="ctr" indent="0" marL="0">
              <a:buNone/>
            </a:pPr>
            <a:r>
              <a:rPr lang="en-US" sz="1100" b="1" dirty="0">
                <a:solidFill>
                  <a:srgbClr val="1FB6D4"/>
                </a:solidFill>
                <a:latin typeface="Arial" pitchFamily="34" charset="0"/>
                <a:ea typeface="Arial" pitchFamily="34" charset="-122"/>
                <a:cs typeface="Arial" pitchFamily="34" charset="-120"/>
              </a:rPr>
              <a:t>E</a:t>
            </a:r>
            <a:pPr algn="ctr" indent="0" marL="0">
              <a:buNone/>
            </a:pPr>
            <a:r>
              <a:rPr lang="en-US" sz="1100" b="1" baseline="-40000" dirty="0">
                <a:solidFill>
                  <a:srgbClr val="1FB6D4"/>
                </a:solidFill>
                <a:latin typeface="Arial" pitchFamily="34" charset="0"/>
                <a:ea typeface="Arial" pitchFamily="34" charset="-122"/>
                <a:cs typeface="Arial" pitchFamily="34" charset="-120"/>
              </a:rPr>
              <a:t>0</a:t>
            </a:r>
            <a:pPr algn="ctr" indent="0" marL="0">
              <a:buNone/>
            </a:pPr>
            <a:r>
              <a:rPr lang="en-US" sz="1100" dirty="0">
                <a:solidFill>
                  <a:srgbClr val="C9D6E4"/>
                </a:solidFill>
                <a:latin typeface="Arial" pitchFamily="34" charset="0"/>
                <a:ea typeface="Arial" pitchFamily="34" charset="-122"/>
                <a:cs typeface="Arial" pitchFamily="34" charset="-120"/>
              </a:rPr>
              <a:t> — поле без экрана        </a:t>
            </a:r>
            <a:pPr algn="ctr" indent="0" marL="0">
              <a:buNone/>
            </a:pPr>
            <a:r>
              <a:rPr lang="en-US" sz="1100" b="1" dirty="0">
                <a:solidFill>
                  <a:srgbClr val="1FB6D4"/>
                </a:solidFill>
                <a:latin typeface="Arial" pitchFamily="34" charset="0"/>
                <a:ea typeface="Arial" pitchFamily="34" charset="-122"/>
                <a:cs typeface="Arial" pitchFamily="34" charset="-120"/>
              </a:rPr>
              <a:t>E</a:t>
            </a:r>
            <a:pPr algn="ctr" indent="0" marL="0">
              <a:buNone/>
            </a:pPr>
            <a:r>
              <a:rPr lang="en-US" sz="1100" b="1" baseline="-40000" dirty="0">
                <a:solidFill>
                  <a:srgbClr val="1FB6D4"/>
                </a:solidFill>
                <a:latin typeface="Arial" pitchFamily="34" charset="0"/>
                <a:ea typeface="Arial" pitchFamily="34" charset="-122"/>
                <a:cs typeface="Arial" pitchFamily="34" charset="-120"/>
              </a:rPr>
              <a:t>1</a:t>
            </a:r>
            <a:pPr algn="ctr" indent="0" marL="0">
              <a:buNone/>
            </a:pPr>
            <a:r>
              <a:rPr lang="en-US" sz="1100" dirty="0">
                <a:solidFill>
                  <a:srgbClr val="C9D6E4"/>
                </a:solidFill>
                <a:latin typeface="Arial" pitchFamily="34" charset="0"/>
                <a:ea typeface="Arial" pitchFamily="34" charset="-122"/>
                <a:cs typeface="Arial" pitchFamily="34" charset="-120"/>
              </a:rPr>
              <a:t> — поле за экраном</a:t>
            </a:r>
            <a:endParaRPr lang="en-US" sz="1100" dirty="0"/>
          </a:p>
        </p:txBody>
      </p:sp>
      <p:sp>
        <p:nvSpPr>
          <p:cNvPr id="11" name="Text 8"/>
          <p:cNvSpPr txBox="1"/>
          <p:nvPr/>
        </p:nvSpPr>
        <p:spPr>
          <a:xfrm>
            <a:off x="457200" y="3108960"/>
            <a:ext cx="4937760" cy="320040"/>
          </a:xfrm>
          <a:prstGeom prst="rect">
            <a:avLst/>
          </a:prstGeom>
          <a:noFill/>
          <a:ln/>
        </p:spPr>
        <p:txBody>
          <a:bodyPr wrap="square" lIns="0" tIns="0" rIns="0" bIns="0" rtlCol="0" anchor="ctr"/>
          <a:lstStyle/>
          <a:p>
            <a:pPr indent="0" marL="0">
              <a:buNone/>
            </a:pPr>
            <a:r>
              <a:rPr lang="en-US" sz="1450" b="1" dirty="0">
                <a:solidFill>
                  <a:srgbClr val="0B1F3A"/>
                </a:solidFill>
                <a:latin typeface="Arial" pitchFamily="34" charset="0"/>
                <a:ea typeface="Arial" pitchFamily="34" charset="-122"/>
                <a:cs typeface="Arial" pitchFamily="34" charset="-120"/>
              </a:rPr>
              <a:t>Чем выше SE, тем сильнее экран ослабляет поле</a:t>
            </a:r>
            <a:endParaRPr lang="en-US" sz="1450" dirty="0"/>
          </a:p>
        </p:txBody>
      </p:sp>
      <p:sp>
        <p:nvSpPr>
          <p:cNvPr id="12" name="Shape 9"/>
          <p:cNvSpPr/>
          <p:nvPr/>
        </p:nvSpPr>
        <p:spPr>
          <a:xfrm>
            <a:off x="457200" y="3611880"/>
            <a:ext cx="1554480" cy="1005840"/>
          </a:xfrm>
          <a:prstGeom prst="roundRect">
            <a:avLst>
              <a:gd name="adj" fmla="val 727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3" name="Text 10"/>
          <p:cNvSpPr txBox="1"/>
          <p:nvPr/>
        </p:nvSpPr>
        <p:spPr>
          <a:xfrm>
            <a:off x="594360" y="3703320"/>
            <a:ext cx="1280160" cy="411480"/>
          </a:xfrm>
          <a:prstGeom prst="rect">
            <a:avLst/>
          </a:prstGeom>
          <a:noFill/>
          <a:ln/>
        </p:spPr>
        <p:txBody>
          <a:bodyPr wrap="square" lIns="0" tIns="0" rIns="0" bIns="0" rtlCol="0" anchor="ctr"/>
          <a:lstStyle/>
          <a:p>
            <a:pPr indent="0" marL="0">
              <a:buNone/>
            </a:pPr>
            <a:r>
              <a:rPr lang="en-US" sz="2200" b="1" dirty="0">
                <a:solidFill>
                  <a:srgbClr val="0E9AA7"/>
                </a:solidFill>
                <a:latin typeface="Arial" pitchFamily="34" charset="0"/>
                <a:ea typeface="Arial" pitchFamily="34" charset="-122"/>
                <a:cs typeface="Arial" pitchFamily="34" charset="-120"/>
              </a:rPr>
              <a:t>20 дБ</a:t>
            </a:r>
            <a:endParaRPr lang="en-US" sz="2200" dirty="0"/>
          </a:p>
        </p:txBody>
      </p:sp>
      <p:sp>
        <p:nvSpPr>
          <p:cNvPr id="14" name="Text 11"/>
          <p:cNvSpPr txBox="1"/>
          <p:nvPr/>
        </p:nvSpPr>
        <p:spPr>
          <a:xfrm>
            <a:off x="594360" y="4114800"/>
            <a:ext cx="132588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ослабление амплитуды</a:t>
            </a:r>
            <a:endParaRPr lang="en-US" sz="800" dirty="0"/>
          </a:p>
        </p:txBody>
      </p:sp>
      <p:sp>
        <p:nvSpPr>
          <p:cNvPr id="15" name="Text 12"/>
          <p:cNvSpPr txBox="1"/>
          <p:nvPr/>
        </p:nvSpPr>
        <p:spPr>
          <a:xfrm>
            <a:off x="594360" y="4297680"/>
            <a:ext cx="1325880" cy="228600"/>
          </a:xfrm>
          <a:prstGeom prst="rect">
            <a:avLst/>
          </a:prstGeom>
          <a:noFill/>
          <a:ln/>
        </p:spPr>
        <p:txBody>
          <a:bodyPr wrap="square" lIns="0" tIns="0" rIns="0" bIns="0" rtlCol="0" anchor="t"/>
          <a:lstStyle/>
          <a:p>
            <a:pPr indent="0" marL="0">
              <a:buNone/>
            </a:pPr>
            <a:r>
              <a:rPr lang="en-US" sz="1200" b="1" dirty="0">
                <a:solidFill>
                  <a:srgbClr val="2B3440"/>
                </a:solidFill>
                <a:latin typeface="Arial" pitchFamily="34" charset="0"/>
                <a:ea typeface="Arial" pitchFamily="34" charset="-122"/>
                <a:cs typeface="Arial" pitchFamily="34" charset="-120"/>
              </a:rPr>
              <a:t>в 10 раз</a:t>
            </a:r>
            <a:endParaRPr lang="en-US" sz="1200" dirty="0"/>
          </a:p>
        </p:txBody>
      </p:sp>
      <p:sp>
        <p:nvSpPr>
          <p:cNvPr id="16" name="Shape 13"/>
          <p:cNvSpPr/>
          <p:nvPr/>
        </p:nvSpPr>
        <p:spPr>
          <a:xfrm>
            <a:off x="2148840" y="3611880"/>
            <a:ext cx="1554480" cy="1005840"/>
          </a:xfrm>
          <a:prstGeom prst="roundRect">
            <a:avLst>
              <a:gd name="adj" fmla="val 727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17" name="Text 14"/>
          <p:cNvSpPr txBox="1"/>
          <p:nvPr/>
        </p:nvSpPr>
        <p:spPr>
          <a:xfrm>
            <a:off x="2286000" y="3703320"/>
            <a:ext cx="1280160" cy="411480"/>
          </a:xfrm>
          <a:prstGeom prst="rect">
            <a:avLst/>
          </a:prstGeom>
          <a:noFill/>
          <a:ln/>
        </p:spPr>
        <p:txBody>
          <a:bodyPr wrap="square" lIns="0" tIns="0" rIns="0" bIns="0" rtlCol="0" anchor="ctr"/>
          <a:lstStyle/>
          <a:p>
            <a:pPr indent="0" marL="0">
              <a:buNone/>
            </a:pPr>
            <a:r>
              <a:rPr lang="en-US" sz="2200" b="1" dirty="0">
                <a:solidFill>
                  <a:srgbClr val="0B1F3A"/>
                </a:solidFill>
                <a:latin typeface="Arial" pitchFamily="34" charset="0"/>
                <a:ea typeface="Arial" pitchFamily="34" charset="-122"/>
                <a:cs typeface="Arial" pitchFamily="34" charset="-120"/>
              </a:rPr>
              <a:t>40 дБ</a:t>
            </a:r>
            <a:endParaRPr lang="en-US" sz="2200" dirty="0"/>
          </a:p>
        </p:txBody>
      </p:sp>
      <p:sp>
        <p:nvSpPr>
          <p:cNvPr id="18" name="Text 15"/>
          <p:cNvSpPr txBox="1"/>
          <p:nvPr/>
        </p:nvSpPr>
        <p:spPr>
          <a:xfrm>
            <a:off x="2286000" y="4114800"/>
            <a:ext cx="132588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ослабление амплитуды</a:t>
            </a:r>
            <a:endParaRPr lang="en-US" sz="800" dirty="0"/>
          </a:p>
        </p:txBody>
      </p:sp>
      <p:sp>
        <p:nvSpPr>
          <p:cNvPr id="19" name="Text 16"/>
          <p:cNvSpPr txBox="1"/>
          <p:nvPr/>
        </p:nvSpPr>
        <p:spPr>
          <a:xfrm>
            <a:off x="2286000" y="4297680"/>
            <a:ext cx="1325880" cy="228600"/>
          </a:xfrm>
          <a:prstGeom prst="rect">
            <a:avLst/>
          </a:prstGeom>
          <a:noFill/>
          <a:ln/>
        </p:spPr>
        <p:txBody>
          <a:bodyPr wrap="square" lIns="0" tIns="0" rIns="0" bIns="0" rtlCol="0" anchor="t"/>
          <a:lstStyle/>
          <a:p>
            <a:pPr indent="0" marL="0">
              <a:buNone/>
            </a:pPr>
            <a:r>
              <a:rPr lang="en-US" sz="1200" b="1" dirty="0">
                <a:solidFill>
                  <a:srgbClr val="2B3440"/>
                </a:solidFill>
                <a:latin typeface="Arial" pitchFamily="34" charset="0"/>
                <a:ea typeface="Arial" pitchFamily="34" charset="-122"/>
                <a:cs typeface="Arial" pitchFamily="34" charset="-120"/>
              </a:rPr>
              <a:t>в 100 раз</a:t>
            </a:r>
            <a:endParaRPr lang="en-US" sz="1200" dirty="0"/>
          </a:p>
        </p:txBody>
      </p:sp>
      <p:sp>
        <p:nvSpPr>
          <p:cNvPr id="20" name="Shape 17"/>
          <p:cNvSpPr/>
          <p:nvPr/>
        </p:nvSpPr>
        <p:spPr>
          <a:xfrm>
            <a:off x="3840480" y="3611880"/>
            <a:ext cx="1554480" cy="1005840"/>
          </a:xfrm>
          <a:prstGeom prst="roundRect">
            <a:avLst>
              <a:gd name="adj" fmla="val 7273"/>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1" name="Text 18"/>
          <p:cNvSpPr txBox="1"/>
          <p:nvPr/>
        </p:nvSpPr>
        <p:spPr>
          <a:xfrm>
            <a:off x="3977640" y="3703320"/>
            <a:ext cx="1280160" cy="411480"/>
          </a:xfrm>
          <a:prstGeom prst="rect">
            <a:avLst/>
          </a:prstGeom>
          <a:noFill/>
          <a:ln/>
        </p:spPr>
        <p:txBody>
          <a:bodyPr wrap="square" lIns="0" tIns="0" rIns="0" bIns="0" rtlCol="0" anchor="ctr"/>
          <a:lstStyle/>
          <a:p>
            <a:pPr indent="0" marL="0">
              <a:buNone/>
            </a:pPr>
            <a:r>
              <a:rPr lang="en-US" sz="2200" b="1" dirty="0">
                <a:solidFill>
                  <a:srgbClr val="0B1F3A"/>
                </a:solidFill>
                <a:latin typeface="Arial" pitchFamily="34" charset="0"/>
                <a:ea typeface="Arial" pitchFamily="34" charset="-122"/>
                <a:cs typeface="Arial" pitchFamily="34" charset="-120"/>
              </a:rPr>
              <a:t>60 дБ</a:t>
            </a:r>
            <a:endParaRPr lang="en-US" sz="2200" dirty="0"/>
          </a:p>
        </p:txBody>
      </p:sp>
      <p:sp>
        <p:nvSpPr>
          <p:cNvPr id="22" name="Text 19"/>
          <p:cNvSpPr txBox="1"/>
          <p:nvPr/>
        </p:nvSpPr>
        <p:spPr>
          <a:xfrm>
            <a:off x="3977640" y="4114800"/>
            <a:ext cx="132588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ослабление амплитуды</a:t>
            </a:r>
            <a:endParaRPr lang="en-US" sz="800" dirty="0"/>
          </a:p>
        </p:txBody>
      </p:sp>
      <p:sp>
        <p:nvSpPr>
          <p:cNvPr id="23" name="Text 20"/>
          <p:cNvSpPr txBox="1"/>
          <p:nvPr/>
        </p:nvSpPr>
        <p:spPr>
          <a:xfrm>
            <a:off x="3977640" y="4297680"/>
            <a:ext cx="1325880" cy="228600"/>
          </a:xfrm>
          <a:prstGeom prst="rect">
            <a:avLst/>
          </a:prstGeom>
          <a:noFill/>
          <a:ln/>
        </p:spPr>
        <p:txBody>
          <a:bodyPr wrap="square" lIns="0" tIns="0" rIns="0" bIns="0" rtlCol="0" anchor="t"/>
          <a:lstStyle/>
          <a:p>
            <a:pPr indent="0" marL="0">
              <a:buNone/>
            </a:pPr>
            <a:r>
              <a:rPr lang="en-US" sz="1200" b="1" dirty="0">
                <a:solidFill>
                  <a:srgbClr val="2B3440"/>
                </a:solidFill>
                <a:latin typeface="Arial" pitchFamily="34" charset="0"/>
                <a:ea typeface="Arial" pitchFamily="34" charset="-122"/>
                <a:cs typeface="Arial" pitchFamily="34" charset="-120"/>
              </a:rPr>
              <a:t>в 1000 раз</a:t>
            </a:r>
            <a:endParaRPr lang="en-US" sz="1200" dirty="0"/>
          </a:p>
        </p:txBody>
      </p:sp>
      <p:sp>
        <p:nvSpPr>
          <p:cNvPr id="24" name="Shape 21"/>
          <p:cNvSpPr/>
          <p:nvPr/>
        </p:nvSpPr>
        <p:spPr>
          <a:xfrm>
            <a:off x="5669280" y="1280160"/>
            <a:ext cx="3017520" cy="3337560"/>
          </a:xfrm>
          <a:prstGeom prst="roundRect">
            <a:avLst>
              <a:gd name="adj" fmla="val 242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25" name="Text 22"/>
          <p:cNvSpPr txBox="1"/>
          <p:nvPr/>
        </p:nvSpPr>
        <p:spPr>
          <a:xfrm>
            <a:off x="5852160" y="1389888"/>
            <a:ext cx="2743200" cy="228600"/>
          </a:xfrm>
          <a:prstGeom prst="rect">
            <a:avLst/>
          </a:prstGeom>
          <a:noFill/>
          <a:ln/>
        </p:spPr>
        <p:txBody>
          <a:bodyPr wrap="square" lIns="0" tIns="0" rIns="0" bIns="0" rtlCol="0" anchor="t"/>
          <a:lstStyle/>
          <a:p>
            <a:pPr indent="0" marL="0">
              <a:buNone/>
            </a:pPr>
            <a:r>
              <a:rPr lang="en-US" sz="1100" b="1" dirty="0">
                <a:solidFill>
                  <a:srgbClr val="0B1F3A"/>
                </a:solidFill>
                <a:latin typeface="Arial" pitchFamily="34" charset="0"/>
                <a:ea typeface="Arial" pitchFamily="34" charset="-122"/>
                <a:cs typeface="Arial" pitchFamily="34" charset="-120"/>
              </a:rPr>
              <a:t>Уровень поля (отн. ед.)</a:t>
            </a:r>
            <a:endParaRPr lang="en-US" sz="1100" dirty="0"/>
          </a:p>
        </p:txBody>
      </p:sp>
      <p:graphicFrame>
        <p:nvGraphicFramePr>
          <p:cNvPr id="26" name="Chart 0" descr=""/>
          <p:cNvGraphicFramePr/>
          <p:nvPr/>
        </p:nvGraphicFramePr>
        <p:xfrm>
          <a:off x="5760720" y="1691640"/>
          <a:ext cx="2834640" cy="2331720"/>
        </p:xfrm>
        <a:graphic xmlns:a="http://schemas.openxmlformats.org/drawingml/2006/main">
          <a:graphicData uri="http://schemas.openxmlformats.org/drawingml/2006/chart">
            <c:chart xmlns:c="http://schemas.openxmlformats.org/drawingml/2006/chart" r:id="rId1"/>
          </a:graphicData>
        </a:graphic>
      </p:graphicFrame>
      <p:sp>
        <p:nvSpPr>
          <p:cNvPr id="27" name="Shape 23"/>
          <p:cNvSpPr/>
          <p:nvPr/>
        </p:nvSpPr>
        <p:spPr>
          <a:xfrm>
            <a:off x="5852160" y="4114800"/>
            <a:ext cx="2651760" cy="365760"/>
          </a:xfrm>
          <a:prstGeom prst="roundRect">
            <a:avLst>
              <a:gd name="adj" fmla="val 50000"/>
            </a:avLst>
          </a:prstGeom>
          <a:solidFill>
            <a:srgbClr val="E4F2F8"/>
          </a:solidFill>
          <a:ln w="12700">
            <a:solidFill>
              <a:srgbClr val="E4F2F8"/>
            </a:solidFill>
            <a:prstDash val="solid"/>
          </a:ln>
        </p:spPr>
      </p:sp>
      <p:sp>
        <p:nvSpPr>
          <p:cNvPr id="28" name="Text 24"/>
          <p:cNvSpPr txBox="1"/>
          <p:nvPr/>
        </p:nvSpPr>
        <p:spPr>
          <a:xfrm>
            <a:off x="5852160" y="4114800"/>
            <a:ext cx="265176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Arial" pitchFamily="34" charset="0"/>
                <a:ea typeface="Arial" pitchFamily="34" charset="-122"/>
                <a:cs typeface="Arial" pitchFamily="34" charset="-120"/>
              </a:rPr>
              <a:t>SE = 20 lg(100 / 10) = 20 дБ</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ПРИМЕНЕНИЕ</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Экранирование в защите информации</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09</a:t>
            </a:r>
            <a:endParaRPr lang="en-US" sz="800" dirty="0"/>
          </a:p>
        </p:txBody>
      </p:sp>
      <p:sp>
        <p:nvSpPr>
          <p:cNvPr id="7" name="Shape 4"/>
          <p:cNvSpPr/>
          <p:nvPr/>
        </p:nvSpPr>
        <p:spPr>
          <a:xfrm>
            <a:off x="457200" y="1280160"/>
            <a:ext cx="5257800" cy="2743200"/>
          </a:xfrm>
          <a:prstGeom prst="roundRect">
            <a:avLst>
              <a:gd name="adj" fmla="val 2667"/>
            </a:avLst>
          </a:prstGeom>
          <a:solidFill>
            <a:srgbClr val="FFFFFF"/>
          </a:solidFill>
          <a:ln w="9525">
            <a:solidFill>
              <a:srgbClr val="DDE5EC"/>
            </a:solidFill>
            <a:prstDash val="solid"/>
          </a:ln>
        </p:spPr>
      </p:sp>
      <p:sp>
        <p:nvSpPr>
          <p:cNvPr id="8" name="Shape 5"/>
          <p:cNvSpPr/>
          <p:nvPr/>
        </p:nvSpPr>
        <p:spPr>
          <a:xfrm>
            <a:off x="548640" y="1371600"/>
            <a:ext cx="4160520" cy="2560320"/>
          </a:xfrm>
          <a:prstGeom prst="roundRect">
            <a:avLst>
              <a:gd name="adj" fmla="val 3571"/>
            </a:avLst>
          </a:prstGeom>
          <a:ln w="15875">
            <a:solidFill>
              <a:srgbClr val="7C8CA0"/>
            </a:solidFill>
            <a:prstDash val="dash"/>
          </a:ln>
        </p:spPr>
      </p:sp>
      <p:sp>
        <p:nvSpPr>
          <p:cNvPr id="9" name="Text 6"/>
          <p:cNvSpPr txBox="1"/>
          <p:nvPr/>
        </p:nvSpPr>
        <p:spPr>
          <a:xfrm>
            <a:off x="731520" y="1463040"/>
            <a:ext cx="2743200" cy="182880"/>
          </a:xfrm>
          <a:prstGeom prst="rect">
            <a:avLst/>
          </a:prstGeom>
          <a:noFill/>
          <a:ln/>
        </p:spPr>
        <p:txBody>
          <a:bodyPr wrap="square" lIns="0" tIns="0" rIns="0" bIns="0" rtlCol="0" anchor="t"/>
          <a:lstStyle/>
          <a:p>
            <a:pPr indent="0" marL="0">
              <a:buNone/>
            </a:pPr>
            <a:r>
              <a:rPr lang="en-US" sz="850" b="1" spc="200" kern="0" dirty="0">
                <a:solidFill>
                  <a:srgbClr val="64748B"/>
                </a:solidFill>
                <a:latin typeface="Arial" pitchFamily="34" charset="0"/>
                <a:ea typeface="Arial" pitchFamily="34" charset="-122"/>
                <a:cs typeface="Arial" pitchFamily="34" charset="-120"/>
              </a:rPr>
              <a:t>КОНТРОЛИРУЕМАЯ ЗОНА</a:t>
            </a:r>
            <a:endParaRPr lang="en-US" sz="850" dirty="0"/>
          </a:p>
        </p:txBody>
      </p:sp>
      <p:sp>
        <p:nvSpPr>
          <p:cNvPr id="10" name="Shape 7"/>
          <p:cNvSpPr/>
          <p:nvPr/>
        </p:nvSpPr>
        <p:spPr>
          <a:xfrm>
            <a:off x="777240" y="1783080"/>
            <a:ext cx="2286000" cy="1828800"/>
          </a:xfrm>
          <a:prstGeom prst="rect">
            <a:avLst/>
          </a:prstGeom>
          <a:solidFill>
            <a:srgbClr val="EAF6FA"/>
          </a:solidFill>
          <a:ln w="50800">
            <a:solidFill>
              <a:srgbClr val="0E9AA7"/>
            </a:solidFill>
            <a:prstDash val="solid"/>
          </a:ln>
        </p:spPr>
      </p:sp>
      <p:sp>
        <p:nvSpPr>
          <p:cNvPr id="11" name="Text 8"/>
          <p:cNvSpPr txBox="1"/>
          <p:nvPr/>
        </p:nvSpPr>
        <p:spPr>
          <a:xfrm>
            <a:off x="868680" y="1856232"/>
            <a:ext cx="2103120" cy="182880"/>
          </a:xfrm>
          <a:prstGeom prst="rect">
            <a:avLst/>
          </a:prstGeom>
          <a:noFill/>
          <a:ln/>
        </p:spPr>
        <p:txBody>
          <a:bodyPr wrap="square" lIns="0" tIns="0" rIns="0" bIns="0" rtlCol="0" anchor="t"/>
          <a:lstStyle/>
          <a:p>
            <a:pPr algn="l" indent="0" marL="0">
              <a:buNone/>
            </a:pPr>
            <a:r>
              <a:rPr lang="en-US" sz="850" b="1" dirty="0">
                <a:solidFill>
                  <a:srgbClr val="0E9AA7"/>
                </a:solidFill>
                <a:latin typeface="Arial" pitchFamily="34" charset="0"/>
                <a:ea typeface="Arial" pitchFamily="34" charset="-122"/>
                <a:cs typeface="Arial" pitchFamily="34" charset="-120"/>
              </a:rPr>
              <a:t>Экранированное помещение</a:t>
            </a:r>
            <a:endParaRPr lang="en-US" sz="850" dirty="0"/>
          </a:p>
        </p:txBody>
      </p:sp>
      <p:sp>
        <p:nvSpPr>
          <p:cNvPr id="12" name="Shape 9"/>
          <p:cNvSpPr/>
          <p:nvPr/>
        </p:nvSpPr>
        <p:spPr>
          <a:xfrm>
            <a:off x="1097280" y="2468880"/>
            <a:ext cx="685800" cy="685800"/>
          </a:xfrm>
          <a:prstGeom prst="ellipse">
            <a:avLst/>
          </a:prstGeom>
          <a:solidFill>
            <a:srgbClr val="0B1F3A"/>
          </a:solidFill>
          <a:ln w="12700">
            <a:solidFill>
              <a:srgbClr val="0B1F3A"/>
            </a:solidFill>
            <a:prstDash val="solid"/>
          </a:ln>
        </p:spPr>
      </p:sp>
      <p:pic>
        <p:nvPicPr>
          <p:cNvPr id="13" name="Image 0" descr="preencoded.png">    </p:cNvPr>
          <p:cNvPicPr>
            <a:picLocks noChangeAspect="1"/>
          </p:cNvPicPr>
          <p:nvPr/>
        </p:nvPicPr>
        <p:blipFill>
          <a:blip r:embed="rId1"/>
          <a:stretch>
            <a:fillRect/>
          </a:stretch>
        </p:blipFill>
        <p:spPr>
          <a:xfrm>
            <a:off x="1280160" y="2651760"/>
            <a:ext cx="320040" cy="320040"/>
          </a:xfrm>
          <a:prstGeom prst="rect">
            <a:avLst/>
          </a:prstGeom>
        </p:spPr>
      </p:pic>
      <p:sp>
        <p:nvSpPr>
          <p:cNvPr id="14" name="Text 10"/>
          <p:cNvSpPr txBox="1"/>
          <p:nvPr/>
        </p:nvSpPr>
        <p:spPr>
          <a:xfrm>
            <a:off x="868680" y="3227832"/>
            <a:ext cx="1463040" cy="320040"/>
          </a:xfrm>
          <a:prstGeom prst="rect">
            <a:avLst/>
          </a:prstGeom>
          <a:noFill/>
          <a:ln/>
        </p:spPr>
        <p:txBody>
          <a:bodyPr wrap="square" lIns="0" tIns="0" rIns="0" bIns="0" rtlCol="0" anchor="t"/>
          <a:lstStyle/>
          <a:p>
            <a:pPr indent="0" marL="0">
              <a:buNone/>
            </a:pPr>
            <a:r>
              <a:rPr lang="en-US" sz="850" b="1" dirty="0">
                <a:solidFill>
                  <a:srgbClr val="0B1F3A"/>
                </a:solidFill>
                <a:latin typeface="Arial" pitchFamily="34" charset="0"/>
                <a:ea typeface="Arial" pitchFamily="34" charset="-122"/>
                <a:cs typeface="Arial" pitchFamily="34" charset="-120"/>
              </a:rPr>
              <a:t>Объект информатизации</a:t>
            </a:r>
            <a:endParaRPr lang="en-US" sz="850" dirty="0"/>
          </a:p>
        </p:txBody>
      </p:sp>
      <p:sp>
        <p:nvSpPr>
          <p:cNvPr id="15" name="Shape 11"/>
          <p:cNvSpPr/>
          <p:nvPr/>
        </p:nvSpPr>
        <p:spPr>
          <a:xfrm>
            <a:off x="1874520" y="2560320"/>
            <a:ext cx="1124712" cy="0"/>
          </a:xfrm>
          <a:prstGeom prst="line">
            <a:avLst/>
          </a:prstGeom>
          <a:noFill/>
          <a:ln w="19050">
            <a:solidFill>
              <a:srgbClr val="1FB6D4"/>
            </a:solidFill>
            <a:prstDash val="solid"/>
            <a:tailEnd type="triangle"/>
          </a:ln>
        </p:spPr>
      </p:sp>
      <p:sp>
        <p:nvSpPr>
          <p:cNvPr id="16" name="Shape 12"/>
          <p:cNvSpPr/>
          <p:nvPr/>
        </p:nvSpPr>
        <p:spPr>
          <a:xfrm>
            <a:off x="1874520" y="2807208"/>
            <a:ext cx="1124712" cy="0"/>
          </a:xfrm>
          <a:prstGeom prst="line">
            <a:avLst/>
          </a:prstGeom>
          <a:noFill/>
          <a:ln w="19050">
            <a:solidFill>
              <a:srgbClr val="1FB6D4"/>
            </a:solidFill>
            <a:prstDash val="solid"/>
            <a:tailEnd type="triangle"/>
          </a:ln>
        </p:spPr>
      </p:sp>
      <p:sp>
        <p:nvSpPr>
          <p:cNvPr id="17" name="Shape 13"/>
          <p:cNvSpPr/>
          <p:nvPr/>
        </p:nvSpPr>
        <p:spPr>
          <a:xfrm>
            <a:off x="1874520" y="3054096"/>
            <a:ext cx="1124712" cy="0"/>
          </a:xfrm>
          <a:prstGeom prst="line">
            <a:avLst/>
          </a:prstGeom>
          <a:noFill/>
          <a:ln w="19050">
            <a:solidFill>
              <a:srgbClr val="1FB6D4"/>
            </a:solidFill>
            <a:prstDash val="solid"/>
            <a:tailEnd type="triangle"/>
          </a:ln>
        </p:spPr>
      </p:sp>
      <p:sp>
        <p:nvSpPr>
          <p:cNvPr id="18" name="Shape 14"/>
          <p:cNvSpPr/>
          <p:nvPr/>
        </p:nvSpPr>
        <p:spPr>
          <a:xfrm>
            <a:off x="3154680" y="2560320"/>
            <a:ext cx="320040" cy="0"/>
          </a:xfrm>
          <a:prstGeom prst="line">
            <a:avLst/>
          </a:prstGeom>
          <a:noFill/>
          <a:ln w="12700">
            <a:solidFill>
              <a:srgbClr val="C7D2DE"/>
            </a:solidFill>
            <a:prstDash val="dash"/>
          </a:ln>
        </p:spPr>
      </p:sp>
      <p:sp>
        <p:nvSpPr>
          <p:cNvPr id="19" name="Shape 15"/>
          <p:cNvSpPr/>
          <p:nvPr/>
        </p:nvSpPr>
        <p:spPr>
          <a:xfrm>
            <a:off x="3154680" y="2807208"/>
            <a:ext cx="320040" cy="0"/>
          </a:xfrm>
          <a:prstGeom prst="line">
            <a:avLst/>
          </a:prstGeom>
          <a:noFill/>
          <a:ln w="12700">
            <a:solidFill>
              <a:srgbClr val="C7D2DE"/>
            </a:solidFill>
            <a:prstDash val="dash"/>
          </a:ln>
        </p:spPr>
      </p:sp>
      <p:sp>
        <p:nvSpPr>
          <p:cNvPr id="20" name="Shape 16"/>
          <p:cNvSpPr/>
          <p:nvPr/>
        </p:nvSpPr>
        <p:spPr>
          <a:xfrm>
            <a:off x="3154680" y="3054096"/>
            <a:ext cx="320040" cy="0"/>
          </a:xfrm>
          <a:prstGeom prst="line">
            <a:avLst/>
          </a:prstGeom>
          <a:noFill/>
          <a:ln w="12700">
            <a:solidFill>
              <a:srgbClr val="C7D2DE"/>
            </a:solidFill>
            <a:prstDash val="dash"/>
          </a:ln>
        </p:spPr>
      </p:sp>
      <p:sp>
        <p:nvSpPr>
          <p:cNvPr id="21" name="Text 17"/>
          <p:cNvSpPr txBox="1"/>
          <p:nvPr/>
        </p:nvSpPr>
        <p:spPr>
          <a:xfrm>
            <a:off x="3200400" y="3154680"/>
            <a:ext cx="822960" cy="274320"/>
          </a:xfrm>
          <a:prstGeom prst="rect">
            <a:avLst/>
          </a:prstGeom>
          <a:noFill/>
          <a:ln/>
        </p:spPr>
        <p:txBody>
          <a:bodyPr wrap="square" lIns="0" tIns="0" rIns="0" bIns="0" rtlCol="0" anchor="t"/>
          <a:lstStyle/>
          <a:p>
            <a:pPr algn="l" indent="0" marL="0">
              <a:buNone/>
            </a:pPr>
            <a:r>
              <a:rPr lang="en-US" sz="800" dirty="0">
                <a:solidFill>
                  <a:srgbClr val="64748B"/>
                </a:solidFill>
                <a:latin typeface="Arial" pitchFamily="34" charset="0"/>
                <a:ea typeface="Arial" pitchFamily="34" charset="-122"/>
                <a:cs typeface="Arial" pitchFamily="34" charset="-120"/>
              </a:rPr>
              <a:t>сигнал ослаблен</a:t>
            </a:r>
            <a:endParaRPr lang="en-US" sz="800" dirty="0"/>
          </a:p>
        </p:txBody>
      </p:sp>
      <p:sp>
        <p:nvSpPr>
          <p:cNvPr id="22" name="Shape 18"/>
          <p:cNvSpPr/>
          <p:nvPr/>
        </p:nvSpPr>
        <p:spPr>
          <a:xfrm>
            <a:off x="1325880" y="3611880"/>
            <a:ext cx="0" cy="292608"/>
          </a:xfrm>
          <a:prstGeom prst="line">
            <a:avLst/>
          </a:prstGeom>
          <a:noFill/>
          <a:ln w="25400">
            <a:solidFill>
              <a:srgbClr val="2B3440"/>
            </a:solidFill>
            <a:prstDash val="solid"/>
          </a:ln>
        </p:spPr>
      </p:sp>
      <p:sp>
        <p:nvSpPr>
          <p:cNvPr id="23" name="Shape 19"/>
          <p:cNvSpPr/>
          <p:nvPr/>
        </p:nvSpPr>
        <p:spPr>
          <a:xfrm>
            <a:off x="1143000" y="3666744"/>
            <a:ext cx="365760" cy="146304"/>
          </a:xfrm>
          <a:prstGeom prst="roundRect">
            <a:avLst>
              <a:gd name="adj" fmla="val 18750"/>
            </a:avLst>
          </a:prstGeom>
          <a:solidFill>
            <a:srgbClr val="FFFFFF"/>
          </a:solidFill>
          <a:ln w="15875">
            <a:solidFill>
              <a:srgbClr val="2B3440"/>
            </a:solidFill>
            <a:prstDash val="solid"/>
          </a:ln>
        </p:spPr>
      </p:sp>
      <p:sp>
        <p:nvSpPr>
          <p:cNvPr id="24" name="Text 20"/>
          <p:cNvSpPr txBox="1"/>
          <p:nvPr/>
        </p:nvSpPr>
        <p:spPr>
          <a:xfrm>
            <a:off x="1600200" y="3639312"/>
            <a:ext cx="640080" cy="201168"/>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фильтр</a:t>
            </a:r>
            <a:endParaRPr lang="en-US" sz="800" dirty="0"/>
          </a:p>
        </p:txBody>
      </p:sp>
      <p:sp>
        <p:nvSpPr>
          <p:cNvPr id="25" name="Shape 21"/>
          <p:cNvSpPr/>
          <p:nvPr/>
        </p:nvSpPr>
        <p:spPr>
          <a:xfrm>
            <a:off x="4800600" y="2331720"/>
            <a:ext cx="548640" cy="548640"/>
          </a:xfrm>
          <a:prstGeom prst="ellipse">
            <a:avLst/>
          </a:prstGeom>
          <a:solidFill>
            <a:srgbClr val="2B3440"/>
          </a:solidFill>
          <a:ln w="12700">
            <a:solidFill>
              <a:srgbClr val="2B3440"/>
            </a:solidFill>
            <a:prstDash val="solid"/>
          </a:ln>
        </p:spPr>
      </p:sp>
      <p:pic>
        <p:nvPicPr>
          <p:cNvPr id="26" name="Image 1" descr="preencoded.png">    </p:cNvPr>
          <p:cNvPicPr>
            <a:picLocks noChangeAspect="1"/>
          </p:cNvPicPr>
          <p:nvPr/>
        </p:nvPicPr>
        <p:blipFill>
          <a:blip r:embed="rId2"/>
          <a:stretch>
            <a:fillRect/>
          </a:stretch>
        </p:blipFill>
        <p:spPr>
          <a:xfrm>
            <a:off x="4937760" y="2468880"/>
            <a:ext cx="274320" cy="274320"/>
          </a:xfrm>
          <a:prstGeom prst="rect">
            <a:avLst/>
          </a:prstGeom>
        </p:spPr>
      </p:pic>
      <p:sp>
        <p:nvSpPr>
          <p:cNvPr id="27" name="Text 22"/>
          <p:cNvSpPr txBox="1"/>
          <p:nvPr/>
        </p:nvSpPr>
        <p:spPr>
          <a:xfrm>
            <a:off x="4617720" y="2926080"/>
            <a:ext cx="914400" cy="182880"/>
          </a:xfrm>
          <a:prstGeom prst="rect">
            <a:avLst/>
          </a:prstGeom>
          <a:noFill/>
          <a:ln/>
        </p:spPr>
        <p:txBody>
          <a:bodyPr wrap="square" lIns="0" tIns="0" rIns="0" bIns="0" rtlCol="0" anchor="t"/>
          <a:lstStyle/>
          <a:p>
            <a:pPr algn="ctr" indent="0" marL="0">
              <a:buNone/>
            </a:pPr>
            <a:r>
              <a:rPr lang="en-US" sz="850" b="1" dirty="0">
                <a:solidFill>
                  <a:srgbClr val="2B3440"/>
                </a:solidFill>
                <a:latin typeface="Arial" pitchFamily="34" charset="0"/>
                <a:ea typeface="Arial" pitchFamily="34" charset="-122"/>
                <a:cs typeface="Arial" pitchFamily="34" charset="-120"/>
              </a:rPr>
              <a:t>перехват</a:t>
            </a:r>
            <a:endParaRPr lang="en-US" sz="850" dirty="0"/>
          </a:p>
        </p:txBody>
      </p:sp>
      <p:sp>
        <p:nvSpPr>
          <p:cNvPr id="28" name="Text 23"/>
          <p:cNvSpPr txBox="1"/>
          <p:nvPr/>
        </p:nvSpPr>
        <p:spPr>
          <a:xfrm>
            <a:off x="4526280" y="3108960"/>
            <a:ext cx="1097280" cy="274320"/>
          </a:xfrm>
          <a:prstGeom prst="rect">
            <a:avLst/>
          </a:prstGeom>
          <a:noFill/>
          <a:ln/>
        </p:spPr>
        <p:txBody>
          <a:bodyPr wrap="square" lIns="0" tIns="0" rIns="0" bIns="0" rtlCol="0" anchor="t"/>
          <a:lstStyle/>
          <a:p>
            <a:pPr algn="ctr" indent="0" marL="0">
              <a:buNone/>
            </a:pPr>
            <a:r>
              <a:rPr lang="en-US" sz="800" dirty="0">
                <a:solidFill>
                  <a:srgbClr val="64748B"/>
                </a:solidFill>
                <a:latin typeface="Arial" pitchFamily="34" charset="0"/>
                <a:ea typeface="Arial" pitchFamily="34" charset="-122"/>
                <a:cs typeface="Arial" pitchFamily="34" charset="-120"/>
              </a:rPr>
              <a:t>сигнал ниже шума</a:t>
            </a:r>
            <a:endParaRPr lang="en-US" sz="800" dirty="0"/>
          </a:p>
        </p:txBody>
      </p:sp>
      <p:sp>
        <p:nvSpPr>
          <p:cNvPr id="29" name="Shape 24"/>
          <p:cNvSpPr/>
          <p:nvPr/>
        </p:nvSpPr>
        <p:spPr>
          <a:xfrm>
            <a:off x="4480560" y="2395728"/>
            <a:ext cx="219456" cy="219456"/>
          </a:xfrm>
          <a:prstGeom prst="ellipse">
            <a:avLst/>
          </a:prstGeom>
          <a:solidFill>
            <a:srgbClr val="FFFFFF"/>
          </a:solidFill>
          <a:ln w="15875">
            <a:solidFill>
              <a:srgbClr val="2B3440"/>
            </a:solidFill>
            <a:prstDash val="solid"/>
          </a:ln>
        </p:spPr>
      </p:sp>
      <p:sp>
        <p:nvSpPr>
          <p:cNvPr id="30" name="Text 25"/>
          <p:cNvSpPr txBox="1"/>
          <p:nvPr/>
        </p:nvSpPr>
        <p:spPr>
          <a:xfrm>
            <a:off x="4480560" y="2395728"/>
            <a:ext cx="219456" cy="219456"/>
          </a:xfrm>
          <a:prstGeom prst="rect">
            <a:avLst/>
          </a:prstGeom>
          <a:noFill/>
          <a:ln/>
        </p:spPr>
        <p:txBody>
          <a:bodyPr wrap="square" lIns="0" tIns="0" rIns="0" bIns="0" rtlCol="0" anchor="ctr"/>
          <a:lstStyle/>
          <a:p>
            <a:pPr algn="ctr" indent="0" marL="0">
              <a:buNone/>
            </a:pPr>
            <a:r>
              <a:rPr lang="en-US" sz="900" b="1" dirty="0">
                <a:solidFill>
                  <a:srgbClr val="2B3440"/>
                </a:solidFill>
                <a:latin typeface="Arial" pitchFamily="34" charset="0"/>
                <a:ea typeface="Arial" pitchFamily="34" charset="-122"/>
                <a:cs typeface="Arial" pitchFamily="34" charset="-120"/>
              </a:rPr>
              <a:t>✕</a:t>
            </a:r>
            <a:endParaRPr lang="en-US" sz="900" dirty="0"/>
          </a:p>
        </p:txBody>
      </p:sp>
      <p:sp>
        <p:nvSpPr>
          <p:cNvPr id="31" name="Shape 26"/>
          <p:cNvSpPr/>
          <p:nvPr/>
        </p:nvSpPr>
        <p:spPr>
          <a:xfrm>
            <a:off x="5943600" y="1280160"/>
            <a:ext cx="2743200" cy="484632"/>
          </a:xfrm>
          <a:prstGeom prst="roundRect">
            <a:avLst>
              <a:gd name="adj" fmla="val 1509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2" name="Shape 27"/>
          <p:cNvSpPr/>
          <p:nvPr/>
        </p:nvSpPr>
        <p:spPr>
          <a:xfrm>
            <a:off x="6089904" y="1367028"/>
            <a:ext cx="310896" cy="310896"/>
          </a:xfrm>
          <a:prstGeom prst="ellipse">
            <a:avLst/>
          </a:prstGeom>
          <a:solidFill>
            <a:srgbClr val="0B1F3A"/>
          </a:solidFill>
          <a:ln w="12700">
            <a:solidFill>
              <a:srgbClr val="0B1F3A"/>
            </a:solidFill>
            <a:prstDash val="solid"/>
          </a:ln>
        </p:spPr>
      </p:sp>
      <p:pic>
        <p:nvPicPr>
          <p:cNvPr id="33" name="Image 2" descr="preencoded.png">    </p:cNvPr>
          <p:cNvPicPr>
            <a:picLocks noChangeAspect="1"/>
          </p:cNvPicPr>
          <p:nvPr/>
        </p:nvPicPr>
        <p:blipFill>
          <a:blip r:embed="rId3"/>
          <a:stretch>
            <a:fillRect/>
          </a:stretch>
        </p:blipFill>
        <p:spPr>
          <a:xfrm>
            <a:off x="6167628" y="1444752"/>
            <a:ext cx="155448" cy="155448"/>
          </a:xfrm>
          <a:prstGeom prst="rect">
            <a:avLst/>
          </a:prstGeom>
        </p:spPr>
      </p:pic>
      <p:sp>
        <p:nvSpPr>
          <p:cNvPr id="34" name="Text 28"/>
          <p:cNvSpPr txBox="1"/>
          <p:nvPr/>
        </p:nvSpPr>
        <p:spPr>
          <a:xfrm>
            <a:off x="6537960" y="1280160"/>
            <a:ext cx="2103120" cy="484632"/>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Экранированные помещения</a:t>
            </a:r>
            <a:endParaRPr lang="en-US" sz="1050" dirty="0"/>
          </a:p>
        </p:txBody>
      </p:sp>
      <p:sp>
        <p:nvSpPr>
          <p:cNvPr id="35" name="Shape 29"/>
          <p:cNvSpPr/>
          <p:nvPr/>
        </p:nvSpPr>
        <p:spPr>
          <a:xfrm>
            <a:off x="5943600" y="1847088"/>
            <a:ext cx="2743200" cy="484632"/>
          </a:xfrm>
          <a:prstGeom prst="roundRect">
            <a:avLst>
              <a:gd name="adj" fmla="val 1509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36" name="Shape 30"/>
          <p:cNvSpPr/>
          <p:nvPr/>
        </p:nvSpPr>
        <p:spPr>
          <a:xfrm>
            <a:off x="6089904" y="1933956"/>
            <a:ext cx="310896" cy="310896"/>
          </a:xfrm>
          <a:prstGeom prst="ellipse">
            <a:avLst/>
          </a:prstGeom>
          <a:solidFill>
            <a:srgbClr val="0B1F3A"/>
          </a:solidFill>
          <a:ln w="12700">
            <a:solidFill>
              <a:srgbClr val="0B1F3A"/>
            </a:solidFill>
            <a:prstDash val="solid"/>
          </a:ln>
        </p:spPr>
      </p:sp>
      <p:pic>
        <p:nvPicPr>
          <p:cNvPr id="37" name="Image 3" descr="preencoded.png">    </p:cNvPr>
          <p:cNvPicPr>
            <a:picLocks noChangeAspect="1"/>
          </p:cNvPicPr>
          <p:nvPr/>
        </p:nvPicPr>
        <p:blipFill>
          <a:blip r:embed="rId4"/>
          <a:stretch>
            <a:fillRect/>
          </a:stretch>
        </p:blipFill>
        <p:spPr>
          <a:xfrm>
            <a:off x="6167628" y="2011680"/>
            <a:ext cx="155448" cy="155448"/>
          </a:xfrm>
          <a:prstGeom prst="rect">
            <a:avLst/>
          </a:prstGeom>
        </p:spPr>
      </p:pic>
      <p:sp>
        <p:nvSpPr>
          <p:cNvPr id="38" name="Text 31"/>
          <p:cNvSpPr txBox="1"/>
          <p:nvPr/>
        </p:nvSpPr>
        <p:spPr>
          <a:xfrm>
            <a:off x="6537960" y="1847088"/>
            <a:ext cx="2103120" cy="484632"/>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Экранированные кабели</a:t>
            </a:r>
            <a:endParaRPr lang="en-US" sz="1050" dirty="0"/>
          </a:p>
        </p:txBody>
      </p:sp>
      <p:sp>
        <p:nvSpPr>
          <p:cNvPr id="39" name="Shape 32"/>
          <p:cNvSpPr/>
          <p:nvPr/>
        </p:nvSpPr>
        <p:spPr>
          <a:xfrm>
            <a:off x="5943600" y="2414016"/>
            <a:ext cx="2743200" cy="484632"/>
          </a:xfrm>
          <a:prstGeom prst="roundRect">
            <a:avLst>
              <a:gd name="adj" fmla="val 1509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0" name="Shape 33"/>
          <p:cNvSpPr/>
          <p:nvPr/>
        </p:nvSpPr>
        <p:spPr>
          <a:xfrm>
            <a:off x="6089904" y="2500884"/>
            <a:ext cx="310896" cy="310896"/>
          </a:xfrm>
          <a:prstGeom prst="ellipse">
            <a:avLst/>
          </a:prstGeom>
          <a:solidFill>
            <a:srgbClr val="0B1F3A"/>
          </a:solidFill>
          <a:ln w="12700">
            <a:solidFill>
              <a:srgbClr val="0B1F3A"/>
            </a:solidFill>
            <a:prstDash val="solid"/>
          </a:ln>
        </p:spPr>
      </p:sp>
      <p:pic>
        <p:nvPicPr>
          <p:cNvPr id="41" name="Image 4" descr="preencoded.png">    </p:cNvPr>
          <p:cNvPicPr>
            <a:picLocks noChangeAspect="1"/>
          </p:cNvPicPr>
          <p:nvPr/>
        </p:nvPicPr>
        <p:blipFill>
          <a:blip r:embed="rId5"/>
          <a:stretch>
            <a:fillRect/>
          </a:stretch>
        </p:blipFill>
        <p:spPr>
          <a:xfrm>
            <a:off x="6167628" y="2578608"/>
            <a:ext cx="155448" cy="155448"/>
          </a:xfrm>
          <a:prstGeom prst="rect">
            <a:avLst/>
          </a:prstGeom>
        </p:spPr>
      </p:pic>
      <p:sp>
        <p:nvSpPr>
          <p:cNvPr id="42" name="Text 34"/>
          <p:cNvSpPr txBox="1"/>
          <p:nvPr/>
        </p:nvSpPr>
        <p:spPr>
          <a:xfrm>
            <a:off x="6537960" y="2414016"/>
            <a:ext cx="2103120" cy="484632"/>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Металлические корпуса</a:t>
            </a:r>
            <a:endParaRPr lang="en-US" sz="1050" dirty="0"/>
          </a:p>
        </p:txBody>
      </p:sp>
      <p:sp>
        <p:nvSpPr>
          <p:cNvPr id="43" name="Shape 35"/>
          <p:cNvSpPr/>
          <p:nvPr/>
        </p:nvSpPr>
        <p:spPr>
          <a:xfrm>
            <a:off x="5943600" y="2980944"/>
            <a:ext cx="2743200" cy="484632"/>
          </a:xfrm>
          <a:prstGeom prst="roundRect">
            <a:avLst>
              <a:gd name="adj" fmla="val 1509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4" name="Shape 36"/>
          <p:cNvSpPr/>
          <p:nvPr/>
        </p:nvSpPr>
        <p:spPr>
          <a:xfrm>
            <a:off x="6089904" y="3067812"/>
            <a:ext cx="310896" cy="310896"/>
          </a:xfrm>
          <a:prstGeom prst="ellipse">
            <a:avLst/>
          </a:prstGeom>
          <a:solidFill>
            <a:srgbClr val="0B1F3A"/>
          </a:solidFill>
          <a:ln w="12700">
            <a:solidFill>
              <a:srgbClr val="0B1F3A"/>
            </a:solidFill>
            <a:prstDash val="solid"/>
          </a:ln>
        </p:spPr>
      </p:sp>
      <p:pic>
        <p:nvPicPr>
          <p:cNvPr id="45" name="Image 5" descr="preencoded.png">    </p:cNvPr>
          <p:cNvPicPr>
            <a:picLocks noChangeAspect="1"/>
          </p:cNvPicPr>
          <p:nvPr/>
        </p:nvPicPr>
        <p:blipFill>
          <a:blip r:embed="rId6"/>
          <a:stretch>
            <a:fillRect/>
          </a:stretch>
        </p:blipFill>
        <p:spPr>
          <a:xfrm>
            <a:off x="6167628" y="3145536"/>
            <a:ext cx="155448" cy="155448"/>
          </a:xfrm>
          <a:prstGeom prst="rect">
            <a:avLst/>
          </a:prstGeom>
        </p:spPr>
      </p:pic>
      <p:sp>
        <p:nvSpPr>
          <p:cNvPr id="46" name="Text 37"/>
          <p:cNvSpPr txBox="1"/>
          <p:nvPr/>
        </p:nvSpPr>
        <p:spPr>
          <a:xfrm>
            <a:off x="6537960" y="2980944"/>
            <a:ext cx="2103120" cy="484632"/>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Серверные шкафы</a:t>
            </a:r>
            <a:endParaRPr lang="en-US" sz="1050" dirty="0"/>
          </a:p>
        </p:txBody>
      </p:sp>
      <p:sp>
        <p:nvSpPr>
          <p:cNvPr id="47" name="Shape 38"/>
          <p:cNvSpPr/>
          <p:nvPr/>
        </p:nvSpPr>
        <p:spPr>
          <a:xfrm>
            <a:off x="5943600" y="3547872"/>
            <a:ext cx="2743200" cy="484632"/>
          </a:xfrm>
          <a:prstGeom prst="roundRect">
            <a:avLst>
              <a:gd name="adj" fmla="val 15094"/>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sp>
        <p:nvSpPr>
          <p:cNvPr id="48" name="Shape 39"/>
          <p:cNvSpPr/>
          <p:nvPr/>
        </p:nvSpPr>
        <p:spPr>
          <a:xfrm>
            <a:off x="6089904" y="3634740"/>
            <a:ext cx="310896" cy="310896"/>
          </a:xfrm>
          <a:prstGeom prst="ellipse">
            <a:avLst/>
          </a:prstGeom>
          <a:solidFill>
            <a:srgbClr val="0E9AA7"/>
          </a:solidFill>
          <a:ln w="12700">
            <a:solidFill>
              <a:srgbClr val="0E9AA7"/>
            </a:solidFill>
            <a:prstDash val="solid"/>
          </a:ln>
        </p:spPr>
      </p:sp>
      <p:pic>
        <p:nvPicPr>
          <p:cNvPr id="49" name="Image 6" descr="preencoded.png">    </p:cNvPr>
          <p:cNvPicPr>
            <a:picLocks noChangeAspect="1"/>
          </p:cNvPicPr>
          <p:nvPr/>
        </p:nvPicPr>
        <p:blipFill>
          <a:blip r:embed="rId7"/>
          <a:stretch>
            <a:fillRect/>
          </a:stretch>
        </p:blipFill>
        <p:spPr>
          <a:xfrm>
            <a:off x="6167628" y="3712464"/>
            <a:ext cx="155448" cy="155448"/>
          </a:xfrm>
          <a:prstGeom prst="rect">
            <a:avLst/>
          </a:prstGeom>
        </p:spPr>
      </p:pic>
      <p:sp>
        <p:nvSpPr>
          <p:cNvPr id="50" name="Text 40"/>
          <p:cNvSpPr txBox="1"/>
          <p:nvPr/>
        </p:nvSpPr>
        <p:spPr>
          <a:xfrm>
            <a:off x="6537960" y="3547872"/>
            <a:ext cx="2103120" cy="484632"/>
          </a:xfrm>
          <a:prstGeom prst="rect">
            <a:avLst/>
          </a:prstGeom>
          <a:noFill/>
          <a:ln/>
        </p:spPr>
        <p:txBody>
          <a:bodyPr wrap="square" lIns="0" tIns="0" rIns="0" bIns="0" rtlCol="0" anchor="ctr"/>
          <a:lstStyle/>
          <a:p>
            <a:pPr indent="0" marL="0">
              <a:buNone/>
            </a:pPr>
            <a:r>
              <a:rPr lang="en-US" sz="1050" b="1" dirty="0">
                <a:solidFill>
                  <a:srgbClr val="0B1F3A"/>
                </a:solidFill>
                <a:latin typeface="Arial" pitchFamily="34" charset="0"/>
                <a:ea typeface="Arial" pitchFamily="34" charset="-122"/>
                <a:cs typeface="Arial" pitchFamily="34" charset="-120"/>
              </a:rPr>
              <a:t>Фильтрация и заземление</a:t>
            </a:r>
            <a:endParaRPr lang="en-US" sz="1050" dirty="0"/>
          </a:p>
        </p:txBody>
      </p:sp>
      <p:sp>
        <p:nvSpPr>
          <p:cNvPr id="51" name="Shape 41"/>
          <p:cNvSpPr/>
          <p:nvPr/>
        </p:nvSpPr>
        <p:spPr>
          <a:xfrm>
            <a:off x="457200" y="4206240"/>
            <a:ext cx="8229600" cy="457200"/>
          </a:xfrm>
          <a:prstGeom prst="roundRect">
            <a:avLst>
              <a:gd name="adj" fmla="val 16000"/>
            </a:avLst>
          </a:prstGeom>
          <a:solidFill>
            <a:srgbClr val="0B1F3A"/>
          </a:solidFill>
          <a:ln w="12700">
            <a:solidFill>
              <a:srgbClr val="0B1F3A"/>
            </a:solidFill>
            <a:prstDash val="solid"/>
          </a:ln>
        </p:spPr>
      </p:sp>
      <p:sp>
        <p:nvSpPr>
          <p:cNvPr id="52" name="Text 42"/>
          <p:cNvSpPr txBox="1"/>
          <p:nvPr/>
        </p:nvSpPr>
        <p:spPr>
          <a:xfrm>
            <a:off x="685800" y="4206240"/>
            <a:ext cx="7863840" cy="457200"/>
          </a:xfrm>
          <a:prstGeom prst="rect">
            <a:avLst/>
          </a:prstGeom>
          <a:noFill/>
          <a:ln/>
        </p:spPr>
        <p:txBody>
          <a:bodyPr wrap="square" lIns="0" tIns="0" rIns="0" bIns="0" rtlCol="0" anchor="ctr"/>
          <a:lstStyle/>
          <a:p>
            <a:pPr indent="0" marL="0">
              <a:buNone/>
            </a:pPr>
            <a:r>
              <a:rPr lang="en-US" sz="1200" b="1" dirty="0">
                <a:solidFill>
                  <a:srgbClr val="1FB6D4"/>
                </a:solidFill>
                <a:latin typeface="Arial" pitchFamily="34" charset="0"/>
                <a:ea typeface="Arial" pitchFamily="34" charset="-122"/>
                <a:cs typeface="Arial" pitchFamily="34" charset="-120"/>
              </a:rPr>
              <a:t>Задача: </a:t>
            </a:r>
            <a:pPr indent="0" marL="0">
              <a:buNone/>
            </a:pPr>
            <a:r>
              <a:rPr lang="en-US" sz="1200" dirty="0">
                <a:solidFill>
                  <a:srgbClr val="FFFFFF"/>
                </a:solidFill>
                <a:latin typeface="Arial" pitchFamily="34" charset="0"/>
                <a:ea typeface="Arial" pitchFamily="34" charset="-122"/>
                <a:cs typeface="Arial" pitchFamily="34" charset="-120"/>
              </a:rPr>
              <a:t>уменьшить возможность выхода информативного сигнала за контролируемую зону</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0E9AA7"/>
                </a:solidFill>
                <a:latin typeface="Arial" pitchFamily="34" charset="0"/>
                <a:ea typeface="Arial" pitchFamily="34" charset="-122"/>
                <a:cs typeface="Arial" pitchFamily="34" charset="-120"/>
              </a:rPr>
              <a:t>ПРАКТИКА</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0B1F3A"/>
                </a:solidFill>
                <a:latin typeface="Arial" pitchFamily="34" charset="0"/>
                <a:ea typeface="Arial" pitchFamily="34" charset="-122"/>
                <a:cs typeface="Arial" pitchFamily="34" charset="-120"/>
              </a:rPr>
              <a:t>Практические примеры</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64748B"/>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64748B"/>
                </a:solidFill>
                <a:latin typeface="Arial" pitchFamily="34" charset="0"/>
                <a:ea typeface="Arial" pitchFamily="34" charset="-122"/>
                <a:cs typeface="Arial" pitchFamily="34" charset="-120"/>
              </a:rPr>
              <a:t>10</a:t>
            </a:r>
            <a:endParaRPr lang="en-US" sz="800" dirty="0"/>
          </a:p>
        </p:txBody>
      </p:sp>
      <p:sp>
        <p:nvSpPr>
          <p:cNvPr id="7" name="Shape 4"/>
          <p:cNvSpPr/>
          <p:nvPr/>
        </p:nvSpPr>
        <p:spPr>
          <a:xfrm>
            <a:off x="457200" y="1280160"/>
            <a:ext cx="1920240" cy="2880360"/>
          </a:xfrm>
          <a:prstGeom prst="roundRect">
            <a:avLst>
              <a:gd name="adj" fmla="val 381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pic>
        <p:nvPicPr>
          <p:cNvPr id="8" name="Image 0" descr="preencoded.png">    </p:cNvPr>
          <p:cNvPicPr>
            <a:picLocks noChangeAspect="1"/>
          </p:cNvPicPr>
          <p:nvPr/>
        </p:nvPicPr>
        <p:blipFill>
          <a:blip r:embed="rId1"/>
          <a:stretch>
            <a:fillRect/>
          </a:stretch>
        </p:blipFill>
        <p:spPr>
          <a:xfrm>
            <a:off x="548640" y="1371600"/>
            <a:ext cx="1737360" cy="1371239"/>
          </a:xfrm>
          <a:prstGeom prst="rect">
            <a:avLst/>
          </a:prstGeom>
        </p:spPr>
      </p:pic>
      <p:sp>
        <p:nvSpPr>
          <p:cNvPr id="9" name="Shape 5"/>
          <p:cNvSpPr/>
          <p:nvPr/>
        </p:nvSpPr>
        <p:spPr>
          <a:xfrm>
            <a:off x="621792" y="1444752"/>
            <a:ext cx="274320" cy="274320"/>
          </a:xfrm>
          <a:prstGeom prst="ellipse">
            <a:avLst/>
          </a:prstGeom>
          <a:solidFill>
            <a:srgbClr val="0B1F3A"/>
          </a:solidFill>
          <a:ln w="12700">
            <a:solidFill>
              <a:srgbClr val="FFFFFF"/>
            </a:solidFill>
            <a:prstDash val="solid"/>
          </a:ln>
        </p:spPr>
      </p:sp>
      <p:sp>
        <p:nvSpPr>
          <p:cNvPr id="10" name="Text 6"/>
          <p:cNvSpPr txBox="1"/>
          <p:nvPr/>
        </p:nvSpPr>
        <p:spPr>
          <a:xfrm>
            <a:off x="62179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7"/>
          <p:cNvSpPr txBox="1"/>
          <p:nvPr/>
        </p:nvSpPr>
        <p:spPr>
          <a:xfrm>
            <a:off x="594360" y="2880360"/>
            <a:ext cx="1645920" cy="4572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Экранированный кабель</a:t>
            </a:r>
            <a:endParaRPr lang="en-US" sz="1200" dirty="0"/>
          </a:p>
        </p:txBody>
      </p:sp>
      <p:sp>
        <p:nvSpPr>
          <p:cNvPr id="12" name="Text 8"/>
          <p:cNvSpPr txBox="1"/>
          <p:nvPr/>
        </p:nvSpPr>
        <p:spPr>
          <a:xfrm>
            <a:off x="594360" y="3337560"/>
            <a:ext cx="1645920" cy="77724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Оплётка и фольга снижают излучение и наводки.</a:t>
            </a:r>
            <a:endParaRPr lang="en-US" sz="1000" dirty="0"/>
          </a:p>
        </p:txBody>
      </p:sp>
      <p:sp>
        <p:nvSpPr>
          <p:cNvPr id="13" name="Shape 9"/>
          <p:cNvSpPr/>
          <p:nvPr/>
        </p:nvSpPr>
        <p:spPr>
          <a:xfrm>
            <a:off x="2560320" y="1280160"/>
            <a:ext cx="1920240" cy="2880360"/>
          </a:xfrm>
          <a:prstGeom prst="roundRect">
            <a:avLst>
              <a:gd name="adj" fmla="val 381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pic>
        <p:nvPicPr>
          <p:cNvPr id="14" name="Image 1" descr="preencoded.png">    </p:cNvPr>
          <p:cNvPicPr>
            <a:picLocks noChangeAspect="1"/>
          </p:cNvPicPr>
          <p:nvPr/>
        </p:nvPicPr>
        <p:blipFill>
          <a:blip r:embed="rId2"/>
          <a:stretch>
            <a:fillRect/>
          </a:stretch>
        </p:blipFill>
        <p:spPr>
          <a:xfrm>
            <a:off x="2651760" y="1371600"/>
            <a:ext cx="1737360" cy="1371239"/>
          </a:xfrm>
          <a:prstGeom prst="rect">
            <a:avLst/>
          </a:prstGeom>
        </p:spPr>
      </p:pic>
      <p:sp>
        <p:nvSpPr>
          <p:cNvPr id="15" name="Shape 10"/>
          <p:cNvSpPr/>
          <p:nvPr/>
        </p:nvSpPr>
        <p:spPr>
          <a:xfrm>
            <a:off x="2724912" y="1444752"/>
            <a:ext cx="274320" cy="274320"/>
          </a:xfrm>
          <a:prstGeom prst="ellipse">
            <a:avLst/>
          </a:prstGeom>
          <a:solidFill>
            <a:srgbClr val="0B1F3A"/>
          </a:solidFill>
          <a:ln w="12700">
            <a:solidFill>
              <a:srgbClr val="FFFFFF"/>
            </a:solidFill>
            <a:prstDash val="solid"/>
          </a:ln>
        </p:spPr>
      </p:sp>
      <p:sp>
        <p:nvSpPr>
          <p:cNvPr id="16" name="Text 11"/>
          <p:cNvSpPr txBox="1"/>
          <p:nvPr/>
        </p:nvSpPr>
        <p:spPr>
          <a:xfrm>
            <a:off x="272491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Text 12"/>
          <p:cNvSpPr txBox="1"/>
          <p:nvPr/>
        </p:nvSpPr>
        <p:spPr>
          <a:xfrm>
            <a:off x="2697480" y="2880360"/>
            <a:ext cx="1645920" cy="4572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Металлический корпус</a:t>
            </a:r>
            <a:endParaRPr lang="en-US" sz="1200" dirty="0"/>
          </a:p>
        </p:txBody>
      </p:sp>
      <p:sp>
        <p:nvSpPr>
          <p:cNvPr id="18" name="Text 13"/>
          <p:cNvSpPr txBox="1"/>
          <p:nvPr/>
        </p:nvSpPr>
        <p:spPr>
          <a:xfrm>
            <a:off x="2697480" y="3337560"/>
            <a:ext cx="1645920" cy="77724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Корпус ослабляет поля платы; важны швы и заземление.</a:t>
            </a:r>
            <a:endParaRPr lang="en-US" sz="1000" dirty="0"/>
          </a:p>
        </p:txBody>
      </p:sp>
      <p:sp>
        <p:nvSpPr>
          <p:cNvPr id="19" name="Shape 14"/>
          <p:cNvSpPr/>
          <p:nvPr/>
        </p:nvSpPr>
        <p:spPr>
          <a:xfrm>
            <a:off x="4663440" y="1280160"/>
            <a:ext cx="1920240" cy="2880360"/>
          </a:xfrm>
          <a:prstGeom prst="roundRect">
            <a:avLst>
              <a:gd name="adj" fmla="val 381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pic>
        <p:nvPicPr>
          <p:cNvPr id="20" name="Image 2" descr="preencoded.png">    </p:cNvPr>
          <p:cNvPicPr>
            <a:picLocks noChangeAspect="1"/>
          </p:cNvPicPr>
          <p:nvPr/>
        </p:nvPicPr>
        <p:blipFill>
          <a:blip r:embed="rId3"/>
          <a:stretch>
            <a:fillRect/>
          </a:stretch>
        </p:blipFill>
        <p:spPr>
          <a:xfrm>
            <a:off x="4754880" y="1371600"/>
            <a:ext cx="1737360" cy="1371239"/>
          </a:xfrm>
          <a:prstGeom prst="rect">
            <a:avLst/>
          </a:prstGeom>
        </p:spPr>
      </p:pic>
      <p:sp>
        <p:nvSpPr>
          <p:cNvPr id="21" name="Shape 15"/>
          <p:cNvSpPr/>
          <p:nvPr/>
        </p:nvSpPr>
        <p:spPr>
          <a:xfrm>
            <a:off x="4828032" y="1444752"/>
            <a:ext cx="274320" cy="274320"/>
          </a:xfrm>
          <a:prstGeom prst="ellipse">
            <a:avLst/>
          </a:prstGeom>
          <a:solidFill>
            <a:srgbClr val="0B1F3A"/>
          </a:solidFill>
          <a:ln w="12700">
            <a:solidFill>
              <a:srgbClr val="FFFFFF"/>
            </a:solidFill>
            <a:prstDash val="solid"/>
          </a:ln>
        </p:spPr>
      </p:sp>
      <p:sp>
        <p:nvSpPr>
          <p:cNvPr id="22" name="Text 16"/>
          <p:cNvSpPr txBox="1"/>
          <p:nvPr/>
        </p:nvSpPr>
        <p:spPr>
          <a:xfrm>
            <a:off x="482803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3" name="Text 17"/>
          <p:cNvSpPr txBox="1"/>
          <p:nvPr/>
        </p:nvSpPr>
        <p:spPr>
          <a:xfrm>
            <a:off x="4800600" y="2880360"/>
            <a:ext cx="1645920" cy="4572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Экранированное помещение</a:t>
            </a:r>
            <a:endParaRPr lang="en-US" sz="1200" dirty="0"/>
          </a:p>
        </p:txBody>
      </p:sp>
      <p:sp>
        <p:nvSpPr>
          <p:cNvPr id="24" name="Text 18"/>
          <p:cNvSpPr txBox="1"/>
          <p:nvPr/>
        </p:nvSpPr>
        <p:spPr>
          <a:xfrm>
            <a:off x="4800600" y="3337560"/>
            <a:ext cx="1645920" cy="77724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Металлические стены и двери с контактными прокладками.</a:t>
            </a:r>
            <a:endParaRPr lang="en-US" sz="1000" dirty="0"/>
          </a:p>
        </p:txBody>
      </p:sp>
      <p:sp>
        <p:nvSpPr>
          <p:cNvPr id="25" name="Shape 19"/>
          <p:cNvSpPr/>
          <p:nvPr/>
        </p:nvSpPr>
        <p:spPr>
          <a:xfrm>
            <a:off x="6766560" y="1280160"/>
            <a:ext cx="1920240" cy="2880360"/>
          </a:xfrm>
          <a:prstGeom prst="roundRect">
            <a:avLst>
              <a:gd name="adj" fmla="val 3810"/>
            </a:avLst>
          </a:prstGeom>
          <a:solidFill>
            <a:srgbClr val="FFFFFF"/>
          </a:solidFill>
          <a:ln w="9525">
            <a:solidFill>
              <a:srgbClr val="DDE5EC"/>
            </a:solidFill>
            <a:prstDash val="solid"/>
          </a:ln>
          <a:effectLst>
            <a:outerShdw sx="100000" sy="100000" kx="0" ky="0" algn="bl" rotWithShape="0" blurRad="101600" dist="25400" dir="5400000">
              <a:srgbClr val="0B1F3A">
                <a:alpha val="10000"/>
              </a:srgbClr>
            </a:outerShdw>
          </a:effectLst>
        </p:spPr>
      </p:sp>
      <p:pic>
        <p:nvPicPr>
          <p:cNvPr id="26" name="Image 3" descr="preencoded.png">    </p:cNvPr>
          <p:cNvPicPr>
            <a:picLocks noChangeAspect="1"/>
          </p:cNvPicPr>
          <p:nvPr/>
        </p:nvPicPr>
        <p:blipFill>
          <a:blip r:embed="rId4"/>
          <a:stretch>
            <a:fillRect/>
          </a:stretch>
        </p:blipFill>
        <p:spPr>
          <a:xfrm>
            <a:off x="6858000" y="1371600"/>
            <a:ext cx="1737360" cy="1371239"/>
          </a:xfrm>
          <a:prstGeom prst="rect">
            <a:avLst/>
          </a:prstGeom>
        </p:spPr>
      </p:pic>
      <p:sp>
        <p:nvSpPr>
          <p:cNvPr id="27" name="Shape 20"/>
          <p:cNvSpPr/>
          <p:nvPr/>
        </p:nvSpPr>
        <p:spPr>
          <a:xfrm>
            <a:off x="6931152" y="1444752"/>
            <a:ext cx="274320" cy="274320"/>
          </a:xfrm>
          <a:prstGeom prst="ellipse">
            <a:avLst/>
          </a:prstGeom>
          <a:solidFill>
            <a:srgbClr val="0B1F3A"/>
          </a:solidFill>
          <a:ln w="12700">
            <a:solidFill>
              <a:srgbClr val="FFFFFF"/>
            </a:solidFill>
            <a:prstDash val="solid"/>
          </a:ln>
        </p:spPr>
      </p:sp>
      <p:sp>
        <p:nvSpPr>
          <p:cNvPr id="28" name="Text 21"/>
          <p:cNvSpPr txBox="1"/>
          <p:nvPr/>
        </p:nvSpPr>
        <p:spPr>
          <a:xfrm>
            <a:off x="693115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9" name="Text 22"/>
          <p:cNvSpPr txBox="1"/>
          <p:nvPr/>
        </p:nvSpPr>
        <p:spPr>
          <a:xfrm>
            <a:off x="6903720" y="2880360"/>
            <a:ext cx="1645920" cy="45720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Серверный шкаф</a:t>
            </a:r>
            <a:endParaRPr lang="en-US" sz="1200" dirty="0"/>
          </a:p>
        </p:txBody>
      </p:sp>
      <p:sp>
        <p:nvSpPr>
          <p:cNvPr id="30" name="Text 23"/>
          <p:cNvSpPr txBox="1"/>
          <p:nvPr/>
        </p:nvSpPr>
        <p:spPr>
          <a:xfrm>
            <a:off x="6903720" y="3337560"/>
            <a:ext cx="1645920" cy="777240"/>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Замкнутая конструкция с мелкой перфорацией.</a:t>
            </a:r>
            <a:endParaRPr lang="en-US" sz="1000" dirty="0"/>
          </a:p>
        </p:txBody>
      </p:sp>
      <p:sp>
        <p:nvSpPr>
          <p:cNvPr id="31" name="Shape 24"/>
          <p:cNvSpPr/>
          <p:nvPr/>
        </p:nvSpPr>
        <p:spPr>
          <a:xfrm>
            <a:off x="457200" y="4297680"/>
            <a:ext cx="8229600" cy="384048"/>
          </a:xfrm>
          <a:prstGeom prst="roundRect">
            <a:avLst>
              <a:gd name="adj" fmla="val 19048"/>
            </a:avLst>
          </a:prstGeom>
          <a:solidFill>
            <a:srgbClr val="0B1F3A"/>
          </a:solidFill>
          <a:ln w="12700">
            <a:solidFill>
              <a:srgbClr val="0B1F3A"/>
            </a:solidFill>
            <a:prstDash val="solid"/>
          </a:ln>
        </p:spPr>
      </p:sp>
      <p:sp>
        <p:nvSpPr>
          <p:cNvPr id="32" name="Text 25"/>
          <p:cNvSpPr txBox="1"/>
          <p:nvPr/>
        </p:nvSpPr>
        <p:spPr>
          <a:xfrm>
            <a:off x="685800" y="4297680"/>
            <a:ext cx="7863840" cy="384048"/>
          </a:xfrm>
          <a:prstGeom prst="rect">
            <a:avLst/>
          </a:prstGeom>
          <a:noFill/>
          <a:ln/>
        </p:spPr>
        <p:txBody>
          <a:bodyPr wrap="square" lIns="0" tIns="0" rIns="0" bIns="0" rtlCol="0" anchor="ctr"/>
          <a:lstStyle/>
          <a:p>
            <a:pPr indent="0" marL="0">
              <a:buNone/>
            </a:pPr>
            <a:r>
              <a:rPr lang="en-US" sz="1200" b="1" dirty="0">
                <a:solidFill>
                  <a:srgbClr val="1FB6D4"/>
                </a:solidFill>
                <a:latin typeface="Arial" pitchFamily="34" charset="0"/>
                <a:ea typeface="Arial" pitchFamily="34" charset="-122"/>
                <a:cs typeface="Arial" pitchFamily="34" charset="-120"/>
              </a:rPr>
              <a:t>Общий принцип: </a:t>
            </a:r>
            <a:pPr indent="0" marL="0">
              <a:buNone/>
            </a:pPr>
            <a:r>
              <a:rPr lang="en-US" sz="1200" dirty="0">
                <a:solidFill>
                  <a:srgbClr val="FFFFFF"/>
                </a:solidFill>
                <a:latin typeface="Arial" pitchFamily="34" charset="0"/>
                <a:ea typeface="Arial" pitchFamily="34" charset="-122"/>
                <a:cs typeface="Arial" pitchFamily="34" charset="-120"/>
              </a:rPr>
              <a:t>замкнутая проводящая оболочка + контроль отверстий, швов и вводов</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329184"/>
            <a:ext cx="5486400" cy="201168"/>
          </a:xfrm>
          <a:prstGeom prst="rect">
            <a:avLst/>
          </a:prstGeom>
          <a:noFill/>
          <a:ln/>
        </p:spPr>
        <p:txBody>
          <a:bodyPr wrap="square" lIns="0" tIns="0" rIns="0" bIns="0" rtlCol="0" anchor="t"/>
          <a:lstStyle/>
          <a:p>
            <a:pPr indent="0" marL="0">
              <a:buNone/>
            </a:pPr>
            <a:r>
              <a:rPr lang="en-US" sz="900" b="1" spc="300" kern="0" dirty="0">
                <a:solidFill>
                  <a:srgbClr val="1FB6D4"/>
                </a:solidFill>
                <a:latin typeface="Arial" pitchFamily="34" charset="0"/>
                <a:ea typeface="Arial" pitchFamily="34" charset="-122"/>
                <a:cs typeface="Arial" pitchFamily="34" charset="-120"/>
              </a:rPr>
              <a:t>ИТОГИ</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Выводы</a:t>
            </a:r>
            <a:endParaRPr lang="en-US" sz="2700" dirty="0"/>
          </a:p>
        </p:txBody>
      </p:sp>
      <p:sp>
        <p:nvSpPr>
          <p:cNvPr id="4" name="Text 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8FA6BF"/>
                </a:solidFill>
                <a:latin typeface="Arial" pitchFamily="34" charset="0"/>
                <a:ea typeface="Arial" pitchFamily="34" charset="-122"/>
                <a:cs typeface="Arial" pitchFamily="34" charset="-120"/>
              </a:rPr>
              <a:t>Физические основы защиты информации  ·  Семинар № 8</a:t>
            </a:r>
            <a:endParaRPr lang="en-US" sz="800" dirty="0"/>
          </a:p>
        </p:txBody>
      </p:sp>
      <p:sp>
        <p:nvSpPr>
          <p:cNvPr id="5" name="Text 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00" b="1" dirty="0">
                <a:solidFill>
                  <a:srgbClr val="8FA6BF"/>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457200" y="1234440"/>
            <a:ext cx="4023360" cy="960120"/>
          </a:xfrm>
          <a:prstGeom prst="roundRect">
            <a:avLst>
              <a:gd name="adj" fmla="val 7619"/>
            </a:avLst>
          </a:prstGeom>
          <a:solidFill>
            <a:srgbClr val="13305A"/>
          </a:solidFill>
          <a:ln w="9525">
            <a:solidFill>
              <a:srgbClr val="24406B"/>
            </a:solidFill>
            <a:prstDash val="solid"/>
          </a:ln>
        </p:spPr>
      </p:sp>
      <p:sp>
        <p:nvSpPr>
          <p:cNvPr id="7" name="Shape 5"/>
          <p:cNvSpPr/>
          <p:nvPr/>
        </p:nvSpPr>
        <p:spPr>
          <a:xfrm>
            <a:off x="621792" y="1490472"/>
            <a:ext cx="438912" cy="438912"/>
          </a:xfrm>
          <a:prstGeom prst="ellipse">
            <a:avLst/>
          </a:prstGeom>
          <a:solidFill>
            <a:srgbClr val="1FB6D4"/>
          </a:solidFill>
          <a:ln w="12700">
            <a:solidFill>
              <a:srgbClr val="1FB6D4"/>
            </a:solidFill>
            <a:prstDash val="solid"/>
          </a:ln>
        </p:spPr>
      </p:sp>
      <p:sp>
        <p:nvSpPr>
          <p:cNvPr id="8" name="Text 6"/>
          <p:cNvSpPr txBox="1"/>
          <p:nvPr/>
        </p:nvSpPr>
        <p:spPr>
          <a:xfrm>
            <a:off x="621792" y="1490472"/>
            <a:ext cx="438912" cy="438912"/>
          </a:xfrm>
          <a:prstGeom prst="rect">
            <a:avLst/>
          </a:prstGeom>
          <a:noFill/>
          <a:ln/>
        </p:spPr>
        <p:txBody>
          <a:bodyPr wrap="square" lIns="0" tIns="0" rIns="0" bIns="0" rtlCol="0" anchor="ctr"/>
          <a:lstStyle/>
          <a:p>
            <a:pPr algn="ctr" indent="0" marL="0">
              <a:buNone/>
            </a:pPr>
            <a:r>
              <a:rPr lang="en-US" sz="1500" b="1" dirty="0">
                <a:solidFill>
                  <a:srgbClr val="0B1F3A"/>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34440" y="1325880"/>
            <a:ext cx="3108960"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Экранирование снижает уровень электромагнитных полей</a:t>
            </a:r>
            <a:endParaRPr lang="en-US" sz="1200" dirty="0"/>
          </a:p>
        </p:txBody>
      </p:sp>
      <p:sp>
        <p:nvSpPr>
          <p:cNvPr id="10" name="Shape 8"/>
          <p:cNvSpPr/>
          <p:nvPr/>
        </p:nvSpPr>
        <p:spPr>
          <a:xfrm>
            <a:off x="4663440" y="1234440"/>
            <a:ext cx="4023360" cy="960120"/>
          </a:xfrm>
          <a:prstGeom prst="roundRect">
            <a:avLst>
              <a:gd name="adj" fmla="val 7619"/>
            </a:avLst>
          </a:prstGeom>
          <a:solidFill>
            <a:srgbClr val="13305A"/>
          </a:solidFill>
          <a:ln w="9525">
            <a:solidFill>
              <a:srgbClr val="24406B"/>
            </a:solidFill>
            <a:prstDash val="solid"/>
          </a:ln>
        </p:spPr>
      </p:sp>
      <p:sp>
        <p:nvSpPr>
          <p:cNvPr id="11" name="Shape 9"/>
          <p:cNvSpPr/>
          <p:nvPr/>
        </p:nvSpPr>
        <p:spPr>
          <a:xfrm>
            <a:off x="4828032" y="1490472"/>
            <a:ext cx="438912" cy="438912"/>
          </a:xfrm>
          <a:prstGeom prst="ellipse">
            <a:avLst/>
          </a:prstGeom>
          <a:solidFill>
            <a:srgbClr val="1FB6D4"/>
          </a:solidFill>
          <a:ln w="12700">
            <a:solidFill>
              <a:srgbClr val="1FB6D4"/>
            </a:solidFill>
            <a:prstDash val="solid"/>
          </a:ln>
        </p:spPr>
      </p:sp>
      <p:sp>
        <p:nvSpPr>
          <p:cNvPr id="12" name="Text 10"/>
          <p:cNvSpPr txBox="1"/>
          <p:nvPr/>
        </p:nvSpPr>
        <p:spPr>
          <a:xfrm>
            <a:off x="4828032" y="1490472"/>
            <a:ext cx="438912" cy="438912"/>
          </a:xfrm>
          <a:prstGeom prst="rect">
            <a:avLst/>
          </a:prstGeom>
          <a:noFill/>
          <a:ln/>
        </p:spPr>
        <p:txBody>
          <a:bodyPr wrap="square" lIns="0" tIns="0" rIns="0" bIns="0" rtlCol="0" anchor="ctr"/>
          <a:lstStyle/>
          <a:p>
            <a:pPr algn="ctr" indent="0" marL="0">
              <a:buNone/>
            </a:pPr>
            <a:r>
              <a:rPr lang="en-US" sz="1500" b="1" dirty="0">
                <a:solidFill>
                  <a:srgbClr val="0B1F3A"/>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5440680" y="1325880"/>
            <a:ext cx="3108960"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Электрические и магнитные поля требуют разных способов защиты</a:t>
            </a:r>
            <a:endParaRPr lang="en-US" sz="1200" dirty="0"/>
          </a:p>
        </p:txBody>
      </p:sp>
      <p:sp>
        <p:nvSpPr>
          <p:cNvPr id="14" name="Shape 12"/>
          <p:cNvSpPr/>
          <p:nvPr/>
        </p:nvSpPr>
        <p:spPr>
          <a:xfrm>
            <a:off x="457200" y="2331720"/>
            <a:ext cx="4023360" cy="960120"/>
          </a:xfrm>
          <a:prstGeom prst="roundRect">
            <a:avLst>
              <a:gd name="adj" fmla="val 7619"/>
            </a:avLst>
          </a:prstGeom>
          <a:solidFill>
            <a:srgbClr val="13305A"/>
          </a:solidFill>
          <a:ln w="9525">
            <a:solidFill>
              <a:srgbClr val="24406B"/>
            </a:solidFill>
            <a:prstDash val="solid"/>
          </a:ln>
        </p:spPr>
      </p:sp>
      <p:sp>
        <p:nvSpPr>
          <p:cNvPr id="15" name="Shape 13"/>
          <p:cNvSpPr/>
          <p:nvPr/>
        </p:nvSpPr>
        <p:spPr>
          <a:xfrm>
            <a:off x="621792" y="2587752"/>
            <a:ext cx="438912" cy="438912"/>
          </a:xfrm>
          <a:prstGeom prst="ellipse">
            <a:avLst/>
          </a:prstGeom>
          <a:solidFill>
            <a:srgbClr val="1FB6D4"/>
          </a:solidFill>
          <a:ln w="12700">
            <a:solidFill>
              <a:srgbClr val="1FB6D4"/>
            </a:solidFill>
            <a:prstDash val="solid"/>
          </a:ln>
        </p:spPr>
      </p:sp>
      <p:sp>
        <p:nvSpPr>
          <p:cNvPr id="16" name="Text 14"/>
          <p:cNvSpPr txBox="1"/>
          <p:nvPr/>
        </p:nvSpPr>
        <p:spPr>
          <a:xfrm>
            <a:off x="621792" y="2587752"/>
            <a:ext cx="438912" cy="438912"/>
          </a:xfrm>
          <a:prstGeom prst="rect">
            <a:avLst/>
          </a:prstGeom>
          <a:noFill/>
          <a:ln/>
        </p:spPr>
        <p:txBody>
          <a:bodyPr wrap="square" lIns="0" tIns="0" rIns="0" bIns="0" rtlCol="0" anchor="ctr"/>
          <a:lstStyle/>
          <a:p>
            <a:pPr algn="ctr" indent="0" marL="0">
              <a:buNone/>
            </a:pPr>
            <a:r>
              <a:rPr lang="en-US" sz="1500" b="1" dirty="0">
                <a:solidFill>
                  <a:srgbClr val="0B1F3A"/>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234440" y="2423160"/>
            <a:ext cx="3108960"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Эффективность зависит от материала, частоты и конструкции</a:t>
            </a:r>
            <a:endParaRPr lang="en-US" sz="1200" dirty="0"/>
          </a:p>
        </p:txBody>
      </p:sp>
      <p:sp>
        <p:nvSpPr>
          <p:cNvPr id="18" name="Shape 16"/>
          <p:cNvSpPr/>
          <p:nvPr/>
        </p:nvSpPr>
        <p:spPr>
          <a:xfrm>
            <a:off x="4663440" y="2331720"/>
            <a:ext cx="4023360" cy="960120"/>
          </a:xfrm>
          <a:prstGeom prst="roundRect">
            <a:avLst>
              <a:gd name="adj" fmla="val 7619"/>
            </a:avLst>
          </a:prstGeom>
          <a:solidFill>
            <a:srgbClr val="13305A"/>
          </a:solidFill>
          <a:ln w="9525">
            <a:solidFill>
              <a:srgbClr val="24406B"/>
            </a:solidFill>
            <a:prstDash val="solid"/>
          </a:ln>
        </p:spPr>
      </p:sp>
      <p:sp>
        <p:nvSpPr>
          <p:cNvPr id="19" name="Shape 17"/>
          <p:cNvSpPr/>
          <p:nvPr/>
        </p:nvSpPr>
        <p:spPr>
          <a:xfrm>
            <a:off x="4828032" y="2587752"/>
            <a:ext cx="438912" cy="438912"/>
          </a:xfrm>
          <a:prstGeom prst="ellipse">
            <a:avLst/>
          </a:prstGeom>
          <a:solidFill>
            <a:srgbClr val="1FB6D4"/>
          </a:solidFill>
          <a:ln w="12700">
            <a:solidFill>
              <a:srgbClr val="1FB6D4"/>
            </a:solidFill>
            <a:prstDash val="solid"/>
          </a:ln>
        </p:spPr>
      </p:sp>
      <p:sp>
        <p:nvSpPr>
          <p:cNvPr id="20" name="Text 18"/>
          <p:cNvSpPr txBox="1"/>
          <p:nvPr/>
        </p:nvSpPr>
        <p:spPr>
          <a:xfrm>
            <a:off x="4828032" y="2587752"/>
            <a:ext cx="438912" cy="438912"/>
          </a:xfrm>
          <a:prstGeom prst="rect">
            <a:avLst/>
          </a:prstGeom>
          <a:noFill/>
          <a:ln/>
        </p:spPr>
        <p:txBody>
          <a:bodyPr wrap="square" lIns="0" tIns="0" rIns="0" bIns="0" rtlCol="0" anchor="ctr"/>
          <a:lstStyle/>
          <a:p>
            <a:pPr algn="ctr" indent="0" marL="0">
              <a:buNone/>
            </a:pPr>
            <a:r>
              <a:rPr lang="en-US" sz="1500" b="1" dirty="0">
                <a:solidFill>
                  <a:srgbClr val="0B1F3A"/>
                </a:solidFill>
                <a:latin typeface="Arial" pitchFamily="34" charset="0"/>
                <a:ea typeface="Arial" pitchFamily="34" charset="-122"/>
                <a:cs typeface="Arial" pitchFamily="34" charset="-120"/>
              </a:rPr>
              <a:t>4</a:t>
            </a:r>
            <a:endParaRPr lang="en-US" sz="1500" dirty="0"/>
          </a:p>
        </p:txBody>
      </p:sp>
      <p:sp>
        <p:nvSpPr>
          <p:cNvPr id="21" name="Text 19"/>
          <p:cNvSpPr txBox="1"/>
          <p:nvPr/>
        </p:nvSpPr>
        <p:spPr>
          <a:xfrm>
            <a:off x="5440680" y="2423160"/>
            <a:ext cx="3108960"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Экранирование — один из физических способов защиты информации от технических каналов утечки</a:t>
            </a:r>
            <a:endParaRPr lang="en-US" sz="1200" dirty="0"/>
          </a:p>
        </p:txBody>
      </p:sp>
      <p:pic>
        <p:nvPicPr>
          <p:cNvPr id="22" name="Image 0" descr="preencoded.png">    </p:cNvPr>
          <p:cNvPicPr>
            <a:picLocks noChangeAspect="1"/>
          </p:cNvPicPr>
          <p:nvPr/>
        </p:nvPicPr>
        <p:blipFill>
          <a:blip r:embed="rId1"/>
          <a:stretch>
            <a:fillRect/>
          </a:stretch>
        </p:blipFill>
        <p:spPr>
          <a:xfrm>
            <a:off x="457200" y="3840480"/>
            <a:ext cx="457200" cy="457200"/>
          </a:xfrm>
          <a:prstGeom prst="rect">
            <a:avLst/>
          </a:prstGeom>
        </p:spPr>
      </p:pic>
      <p:sp>
        <p:nvSpPr>
          <p:cNvPr id="23" name="Text 20"/>
          <p:cNvSpPr txBox="1"/>
          <p:nvPr/>
        </p:nvSpPr>
        <p:spPr>
          <a:xfrm>
            <a:off x="1097280" y="3611880"/>
            <a:ext cx="7589520" cy="9144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Главная задача экрана — </a:t>
            </a:r>
            <a:pPr indent="0" marL="0">
              <a:buNone/>
            </a:pPr>
            <a:r>
              <a:rPr lang="en-US" sz="2000" b="1" dirty="0">
                <a:solidFill>
                  <a:srgbClr val="1FB6D4"/>
                </a:solidFill>
                <a:latin typeface="Arial" pitchFamily="34" charset="0"/>
                <a:ea typeface="Arial" pitchFamily="34" charset="-122"/>
                <a:cs typeface="Arial" pitchFamily="34" charset="-120"/>
              </a:rPr>
              <a:t>не дать информативному сигналу выйти за пределы защищаемой области</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Экранирование электрических и магнитных полей</dc:title>
  <dc:subject>Физические основы защиты информации, семинар № 8</dc:subject>
  <dc:creator>PptxGenJS</dc:creator>
  <cp:lastModifiedBy>PptxGenJS</cp:lastModifiedBy>
  <cp:revision>1</cp:revision>
  <dcterms:created xsi:type="dcterms:W3CDTF">2026-10-02T08:29:20Z</dcterms:created>
  <dcterms:modified xsi:type="dcterms:W3CDTF">2026-10-02T08:29:20Z</dcterms:modified>
</cp:coreProperties>
</file>