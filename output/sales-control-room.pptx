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3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73b020c5-6f15-59e9-ce7b-7fac84ce7ae2}">
          <p14:sldIdLst>
            <p14:sldId id="256"/>
          </p14:sldIdLst>
        </p14:section>
        <p14:section name="Dashboard" id="{920744cb-5975-a3f6-c8ca-f734ecae07e4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22D3EE"/>
            </a:solidFill>
            <a:ln w="31750" cap="flat">
              <a:solidFill>
                <a:srgbClr val="22D3E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2D3EE"/>
              </a:solidFill>
              <a:ln w="9525" cap="flat">
                <a:solidFill>
                  <a:srgbClr val="22D3E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6.8</c:v>
                </c:pt>
                <c:pt idx="1">
                  <c:v>7.1</c:v>
                </c:pt>
                <c:pt idx="2">
                  <c:v>7</c:v>
                </c:pt>
                <c:pt idx="3">
                  <c:v>7.9</c:v>
                </c:pt>
                <c:pt idx="4">
                  <c:v>8.4</c:v>
                </c:pt>
                <c:pt idx="5">
                  <c:v>8.2</c:v>
                </c:pt>
                <c:pt idx="6">
                  <c:v>9.1</c:v>
                </c:pt>
                <c:pt idx="7">
                  <c:v>9.8</c:v>
                </c:pt>
                <c:pt idx="8">
                  <c:v>10.2</c:v>
                </c:pt>
                <c:pt idx="9">
                  <c:v>10.9</c:v>
                </c:pt>
                <c:pt idx="10">
                  <c:v>11.6</c:v>
                </c:pt>
                <c:pt idx="11">
                  <c:v>12.4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"/>
          <c:min val="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19.8</c:v>
                </c:pt>
                <c:pt idx="1">
                  <c:v>20.4</c:v>
                </c:pt>
                <c:pt idx="2">
                  <c:v>21.5</c:v>
                </c:pt>
                <c:pt idx="3">
                  <c:v>21.1</c:v>
                </c:pt>
                <c:pt idx="4">
                  <c:v>22.6</c:v>
                </c:pt>
                <c:pt idx="5">
                  <c:v>23.2</c:v>
                </c:pt>
                <c:pt idx="6">
                  <c:v>24.8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"/>
          <c:min val="17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22D3EE"/>
            </a:solidFill>
            <a:ln w="31750" cap="flat">
              <a:solidFill>
                <a:srgbClr val="22D3E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2D3EE"/>
              </a:solidFill>
              <a:ln w="9525" cap="flat">
                <a:solidFill>
                  <a:srgbClr val="22D3E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6.8</c:v>
                </c:pt>
                <c:pt idx="1">
                  <c:v>7.1</c:v>
                </c:pt>
                <c:pt idx="2">
                  <c:v>7</c:v>
                </c:pt>
                <c:pt idx="3">
                  <c:v>7.9</c:v>
                </c:pt>
                <c:pt idx="4">
                  <c:v>8.4</c:v>
                </c:pt>
                <c:pt idx="5">
                  <c:v>8.2</c:v>
                </c:pt>
                <c:pt idx="6">
                  <c:v>9.1</c:v>
                </c:pt>
                <c:pt idx="7">
                  <c:v>9.8</c:v>
                </c:pt>
                <c:pt idx="8">
                  <c:v>10.2</c:v>
                </c:pt>
                <c:pt idx="9">
                  <c:v>10.9</c:v>
                </c:pt>
                <c:pt idx="10">
                  <c:v>11.6</c:v>
                </c:pt>
                <c:pt idx="11">
                  <c:v>12.4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"/>
          <c:min val="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Обложка. Анимация: заголовок, KPI и кнопка появляются автоматически. Кнопка «ОТКРЫТЬ DASHBOARD» ведёт на слайд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экран навигации. Каждая карточка целиком кликабельна: 01 и 02 → слайд 3, 03 → слайд 4, 04 → слайд 5, 05 → слайд 6. HOME (правый верхний угол) возвращает на этот экран. UPDATE DATA — визуальная кнопка.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Слайд-заглушка №3: сюда ведёт навигация со слайда 2. Заменить содержимым раздела «ОБЩАЯ КАРТИНА».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Слайд-заглушка №4: сюда ведёт навигация со слайда 2. Заменить содержимым раздела «ВОРОНКА ПРОДАЖ».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Слайд-заглушка №5: сюда ведёт навигация со слайда 2. Заменить содержимым раздела «ТОЧКИ РОСТА».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Слайд-заглушка №6: сюда ведёт навигация со слайда 2. Заменить содержимым раздела «СЦЕНАРИИ».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DASH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SH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188720"/>
            <a:ext cx="4937760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86000"/>
              </a:lnSpc>
              <a:buNone/>
              <a:defRPr lang="en-US" sz="6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lnSpc>
                <a:spcPct val="86000"/>
              </a:lnSpc>
              <a:buNone/>
            </a:pPr>
            <a:endParaRPr lang="en-US" sz="6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1-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Relationship Id="rId100" Type="http://schemas.openxmlformats.org/officeDocument/2006/relationships/slide" Target="slide2.xml"/><Relationship Id="rId101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2" Type="http://schemas.openxmlformats.org/officeDocument/2006/relationships/chart" Target="/ppt/charts/chart3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3.png"/><Relationship Id="rId6" Type="http://schemas.openxmlformats.org/officeDocument/2006/relationships/image" Target="../media/image-2-6.png"/><Relationship Id="rId7" Type="http://schemas.openxmlformats.org/officeDocument/2006/relationships/image" Target="../media/image-2-3.png"/><Relationship Id="rId8" Type="http://schemas.openxmlformats.org/officeDocument/2006/relationships/image" Target="../media/image-2-8.png"/><Relationship Id="rId9" Type="http://schemas.openxmlformats.org/officeDocument/2006/relationships/image" Target="../media/image-2-3.png"/><Relationship Id="rId10" Type="http://schemas.openxmlformats.org/officeDocument/2006/relationships/image" Target="../media/image-2-10.png"/><Relationship Id="rId11" Type="http://schemas.openxmlformats.org/officeDocument/2006/relationships/image" Target="../media/image-2-3.png"/><Relationship Id="rId13" Type="http://schemas.openxmlformats.org/officeDocument/2006/relationships/image" Target="../media/image-2-12.png"/><Relationship Id="rId14" Type="http://schemas.openxmlformats.org/officeDocument/2006/relationships/image" Target="../media/image-2-13.pn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2.xml"/><Relationship Id="rId100" Type="http://schemas.openxmlformats.org/officeDocument/2006/relationships/slide" Target="slide2.xml"/><Relationship Id="rId101" Type="http://schemas.openxmlformats.org/officeDocument/2006/relationships/slide" Target="slide3.xml"/><Relationship Id="rId102" Type="http://schemas.openxmlformats.org/officeDocument/2006/relationships/slide" Target="slide3.xml"/><Relationship Id="rId103" Type="http://schemas.openxmlformats.org/officeDocument/2006/relationships/slide" Target="slide4.xml"/><Relationship Id="rId104" Type="http://schemas.openxmlformats.org/officeDocument/2006/relationships/slide" Target="slide5.xml"/><Relationship Id="rId105" Type="http://schemas.openxmlformats.org/officeDocument/2006/relationships/slide" Target="slide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Relationship Id="rId100" Type="http://schemas.openxmlformats.org/officeDocument/2006/relationships/slide" Target="slide2.xml"/><Relationship Id="rId101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Relationship Id="rId100" Type="http://schemas.openxmlformats.org/officeDocument/2006/relationships/slide" Target="slide2.xml"/><Relationship Id="rId101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Relationship Id="rId100" Type="http://schemas.openxmlformats.org/officeDocument/2006/relationships/slide" Target="slide2.xml"/><Relationship Id="rId101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Relationship Id="rId100" Type="http://schemas.openxmlformats.org/officeDocument/2006/relationships/slide" Target="slide2.xml"/><Relationship Id="rId101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0:photo" descr="Менеджер работает с аналитическим интерфейсом воронки продаж на планшет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0"/>
            <a:ext cx="7619695" cy="6858000"/>
          </a:xfrm>
          <a:prstGeom prst="rect">
            <a:avLst/>
          </a:prstGeom>
        </p:spPr>
      </p:pic>
      <p:sp>
        <p:nvSpPr>
          <p:cNvPr id="4" name="A1:dot"/>
          <p:cNvSpPr/>
          <p:nvPr/>
        </p:nvSpPr>
        <p:spPr>
          <a:xfrm>
            <a:off x="731520" y="768096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A1:eyebrow"/>
          <p:cNvSpPr txBox="1"/>
          <p:nvPr/>
        </p:nvSpPr>
        <p:spPr>
          <a:xfrm>
            <a:off x="932688" y="7040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INTERACTIVE SALES REPORT / 2026</a:t>
            </a:r>
            <a:endParaRPr lang="en-US" sz="1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731520" y="118872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6600" b="1" dirty="0">
                <a:solidFill>
                  <a:schemeClr val="bg1"/>
                </a:solidFill>
              </a:rPr>
              <a:t>SALES</a:t>
            </a:r>
            <a:endParaRPr lang="en-US" sz="6600" dirty="0"/>
          </a:p>
          <a:p>
            <a:pPr algn="l" indent="0" marL="0">
              <a:lnSpc>
                <a:spcPct val="86000"/>
              </a:lnSpc>
              <a:buNone/>
            </a:pPr>
            <a:r>
              <a:rPr lang="en-US" sz="6600" b="1" dirty="0">
                <a:solidFill>
                  <a:schemeClr val="accent1"/>
                </a:solidFill>
              </a:rPr>
              <a:t>CONTROL</a:t>
            </a:r>
            <a:endParaRPr lang="en-US" sz="6600" dirty="0"/>
          </a:p>
          <a:p>
            <a:pPr algn="l" indent="0" marL="0">
              <a:lnSpc>
                <a:spcPct val="86000"/>
              </a:lnSpc>
              <a:buNone/>
            </a:pPr>
            <a:r>
              <a:rPr lang="en-US" sz="6600" b="1" dirty="0">
                <a:solidFill>
                  <a:schemeClr val="bg1"/>
                </a:solidFill>
              </a:rPr>
              <a:t>ROOM</a:t>
            </a:r>
            <a:endParaRPr lang="en-US" sz="6600" dirty="0"/>
          </a:p>
        </p:txBody>
      </p:sp>
      <p:sp>
        <p:nvSpPr>
          <p:cNvPr id="7" name="A3:subtitle"/>
          <p:cNvSpPr txBox="1"/>
          <p:nvPr/>
        </p:nvSpPr>
        <p:spPr>
          <a:xfrm>
            <a:off x="731520" y="41148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Интерактивная система анализа продаж</a:t>
            </a:r>
            <a:endParaRPr lang="en-US" sz="2400" dirty="0"/>
          </a:p>
        </p:txBody>
      </p:sp>
      <p:sp>
        <p:nvSpPr>
          <p:cNvPr id="8" name="A4:pipeline"/>
          <p:cNvSpPr txBox="1"/>
          <p:nvPr/>
        </p:nvSpPr>
        <p:spPr>
          <a:xfrm>
            <a:off x="731520" y="50474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chemeClr val="accent4"/>
                </a:solidFill>
              </a:rPr>
              <a:t>Excel</a:t>
            </a:r>
            <a:pPr indent="0" marL="0">
              <a:buNone/>
            </a:pPr>
            <a:r>
              <a:rPr lang="en-US" sz="1400" b="1" spc="50" kern="0" dirty="0">
                <a:solidFill>
                  <a:schemeClr val="accent2"/>
                </a:solidFill>
              </a:rPr>
              <a:t>  →  </a:t>
            </a:r>
            <a:pPr indent="0" marL="0">
              <a:buNone/>
            </a:pPr>
            <a:r>
              <a:rPr lang="en-US" sz="1400" b="1" spc="50" kern="0" dirty="0">
                <a:solidFill>
                  <a:schemeClr val="accent4"/>
                </a:solidFill>
              </a:rPr>
              <a:t>Analytics</a:t>
            </a:r>
            <a:pPr indent="0" marL="0">
              <a:buNone/>
            </a:pPr>
            <a:r>
              <a:rPr lang="en-US" sz="1400" b="1" spc="50" kern="0" dirty="0">
                <a:solidFill>
                  <a:schemeClr val="accent2"/>
                </a:solidFill>
              </a:rPr>
              <a:t>  →  </a:t>
            </a:r>
            <a:pPr indent="0" marL="0">
              <a:buNone/>
            </a:pPr>
            <a:r>
              <a:rPr lang="en-US" sz="1400" b="1" spc="50" kern="0" dirty="0">
                <a:solidFill>
                  <a:schemeClr val="accent4"/>
                </a:solidFill>
              </a:rPr>
              <a:t>Decisions</a:t>
            </a:r>
            <a:pPr indent="0" marL="0">
              <a:buNone/>
            </a:pPr>
            <a:r>
              <a:rPr lang="en-US" sz="1400" b="1" spc="50" kern="0" dirty="0">
                <a:solidFill>
                  <a:schemeClr val="accent2"/>
                </a:solidFill>
              </a:rPr>
              <a:t>  →  </a:t>
            </a:r>
            <a:pPr indent="0" marL="0">
              <a:buNone/>
            </a:pPr>
            <a:r>
              <a:rPr lang="en-US" sz="1400" b="1" spc="50" kern="0" dirty="0">
                <a:solidFill>
                  <a:schemeClr val="accent1"/>
                </a:solidFill>
              </a:rPr>
              <a:t>Growth</a:t>
            </a:r>
            <a:endParaRPr lang="en-US" sz="1400" dirty="0"/>
          </a:p>
        </p:txBody>
      </p:sp>
      <p:sp>
        <p:nvSpPr>
          <p:cNvPr id="9" name="K1:card"/>
          <p:cNvSpPr/>
          <p:nvPr/>
        </p:nvSpPr>
        <p:spPr>
          <a:xfrm>
            <a:off x="8275320" y="640080"/>
            <a:ext cx="3429000" cy="1920240"/>
          </a:xfrm>
          <a:prstGeom prst="roundRect">
            <a:avLst>
              <a:gd name="adj" fmla="val 7619"/>
            </a:avLst>
          </a:prstGeom>
          <a:solidFill>
            <a:schemeClr val="tx1">
              <a:alpha val="86000"/>
            </a:schemeClr>
          </a:solidFill>
          <a:ln w="9525">
            <a:solidFill>
              <a:schemeClr val="accent4">
                <a:alpha val="30000"/>
              </a:schemeClr>
            </a:solidFill>
            <a:prstDash val="solid"/>
          </a:ln>
        </p:spPr>
      </p:sp>
      <p:sp>
        <p:nvSpPr>
          <p:cNvPr id="10" name="K1:label"/>
          <p:cNvSpPr txBox="1"/>
          <p:nvPr/>
        </p:nvSpPr>
        <p:spPr>
          <a:xfrm>
            <a:off x="8503920" y="8229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REVENUE</a:t>
            </a:r>
            <a:endParaRPr lang="en-US" sz="1100" dirty="0"/>
          </a:p>
        </p:txBody>
      </p:sp>
      <p:sp>
        <p:nvSpPr>
          <p:cNvPr id="11" name="K1:sub"/>
          <p:cNvSpPr txBox="1"/>
          <p:nvPr/>
        </p:nvSpPr>
        <p:spPr>
          <a:xfrm>
            <a:off x="10332720" y="82296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vs 2025</a:t>
            </a:r>
            <a:endParaRPr lang="en-US" sz="1100" dirty="0"/>
          </a:p>
        </p:txBody>
      </p:sp>
      <p:sp>
        <p:nvSpPr>
          <p:cNvPr id="12" name="K1:value"/>
          <p:cNvSpPr txBox="1"/>
          <p:nvPr/>
        </p:nvSpPr>
        <p:spPr>
          <a:xfrm>
            <a:off x="8503920" y="104241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+18.4%</a:t>
            </a:r>
            <a:endParaRPr lang="en-US" sz="3600" dirty="0"/>
          </a:p>
        </p:txBody>
      </p:sp>
      <p:graphicFrame>
        <p:nvGraphicFramePr>
          <p:cNvPr id="13" name="K1:chart" descr=""/>
          <p:cNvGraphicFramePr/>
          <p:nvPr/>
        </p:nvGraphicFramePr>
        <p:xfrm>
          <a:off x="8412480" y="1600200"/>
          <a:ext cx="3154680" cy="868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K2:card"/>
          <p:cNvSpPr/>
          <p:nvPr/>
        </p:nvSpPr>
        <p:spPr>
          <a:xfrm>
            <a:off x="5669280" y="2926080"/>
            <a:ext cx="2926080" cy="1737360"/>
          </a:xfrm>
          <a:prstGeom prst="roundRect">
            <a:avLst>
              <a:gd name="adj" fmla="val 8421"/>
            </a:avLst>
          </a:prstGeom>
          <a:solidFill>
            <a:schemeClr val="tx1">
              <a:alpha val="86000"/>
            </a:schemeClr>
          </a:solidFill>
          <a:ln w="9525">
            <a:solidFill>
              <a:schemeClr val="accent4">
                <a:alpha val="30000"/>
              </a:schemeClr>
            </a:solidFill>
            <a:prstDash val="solid"/>
          </a:ln>
        </p:spPr>
      </p:sp>
      <p:sp>
        <p:nvSpPr>
          <p:cNvPr id="15" name="K2:label"/>
          <p:cNvSpPr txBox="1"/>
          <p:nvPr/>
        </p:nvSpPr>
        <p:spPr>
          <a:xfrm>
            <a:off x="5897880" y="31089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CONVERSION</a:t>
            </a:r>
            <a:endParaRPr lang="en-US" sz="1100" dirty="0"/>
          </a:p>
        </p:txBody>
      </p:sp>
      <p:sp>
        <p:nvSpPr>
          <p:cNvPr id="16" name="K2:value"/>
          <p:cNvSpPr txBox="1"/>
          <p:nvPr/>
        </p:nvSpPr>
        <p:spPr>
          <a:xfrm>
            <a:off x="5897880" y="336499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24.8%</a:t>
            </a:r>
            <a:endParaRPr lang="en-US" sz="3600" dirty="0"/>
          </a:p>
        </p:txBody>
      </p:sp>
      <p:sp>
        <p:nvSpPr>
          <p:cNvPr id="17" name="K2:chip:bg"/>
          <p:cNvSpPr/>
          <p:nvPr/>
        </p:nvSpPr>
        <p:spPr>
          <a:xfrm>
            <a:off x="5897880" y="4114800"/>
            <a:ext cx="868680" cy="274320"/>
          </a:xfrm>
          <a:prstGeom prst="roundRect">
            <a:avLst>
              <a:gd name="adj" fmla="val 50000"/>
            </a:avLst>
          </a:prstGeom>
          <a:solidFill>
            <a:schemeClr val="accent6">
              <a:alpha val="18000"/>
            </a:schemeClr>
          </a:solidFill>
          <a:ln w="9525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18" name="K2:chip:txt"/>
          <p:cNvSpPr txBox="1"/>
          <p:nvPr/>
        </p:nvSpPr>
        <p:spPr>
          <a:xfrm>
            <a:off x="5897880" y="41148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+3.2 pp</a:t>
            </a:r>
            <a:endParaRPr lang="en-US" sz="1200" dirty="0"/>
          </a:p>
        </p:txBody>
      </p:sp>
      <p:graphicFrame>
        <p:nvGraphicFramePr>
          <p:cNvPr id="19" name="K2:chart" descr=""/>
          <p:cNvGraphicFramePr/>
          <p:nvPr/>
        </p:nvGraphicFramePr>
        <p:xfrm>
          <a:off x="7315200" y="3337560"/>
          <a:ext cx="1143000" cy="1097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0" name="K3:card"/>
          <p:cNvSpPr/>
          <p:nvPr/>
        </p:nvSpPr>
        <p:spPr>
          <a:xfrm>
            <a:off x="8823960" y="3246120"/>
            <a:ext cx="2880360" cy="1554480"/>
          </a:xfrm>
          <a:prstGeom prst="roundRect">
            <a:avLst>
              <a:gd name="adj" fmla="val 9412"/>
            </a:avLst>
          </a:prstGeom>
          <a:solidFill>
            <a:schemeClr val="tx1">
              <a:alpha val="86000"/>
            </a:schemeClr>
          </a:solidFill>
          <a:ln w="9525">
            <a:solidFill>
              <a:schemeClr val="accent4">
                <a:alpha val="30000"/>
              </a:schemeClr>
            </a:solidFill>
            <a:prstDash val="solid"/>
          </a:ln>
        </p:spPr>
      </p:sp>
      <p:sp>
        <p:nvSpPr>
          <p:cNvPr id="21" name="K3:label"/>
          <p:cNvSpPr txBox="1"/>
          <p:nvPr/>
        </p:nvSpPr>
        <p:spPr>
          <a:xfrm>
            <a:off x="9052560" y="34290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SALES PLAN</a:t>
            </a:r>
            <a:endParaRPr lang="en-US" sz="1100" dirty="0"/>
          </a:p>
        </p:txBody>
      </p:sp>
      <p:sp>
        <p:nvSpPr>
          <p:cNvPr id="22" name="K3:value"/>
          <p:cNvSpPr txBox="1"/>
          <p:nvPr/>
        </p:nvSpPr>
        <p:spPr>
          <a:xfrm>
            <a:off x="9052560" y="36576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92%</a:t>
            </a:r>
            <a:endParaRPr lang="en-US" sz="3600" dirty="0"/>
          </a:p>
        </p:txBody>
      </p:sp>
      <p:sp>
        <p:nvSpPr>
          <p:cNvPr id="23" name="K3:sub"/>
          <p:cNvSpPr txBox="1"/>
          <p:nvPr/>
        </p:nvSpPr>
        <p:spPr>
          <a:xfrm>
            <a:off x="10149840" y="38404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12.4 / 13.5M ₽</a:t>
            </a:r>
            <a:endParaRPr lang="en-US" sz="1200" dirty="0"/>
          </a:p>
        </p:txBody>
      </p:sp>
      <p:sp>
        <p:nvSpPr>
          <p:cNvPr id="24" name="K3:track"/>
          <p:cNvSpPr/>
          <p:nvPr/>
        </p:nvSpPr>
        <p:spPr>
          <a:xfrm>
            <a:off x="9052560" y="4389120"/>
            <a:ext cx="2423160" cy="128016"/>
          </a:xfrm>
          <a:prstGeom prst="roundRect">
            <a:avLst>
              <a:gd name="adj" fmla="val 50000"/>
            </a:avLst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25" name="K3:fill"/>
          <p:cNvSpPr/>
          <p:nvPr/>
        </p:nvSpPr>
        <p:spPr>
          <a:xfrm>
            <a:off x="9052560" y="4389120"/>
            <a:ext cx="2229307" cy="128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6" name="Hotspot OpenDashboard -&gt; slide 2">
            <a:hlinkClick r:id="rId100" action="ppaction://hlinksldjump" tooltip=""/>
          </p:cNvPr>
          <p:cNvSpPr/>
          <p:nvPr/>
        </p:nvSpPr>
        <p:spPr>
          <a:xfrm>
            <a:off x="731520" y="5577840"/>
            <a:ext cx="4297680" cy="777240"/>
          </a:xfrm>
          <a:prstGeom prst="roundRect">
            <a:avLst>
              <a:gd name="adj" fmla="val 164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279400" dist="50800" dir="5400000">
              <a:srgbClr val="22D3EE">
                <a:alpha val="45000"/>
              </a:srgbClr>
            </a:outerShdw>
          </a:effectLst>
        </p:spPr>
      </p:sp>
      <p:sp>
        <p:nvSpPr>
          <p:cNvPr id="27" name="B:text"/>
          <p:cNvSpPr txBox="1"/>
          <p:nvPr/>
        </p:nvSpPr>
        <p:spPr>
          <a:xfrm>
            <a:off x="731520" y="557784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chemeClr val="tx1"/>
                </a:solidFill>
              </a:rPr>
              <a:t>ОТКРЫТЬ DASHBOARD  →</a:t>
            </a:r>
            <a:endParaRPr lang="en-US" sz="1800" dirty="0"/>
          </a:p>
        </p:txBody>
      </p:sp>
      <p:sp>
        <p:nvSpPr>
          <p:cNvPr id="28" name="Hotspot OpenDashboardHit -&gt; slide 2">
            <a:hlinkClick r:id="rId101" action="ppaction://hlinksldjump" tooltip=""/>
          </p:cNvPr>
          <p:cNvSpPr/>
          <p:nvPr/>
        </p:nvSpPr>
        <p:spPr>
          <a:xfrm>
            <a:off x="731520" y="5577840"/>
            <a:ext cx="4297680" cy="777240"/>
          </a:xfrm>
          <a:prstGeom prst="roundRect">
            <a:avLst>
              <a:gd name="adj" fmla="val 18824"/>
            </a:avLst>
          </a:prstGeom>
          <a:solidFill>
            <a:schemeClr val="bg1">
              <a:alpha val="0"/>
            </a:schemeClr>
          </a:solidFill>
          <a:ln/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8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  <p:bldP spid="8" grpId="0"/>
      <p:bldP spid="9" grpId="0" animBg="1"/>
      <p:bldP spid="10" grpId="0"/>
      <p:bldP spid="11" grpId="0"/>
      <p:bldP spid="12" grpId="0"/>
      <p:bldP spid="14" grpId="0" animBg="1"/>
      <p:bldP spid="15" grpId="0"/>
      <p:bldP spid="16" grpId="0"/>
      <p:bldP spid="17" grpId="0" animBg="1"/>
      <p:bldP spid="18" grpId="0"/>
      <p:bldP spid="20" grpId="0" animBg="1"/>
      <p:bldP spid="21" grpId="0"/>
      <p:bldP spid="22" grpId="0"/>
      <p:bldP spid="23" grpId="0"/>
      <p:bldP spid="24" grpId="0" animBg="1"/>
      <p:bldP spid="25" grpId="0" animBg="1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rand:dot"/>
          <p:cNvSpPr/>
          <p:nvPr/>
        </p:nvSpPr>
        <p:spPr>
          <a:xfrm>
            <a:off x="548640" y="429768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Brand:name"/>
          <p:cNvSpPr txBox="1"/>
          <p:nvPr/>
        </p:nvSpPr>
        <p:spPr>
          <a:xfrm>
            <a:off x="731520" y="3657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SALES CONTROL ROOM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ЦЕНТР УПРАВЛЕНИЯ ПРОДАЖАМИ</a:t>
            </a:r>
            <a:endParaRPr lang="en-US" sz="3000" dirty="0"/>
          </a:p>
        </p:txBody>
      </p:sp>
      <p:sp>
        <p:nvSpPr>
          <p:cNvPr id="6" name="Subtitle"/>
          <p:cNvSpPr txBox="1"/>
          <p:nvPr/>
        </p:nvSpPr>
        <p:spPr>
          <a:xfrm>
            <a:off x="548640" y="1207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Выберите раздел для анализа</a:t>
            </a:r>
            <a:endParaRPr lang="en-US" sz="1500" dirty="0"/>
          </a:p>
        </p:txBody>
      </p:sp>
      <p:sp>
        <p:nvSpPr>
          <p:cNvPr id="7" name="HOME:bg"/>
          <p:cNvSpPr/>
          <p:nvPr/>
        </p:nvSpPr>
        <p:spPr>
          <a:xfrm>
            <a:off x="10652760" y="365760"/>
            <a:ext cx="1005840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8" name="HOME:icon" descr="/tmp/claude-0/-home-user-cjl-slides/2d3b8e9e-f79b-5597-abaf-c8c2d8571309/scratchpad/assets/ic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466344"/>
            <a:ext cx="182880" cy="182880"/>
          </a:xfrm>
          <a:prstGeom prst="rect">
            <a:avLst/>
          </a:prstGeom>
        </p:spPr>
      </p:pic>
      <p:sp>
        <p:nvSpPr>
          <p:cNvPr id="9" name="HOME:txt"/>
          <p:cNvSpPr txBox="1"/>
          <p:nvPr/>
        </p:nvSpPr>
        <p:spPr>
          <a:xfrm>
            <a:off x="11036808" y="365760"/>
            <a:ext cx="585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HOME</a:t>
            </a:r>
            <a:endParaRPr lang="en-US" sz="1100" dirty="0"/>
          </a:p>
        </p:txBody>
      </p:sp>
      <p:sp>
        <p:nvSpPr>
          <p:cNvPr id="10" name="Hotspot HOME -&gt; slide 2">
            <a:hlinkClick r:id="rId100" action="ppaction://hlinksldjump" tooltip=""/>
          </p:cNvPr>
          <p:cNvSpPr/>
          <p:nvPr/>
        </p:nvSpPr>
        <p:spPr>
          <a:xfrm>
            <a:off x="10652760" y="365760"/>
            <a:ext cx="1005840" cy="384048"/>
          </a:xfrm>
          <a:prstGeom prst="roundRect">
            <a:avLst>
              <a:gd name="adj" fmla="val 38095"/>
            </a:avLst>
          </a:prstGeom>
          <a:solidFill>
            <a:schemeClr val="bg1">
              <a:alpha val="0"/>
            </a:schemeClr>
          </a:solidFill>
          <a:ln/>
        </p:spPr>
      </p:sp>
      <p:sp>
        <p:nvSpPr>
          <p:cNvPr id="11" name="Card01:bg"/>
          <p:cNvSpPr/>
          <p:nvPr/>
        </p:nvSpPr>
        <p:spPr>
          <a:xfrm>
            <a:off x="548640" y="1691640"/>
            <a:ext cx="3863340" cy="1920240"/>
          </a:xfrm>
          <a:prstGeom prst="roundRect">
            <a:avLst>
              <a:gd name="adj" fmla="val 7619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8000"/>
              </a:schemeClr>
            </a:solidFill>
            <a:prstDash val="solid"/>
          </a:ln>
        </p:spPr>
      </p:sp>
      <p:sp>
        <p:nvSpPr>
          <p:cNvPr id="12" name="Card01:ic:ring"/>
          <p:cNvSpPr/>
          <p:nvPr/>
        </p:nvSpPr>
        <p:spPr>
          <a:xfrm>
            <a:off x="804672" y="1911096"/>
            <a:ext cx="512064" cy="512064"/>
          </a:xfrm>
          <a:prstGeom prst="ellipse">
            <a:avLst/>
          </a:prstGeom>
          <a:solidFill>
            <a:schemeClr val="accent1">
              <a:alpha val="14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13" name="Card01:ic:icon" descr="/tmp/claude-0/-home-user-cjl-slides/2d3b8e9e-f79b-5597-abaf-c8c2d8571309/scratchpad/assets/ic_p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039112"/>
            <a:ext cx="256032" cy="256032"/>
          </a:xfrm>
          <a:prstGeom prst="rect">
            <a:avLst/>
          </a:prstGeom>
        </p:spPr>
      </p:pic>
      <p:sp>
        <p:nvSpPr>
          <p:cNvPr id="14" name="Card01:num"/>
          <p:cNvSpPr txBox="1"/>
          <p:nvPr/>
        </p:nvSpPr>
        <p:spPr>
          <a:xfrm>
            <a:off x="1499616" y="1911096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800" dirty="0"/>
          </a:p>
        </p:txBody>
      </p:sp>
      <p:sp>
        <p:nvSpPr>
          <p:cNvPr id="15" name="Card01:title"/>
          <p:cNvSpPr txBox="1"/>
          <p:nvPr/>
        </p:nvSpPr>
        <p:spPr>
          <a:xfrm>
            <a:off x="804672" y="2606040"/>
            <a:ext cx="3351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ОБЩАЯ КАРТИНА</a:t>
            </a:r>
            <a:endParaRPr lang="en-US" sz="2000" dirty="0"/>
          </a:p>
        </p:txBody>
      </p:sp>
      <p:sp>
        <p:nvSpPr>
          <p:cNvPr id="16" name="Card01:desc"/>
          <p:cNvSpPr txBox="1"/>
          <p:nvPr/>
        </p:nvSpPr>
        <p:spPr>
          <a:xfrm>
            <a:off x="804672" y="3017520"/>
            <a:ext cx="33512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Выручка, план и основные показатели</a:t>
            </a:r>
            <a:endParaRPr lang="en-US" sz="1200" dirty="0"/>
          </a:p>
        </p:txBody>
      </p:sp>
      <p:sp>
        <p:nvSpPr>
          <p:cNvPr id="17" name="Card01:arrowbg"/>
          <p:cNvSpPr/>
          <p:nvPr/>
        </p:nvSpPr>
        <p:spPr>
          <a:xfrm>
            <a:off x="3753612" y="1965960"/>
            <a:ext cx="402336" cy="402336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9525">
            <a:solidFill>
              <a:schemeClr val="accent1">
                <a:alpha val="55000"/>
              </a:schemeClr>
            </a:solidFill>
            <a:prstDash val="solid"/>
          </a:ln>
        </p:spPr>
      </p:sp>
      <p:pic>
        <p:nvPicPr>
          <p:cNvPr id="18" name="Card01:arrow" descr="/tmp/claude-0/-home-user-cjl-slides/2d3b8e9e-f79b-5597-abaf-c8c2d8571309/scratchpad/assets/ic_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4196" y="2066544"/>
            <a:ext cx="201168" cy="201168"/>
          </a:xfrm>
          <a:prstGeom prst="rect">
            <a:avLst/>
          </a:prstGeom>
        </p:spPr>
      </p:pic>
      <p:sp>
        <p:nvSpPr>
          <p:cNvPr id="19" name="Hotspot Card01 -&gt; slide 3">
            <a:hlinkClick r:id="rId101" action="ppaction://hlinksldjump" tooltip=""/>
          </p:cNvPr>
          <p:cNvSpPr/>
          <p:nvPr/>
        </p:nvSpPr>
        <p:spPr>
          <a:xfrm>
            <a:off x="548640" y="1691640"/>
            <a:ext cx="3863340" cy="1920240"/>
          </a:xfrm>
          <a:prstGeom prst="roundRect">
            <a:avLst>
              <a:gd name="adj" fmla="val 7619"/>
            </a:avLst>
          </a:prstGeom>
          <a:solidFill>
            <a:schemeClr val="bg1">
              <a:alpha val="0"/>
            </a:schemeClr>
          </a:solidFill>
          <a:ln/>
        </p:spPr>
      </p:sp>
      <p:sp>
        <p:nvSpPr>
          <p:cNvPr id="20" name="Card02:bg"/>
          <p:cNvSpPr/>
          <p:nvPr/>
        </p:nvSpPr>
        <p:spPr>
          <a:xfrm>
            <a:off x="4640580" y="1691640"/>
            <a:ext cx="3863340" cy="1920240"/>
          </a:xfrm>
          <a:prstGeom prst="roundRect">
            <a:avLst>
              <a:gd name="adj" fmla="val 7619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8000"/>
              </a:schemeClr>
            </a:solidFill>
            <a:prstDash val="solid"/>
          </a:ln>
        </p:spPr>
      </p:sp>
      <p:sp>
        <p:nvSpPr>
          <p:cNvPr id="21" name="Card02:ic:ring"/>
          <p:cNvSpPr/>
          <p:nvPr/>
        </p:nvSpPr>
        <p:spPr>
          <a:xfrm>
            <a:off x="4896612" y="1911096"/>
            <a:ext cx="512064" cy="512064"/>
          </a:xfrm>
          <a:prstGeom prst="ellipse">
            <a:avLst/>
          </a:prstGeom>
          <a:solidFill>
            <a:schemeClr val="accent1">
              <a:alpha val="14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22" name="Card02:ic:icon" descr="/tmp/claude-0/-home-user-cjl-slides/2d3b8e9e-f79b-5597-abaf-c8c2d8571309/scratchpad/assets/ic_activit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4628" y="2039112"/>
            <a:ext cx="256032" cy="256032"/>
          </a:xfrm>
          <a:prstGeom prst="rect">
            <a:avLst/>
          </a:prstGeom>
        </p:spPr>
      </p:pic>
      <p:sp>
        <p:nvSpPr>
          <p:cNvPr id="23" name="Card02:num"/>
          <p:cNvSpPr txBox="1"/>
          <p:nvPr/>
        </p:nvSpPr>
        <p:spPr>
          <a:xfrm>
            <a:off x="5591556" y="1911096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800" dirty="0"/>
          </a:p>
        </p:txBody>
      </p:sp>
      <p:sp>
        <p:nvSpPr>
          <p:cNvPr id="24" name="Card02:title"/>
          <p:cNvSpPr txBox="1"/>
          <p:nvPr/>
        </p:nvSpPr>
        <p:spPr>
          <a:xfrm>
            <a:off x="4896612" y="2606040"/>
            <a:ext cx="3351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KPI &amp; ДИНАМИКА</a:t>
            </a:r>
            <a:endParaRPr lang="en-US" sz="2000" dirty="0"/>
          </a:p>
        </p:txBody>
      </p:sp>
      <p:sp>
        <p:nvSpPr>
          <p:cNvPr id="25" name="Card02:desc"/>
          <p:cNvSpPr txBox="1"/>
          <p:nvPr/>
        </p:nvSpPr>
        <p:spPr>
          <a:xfrm>
            <a:off x="4896612" y="3017520"/>
            <a:ext cx="33512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Изменение ключевых показателей</a:t>
            </a:r>
            <a:endParaRPr lang="en-US" sz="1200" dirty="0"/>
          </a:p>
        </p:txBody>
      </p:sp>
      <p:sp>
        <p:nvSpPr>
          <p:cNvPr id="26" name="Card02:arrowbg"/>
          <p:cNvSpPr/>
          <p:nvPr/>
        </p:nvSpPr>
        <p:spPr>
          <a:xfrm>
            <a:off x="7845552" y="1965960"/>
            <a:ext cx="402336" cy="402336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9525">
            <a:solidFill>
              <a:schemeClr val="accent1">
                <a:alpha val="55000"/>
              </a:schemeClr>
            </a:solidFill>
            <a:prstDash val="solid"/>
          </a:ln>
        </p:spPr>
      </p:sp>
      <p:pic>
        <p:nvPicPr>
          <p:cNvPr id="27" name="Card02:arrow" descr="/tmp/claude-0/-home-user-cjl-slides/2d3b8e9e-f79b-5597-abaf-c8c2d8571309/scratchpad/assets/ic_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6136" y="2066544"/>
            <a:ext cx="201168" cy="201168"/>
          </a:xfrm>
          <a:prstGeom prst="rect">
            <a:avLst/>
          </a:prstGeom>
        </p:spPr>
      </p:pic>
      <p:sp>
        <p:nvSpPr>
          <p:cNvPr id="28" name="Hotspot Card02 -&gt; slide 3">
            <a:hlinkClick r:id="rId102" action="ppaction://hlinksldjump" tooltip=""/>
          </p:cNvPr>
          <p:cNvSpPr/>
          <p:nvPr/>
        </p:nvSpPr>
        <p:spPr>
          <a:xfrm>
            <a:off x="4640580" y="1691640"/>
            <a:ext cx="3863340" cy="1920240"/>
          </a:xfrm>
          <a:prstGeom prst="roundRect">
            <a:avLst>
              <a:gd name="adj" fmla="val 7619"/>
            </a:avLst>
          </a:prstGeom>
          <a:solidFill>
            <a:schemeClr val="bg1">
              <a:alpha val="0"/>
            </a:schemeClr>
          </a:solidFill>
          <a:ln/>
        </p:spPr>
      </p:sp>
      <p:sp>
        <p:nvSpPr>
          <p:cNvPr id="29" name="Card03:bg"/>
          <p:cNvSpPr/>
          <p:nvPr/>
        </p:nvSpPr>
        <p:spPr>
          <a:xfrm>
            <a:off x="548640" y="3840480"/>
            <a:ext cx="2499360" cy="1920240"/>
          </a:xfrm>
          <a:prstGeom prst="roundRect">
            <a:avLst>
              <a:gd name="adj" fmla="val 7619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8000"/>
              </a:schemeClr>
            </a:solidFill>
            <a:prstDash val="solid"/>
          </a:ln>
        </p:spPr>
      </p:sp>
      <p:sp>
        <p:nvSpPr>
          <p:cNvPr id="30" name="Card03:ic:ring"/>
          <p:cNvSpPr/>
          <p:nvPr/>
        </p:nvSpPr>
        <p:spPr>
          <a:xfrm>
            <a:off x="804672" y="4059936"/>
            <a:ext cx="512064" cy="512064"/>
          </a:xfrm>
          <a:prstGeom prst="ellipse">
            <a:avLst/>
          </a:prstGeom>
          <a:solidFill>
            <a:schemeClr val="accent1">
              <a:alpha val="14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31" name="Card03:ic:icon" descr="/tmp/claude-0/-home-user-cjl-slides/2d3b8e9e-f79b-5597-abaf-c8c2d8571309/scratchpad/assets/ic_filt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4187952"/>
            <a:ext cx="256032" cy="256032"/>
          </a:xfrm>
          <a:prstGeom prst="rect">
            <a:avLst/>
          </a:prstGeom>
        </p:spPr>
      </p:pic>
      <p:sp>
        <p:nvSpPr>
          <p:cNvPr id="32" name="Card03:num"/>
          <p:cNvSpPr txBox="1"/>
          <p:nvPr/>
        </p:nvSpPr>
        <p:spPr>
          <a:xfrm>
            <a:off x="1499616" y="4059936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800" dirty="0"/>
          </a:p>
        </p:txBody>
      </p:sp>
      <p:sp>
        <p:nvSpPr>
          <p:cNvPr id="33" name="Card03:title"/>
          <p:cNvSpPr txBox="1"/>
          <p:nvPr/>
        </p:nvSpPr>
        <p:spPr>
          <a:xfrm>
            <a:off x="804672" y="4754880"/>
            <a:ext cx="1987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ВОРОНКА ПРОДАЖ</a:t>
            </a:r>
            <a:endParaRPr lang="en-US" sz="1500" dirty="0"/>
          </a:p>
        </p:txBody>
      </p:sp>
      <p:sp>
        <p:nvSpPr>
          <p:cNvPr id="34" name="Card03:desc"/>
          <p:cNvSpPr txBox="1"/>
          <p:nvPr/>
        </p:nvSpPr>
        <p:spPr>
          <a:xfrm>
            <a:off x="804672" y="5166360"/>
            <a:ext cx="1987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От лида до закрытой сделки</a:t>
            </a:r>
            <a:endParaRPr lang="en-US" sz="1200" dirty="0"/>
          </a:p>
        </p:txBody>
      </p:sp>
      <p:sp>
        <p:nvSpPr>
          <p:cNvPr id="35" name="Card03:arrowbg"/>
          <p:cNvSpPr/>
          <p:nvPr/>
        </p:nvSpPr>
        <p:spPr>
          <a:xfrm>
            <a:off x="2389632" y="4114800"/>
            <a:ext cx="402336" cy="402336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9525">
            <a:solidFill>
              <a:schemeClr val="accent1">
                <a:alpha val="55000"/>
              </a:schemeClr>
            </a:solidFill>
            <a:prstDash val="solid"/>
          </a:ln>
        </p:spPr>
      </p:sp>
      <p:pic>
        <p:nvPicPr>
          <p:cNvPr id="36" name="Card03:arrow" descr="/tmp/claude-0/-home-user-cjl-slides/2d3b8e9e-f79b-5597-abaf-c8c2d8571309/scratchpad/assets/ic_arr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90216" y="4215384"/>
            <a:ext cx="201168" cy="201168"/>
          </a:xfrm>
          <a:prstGeom prst="rect">
            <a:avLst/>
          </a:prstGeom>
        </p:spPr>
      </p:pic>
      <p:sp>
        <p:nvSpPr>
          <p:cNvPr id="37" name="Hotspot Card03 -&gt; slide 4">
            <a:hlinkClick r:id="rId103" action="ppaction://hlinksldjump" tooltip=""/>
          </p:cNvPr>
          <p:cNvSpPr/>
          <p:nvPr/>
        </p:nvSpPr>
        <p:spPr>
          <a:xfrm>
            <a:off x="548640" y="3840480"/>
            <a:ext cx="2499360" cy="1920240"/>
          </a:xfrm>
          <a:prstGeom prst="roundRect">
            <a:avLst>
              <a:gd name="adj" fmla="val 7619"/>
            </a:avLst>
          </a:prstGeom>
          <a:solidFill>
            <a:schemeClr val="bg1">
              <a:alpha val="0"/>
            </a:schemeClr>
          </a:solidFill>
          <a:ln/>
        </p:spPr>
      </p:sp>
      <p:sp>
        <p:nvSpPr>
          <p:cNvPr id="38" name="Card04:bg"/>
          <p:cNvSpPr/>
          <p:nvPr/>
        </p:nvSpPr>
        <p:spPr>
          <a:xfrm>
            <a:off x="3276600" y="3840480"/>
            <a:ext cx="2499360" cy="1920240"/>
          </a:xfrm>
          <a:prstGeom prst="roundRect">
            <a:avLst>
              <a:gd name="adj" fmla="val 7619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8000"/>
              </a:schemeClr>
            </a:solidFill>
            <a:prstDash val="solid"/>
          </a:ln>
        </p:spPr>
      </p:sp>
      <p:sp>
        <p:nvSpPr>
          <p:cNvPr id="39" name="Card04:ic:ring"/>
          <p:cNvSpPr/>
          <p:nvPr/>
        </p:nvSpPr>
        <p:spPr>
          <a:xfrm>
            <a:off x="3532632" y="4059936"/>
            <a:ext cx="512064" cy="512064"/>
          </a:xfrm>
          <a:prstGeom prst="ellipse">
            <a:avLst/>
          </a:prstGeom>
          <a:solidFill>
            <a:schemeClr val="accent1">
              <a:alpha val="14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40" name="Card04:ic:icon" descr="/tmp/claude-0/-home-user-cjl-slides/2d3b8e9e-f79b-5597-abaf-c8c2d8571309/scratchpad/assets/ic_targe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0648" y="4187952"/>
            <a:ext cx="256032" cy="256032"/>
          </a:xfrm>
          <a:prstGeom prst="rect">
            <a:avLst/>
          </a:prstGeom>
        </p:spPr>
      </p:pic>
      <p:sp>
        <p:nvSpPr>
          <p:cNvPr id="41" name="Card04:num"/>
          <p:cNvSpPr txBox="1"/>
          <p:nvPr/>
        </p:nvSpPr>
        <p:spPr>
          <a:xfrm>
            <a:off x="4227576" y="4059936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1800" dirty="0"/>
          </a:p>
        </p:txBody>
      </p:sp>
      <p:sp>
        <p:nvSpPr>
          <p:cNvPr id="42" name="Card04:title"/>
          <p:cNvSpPr txBox="1"/>
          <p:nvPr/>
        </p:nvSpPr>
        <p:spPr>
          <a:xfrm>
            <a:off x="3532632" y="4754880"/>
            <a:ext cx="1987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ТОЧКИ РОСТА</a:t>
            </a:r>
            <a:endParaRPr lang="en-US" sz="1500" dirty="0"/>
          </a:p>
        </p:txBody>
      </p:sp>
      <p:sp>
        <p:nvSpPr>
          <p:cNvPr id="43" name="Card04:desc"/>
          <p:cNvSpPr txBox="1"/>
          <p:nvPr/>
        </p:nvSpPr>
        <p:spPr>
          <a:xfrm>
            <a:off x="3532632" y="5166360"/>
            <a:ext cx="1987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Что мешает увеличению результата</a:t>
            </a:r>
            <a:endParaRPr lang="en-US" sz="1200" dirty="0"/>
          </a:p>
        </p:txBody>
      </p:sp>
      <p:sp>
        <p:nvSpPr>
          <p:cNvPr id="44" name="Card04:arrowbg"/>
          <p:cNvSpPr/>
          <p:nvPr/>
        </p:nvSpPr>
        <p:spPr>
          <a:xfrm>
            <a:off x="5117592" y="4114800"/>
            <a:ext cx="402336" cy="402336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9525">
            <a:solidFill>
              <a:schemeClr val="accent1">
                <a:alpha val="55000"/>
              </a:schemeClr>
            </a:solidFill>
            <a:prstDash val="solid"/>
          </a:ln>
        </p:spPr>
      </p:sp>
      <p:pic>
        <p:nvPicPr>
          <p:cNvPr id="45" name="Card04:arrow" descr="/tmp/claude-0/-home-user-cjl-slides/2d3b8e9e-f79b-5597-abaf-c8c2d8571309/scratchpad/assets/ic_arro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8176" y="4215384"/>
            <a:ext cx="201168" cy="201168"/>
          </a:xfrm>
          <a:prstGeom prst="rect">
            <a:avLst/>
          </a:prstGeom>
        </p:spPr>
      </p:pic>
      <p:sp>
        <p:nvSpPr>
          <p:cNvPr id="46" name="Hotspot Card04 -&gt; slide 5">
            <a:hlinkClick r:id="rId104" action="ppaction://hlinksldjump" tooltip=""/>
          </p:cNvPr>
          <p:cNvSpPr/>
          <p:nvPr/>
        </p:nvSpPr>
        <p:spPr>
          <a:xfrm>
            <a:off x="3276600" y="3840480"/>
            <a:ext cx="2499360" cy="1920240"/>
          </a:xfrm>
          <a:prstGeom prst="roundRect">
            <a:avLst>
              <a:gd name="adj" fmla="val 7619"/>
            </a:avLst>
          </a:prstGeom>
          <a:solidFill>
            <a:schemeClr val="bg1">
              <a:alpha val="0"/>
            </a:schemeClr>
          </a:solidFill>
          <a:ln/>
        </p:spPr>
      </p:sp>
      <p:sp>
        <p:nvSpPr>
          <p:cNvPr id="47" name="Card05:bg"/>
          <p:cNvSpPr/>
          <p:nvPr/>
        </p:nvSpPr>
        <p:spPr>
          <a:xfrm>
            <a:off x="6004560" y="3840480"/>
            <a:ext cx="2499360" cy="1920240"/>
          </a:xfrm>
          <a:prstGeom prst="roundRect">
            <a:avLst>
              <a:gd name="adj" fmla="val 7619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8000"/>
              </a:schemeClr>
            </a:solidFill>
            <a:prstDash val="solid"/>
          </a:ln>
        </p:spPr>
      </p:sp>
      <p:sp>
        <p:nvSpPr>
          <p:cNvPr id="48" name="Card05:ic:ring"/>
          <p:cNvSpPr/>
          <p:nvPr/>
        </p:nvSpPr>
        <p:spPr>
          <a:xfrm>
            <a:off x="6260592" y="4059936"/>
            <a:ext cx="512064" cy="512064"/>
          </a:xfrm>
          <a:prstGeom prst="ellipse">
            <a:avLst/>
          </a:prstGeom>
          <a:solidFill>
            <a:schemeClr val="accent1">
              <a:alpha val="14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49" name="Card05:ic:icon" descr="/tmp/claude-0/-home-user-cjl-slides/2d3b8e9e-f79b-5597-abaf-c8c2d8571309/scratchpad/assets/ic_slider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8608" y="4187952"/>
            <a:ext cx="256032" cy="256032"/>
          </a:xfrm>
          <a:prstGeom prst="rect">
            <a:avLst/>
          </a:prstGeom>
        </p:spPr>
      </p:pic>
      <p:sp>
        <p:nvSpPr>
          <p:cNvPr id="50" name="Card05:num"/>
          <p:cNvSpPr txBox="1"/>
          <p:nvPr/>
        </p:nvSpPr>
        <p:spPr>
          <a:xfrm>
            <a:off x="6955536" y="4059936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05</a:t>
            </a:r>
            <a:endParaRPr lang="en-US" sz="1800" dirty="0"/>
          </a:p>
        </p:txBody>
      </p:sp>
      <p:sp>
        <p:nvSpPr>
          <p:cNvPr id="51" name="Card05:title"/>
          <p:cNvSpPr txBox="1"/>
          <p:nvPr/>
        </p:nvSpPr>
        <p:spPr>
          <a:xfrm>
            <a:off x="6260592" y="4754880"/>
            <a:ext cx="1987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СЦЕНАРИИ</a:t>
            </a:r>
            <a:endParaRPr lang="en-US" sz="1500" dirty="0"/>
          </a:p>
        </p:txBody>
      </p:sp>
      <p:sp>
        <p:nvSpPr>
          <p:cNvPr id="52" name="Card05:desc"/>
          <p:cNvSpPr txBox="1"/>
          <p:nvPr/>
        </p:nvSpPr>
        <p:spPr>
          <a:xfrm>
            <a:off x="6260592" y="5166360"/>
            <a:ext cx="1987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Что произойдёт при изменении KPI</a:t>
            </a:r>
            <a:endParaRPr lang="en-US" sz="1200" dirty="0"/>
          </a:p>
        </p:txBody>
      </p:sp>
      <p:sp>
        <p:nvSpPr>
          <p:cNvPr id="53" name="Card05:arrowbg"/>
          <p:cNvSpPr/>
          <p:nvPr/>
        </p:nvSpPr>
        <p:spPr>
          <a:xfrm>
            <a:off x="7845552" y="4114800"/>
            <a:ext cx="402336" cy="402336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9525">
            <a:solidFill>
              <a:schemeClr val="accent1">
                <a:alpha val="55000"/>
              </a:schemeClr>
            </a:solidFill>
            <a:prstDash val="solid"/>
          </a:ln>
        </p:spPr>
      </p:sp>
      <p:pic>
        <p:nvPicPr>
          <p:cNvPr id="54" name="Card05:arrow" descr="/tmp/claude-0/-home-user-cjl-slides/2d3b8e9e-f79b-5597-abaf-c8c2d8571309/scratchpad/assets/ic_arrow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46136" y="4215384"/>
            <a:ext cx="201168" cy="201168"/>
          </a:xfrm>
          <a:prstGeom prst="rect">
            <a:avLst/>
          </a:prstGeom>
        </p:spPr>
      </p:pic>
      <p:sp>
        <p:nvSpPr>
          <p:cNvPr id="55" name="Hotspot Card05 -&gt; slide 6">
            <a:hlinkClick r:id="rId105" action="ppaction://hlinksldjump" tooltip=""/>
          </p:cNvPr>
          <p:cNvSpPr/>
          <p:nvPr/>
        </p:nvSpPr>
        <p:spPr>
          <a:xfrm>
            <a:off x="6004560" y="3840480"/>
            <a:ext cx="2499360" cy="1920240"/>
          </a:xfrm>
          <a:prstGeom prst="roundRect">
            <a:avLst>
              <a:gd name="adj" fmla="val 7619"/>
            </a:avLst>
          </a:prstGeom>
          <a:solidFill>
            <a:schemeClr val="bg1">
              <a:alpha val="0"/>
            </a:schemeClr>
          </a:solidFill>
          <a:ln/>
        </p:spPr>
      </p:sp>
      <p:sp>
        <p:nvSpPr>
          <p:cNvPr id="56" name="KPI:card"/>
          <p:cNvSpPr/>
          <p:nvPr/>
        </p:nvSpPr>
        <p:spPr>
          <a:xfrm>
            <a:off x="8778240" y="1691640"/>
            <a:ext cx="2880360" cy="4069080"/>
          </a:xfrm>
          <a:prstGeom prst="roundRect">
            <a:avLst>
              <a:gd name="adj" fmla="val 5079"/>
            </a:avLst>
          </a:prstGeom>
          <a:solidFill>
            <a:schemeClr val="tx1">
              <a:alpha val="86000"/>
            </a:schemeClr>
          </a:solidFill>
          <a:ln w="9525">
            <a:solidFill>
              <a:schemeClr val="accent4">
                <a:alpha val="32000"/>
              </a:schemeClr>
            </a:solidFill>
            <a:prstDash val="solid"/>
          </a:ln>
        </p:spPr>
      </p:sp>
      <p:sp>
        <p:nvSpPr>
          <p:cNvPr id="57" name="KPI:live"/>
          <p:cNvSpPr/>
          <p:nvPr/>
        </p:nvSpPr>
        <p:spPr>
          <a:xfrm>
            <a:off x="9006840" y="1938528"/>
            <a:ext cx="82296" cy="82296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58" name="KPI:head"/>
          <p:cNvSpPr txBox="1"/>
          <p:nvPr/>
        </p:nvSpPr>
        <p:spPr>
          <a:xfrm>
            <a:off x="9171432" y="18745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LIVE OVERVIEW</a:t>
            </a:r>
            <a:endParaRPr lang="en-US" sz="1100" dirty="0"/>
          </a:p>
        </p:txBody>
      </p:sp>
      <p:sp>
        <p:nvSpPr>
          <p:cNvPr id="59" name="KPI:revlabel"/>
          <p:cNvSpPr txBox="1"/>
          <p:nvPr/>
        </p:nvSpPr>
        <p:spPr>
          <a:xfrm>
            <a:off x="9006840" y="22585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REVENUE</a:t>
            </a:r>
            <a:endParaRPr lang="en-US" sz="1100" dirty="0"/>
          </a:p>
        </p:txBody>
      </p:sp>
      <p:sp>
        <p:nvSpPr>
          <p:cNvPr id="60" name="KPI:revvalue"/>
          <p:cNvSpPr txBox="1"/>
          <p:nvPr/>
        </p:nvSpPr>
        <p:spPr>
          <a:xfrm>
            <a:off x="9006840" y="247802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12.4M ₽</a:t>
            </a:r>
            <a:endParaRPr lang="en-US" sz="3200" dirty="0"/>
          </a:p>
        </p:txBody>
      </p:sp>
      <p:sp>
        <p:nvSpPr>
          <p:cNvPr id="61" name="KPI:revchip:bg"/>
          <p:cNvSpPr/>
          <p:nvPr/>
        </p:nvSpPr>
        <p:spPr>
          <a:xfrm>
            <a:off x="10607040" y="2596896"/>
            <a:ext cx="822960" cy="274320"/>
          </a:xfrm>
          <a:prstGeom prst="roundRect">
            <a:avLst>
              <a:gd name="adj" fmla="val 50000"/>
            </a:avLst>
          </a:prstGeom>
          <a:solidFill>
            <a:schemeClr val="accent6">
              <a:alpha val="18000"/>
            </a:schemeClr>
          </a:solidFill>
          <a:ln w="9525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62" name="KPI:revchip:txt"/>
          <p:cNvSpPr txBox="1"/>
          <p:nvPr/>
        </p:nvSpPr>
        <p:spPr>
          <a:xfrm>
            <a:off x="10607040" y="25968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+18.4%</a:t>
            </a:r>
            <a:endParaRPr lang="en-US" sz="1200" dirty="0"/>
          </a:p>
        </p:txBody>
      </p:sp>
      <p:graphicFrame>
        <p:nvGraphicFramePr>
          <p:cNvPr id="63" name="KPI:chart" descr=""/>
          <p:cNvGraphicFramePr/>
          <p:nvPr/>
        </p:nvGraphicFramePr>
        <p:xfrm>
          <a:off x="8869680" y="3063240"/>
          <a:ext cx="2697480" cy="960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2"/>
          </a:graphicData>
        </a:graphic>
      </p:graphicFrame>
      <p:sp>
        <p:nvSpPr>
          <p:cNvPr id="64" name="KPI:chartcap"/>
          <p:cNvSpPr txBox="1"/>
          <p:nvPr/>
        </p:nvSpPr>
        <p:spPr>
          <a:xfrm>
            <a:off x="9006840" y="4069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Динамика продаж, 12 мес.</a:t>
            </a:r>
            <a:endParaRPr lang="en-US" sz="1100" dirty="0"/>
          </a:p>
        </p:txBody>
      </p:sp>
      <p:sp>
        <p:nvSpPr>
          <p:cNvPr id="65" name="KPI:divider"/>
          <p:cNvSpPr/>
          <p:nvPr/>
        </p:nvSpPr>
        <p:spPr>
          <a:xfrm>
            <a:off x="9006840" y="4434840"/>
            <a:ext cx="2423160" cy="0"/>
          </a:xfrm>
          <a:prstGeom prst="line">
            <a:avLst/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66" name="KPI:convlabel"/>
          <p:cNvSpPr txBox="1"/>
          <p:nvPr/>
        </p:nvSpPr>
        <p:spPr>
          <a:xfrm>
            <a:off x="9006840" y="45628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CONVERSION</a:t>
            </a:r>
            <a:endParaRPr lang="en-US" sz="1100" dirty="0"/>
          </a:p>
        </p:txBody>
      </p:sp>
      <p:sp>
        <p:nvSpPr>
          <p:cNvPr id="67" name="KPI:convvalue"/>
          <p:cNvSpPr txBox="1"/>
          <p:nvPr/>
        </p:nvSpPr>
        <p:spPr>
          <a:xfrm>
            <a:off x="9006840" y="48006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24.8%</a:t>
            </a:r>
            <a:endParaRPr lang="en-US" sz="2600" dirty="0"/>
          </a:p>
        </p:txBody>
      </p:sp>
      <p:sp>
        <p:nvSpPr>
          <p:cNvPr id="68" name="KPI:convchip:bg"/>
          <p:cNvSpPr/>
          <p:nvPr/>
        </p:nvSpPr>
        <p:spPr>
          <a:xfrm>
            <a:off x="9006840" y="5321808"/>
            <a:ext cx="731520" cy="256032"/>
          </a:xfrm>
          <a:prstGeom prst="roundRect">
            <a:avLst>
              <a:gd name="adj" fmla="val 50000"/>
            </a:avLst>
          </a:prstGeom>
          <a:solidFill>
            <a:schemeClr val="accent6">
              <a:alpha val="18000"/>
            </a:schemeClr>
          </a:solidFill>
          <a:ln w="9525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69" name="KPI:convchip:txt"/>
          <p:cNvSpPr txBox="1"/>
          <p:nvPr/>
        </p:nvSpPr>
        <p:spPr>
          <a:xfrm>
            <a:off x="9006840" y="53218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+3.2%</a:t>
            </a:r>
            <a:endParaRPr lang="en-US" sz="1200" dirty="0"/>
          </a:p>
        </p:txBody>
      </p:sp>
      <p:sp>
        <p:nvSpPr>
          <p:cNvPr id="70" name="KPI:planlabel"/>
          <p:cNvSpPr txBox="1"/>
          <p:nvPr/>
        </p:nvSpPr>
        <p:spPr>
          <a:xfrm>
            <a:off x="10424160" y="45628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PLAN</a:t>
            </a:r>
            <a:endParaRPr lang="en-US" sz="1100" dirty="0"/>
          </a:p>
        </p:txBody>
      </p:sp>
      <p:sp>
        <p:nvSpPr>
          <p:cNvPr id="71" name="KPI:planvalue"/>
          <p:cNvSpPr txBox="1"/>
          <p:nvPr/>
        </p:nvSpPr>
        <p:spPr>
          <a:xfrm>
            <a:off x="10424160" y="4800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92%</a:t>
            </a:r>
            <a:endParaRPr lang="en-US" sz="2600" dirty="0"/>
          </a:p>
        </p:txBody>
      </p:sp>
      <p:sp>
        <p:nvSpPr>
          <p:cNvPr id="72" name="KPI:plantrack"/>
          <p:cNvSpPr/>
          <p:nvPr/>
        </p:nvSpPr>
        <p:spPr>
          <a:xfrm>
            <a:off x="10424160" y="5394960"/>
            <a:ext cx="1005840" cy="109728"/>
          </a:xfrm>
          <a:prstGeom prst="roundRect">
            <a:avLst>
              <a:gd name="adj" fmla="val 50000"/>
            </a:avLst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73" name="KPI:planfill"/>
          <p:cNvSpPr/>
          <p:nvPr/>
        </p:nvSpPr>
        <p:spPr>
          <a:xfrm>
            <a:off x="10424160" y="5394960"/>
            <a:ext cx="925373" cy="1097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74" name="DS:icbg"/>
          <p:cNvSpPr/>
          <p:nvPr/>
        </p:nvSpPr>
        <p:spPr>
          <a:xfrm>
            <a:off x="548640" y="5989320"/>
            <a:ext cx="512064" cy="512064"/>
          </a:xfrm>
          <a:prstGeom prst="roundRect">
            <a:avLst>
              <a:gd name="adj" fmla="val 21429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bg1">
                <a:alpha val="30000"/>
              </a:schemeClr>
            </a:solidFill>
            <a:prstDash val="solid"/>
          </a:ln>
        </p:spPr>
      </p:sp>
      <p:pic>
        <p:nvPicPr>
          <p:cNvPr id="75" name="DS:icon" descr="Microsoft Excel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7512" y="6108192"/>
            <a:ext cx="274320" cy="274320"/>
          </a:xfrm>
          <a:prstGeom prst="rect">
            <a:avLst/>
          </a:prstGeom>
        </p:spPr>
      </p:pic>
      <p:sp>
        <p:nvSpPr>
          <p:cNvPr id="76" name="DS:label"/>
          <p:cNvSpPr txBox="1"/>
          <p:nvPr/>
        </p:nvSpPr>
        <p:spPr>
          <a:xfrm>
            <a:off x="1188720" y="59710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DATA SOURCE</a:t>
            </a:r>
            <a:endParaRPr lang="en-US" sz="1000" dirty="0"/>
          </a:p>
        </p:txBody>
      </p:sp>
      <p:sp>
        <p:nvSpPr>
          <p:cNvPr id="77" name="DS:name"/>
          <p:cNvSpPr txBox="1"/>
          <p:nvPr/>
        </p:nvSpPr>
        <p:spPr>
          <a:xfrm>
            <a:off x="1188720" y="615391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Microsoft Excel</a:t>
            </a:r>
            <a:endParaRPr lang="en-US" sz="1400" dirty="0"/>
          </a:p>
        </p:txBody>
      </p:sp>
      <p:sp>
        <p:nvSpPr>
          <p:cNvPr id="78" name="DS:dot"/>
          <p:cNvSpPr/>
          <p:nvPr/>
        </p:nvSpPr>
        <p:spPr>
          <a:xfrm>
            <a:off x="1188720" y="6437376"/>
            <a:ext cx="73152" cy="73152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79" name="DS:status"/>
          <p:cNvSpPr txBox="1"/>
          <p:nvPr/>
        </p:nvSpPr>
        <p:spPr>
          <a:xfrm>
            <a:off x="1325880" y="63825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Updated automatically</a:t>
            </a:r>
            <a:endParaRPr lang="en-US" sz="1100" dirty="0"/>
          </a:p>
        </p:txBody>
      </p:sp>
      <p:sp>
        <p:nvSpPr>
          <p:cNvPr id="80" name="Update:bg"/>
          <p:cNvSpPr/>
          <p:nvPr/>
        </p:nvSpPr>
        <p:spPr>
          <a:xfrm>
            <a:off x="3611880" y="6035040"/>
            <a:ext cx="2011680" cy="420624"/>
          </a:xfrm>
          <a:prstGeom prst="roundRect">
            <a:avLst>
              <a:gd name="adj" fmla="val 50000"/>
            </a:avLst>
          </a:prstGeom>
          <a:solidFill>
            <a:schemeClr val="accent1">
              <a:alpha val="14000"/>
            </a:schemeClr>
          </a:solidFill>
          <a:ln w="9525">
            <a:solidFill>
              <a:schemeClr val="accent1">
                <a:alpha val="55000"/>
              </a:schemeClr>
            </a:solidFill>
            <a:prstDash val="solid"/>
          </a:ln>
        </p:spPr>
      </p:sp>
      <p:pic>
        <p:nvPicPr>
          <p:cNvPr id="81" name="Update:icon" descr="/tmp/claude-0/-home-user-cjl-slides/2d3b8e9e-f79b-5597-abaf-c8c2d8571309/scratchpad/assets/ic_refresh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85616" y="6144768"/>
            <a:ext cx="201168" cy="201168"/>
          </a:xfrm>
          <a:prstGeom prst="rect">
            <a:avLst/>
          </a:prstGeom>
        </p:spPr>
      </p:pic>
      <p:sp>
        <p:nvSpPr>
          <p:cNvPr id="82" name="Update:txt"/>
          <p:cNvSpPr txBox="1"/>
          <p:nvPr/>
        </p:nvSpPr>
        <p:spPr>
          <a:xfrm>
            <a:off x="4096512" y="603504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UPDATE DATA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rand:dot"/>
          <p:cNvSpPr/>
          <p:nvPr/>
        </p:nvSpPr>
        <p:spPr>
          <a:xfrm>
            <a:off x="548640" y="429768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Brand:name"/>
          <p:cNvSpPr txBox="1"/>
          <p:nvPr/>
        </p:nvSpPr>
        <p:spPr>
          <a:xfrm>
            <a:off x="731520" y="3657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SALES CONTROL ROOM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ОБЩАЯ КАРТИНА</a:t>
            </a:r>
            <a:endParaRPr lang="en-US" sz="3000" dirty="0"/>
          </a:p>
        </p:txBody>
      </p:sp>
      <p:sp>
        <p:nvSpPr>
          <p:cNvPr id="6" name="Subtitle"/>
          <p:cNvSpPr txBox="1"/>
          <p:nvPr/>
        </p:nvSpPr>
        <p:spPr>
          <a:xfrm>
            <a:off x="548640" y="12070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Выручка, план, KPI и динамика</a:t>
            </a:r>
            <a:endParaRPr lang="en-US" sz="1500" dirty="0"/>
          </a:p>
        </p:txBody>
      </p:sp>
      <p:sp>
        <p:nvSpPr>
          <p:cNvPr id="7" name="HOME:bg"/>
          <p:cNvSpPr/>
          <p:nvPr/>
        </p:nvSpPr>
        <p:spPr>
          <a:xfrm>
            <a:off x="10652760" y="365760"/>
            <a:ext cx="1005840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8" name="HOME:icon" descr="/tmp/claude-0/-home-user-cjl-slides/2d3b8e9e-f79b-5597-abaf-c8c2d8571309/scratchpad/assets/ic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466344"/>
            <a:ext cx="182880" cy="182880"/>
          </a:xfrm>
          <a:prstGeom prst="rect">
            <a:avLst/>
          </a:prstGeom>
        </p:spPr>
      </p:pic>
      <p:sp>
        <p:nvSpPr>
          <p:cNvPr id="9" name="HOME:txt"/>
          <p:cNvSpPr txBox="1"/>
          <p:nvPr/>
        </p:nvSpPr>
        <p:spPr>
          <a:xfrm>
            <a:off x="11036808" y="365760"/>
            <a:ext cx="585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HOME</a:t>
            </a:r>
            <a:endParaRPr lang="en-US" sz="1100" dirty="0"/>
          </a:p>
        </p:txBody>
      </p:sp>
      <p:sp>
        <p:nvSpPr>
          <p:cNvPr id="10" name="Hotspot HOME -&gt; slide 2">
            <a:hlinkClick r:id="rId100" action="ppaction://hlinksldjump" tooltip=""/>
          </p:cNvPr>
          <p:cNvSpPr/>
          <p:nvPr/>
        </p:nvSpPr>
        <p:spPr>
          <a:xfrm>
            <a:off x="10652760" y="365760"/>
            <a:ext cx="1005840" cy="384048"/>
          </a:xfrm>
          <a:prstGeom prst="roundRect">
            <a:avLst>
              <a:gd name="adj" fmla="val 38095"/>
            </a:avLst>
          </a:prstGeom>
          <a:solidFill>
            <a:schemeClr val="bg1">
              <a:alpha val="0"/>
            </a:schemeClr>
          </a:solidFill>
          <a:ln/>
        </p:spPr>
      </p:sp>
      <p:sp>
        <p:nvSpPr>
          <p:cNvPr id="11" name="Panel"/>
          <p:cNvSpPr/>
          <p:nvPr/>
        </p:nvSpPr>
        <p:spPr>
          <a:xfrm>
            <a:off x="548640" y="1691640"/>
            <a:ext cx="11109960" cy="4069080"/>
          </a:xfrm>
          <a:prstGeom prst="roundRect">
            <a:avLst>
              <a:gd name="adj" fmla="val 3596"/>
            </a:avLst>
          </a:prstGeom>
          <a:solidFill>
            <a:schemeClr val="bg1">
              <a:alpha val="8000"/>
            </a:schemeClr>
          </a:solidFill>
          <a:ln w="9525">
            <a:solidFill>
              <a:schemeClr val="bg1">
                <a:alpha val="25000"/>
              </a:schemeClr>
            </a:solidFill>
            <a:prstDash val="solid"/>
          </a:ln>
        </p:spPr>
      </p:sp>
      <p:sp>
        <p:nvSpPr>
          <p:cNvPr id="12" name="Stub:ring"/>
          <p:cNvSpPr/>
          <p:nvPr/>
        </p:nvSpPr>
        <p:spPr>
          <a:xfrm>
            <a:off x="5684368" y="2514600"/>
            <a:ext cx="822960" cy="822960"/>
          </a:xfrm>
          <a:prstGeom prst="ellipse">
            <a:avLst/>
          </a:prstGeom>
          <a:solidFill>
            <a:schemeClr val="accent1">
              <a:alpha val="14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13" name="Stub:icon" descr="/tmp/claude-0/-home-user-cjl-slides/2d3b8e9e-f79b-5597-abaf-c8c2d8571309/scratchpad/assets/ic_p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108" y="2720340"/>
            <a:ext cx="411480" cy="411480"/>
          </a:xfrm>
          <a:prstGeom prst="rect">
            <a:avLst/>
          </a:prstGeom>
        </p:spPr>
      </p:pic>
      <p:sp>
        <p:nvSpPr>
          <p:cNvPr id="14" name="Stub:label"/>
          <p:cNvSpPr txBox="1"/>
          <p:nvPr/>
        </p:nvSpPr>
        <p:spPr>
          <a:xfrm>
            <a:off x="1828800" y="3566160"/>
            <a:ext cx="8534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chemeClr val="bg1"/>
                </a:solidFill>
              </a:rPr>
              <a:t>СЛАЙД 3 · РАЗДЕЛ В РАЗРАБОТКЕ</a:t>
            </a:r>
            <a:endParaRPr lang="en-US" sz="1800" dirty="0"/>
          </a:p>
        </p:txBody>
      </p:sp>
      <p:sp>
        <p:nvSpPr>
          <p:cNvPr id="15" name="Stub:hint"/>
          <p:cNvSpPr txBox="1"/>
          <p:nvPr/>
        </p:nvSpPr>
        <p:spPr>
          <a:xfrm>
            <a:off x="1828800" y="4023360"/>
            <a:ext cx="8534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Содержимое появится на следующем шаге. Навигация и кнопка HOME уже работают.</a:t>
            </a:r>
            <a:endParaRPr lang="en-US" sz="1400" dirty="0"/>
          </a:p>
        </p:txBody>
      </p:sp>
      <p:sp>
        <p:nvSpPr>
          <p:cNvPr id="16" name="Back:bg"/>
          <p:cNvSpPr/>
          <p:nvPr/>
        </p:nvSpPr>
        <p:spPr>
          <a:xfrm>
            <a:off x="4404208" y="4709160"/>
            <a:ext cx="3383280" cy="502920"/>
          </a:xfrm>
          <a:prstGeom prst="roundRect">
            <a:avLst>
              <a:gd name="adj" fmla="val 49091"/>
            </a:avLst>
          </a:prstGeom>
          <a:solidFill>
            <a:schemeClr val="accent1">
              <a:alpha val="14000"/>
            </a:schemeClr>
          </a:solidFill>
          <a:ln w="9525">
            <a:solidFill>
              <a:schemeClr val="accent1">
                <a:alpha val="55000"/>
              </a:schemeClr>
            </a:solidFill>
            <a:prstDash val="solid"/>
          </a:ln>
        </p:spPr>
      </p:sp>
      <p:pic>
        <p:nvPicPr>
          <p:cNvPr id="17" name="Back:icon" descr="/tmp/claude-0/-home-user-cjl-slides/2d3b8e9e-f79b-5597-abaf-c8c2d8571309/scratchpad/assets/ic_ba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528" y="4846320"/>
            <a:ext cx="228600" cy="228600"/>
          </a:xfrm>
          <a:prstGeom prst="rect">
            <a:avLst/>
          </a:prstGeom>
        </p:spPr>
      </p:pic>
      <p:sp>
        <p:nvSpPr>
          <p:cNvPr id="18" name="Back:txt"/>
          <p:cNvSpPr txBox="1"/>
          <p:nvPr/>
        </p:nvSpPr>
        <p:spPr>
          <a:xfrm>
            <a:off x="5044288" y="4709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К ЦЕНТРУ УПРАВЛЕНИЯ</a:t>
            </a:r>
            <a:endParaRPr lang="en-US" sz="1200" dirty="0"/>
          </a:p>
        </p:txBody>
      </p:sp>
      <p:sp>
        <p:nvSpPr>
          <p:cNvPr id="19" name="Hotspot BackHit -&gt; slide 2">
            <a:hlinkClick r:id="rId101" action="ppaction://hlinksldjump" tooltip=""/>
          </p:cNvPr>
          <p:cNvSpPr/>
          <p:nvPr/>
        </p:nvSpPr>
        <p:spPr>
          <a:xfrm>
            <a:off x="4404208" y="4709160"/>
            <a:ext cx="3383280" cy="502920"/>
          </a:xfrm>
          <a:prstGeom prst="roundRect">
            <a:avLst>
              <a:gd name="adj" fmla="val 29091"/>
            </a:avLst>
          </a:prstGeom>
          <a:solidFill>
            <a:schemeClr val="bg1">
              <a:alpha val="0"/>
            </a:schemeClr>
          </a:solidFill>
          <a:ln/>
        </p:spPr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rand:dot"/>
          <p:cNvSpPr/>
          <p:nvPr/>
        </p:nvSpPr>
        <p:spPr>
          <a:xfrm>
            <a:off x="548640" y="429768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Brand:name"/>
          <p:cNvSpPr txBox="1"/>
          <p:nvPr/>
        </p:nvSpPr>
        <p:spPr>
          <a:xfrm>
            <a:off x="731520" y="3657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SALES CONTROL ROOM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ВОРОНКА ПРОДАЖ</a:t>
            </a:r>
            <a:endParaRPr lang="en-US" sz="3000" dirty="0"/>
          </a:p>
        </p:txBody>
      </p:sp>
      <p:sp>
        <p:nvSpPr>
          <p:cNvPr id="6" name="Subtitle"/>
          <p:cNvSpPr txBox="1"/>
          <p:nvPr/>
        </p:nvSpPr>
        <p:spPr>
          <a:xfrm>
            <a:off x="548640" y="12070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От лида до закрытой сделки</a:t>
            </a:r>
            <a:endParaRPr lang="en-US" sz="1500" dirty="0"/>
          </a:p>
        </p:txBody>
      </p:sp>
      <p:sp>
        <p:nvSpPr>
          <p:cNvPr id="7" name="HOME:bg"/>
          <p:cNvSpPr/>
          <p:nvPr/>
        </p:nvSpPr>
        <p:spPr>
          <a:xfrm>
            <a:off x="10652760" y="365760"/>
            <a:ext cx="1005840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8" name="HOME:icon" descr="/tmp/claude-0/-home-user-cjl-slides/2d3b8e9e-f79b-5597-abaf-c8c2d8571309/scratchpad/assets/ic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466344"/>
            <a:ext cx="182880" cy="182880"/>
          </a:xfrm>
          <a:prstGeom prst="rect">
            <a:avLst/>
          </a:prstGeom>
        </p:spPr>
      </p:pic>
      <p:sp>
        <p:nvSpPr>
          <p:cNvPr id="9" name="HOME:txt"/>
          <p:cNvSpPr txBox="1"/>
          <p:nvPr/>
        </p:nvSpPr>
        <p:spPr>
          <a:xfrm>
            <a:off x="11036808" y="365760"/>
            <a:ext cx="585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HOME</a:t>
            </a:r>
            <a:endParaRPr lang="en-US" sz="1100" dirty="0"/>
          </a:p>
        </p:txBody>
      </p:sp>
      <p:sp>
        <p:nvSpPr>
          <p:cNvPr id="10" name="Hotspot HOME -&gt; slide 2">
            <a:hlinkClick r:id="rId100" action="ppaction://hlinksldjump" tooltip=""/>
          </p:cNvPr>
          <p:cNvSpPr/>
          <p:nvPr/>
        </p:nvSpPr>
        <p:spPr>
          <a:xfrm>
            <a:off x="10652760" y="365760"/>
            <a:ext cx="1005840" cy="384048"/>
          </a:xfrm>
          <a:prstGeom prst="roundRect">
            <a:avLst>
              <a:gd name="adj" fmla="val 38095"/>
            </a:avLst>
          </a:prstGeom>
          <a:solidFill>
            <a:schemeClr val="bg1">
              <a:alpha val="0"/>
            </a:schemeClr>
          </a:solidFill>
          <a:ln/>
        </p:spPr>
      </p:sp>
      <p:sp>
        <p:nvSpPr>
          <p:cNvPr id="11" name="Panel"/>
          <p:cNvSpPr/>
          <p:nvPr/>
        </p:nvSpPr>
        <p:spPr>
          <a:xfrm>
            <a:off x="548640" y="1691640"/>
            <a:ext cx="11109960" cy="4069080"/>
          </a:xfrm>
          <a:prstGeom prst="roundRect">
            <a:avLst>
              <a:gd name="adj" fmla="val 3596"/>
            </a:avLst>
          </a:prstGeom>
          <a:solidFill>
            <a:schemeClr val="bg1">
              <a:alpha val="8000"/>
            </a:schemeClr>
          </a:solidFill>
          <a:ln w="9525">
            <a:solidFill>
              <a:schemeClr val="bg1">
                <a:alpha val="25000"/>
              </a:schemeClr>
            </a:solidFill>
            <a:prstDash val="solid"/>
          </a:ln>
        </p:spPr>
      </p:sp>
      <p:sp>
        <p:nvSpPr>
          <p:cNvPr id="12" name="Stub:ring"/>
          <p:cNvSpPr/>
          <p:nvPr/>
        </p:nvSpPr>
        <p:spPr>
          <a:xfrm>
            <a:off x="5684368" y="2514600"/>
            <a:ext cx="822960" cy="822960"/>
          </a:xfrm>
          <a:prstGeom prst="ellipse">
            <a:avLst/>
          </a:prstGeom>
          <a:solidFill>
            <a:schemeClr val="accent1">
              <a:alpha val="14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13" name="Stub:icon" descr="/tmp/claude-0/-home-user-cjl-slides/2d3b8e9e-f79b-5597-abaf-c8c2d8571309/scratchpad/assets/ic_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108" y="2720340"/>
            <a:ext cx="411480" cy="411480"/>
          </a:xfrm>
          <a:prstGeom prst="rect">
            <a:avLst/>
          </a:prstGeom>
        </p:spPr>
      </p:pic>
      <p:sp>
        <p:nvSpPr>
          <p:cNvPr id="14" name="Stub:label"/>
          <p:cNvSpPr txBox="1"/>
          <p:nvPr/>
        </p:nvSpPr>
        <p:spPr>
          <a:xfrm>
            <a:off x="1828800" y="3566160"/>
            <a:ext cx="8534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chemeClr val="bg1"/>
                </a:solidFill>
              </a:rPr>
              <a:t>СЛАЙД 4 · РАЗДЕЛ В РАЗРАБОТКЕ</a:t>
            </a:r>
            <a:endParaRPr lang="en-US" sz="1800" dirty="0"/>
          </a:p>
        </p:txBody>
      </p:sp>
      <p:sp>
        <p:nvSpPr>
          <p:cNvPr id="15" name="Stub:hint"/>
          <p:cNvSpPr txBox="1"/>
          <p:nvPr/>
        </p:nvSpPr>
        <p:spPr>
          <a:xfrm>
            <a:off x="1828800" y="4023360"/>
            <a:ext cx="8534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Содержимое появится на следующем шаге. Навигация и кнопка HOME уже работают.</a:t>
            </a:r>
            <a:endParaRPr lang="en-US" sz="1400" dirty="0"/>
          </a:p>
        </p:txBody>
      </p:sp>
      <p:sp>
        <p:nvSpPr>
          <p:cNvPr id="16" name="Back:bg"/>
          <p:cNvSpPr/>
          <p:nvPr/>
        </p:nvSpPr>
        <p:spPr>
          <a:xfrm>
            <a:off x="4404208" y="4709160"/>
            <a:ext cx="3383280" cy="502920"/>
          </a:xfrm>
          <a:prstGeom prst="roundRect">
            <a:avLst>
              <a:gd name="adj" fmla="val 49091"/>
            </a:avLst>
          </a:prstGeom>
          <a:solidFill>
            <a:schemeClr val="accent1">
              <a:alpha val="14000"/>
            </a:schemeClr>
          </a:solidFill>
          <a:ln w="9525">
            <a:solidFill>
              <a:schemeClr val="accent1">
                <a:alpha val="55000"/>
              </a:schemeClr>
            </a:solidFill>
            <a:prstDash val="solid"/>
          </a:ln>
        </p:spPr>
      </p:sp>
      <p:pic>
        <p:nvPicPr>
          <p:cNvPr id="17" name="Back:icon" descr="/tmp/claude-0/-home-user-cjl-slides/2d3b8e9e-f79b-5597-abaf-c8c2d8571309/scratchpad/assets/ic_ba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528" y="4846320"/>
            <a:ext cx="228600" cy="228600"/>
          </a:xfrm>
          <a:prstGeom prst="rect">
            <a:avLst/>
          </a:prstGeom>
        </p:spPr>
      </p:pic>
      <p:sp>
        <p:nvSpPr>
          <p:cNvPr id="18" name="Back:txt"/>
          <p:cNvSpPr txBox="1"/>
          <p:nvPr/>
        </p:nvSpPr>
        <p:spPr>
          <a:xfrm>
            <a:off x="5044288" y="4709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К ЦЕНТРУ УПРАВЛЕНИЯ</a:t>
            </a:r>
            <a:endParaRPr lang="en-US" sz="1200" dirty="0"/>
          </a:p>
        </p:txBody>
      </p:sp>
      <p:sp>
        <p:nvSpPr>
          <p:cNvPr id="19" name="Hotspot BackHit -&gt; slide 2">
            <a:hlinkClick r:id="rId101" action="ppaction://hlinksldjump" tooltip=""/>
          </p:cNvPr>
          <p:cNvSpPr/>
          <p:nvPr/>
        </p:nvSpPr>
        <p:spPr>
          <a:xfrm>
            <a:off x="4404208" y="4709160"/>
            <a:ext cx="3383280" cy="502920"/>
          </a:xfrm>
          <a:prstGeom prst="roundRect">
            <a:avLst>
              <a:gd name="adj" fmla="val 29091"/>
            </a:avLst>
          </a:prstGeom>
          <a:solidFill>
            <a:schemeClr val="bg1">
              <a:alpha val="0"/>
            </a:schemeClr>
          </a:solidFill>
          <a:ln/>
        </p:spPr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rand:dot"/>
          <p:cNvSpPr/>
          <p:nvPr/>
        </p:nvSpPr>
        <p:spPr>
          <a:xfrm>
            <a:off x="548640" y="429768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Brand:name"/>
          <p:cNvSpPr txBox="1"/>
          <p:nvPr/>
        </p:nvSpPr>
        <p:spPr>
          <a:xfrm>
            <a:off x="731520" y="3657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SALES CONTROL ROOM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ТОЧКИ РОСТА</a:t>
            </a:r>
            <a:endParaRPr lang="en-US" sz="3000" dirty="0"/>
          </a:p>
        </p:txBody>
      </p:sp>
      <p:sp>
        <p:nvSpPr>
          <p:cNvPr id="6" name="Subtitle"/>
          <p:cNvSpPr txBox="1"/>
          <p:nvPr/>
        </p:nvSpPr>
        <p:spPr>
          <a:xfrm>
            <a:off x="548640" y="12070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Что мешает увеличению результата</a:t>
            </a:r>
            <a:endParaRPr lang="en-US" sz="1500" dirty="0"/>
          </a:p>
        </p:txBody>
      </p:sp>
      <p:sp>
        <p:nvSpPr>
          <p:cNvPr id="7" name="HOME:bg"/>
          <p:cNvSpPr/>
          <p:nvPr/>
        </p:nvSpPr>
        <p:spPr>
          <a:xfrm>
            <a:off x="10652760" y="365760"/>
            <a:ext cx="1005840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8" name="HOME:icon" descr="/tmp/claude-0/-home-user-cjl-slides/2d3b8e9e-f79b-5597-abaf-c8c2d8571309/scratchpad/assets/ic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466344"/>
            <a:ext cx="182880" cy="182880"/>
          </a:xfrm>
          <a:prstGeom prst="rect">
            <a:avLst/>
          </a:prstGeom>
        </p:spPr>
      </p:pic>
      <p:sp>
        <p:nvSpPr>
          <p:cNvPr id="9" name="HOME:txt"/>
          <p:cNvSpPr txBox="1"/>
          <p:nvPr/>
        </p:nvSpPr>
        <p:spPr>
          <a:xfrm>
            <a:off x="11036808" y="365760"/>
            <a:ext cx="585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HOME</a:t>
            </a:r>
            <a:endParaRPr lang="en-US" sz="1100" dirty="0"/>
          </a:p>
        </p:txBody>
      </p:sp>
      <p:sp>
        <p:nvSpPr>
          <p:cNvPr id="10" name="Hotspot HOME -&gt; slide 2">
            <a:hlinkClick r:id="rId100" action="ppaction://hlinksldjump" tooltip=""/>
          </p:cNvPr>
          <p:cNvSpPr/>
          <p:nvPr/>
        </p:nvSpPr>
        <p:spPr>
          <a:xfrm>
            <a:off x="10652760" y="365760"/>
            <a:ext cx="1005840" cy="384048"/>
          </a:xfrm>
          <a:prstGeom prst="roundRect">
            <a:avLst>
              <a:gd name="adj" fmla="val 38095"/>
            </a:avLst>
          </a:prstGeom>
          <a:solidFill>
            <a:schemeClr val="bg1">
              <a:alpha val="0"/>
            </a:schemeClr>
          </a:solidFill>
          <a:ln/>
        </p:spPr>
      </p:sp>
      <p:sp>
        <p:nvSpPr>
          <p:cNvPr id="11" name="Panel"/>
          <p:cNvSpPr/>
          <p:nvPr/>
        </p:nvSpPr>
        <p:spPr>
          <a:xfrm>
            <a:off x="548640" y="1691640"/>
            <a:ext cx="11109960" cy="4069080"/>
          </a:xfrm>
          <a:prstGeom prst="roundRect">
            <a:avLst>
              <a:gd name="adj" fmla="val 3596"/>
            </a:avLst>
          </a:prstGeom>
          <a:solidFill>
            <a:schemeClr val="bg1">
              <a:alpha val="8000"/>
            </a:schemeClr>
          </a:solidFill>
          <a:ln w="9525">
            <a:solidFill>
              <a:schemeClr val="bg1">
                <a:alpha val="25000"/>
              </a:schemeClr>
            </a:solidFill>
            <a:prstDash val="solid"/>
          </a:ln>
        </p:spPr>
      </p:sp>
      <p:sp>
        <p:nvSpPr>
          <p:cNvPr id="12" name="Stub:ring"/>
          <p:cNvSpPr/>
          <p:nvPr/>
        </p:nvSpPr>
        <p:spPr>
          <a:xfrm>
            <a:off x="5684368" y="2514600"/>
            <a:ext cx="822960" cy="822960"/>
          </a:xfrm>
          <a:prstGeom prst="ellipse">
            <a:avLst/>
          </a:prstGeom>
          <a:solidFill>
            <a:schemeClr val="accent1">
              <a:alpha val="14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13" name="Stub:icon" descr="/tmp/claude-0/-home-user-cjl-slides/2d3b8e9e-f79b-5597-abaf-c8c2d8571309/scratchpad/assets/ic_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108" y="2720340"/>
            <a:ext cx="411480" cy="411480"/>
          </a:xfrm>
          <a:prstGeom prst="rect">
            <a:avLst/>
          </a:prstGeom>
        </p:spPr>
      </p:pic>
      <p:sp>
        <p:nvSpPr>
          <p:cNvPr id="14" name="Stub:label"/>
          <p:cNvSpPr txBox="1"/>
          <p:nvPr/>
        </p:nvSpPr>
        <p:spPr>
          <a:xfrm>
            <a:off x="1828800" y="3566160"/>
            <a:ext cx="8534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chemeClr val="bg1"/>
                </a:solidFill>
              </a:rPr>
              <a:t>СЛАЙД 5 · РАЗДЕЛ В РАЗРАБОТКЕ</a:t>
            </a:r>
            <a:endParaRPr lang="en-US" sz="1800" dirty="0"/>
          </a:p>
        </p:txBody>
      </p:sp>
      <p:sp>
        <p:nvSpPr>
          <p:cNvPr id="15" name="Stub:hint"/>
          <p:cNvSpPr txBox="1"/>
          <p:nvPr/>
        </p:nvSpPr>
        <p:spPr>
          <a:xfrm>
            <a:off x="1828800" y="4023360"/>
            <a:ext cx="8534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Содержимое появится на следующем шаге. Навигация и кнопка HOME уже работают.</a:t>
            </a:r>
            <a:endParaRPr lang="en-US" sz="1400" dirty="0"/>
          </a:p>
        </p:txBody>
      </p:sp>
      <p:sp>
        <p:nvSpPr>
          <p:cNvPr id="16" name="Back:bg"/>
          <p:cNvSpPr/>
          <p:nvPr/>
        </p:nvSpPr>
        <p:spPr>
          <a:xfrm>
            <a:off x="4404208" y="4709160"/>
            <a:ext cx="3383280" cy="502920"/>
          </a:xfrm>
          <a:prstGeom prst="roundRect">
            <a:avLst>
              <a:gd name="adj" fmla="val 49091"/>
            </a:avLst>
          </a:prstGeom>
          <a:solidFill>
            <a:schemeClr val="accent1">
              <a:alpha val="14000"/>
            </a:schemeClr>
          </a:solidFill>
          <a:ln w="9525">
            <a:solidFill>
              <a:schemeClr val="accent1">
                <a:alpha val="55000"/>
              </a:schemeClr>
            </a:solidFill>
            <a:prstDash val="solid"/>
          </a:ln>
        </p:spPr>
      </p:sp>
      <p:pic>
        <p:nvPicPr>
          <p:cNvPr id="17" name="Back:icon" descr="/tmp/claude-0/-home-user-cjl-slides/2d3b8e9e-f79b-5597-abaf-c8c2d8571309/scratchpad/assets/ic_ba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528" y="4846320"/>
            <a:ext cx="228600" cy="228600"/>
          </a:xfrm>
          <a:prstGeom prst="rect">
            <a:avLst/>
          </a:prstGeom>
        </p:spPr>
      </p:pic>
      <p:sp>
        <p:nvSpPr>
          <p:cNvPr id="18" name="Back:txt"/>
          <p:cNvSpPr txBox="1"/>
          <p:nvPr/>
        </p:nvSpPr>
        <p:spPr>
          <a:xfrm>
            <a:off x="5044288" y="4709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К ЦЕНТРУ УПРАВЛЕНИЯ</a:t>
            </a:r>
            <a:endParaRPr lang="en-US" sz="1200" dirty="0"/>
          </a:p>
        </p:txBody>
      </p:sp>
      <p:sp>
        <p:nvSpPr>
          <p:cNvPr id="19" name="Hotspot BackHit -&gt; slide 2">
            <a:hlinkClick r:id="rId101" action="ppaction://hlinksldjump" tooltip=""/>
          </p:cNvPr>
          <p:cNvSpPr/>
          <p:nvPr/>
        </p:nvSpPr>
        <p:spPr>
          <a:xfrm>
            <a:off x="4404208" y="4709160"/>
            <a:ext cx="3383280" cy="502920"/>
          </a:xfrm>
          <a:prstGeom prst="roundRect">
            <a:avLst>
              <a:gd name="adj" fmla="val 29091"/>
            </a:avLst>
          </a:prstGeom>
          <a:solidFill>
            <a:schemeClr val="bg1">
              <a:alpha val="0"/>
            </a:schemeClr>
          </a:solidFill>
          <a:ln/>
        </p:spPr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rand:dot"/>
          <p:cNvSpPr/>
          <p:nvPr/>
        </p:nvSpPr>
        <p:spPr>
          <a:xfrm>
            <a:off x="548640" y="429768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Brand:name"/>
          <p:cNvSpPr txBox="1"/>
          <p:nvPr/>
        </p:nvSpPr>
        <p:spPr>
          <a:xfrm>
            <a:off x="731520" y="3657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SALES CONTROL ROOM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СЦЕНАРИИ</a:t>
            </a:r>
            <a:endParaRPr lang="en-US" sz="3000" dirty="0"/>
          </a:p>
        </p:txBody>
      </p:sp>
      <p:sp>
        <p:nvSpPr>
          <p:cNvPr id="6" name="Subtitle"/>
          <p:cNvSpPr txBox="1"/>
          <p:nvPr/>
        </p:nvSpPr>
        <p:spPr>
          <a:xfrm>
            <a:off x="548640" y="12070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Что произойдёт при изменении KPI</a:t>
            </a:r>
            <a:endParaRPr lang="en-US" sz="1500" dirty="0"/>
          </a:p>
        </p:txBody>
      </p:sp>
      <p:sp>
        <p:nvSpPr>
          <p:cNvPr id="7" name="HOME:bg"/>
          <p:cNvSpPr/>
          <p:nvPr/>
        </p:nvSpPr>
        <p:spPr>
          <a:xfrm>
            <a:off x="10652760" y="365760"/>
            <a:ext cx="1005840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8" name="HOME:icon" descr="/tmp/claude-0/-home-user-cjl-slides/2d3b8e9e-f79b-5597-abaf-c8c2d8571309/scratchpad/assets/ic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466344"/>
            <a:ext cx="182880" cy="182880"/>
          </a:xfrm>
          <a:prstGeom prst="rect">
            <a:avLst/>
          </a:prstGeom>
        </p:spPr>
      </p:pic>
      <p:sp>
        <p:nvSpPr>
          <p:cNvPr id="9" name="HOME:txt"/>
          <p:cNvSpPr txBox="1"/>
          <p:nvPr/>
        </p:nvSpPr>
        <p:spPr>
          <a:xfrm>
            <a:off x="11036808" y="365760"/>
            <a:ext cx="585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HOME</a:t>
            </a:r>
            <a:endParaRPr lang="en-US" sz="1100" dirty="0"/>
          </a:p>
        </p:txBody>
      </p:sp>
      <p:sp>
        <p:nvSpPr>
          <p:cNvPr id="10" name="Hotspot HOME -&gt; slide 2">
            <a:hlinkClick r:id="rId100" action="ppaction://hlinksldjump" tooltip=""/>
          </p:cNvPr>
          <p:cNvSpPr/>
          <p:nvPr/>
        </p:nvSpPr>
        <p:spPr>
          <a:xfrm>
            <a:off x="10652760" y="365760"/>
            <a:ext cx="1005840" cy="384048"/>
          </a:xfrm>
          <a:prstGeom prst="roundRect">
            <a:avLst>
              <a:gd name="adj" fmla="val 38095"/>
            </a:avLst>
          </a:prstGeom>
          <a:solidFill>
            <a:schemeClr val="bg1">
              <a:alpha val="0"/>
            </a:schemeClr>
          </a:solidFill>
          <a:ln/>
        </p:spPr>
      </p:sp>
      <p:sp>
        <p:nvSpPr>
          <p:cNvPr id="11" name="Panel"/>
          <p:cNvSpPr/>
          <p:nvPr/>
        </p:nvSpPr>
        <p:spPr>
          <a:xfrm>
            <a:off x="548640" y="1691640"/>
            <a:ext cx="11109960" cy="4069080"/>
          </a:xfrm>
          <a:prstGeom prst="roundRect">
            <a:avLst>
              <a:gd name="adj" fmla="val 3596"/>
            </a:avLst>
          </a:prstGeom>
          <a:solidFill>
            <a:schemeClr val="bg1">
              <a:alpha val="8000"/>
            </a:schemeClr>
          </a:solidFill>
          <a:ln w="9525">
            <a:solidFill>
              <a:schemeClr val="bg1">
                <a:alpha val="25000"/>
              </a:schemeClr>
            </a:solidFill>
            <a:prstDash val="solid"/>
          </a:ln>
        </p:spPr>
      </p:sp>
      <p:sp>
        <p:nvSpPr>
          <p:cNvPr id="12" name="Stub:ring"/>
          <p:cNvSpPr/>
          <p:nvPr/>
        </p:nvSpPr>
        <p:spPr>
          <a:xfrm>
            <a:off x="5684368" y="2514600"/>
            <a:ext cx="822960" cy="822960"/>
          </a:xfrm>
          <a:prstGeom prst="ellipse">
            <a:avLst/>
          </a:prstGeom>
          <a:solidFill>
            <a:schemeClr val="accent1">
              <a:alpha val="14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13" name="Stub:icon" descr="/tmp/claude-0/-home-user-cjl-slides/2d3b8e9e-f79b-5597-abaf-c8c2d8571309/scratchpad/assets/ic_slid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108" y="2720340"/>
            <a:ext cx="411480" cy="411480"/>
          </a:xfrm>
          <a:prstGeom prst="rect">
            <a:avLst/>
          </a:prstGeom>
        </p:spPr>
      </p:pic>
      <p:sp>
        <p:nvSpPr>
          <p:cNvPr id="14" name="Stub:label"/>
          <p:cNvSpPr txBox="1"/>
          <p:nvPr/>
        </p:nvSpPr>
        <p:spPr>
          <a:xfrm>
            <a:off x="1828800" y="3566160"/>
            <a:ext cx="8534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chemeClr val="bg1"/>
                </a:solidFill>
              </a:rPr>
              <a:t>СЛАЙД 6 · РАЗДЕЛ В РАЗРАБОТКЕ</a:t>
            </a:r>
            <a:endParaRPr lang="en-US" sz="1800" dirty="0"/>
          </a:p>
        </p:txBody>
      </p:sp>
      <p:sp>
        <p:nvSpPr>
          <p:cNvPr id="15" name="Stub:hint"/>
          <p:cNvSpPr txBox="1"/>
          <p:nvPr/>
        </p:nvSpPr>
        <p:spPr>
          <a:xfrm>
            <a:off x="1828800" y="4023360"/>
            <a:ext cx="8534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Содержимое появится на следующем шаге. Навигация и кнопка HOME уже работают.</a:t>
            </a:r>
            <a:endParaRPr lang="en-US" sz="1400" dirty="0"/>
          </a:p>
        </p:txBody>
      </p:sp>
      <p:sp>
        <p:nvSpPr>
          <p:cNvPr id="16" name="Back:bg"/>
          <p:cNvSpPr/>
          <p:nvPr/>
        </p:nvSpPr>
        <p:spPr>
          <a:xfrm>
            <a:off x="4404208" y="4709160"/>
            <a:ext cx="3383280" cy="502920"/>
          </a:xfrm>
          <a:prstGeom prst="roundRect">
            <a:avLst>
              <a:gd name="adj" fmla="val 49091"/>
            </a:avLst>
          </a:prstGeom>
          <a:solidFill>
            <a:schemeClr val="accent1">
              <a:alpha val="14000"/>
            </a:schemeClr>
          </a:solidFill>
          <a:ln w="9525">
            <a:solidFill>
              <a:schemeClr val="accent1">
                <a:alpha val="55000"/>
              </a:schemeClr>
            </a:solidFill>
            <a:prstDash val="solid"/>
          </a:ln>
        </p:spPr>
      </p:sp>
      <p:pic>
        <p:nvPicPr>
          <p:cNvPr id="17" name="Back:icon" descr="/tmp/claude-0/-home-user-cjl-slides/2d3b8e9e-f79b-5597-abaf-c8c2d8571309/scratchpad/assets/ic_ba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528" y="4846320"/>
            <a:ext cx="228600" cy="228600"/>
          </a:xfrm>
          <a:prstGeom prst="rect">
            <a:avLst/>
          </a:prstGeom>
        </p:spPr>
      </p:pic>
      <p:sp>
        <p:nvSpPr>
          <p:cNvPr id="18" name="Back:txt"/>
          <p:cNvSpPr txBox="1"/>
          <p:nvPr/>
        </p:nvSpPr>
        <p:spPr>
          <a:xfrm>
            <a:off x="5044288" y="4709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К ЦЕНТРУ УПРАВЛЕНИЯ</a:t>
            </a:r>
            <a:endParaRPr lang="en-US" sz="1200" dirty="0"/>
          </a:p>
        </p:txBody>
      </p:sp>
      <p:sp>
        <p:nvSpPr>
          <p:cNvPr id="19" name="Hotspot BackHit -&gt; slide 2">
            <a:hlinkClick r:id="rId101" action="ppaction://hlinksldjump" tooltip=""/>
          </p:cNvPr>
          <p:cNvSpPr/>
          <p:nvPr/>
        </p:nvSpPr>
        <p:spPr>
          <a:xfrm>
            <a:off x="4404208" y="4709160"/>
            <a:ext cx="3383280" cy="502920"/>
          </a:xfrm>
          <a:prstGeom prst="roundRect">
            <a:avLst>
              <a:gd name="adj" fmla="val 29091"/>
            </a:avLst>
          </a:prstGeom>
          <a:solidFill>
            <a:schemeClr val="bg1">
              <a:alpha val="0"/>
            </a:schemeClr>
          </a:solidFill>
          <a:ln/>
        </p:spPr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Sales Control Room">
  <a:themeElements>
    <a:clrScheme name="Sales Control Room">
      <a:dk1>
        <a:srgbClr val="050B1E"/>
      </a:dk1>
      <a:lt1>
        <a:srgbClr val="FFFFFF"/>
      </a:lt1>
      <a:dk2>
        <a:srgbClr val="0B1E45"/>
      </a:dk2>
      <a:lt2>
        <a:srgbClr val="CFE3F5"/>
      </a:lt2>
      <a:accent1>
        <a:srgbClr val="22D3EE"/>
      </a:accent1>
      <a:accent2>
        <a:srgbClr val="2DD4BF"/>
      </a:accent2>
      <a:accent3>
        <a:srgbClr val="3B82F6"/>
      </a:accent3>
      <a:accent4>
        <a:srgbClr val="7DD3FC"/>
      </a:accent4>
      <a:accent5>
        <a:srgbClr val="9FB3CC"/>
      </a:accent5>
      <a:accent6>
        <a:srgbClr val="34D399"/>
      </a:accent6>
      <a:hlink>
        <a:srgbClr val="22D3EE"/>
      </a:hlink>
      <a:folHlink>
        <a:srgbClr val="7DD3FC"/>
      </a:folHlink>
    </a:clrScheme>
    <a:fontScheme name="Sales Control Room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CONTROL ROOM</dc:title>
  <dc:subject>PptxGenJS Presentation</dc:subject>
  <dc:creator>Sales Control Room</dc:creator>
  <cp:lastModifiedBy>Sales Control Room</cp:lastModifiedBy>
  <cp:revision>1</cp:revision>
  <dcterms:created xsi:type="dcterms:W3CDTF">2026-10-03T13:11:01Z</dcterms:created>
  <dcterms:modified xsi:type="dcterms:W3CDTF">2026-10-03T13:11:01Z</dcterms:modified>
</cp:coreProperties>
</file>