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x="12192000" cy="6858000" type="screen4x3"/>
  <p:notesSz cx="6858000" cy="9144000"/>
  <p:embeddedFontLst>
    <p:embeddedFont>
      <p:font typeface="Playfair Display" pitchFamily="18" charset="0"/>
      <p:regular r:id="rId54"/>
      <p:bold r:id="rId55"/>
    </p:embeddedFont>
    <p:embeddedFont>
      <p:font typeface="Playfair Display Black" pitchFamily="18" charset="0"/>
      <p:regular r:id="rId56"/>
    </p:embeddedFont>
    <p:embeddedFont>
      <p:font typeface="Noto Sans" pitchFamily="18" charset="0"/>
      <p:regular r:id="rId57"/>
      <p:bold r:id="rId58"/>
    </p:embeddedFont>
    <p:embeddedFont>
      <p:font typeface="Noto Sans SemiBold" pitchFamily="18" charset="0"/>
      <p:regular r:id="rId5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font" Target="fonts/font1.fntdata"/><Relationship Id="rId55" Type="http://schemas.openxmlformats.org/officeDocument/2006/relationships/font" Target="fonts/font2.fntdata"/><Relationship Id="rId56" Type="http://schemas.openxmlformats.org/officeDocument/2006/relationships/font" Target="fonts/font3.fntdata"/><Relationship Id="rId57" Type="http://schemas.openxmlformats.org/officeDocument/2006/relationships/font" Target="fonts/font4.fntdata"/><Relationship Id="rId58" Type="http://schemas.openxmlformats.org/officeDocument/2006/relationships/font" Target="fonts/font5.fntdata"/><Relationship Id="rId59" Type="http://schemas.openxmlformats.org/officeDocument/2006/relationships/font" Target="fonts/font6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720" y="0"/>
            <a:ext cx="4145280" cy="6858000"/>
          </a:xfrm>
          <a:prstGeom prst="rect">
            <a:avLst/>
          </a:prstGeom>
          <a:solidFill>
            <a:srgbClr val="F4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4624" y="609600"/>
            <a:ext cx="414456" cy="54768"/>
          </a:xfrm>
          <a:prstGeom prst="rect">
            <a:avLst/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41708" y="2145487"/>
            <a:ext cx="3776900" cy="364845"/>
          </a:xfrm>
          <a:prstGeom prst="rect">
            <a:avLst/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4624" y="2864862"/>
            <a:ext cx="2509599" cy="364845"/>
          </a:xfrm>
          <a:prstGeom prst="rect">
            <a:avLst/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66039" y="4489324"/>
            <a:ext cx="195024" cy="19407"/>
          </a:xfrm>
          <a:prstGeom prst="rect">
            <a:avLst/>
          </a:prstGeom>
          <a:solidFill>
            <a:srgbClr val="B9C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66039" y="5142739"/>
            <a:ext cx="195024" cy="19407"/>
          </a:xfrm>
          <a:prstGeom prst="rect">
            <a:avLst/>
          </a:prstGeom>
          <a:solidFill>
            <a:srgbClr val="B9C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66039" y="5796154"/>
            <a:ext cx="195024" cy="19407"/>
          </a:xfrm>
          <a:prstGeom prst="rect">
            <a:avLst/>
          </a:prstGeom>
          <a:solidFill>
            <a:srgbClr val="B9C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000" y="609600"/>
            <a:ext cx="2771298" cy="2057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b="1" sz="1200" lang="ru-RU" spc="192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ABA &amp; ESDM ЦЕНТР «ВЕТЕР»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24" y="888444"/>
            <a:ext cx="1771173" cy="9601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5664"/>
              </a:lnSpc>
              <a:spcBef>
                <a:spcPts val="0"/>
              </a:spcBef>
              <a:spcAft>
                <a:spcPts val="0"/>
              </a:spcAft>
            </a:pPr>
            <a:r>
              <a:rPr b="0" sz="5664" lang="ru-RU" spc="-56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Игра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24" y="1607820"/>
            <a:ext cx="5244465" cy="9601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5664"/>
              </a:lnSpc>
              <a:spcBef>
                <a:spcPts val="0"/>
              </a:spcBef>
              <a:spcAft>
                <a:spcPts val="0"/>
              </a:spcAft>
            </a:pPr>
            <a:r>
              <a:rPr b="0" sz="5664" lang="ru-RU" spc="-56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как ключевой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24" y="2327195"/>
            <a:ext cx="2540079" cy="9601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5664"/>
              </a:lnSpc>
              <a:spcBef>
                <a:spcPts val="0"/>
              </a:spcBef>
              <a:spcAft>
                <a:spcPts val="0"/>
              </a:spcAft>
            </a:pPr>
            <a:r>
              <a:rPr b="0" sz="5664" lang="ru-RU" spc="-56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навык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24" y="3046571"/>
            <a:ext cx="2968704" cy="9601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5664"/>
              </a:lnSpc>
              <a:spcBef>
                <a:spcPts val="0"/>
              </a:spcBef>
              <a:spcAft>
                <a:spcPts val="0"/>
              </a:spcAft>
            </a:pPr>
            <a:r>
              <a:rPr b="0" sz="5664" lang="ru-RU" spc="-56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при РАС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24" y="4064555"/>
            <a:ext cx="5254347" cy="3200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583"/>
              </a:lnSpc>
              <a:spcBef>
                <a:spcPts val="0"/>
              </a:spcBef>
              <a:spcAft>
                <a:spcPts val="0"/>
              </a:spcAft>
            </a:pPr>
            <a:r>
              <a:rPr b="0" sz="1872" lang="ru-RU">
                <a:solidFill>
                  <a:srgbClr val="3A3A46"/>
                </a:solidFill>
                <a:latin typeface="Noto Sans"/>
                <a:cs typeface="Noto Sans"/>
                <a:ea typeface="Noto Sans"/>
              </a:rPr>
              <a:t>Формируем основу для обучения и развития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24" y="5501759"/>
            <a:ext cx="2659380" cy="4724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3062"/>
              </a:lnSpc>
              <a:spcBef>
                <a:spcPts val="0"/>
              </a:spcBef>
              <a:spcAft>
                <a:spcPts val="0"/>
              </a:spcAft>
            </a:pPr>
            <a:r>
              <a:rPr b="1" sz="2784" lang="ru-RU" spc="-27">
                <a:solidFill>
                  <a:srgbClr val="15151B"/>
                </a:solidFill>
                <a:latin typeface="Playfair Display"/>
                <a:cs typeface="Playfair Display"/>
                <a:ea typeface="Playfair Display"/>
              </a:rPr>
              <a:t>Щептева Юлия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24" y="5997416"/>
            <a:ext cx="4240053" cy="2362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976"/>
              </a:lnSpc>
              <a:spcBef>
                <a:spcPts val="0"/>
              </a:spcBef>
              <a:spcAft>
                <a:spcPts val="0"/>
              </a:spcAft>
            </a:pPr>
            <a:r>
              <a:rPr b="0" sz="1363" lang="ru-RU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супервизор / куратор ABA &amp; ESDM центра «Ветер»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2984" y="4356735"/>
            <a:ext cx="3734871" cy="57054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b="0" sz="1555" lang="ru-RU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международный поведенческий аналитик (CBA-S, IBA)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2984" y="5010150"/>
            <a:ext cx="3734871" cy="57054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b="0" sz="1555" lang="ru-RU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сертифицированный специалист по ESDM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2984" y="5663565"/>
            <a:ext cx="3902235" cy="57054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b="0" sz="1555" lang="ru-RU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работа с нежелательным поведением — FTF Level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24" y="609600"/>
            <a:ext cx="414456" cy="54768"/>
          </a:xfrm>
          <a:prstGeom prst="rect">
            <a:avLst/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4624" y="1010364"/>
            <a:ext cx="68580" cy="1049416"/>
          </a:xfrm>
          <a:prstGeom prst="rect">
            <a:avLst/>
          </a:prstGeom>
          <a:solidFill>
            <a:srgbClr val="B9C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98889" y="2981239"/>
            <a:ext cx="1304448" cy="121615"/>
          </a:xfrm>
          <a:prstGeom prst="rect">
            <a:avLst/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4624" y="3306722"/>
            <a:ext cx="1351835" cy="446484"/>
          </a:xfrm>
          <a:prstGeom prst="roundRect">
            <a:avLst>
              <a:gd name="adj" fmla="val 10922"/>
            </a:avLst>
          </a:prstGeom>
          <a:solidFill>
            <a:srgbClr val="F4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680454" y="3306722"/>
            <a:ext cx="1081087" cy="446484"/>
          </a:xfrm>
          <a:prstGeom prst="roundRect">
            <a:avLst>
              <a:gd name="adj" fmla="val 10922"/>
            </a:avLst>
          </a:prstGeom>
          <a:solidFill>
            <a:srgbClr val="F4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85535" y="3306722"/>
            <a:ext cx="1221819" cy="446484"/>
          </a:xfrm>
          <a:prstGeom prst="roundRect">
            <a:avLst>
              <a:gd name="adj" fmla="val 10922"/>
            </a:avLst>
          </a:prstGeom>
          <a:solidFill>
            <a:srgbClr val="F4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031349" y="3306722"/>
            <a:ext cx="3143964" cy="446484"/>
          </a:xfrm>
          <a:prstGeom prst="roundRect">
            <a:avLst>
              <a:gd name="adj" fmla="val 10922"/>
            </a:avLst>
          </a:prstGeom>
          <a:solidFill>
            <a:srgbClr val="F4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4624" y="3862863"/>
            <a:ext cx="2844522" cy="446484"/>
          </a:xfrm>
          <a:prstGeom prst="roundRect">
            <a:avLst>
              <a:gd name="adj" fmla="val 10922"/>
            </a:avLst>
          </a:prstGeom>
          <a:solidFill>
            <a:srgbClr val="B9C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41000" y="609600"/>
            <a:ext cx="964763" cy="2057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b="1" sz="1200" lang="ru-RU" spc="192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ВВОДНАЯ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044" y="934164"/>
            <a:ext cx="7001113" cy="6629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4132"/>
              </a:lnSpc>
              <a:spcBef>
                <a:spcPts val="0"/>
              </a:spcBef>
              <a:spcAft>
                <a:spcPts val="0"/>
              </a:spcAft>
            </a:pPr>
            <a:r>
              <a:rPr b="0" sz="3936" lang="ru-RU" spc="-39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Почему мы вообще говорим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7044" y="1458872"/>
            <a:ext cx="3595806" cy="6629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4132"/>
              </a:lnSpc>
              <a:spcBef>
                <a:spcPts val="0"/>
              </a:spcBef>
              <a:spcAft>
                <a:spcPts val="0"/>
              </a:spcAft>
            </a:pPr>
            <a:r>
              <a:rPr b="0" sz="3936" lang="ru-RU" spc="-39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об игре в ABA?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24" y="2802016"/>
            <a:ext cx="6702385" cy="3200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583"/>
              </a:lnSpc>
              <a:spcBef>
                <a:spcPts val="0"/>
              </a:spcBef>
              <a:spcAft>
                <a:spcPts val="0"/>
              </a:spcAft>
            </a:pPr>
            <a:r>
              <a:rPr b="0" sz="1872" lang="ru-RU">
                <a:solidFill>
                  <a:srgbClr val="3A3A46"/>
                </a:solidFill>
                <a:latin typeface="Noto Sans"/>
                <a:cs typeface="Noto Sans"/>
                <a:ea typeface="Noto Sans"/>
              </a:rPr>
              <a:t>Потому что игра — это поведение. А если это поведение: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5240" y="3404235"/>
            <a:ext cx="1041082" cy="2514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b="0" sz="1440" lang="ru-RU">
                <a:solidFill>
                  <a:srgbClr val="15151B"/>
                </a:solidFill>
                <a:latin typeface="Noto Sans SemiBold"/>
                <a:cs typeface="Noto Sans SemiBold"/>
                <a:ea typeface="Noto Sans SemiBold"/>
              </a:rPr>
              <a:t>наблюдать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02668" y="3368397"/>
            <a:ext cx="262056" cy="3124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24"/>
              </a:lnSpc>
              <a:spcBef>
                <a:spcPts val="0"/>
              </a:spcBef>
              <a:spcAft>
                <a:spcPts val="0"/>
              </a:spcAft>
            </a:pPr>
            <a:r>
              <a:rPr b="1" sz="1824" lang="ru-RU">
                <a:solidFill>
                  <a:srgbClr val="B9C0EA"/>
                </a:solidFill>
                <a:latin typeface="Noto Sans"/>
                <a:cs typeface="Noto Sans"/>
                <a:ea typeface="Noto Sans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51070" y="3404235"/>
            <a:ext cx="770334" cy="2514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b="0" sz="1440" lang="ru-RU">
                <a:solidFill>
                  <a:srgbClr val="15151B"/>
                </a:solidFill>
                <a:latin typeface="Noto Sans SemiBold"/>
                <a:cs typeface="Noto Sans SemiBold"/>
                <a:ea typeface="Noto Sans SemiBold"/>
              </a:rPr>
              <a:t>описать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07750" y="3368397"/>
            <a:ext cx="262056" cy="3124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24"/>
              </a:lnSpc>
              <a:spcBef>
                <a:spcPts val="0"/>
              </a:spcBef>
              <a:spcAft>
                <a:spcPts val="0"/>
              </a:spcAft>
            </a:pPr>
            <a:r>
              <a:rPr b="1" sz="1824" lang="ru-RU">
                <a:solidFill>
                  <a:srgbClr val="B9C0EA"/>
                </a:solidFill>
                <a:latin typeface="Noto Sans"/>
                <a:cs typeface="Noto Sans"/>
                <a:ea typeface="Noto Sans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6152" y="3404235"/>
            <a:ext cx="911066" cy="2514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b="0" sz="1440" lang="ru-RU">
                <a:solidFill>
                  <a:srgbClr val="15151B"/>
                </a:solidFill>
                <a:latin typeface="Noto Sans SemiBold"/>
                <a:cs typeface="Noto Sans SemiBold"/>
                <a:ea typeface="Noto Sans SemiBold"/>
              </a:rPr>
              <a:t>измерять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53563" y="3368397"/>
            <a:ext cx="262056" cy="3124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24"/>
              </a:lnSpc>
              <a:spcBef>
                <a:spcPts val="0"/>
              </a:spcBef>
              <a:spcAft>
                <a:spcPts val="0"/>
              </a:spcAft>
            </a:pPr>
            <a:r>
              <a:rPr b="1" sz="1824" lang="ru-RU">
                <a:solidFill>
                  <a:srgbClr val="B9C0EA"/>
                </a:solidFill>
                <a:latin typeface="Noto Sans"/>
                <a:cs typeface="Noto Sans"/>
                <a:ea typeface="Noto Sans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01965" y="3404235"/>
            <a:ext cx="2833211" cy="2514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b="0" sz="1440" lang="ru-RU">
                <a:solidFill>
                  <a:srgbClr val="15151B"/>
                </a:solidFill>
                <a:latin typeface="Noto Sans SemiBold"/>
                <a:cs typeface="Noto Sans SemiBold"/>
                <a:ea typeface="Noto Sans SemiBold"/>
              </a:rPr>
              <a:t>понять, что его поддерживает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1522" y="3368397"/>
            <a:ext cx="262056" cy="3124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24"/>
              </a:lnSpc>
              <a:spcBef>
                <a:spcPts val="0"/>
              </a:spcBef>
              <a:spcAft>
                <a:spcPts val="0"/>
              </a:spcAft>
            </a:pPr>
            <a:r>
              <a:rPr b="1" sz="1824" lang="ru-RU">
                <a:solidFill>
                  <a:srgbClr val="B9C0EA"/>
                </a:solidFill>
                <a:latin typeface="Noto Sans"/>
                <a:cs typeface="Noto Sans"/>
                <a:ea typeface="Noto Sans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240" y="3960375"/>
            <a:ext cx="2533769" cy="2514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b="0" sz="1440" lang="ru-RU">
                <a:solidFill>
                  <a:srgbClr val="15151B"/>
                </a:solidFill>
                <a:latin typeface="Noto Sans SemiBold"/>
                <a:cs typeface="Noto Sans SemiBold"/>
                <a:ea typeface="Noto Sans SemiBold"/>
              </a:rPr>
              <a:t>формировать и расширять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24" y="4493656"/>
            <a:ext cx="10736556" cy="57054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b="0" sz="1555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Игра может быть </a:t>
            </a:r>
            <a:r>
              <a:rPr b="1" sz="1555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целью обучения</a:t>
            </a:r>
            <a:r>
              <a:rPr b="0" sz="1555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 — и одновременно </a:t>
            </a:r>
            <a:r>
              <a:rPr b="1" sz="1555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естественным контекстом</a:t>
            </a:r>
            <a:r>
              <a:rPr b="0" sz="1555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 для обучения других навыков.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24" y="5255180"/>
            <a:ext cx="6551175" cy="2362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976"/>
              </a:lnSpc>
              <a:spcBef>
                <a:spcPts val="0"/>
              </a:spcBef>
              <a:spcAft>
                <a:spcPts val="0"/>
              </a:spcAft>
            </a:pPr>
            <a:r>
              <a:rPr b="0" sz="1363" lang="ru-RU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Но прежде чем учить игре — нужно понять, что именно мы называем игрой.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632960" cy="6858000"/>
          </a:xfrm>
          <a:prstGeom prst="rect">
            <a:avLst/>
          </a:prstGeom>
          <a:solidFill>
            <a:srgbClr val="B9C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18846" y="2420897"/>
            <a:ext cx="414456" cy="54768"/>
          </a:xfrm>
          <a:prstGeom prst="rect">
            <a:avLst/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217937" y="4133473"/>
            <a:ext cx="1788199" cy="364845"/>
          </a:xfrm>
          <a:prstGeom prst="rect">
            <a:avLst/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24742" y="2420897"/>
            <a:ext cx="1062632" cy="2057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b="1" sz="1200" lang="ru-RU" spc="192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РАЗДЕЛ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01965" y="2876430"/>
            <a:ext cx="5185410" cy="9601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>
              <a:lnSpc>
                <a:spcPts val="5664"/>
              </a:lnSpc>
              <a:spcBef>
                <a:spcPts val="0"/>
              </a:spcBef>
              <a:spcAft>
                <a:spcPts val="0"/>
              </a:spcAft>
            </a:pPr>
            <a:r>
              <a:rPr b="0" sz="5664" lang="ru-RU" spc="-56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Зачем ребёнку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6722" y="3595806"/>
            <a:ext cx="4270652" cy="9601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>
              <a:lnSpc>
                <a:spcPts val="5664"/>
              </a:lnSpc>
              <a:spcBef>
                <a:spcPts val="0"/>
              </a:spcBef>
              <a:spcAft>
                <a:spcPts val="0"/>
              </a:spcAft>
            </a:pPr>
            <a:r>
              <a:rPr b="0" sz="5664" lang="ru-RU" spc="-56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с РАС игра?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24" y="609600"/>
            <a:ext cx="414456" cy="54768"/>
          </a:xfrm>
          <a:prstGeom prst="rect">
            <a:avLst/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4624" y="1803201"/>
            <a:ext cx="3324344" cy="4002762"/>
          </a:xfrm>
          <a:prstGeom prst="roundRect">
            <a:avLst>
              <a:gd name="adj" fmla="val 1833"/>
            </a:avLst>
          </a:prstGeom>
          <a:solidFill>
            <a:srgbClr val="F4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433768" y="1803201"/>
            <a:ext cx="3324344" cy="4002762"/>
          </a:xfrm>
          <a:prstGeom prst="roundRect">
            <a:avLst>
              <a:gd name="adj" fmla="val 1833"/>
            </a:avLst>
          </a:prstGeom>
          <a:solidFill>
            <a:srgbClr val="F4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62912" y="1803201"/>
            <a:ext cx="3324463" cy="4002762"/>
          </a:xfrm>
          <a:prstGeom prst="roundRect">
            <a:avLst>
              <a:gd name="adj" fmla="val 1833"/>
            </a:avLst>
          </a:prstGeom>
          <a:solidFill>
            <a:srgbClr val="F4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im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24" y="1803201"/>
            <a:ext cx="3324344" cy="4002762"/>
          </a:xfrm>
          <a:prstGeom prst="rect">
            <a:avLst/>
          </a:prstGeom>
        </p:spPr>
      </p:pic>
      <p:pic>
        <p:nvPicPr>
          <p:cNvPr id="8" name="Picture 7" descr="img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3768" y="1803201"/>
            <a:ext cx="3324344" cy="4002762"/>
          </a:xfrm>
          <a:prstGeom prst="rect">
            <a:avLst/>
          </a:prstGeom>
        </p:spPr>
      </p:pic>
      <p:pic>
        <p:nvPicPr>
          <p:cNvPr id="9" name="Picture 8" descr="img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2912" y="1803201"/>
            <a:ext cx="3324463" cy="400276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41000" y="609600"/>
            <a:ext cx="1438155" cy="2057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b="1" sz="1200" lang="ru-RU" spc="192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ОПРЕДЕЛЕНИЕ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24" y="934164"/>
            <a:ext cx="8292584" cy="6629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4132"/>
              </a:lnSpc>
              <a:spcBef>
                <a:spcPts val="0"/>
              </a:spcBef>
              <a:spcAft>
                <a:spcPts val="0"/>
              </a:spcAft>
            </a:pPr>
            <a:r>
              <a:rPr b="0" sz="3936" lang="ru-RU" spc="-39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Что мы вообще называем игрой?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24" y="5959792"/>
            <a:ext cx="2171580" cy="2743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b="0" sz="1555" lang="ru-RU">
                <a:solidFill>
                  <a:srgbClr val="15151B"/>
                </a:solidFill>
                <a:latin typeface="Noto Sans SemiBold"/>
                <a:cs typeface="Noto Sans SemiBold"/>
                <a:ea typeface="Noto Sans SemiBold"/>
              </a:rPr>
              <a:t>Когда строит башню?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3768" y="5959792"/>
            <a:ext cx="2101929" cy="2743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b="0" sz="1555" lang="ru-RU">
                <a:solidFill>
                  <a:srgbClr val="15151B"/>
                </a:solidFill>
                <a:latin typeface="Noto Sans SemiBold"/>
                <a:cs typeface="Noto Sans SemiBold"/>
                <a:ea typeface="Noto Sans SemiBold"/>
              </a:rPr>
              <a:t>Когда кормит куклу?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62912" y="5959792"/>
            <a:ext cx="2952154" cy="2743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b="0" sz="1555" lang="ru-RU">
                <a:solidFill>
                  <a:srgbClr val="15151B"/>
                </a:solidFill>
                <a:latin typeface="Noto Sans SemiBold"/>
                <a:cs typeface="Noto Sans SemiBold"/>
                <a:ea typeface="Noto Sans SemiBold"/>
              </a:rPr>
              <a:t>Когда догоняет сверстников?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720" y="0"/>
            <a:ext cx="4145280" cy="6858000"/>
          </a:xfrm>
          <a:prstGeom prst="rect">
            <a:avLst/>
          </a:prstGeom>
          <a:solidFill>
            <a:srgbClr val="F4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4624" y="609600"/>
            <a:ext cx="414456" cy="54768"/>
          </a:xfrm>
          <a:prstGeom prst="rect">
            <a:avLst/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52411" y="3418555"/>
            <a:ext cx="2766893" cy="121615"/>
          </a:xfrm>
          <a:prstGeom prst="rect">
            <a:avLst/>
          </a:prstGeom>
          <a:solidFill>
            <a:srgbClr val="B9C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019210" y="2935153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019210" y="3347109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019210" y="3759065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19210" y="4171022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019210" y="458297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41000" y="609600"/>
            <a:ext cx="1438155" cy="2057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b="1" sz="1200" lang="ru-RU" spc="192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ОПРЕДЕЛЕНИЕ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24" y="2370296"/>
            <a:ext cx="5732025" cy="6629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4132"/>
              </a:lnSpc>
              <a:spcBef>
                <a:spcPts val="0"/>
              </a:spcBef>
              <a:spcAft>
                <a:spcPts val="0"/>
              </a:spcAft>
            </a:pPr>
            <a:r>
              <a:rPr b="0" sz="3936" lang="ru-RU" spc="-39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Так что же такое игра?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24" y="3239333"/>
            <a:ext cx="4208859" cy="3200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583"/>
              </a:lnSpc>
              <a:spcBef>
                <a:spcPts val="0"/>
              </a:spcBef>
              <a:spcAft>
                <a:spcPts val="0"/>
              </a:spcAft>
            </a:pPr>
            <a:r>
              <a:rPr b="0" sz="1872" lang="ru-RU">
                <a:solidFill>
                  <a:srgbClr val="3A3A46"/>
                </a:solidFill>
                <a:latin typeface="Noto Sans"/>
                <a:cs typeface="Noto Sans"/>
                <a:ea typeface="Noto Sans"/>
              </a:rPr>
              <a:t>Игра — это не конкретная игрушка.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24" y="3721179"/>
            <a:ext cx="5940266" cy="57054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b="0" sz="1555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Поэтому игра — это широкий репертуар активностей, которые ребёнок </a:t>
            </a:r>
            <a:r>
              <a:rPr b="1" sz="1555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выбирает</a:t>
            </a:r>
            <a:r>
              <a:rPr b="0" sz="1555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 и </a:t>
            </a:r>
            <a:r>
              <a:rPr b="1" sz="1555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продолжает</a:t>
            </a:r>
            <a:r>
              <a:rPr b="0" sz="1555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9210" y="2446496"/>
            <a:ext cx="2188964" cy="2362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976"/>
              </a:lnSpc>
              <a:spcBef>
                <a:spcPts val="0"/>
              </a:spcBef>
              <a:spcAft>
                <a:spcPts val="0"/>
              </a:spcAft>
            </a:pPr>
            <a:r>
              <a:rPr b="0" sz="1363" lang="ru-RU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Игра может происходить: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97115" y="2875716"/>
            <a:ext cx="1262538" cy="2743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b="0" sz="1555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с предметом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97115" y="3287672"/>
            <a:ext cx="1227177" cy="2743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b="0" sz="1555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с человеком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97115" y="3699629"/>
            <a:ext cx="1168003" cy="2743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b="0" sz="1555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в движении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97115" y="4111585"/>
            <a:ext cx="1014769" cy="2743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b="0" sz="1555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по сюжету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97115" y="4523541"/>
            <a:ext cx="1279326" cy="2743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b="0" sz="1555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по правилам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24" y="609600"/>
            <a:ext cx="414456" cy="54768"/>
          </a:xfrm>
          <a:prstGeom prst="rect">
            <a:avLst/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019210" y="1983844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019210" y="2692027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019210" y="3400211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019210" y="4108395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019210" y="4816579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000" y="609600"/>
            <a:ext cx="2979896" cy="2057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b="1" sz="1200" lang="ru-RU" spc="192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КАКИЕ БЫВАЮТ ИГРЫ · 1 ИЗ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24" y="1840587"/>
            <a:ext cx="1240155" cy="6629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4132"/>
              </a:lnSpc>
              <a:spcBef>
                <a:spcPts val="0"/>
              </a:spcBef>
              <a:spcAft>
                <a:spcPts val="0"/>
              </a:spcAft>
            </a:pPr>
            <a:r>
              <a:rPr b="0" sz="3936" lang="ru-RU" spc="-39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Игра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24" y="2365295"/>
            <a:ext cx="3389352" cy="6629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4132"/>
              </a:lnSpc>
              <a:spcBef>
                <a:spcPts val="0"/>
              </a:spcBef>
              <a:spcAft>
                <a:spcPts val="0"/>
              </a:spcAft>
            </a:pPr>
            <a:r>
              <a:rPr b="0" sz="3936" lang="ru-RU" spc="-39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с предметами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24" y="2807612"/>
            <a:ext cx="1721643" cy="21107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9984"/>
              </a:lnSpc>
              <a:spcBef>
                <a:spcPts val="0"/>
              </a:spcBef>
              <a:spcAft>
                <a:spcPts val="0"/>
              </a:spcAft>
            </a:pPr>
            <a:r>
              <a:rPr b="0" sz="12480" lang="ru-RU">
                <a:solidFill>
                  <a:srgbClr val="B9C0EA"/>
                </a:solidFill>
                <a:latin typeface="Playfair Display Black"/>
                <a:cs typeface="Playfair Display Black"/>
                <a:ea typeface="Playfair Display Black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7115" y="1924407"/>
            <a:ext cx="1096327" cy="2743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b="1" sz="1555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Моторные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7115" y="2251114"/>
            <a:ext cx="1929645" cy="2362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b="0" sz="1363" lang="ru-RU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вставлять, доставать…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97115" y="2632590"/>
            <a:ext cx="1628894" cy="2743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b="1" sz="1555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Дидактические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97115" y="2959298"/>
            <a:ext cx="1161811" cy="2362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b="0" sz="1363" lang="ru-RU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пазлы, лото…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97115" y="3340774"/>
            <a:ext cx="1216580" cy="2743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b="1" sz="1555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Творческие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97115" y="3667482"/>
            <a:ext cx="1647825" cy="2362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b="0" sz="1363" lang="ru-RU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рисование, лепка…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97115" y="4048958"/>
            <a:ext cx="1295876" cy="2743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b="1" sz="1555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Спортивные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97115" y="4375665"/>
            <a:ext cx="1164788" cy="2362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b="0" sz="1363" lang="ru-RU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мячи, кегли…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97115" y="4757142"/>
            <a:ext cx="3201471" cy="2743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b="1" sz="1555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Сюжетные и сюжетно-ролевые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97115" y="5083849"/>
            <a:ext cx="1350525" cy="2362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b="0" sz="1363" lang="ru-RU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куклы, доктор…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24" y="609600"/>
            <a:ext cx="414456" cy="54768"/>
          </a:xfrm>
          <a:prstGeom prst="rect">
            <a:avLst/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48400" y="2336601"/>
            <a:ext cx="5138975" cy="2585442"/>
          </a:xfrm>
          <a:prstGeom prst="roundRect">
            <a:avLst>
              <a:gd name="adj" fmla="val 2357"/>
            </a:avLst>
          </a:prstGeom>
          <a:solidFill>
            <a:srgbClr val="F4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41000" y="609600"/>
            <a:ext cx="2979896" cy="2057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b="1" sz="1200" lang="ru-RU" spc="192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КАКИЕ БЫВАЮТ ИГРЫ · 2 ИЗ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24" y="2260401"/>
            <a:ext cx="3191470" cy="6629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4132"/>
              </a:lnSpc>
              <a:spcBef>
                <a:spcPts val="0"/>
              </a:spcBef>
              <a:spcAft>
                <a:spcPts val="0"/>
              </a:spcAft>
            </a:pPr>
            <a:r>
              <a:rPr b="0" sz="3936" lang="ru-RU" spc="-39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Социальные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24" y="2785110"/>
            <a:ext cx="1327546" cy="6629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4132"/>
              </a:lnSpc>
              <a:spcBef>
                <a:spcPts val="0"/>
              </a:spcBef>
              <a:spcAft>
                <a:spcPts val="0"/>
              </a:spcAft>
            </a:pPr>
            <a:r>
              <a:rPr b="0" sz="3936" lang="ru-RU" spc="-39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игры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24" y="3227427"/>
            <a:ext cx="1976913" cy="21107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9984"/>
              </a:lnSpc>
              <a:spcBef>
                <a:spcPts val="0"/>
              </a:spcBef>
              <a:spcAft>
                <a:spcPts val="0"/>
              </a:spcAft>
            </a:pPr>
            <a:r>
              <a:rPr b="0" sz="12480" lang="ru-RU">
                <a:solidFill>
                  <a:srgbClr val="B9C0EA"/>
                </a:solidFill>
                <a:latin typeface="Playfair Display Black"/>
                <a:cs typeface="Playfair Display Black"/>
                <a:ea typeface="Playfair Display Black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6528" y="2574250"/>
            <a:ext cx="304323" cy="2971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b="0" sz="1728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12292" y="2604730"/>
            <a:ext cx="692586" cy="2590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934"/>
              </a:lnSpc>
              <a:spcBef>
                <a:spcPts val="0"/>
              </a:spcBef>
              <a:spcAft>
                <a:spcPts val="0"/>
              </a:spcAft>
            </a:pPr>
            <a:r>
              <a:rPr b="0" sz="1488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«Ку-ку»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39807" y="2574250"/>
            <a:ext cx="304323" cy="2971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b="0" sz="1728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5571" y="2604730"/>
            <a:ext cx="1027271" cy="2590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934"/>
              </a:lnSpc>
              <a:spcBef>
                <a:spcPts val="0"/>
              </a:spcBef>
              <a:spcAft>
                <a:spcPts val="0"/>
              </a:spcAft>
            </a:pPr>
            <a:r>
              <a:rPr b="0" sz="1488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Догонялки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6528" y="3028354"/>
            <a:ext cx="304323" cy="2971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b="0" sz="1728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12292" y="3058834"/>
            <a:ext cx="1057275" cy="2590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934"/>
              </a:lnSpc>
              <a:spcBef>
                <a:spcPts val="0"/>
              </a:spcBef>
              <a:spcAft>
                <a:spcPts val="0"/>
              </a:spcAft>
            </a:pPr>
            <a:r>
              <a:rPr b="0" sz="1488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«Ладушки»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39807" y="3028354"/>
            <a:ext cx="304323" cy="2971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b="0" sz="1728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35571" y="3058834"/>
            <a:ext cx="802243" cy="2590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934"/>
              </a:lnSpc>
              <a:spcBef>
                <a:spcPts val="0"/>
              </a:spcBef>
              <a:spcAft>
                <a:spcPts val="0"/>
              </a:spcAft>
            </a:pPr>
            <a:r>
              <a:rPr b="0" sz="1488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Песенки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6528" y="3586043"/>
            <a:ext cx="4633198" cy="48720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ts val="1976"/>
              </a:lnSpc>
              <a:spcBef>
                <a:spcPts val="0"/>
              </a:spcBef>
              <a:spcAft>
                <a:spcPts val="0"/>
              </a:spcAft>
            </a:pPr>
            <a:r>
              <a:rPr b="0" sz="1363" lang="ru-RU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Партнёр важнее предмета: интерес держится на другом человеке.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24" y="609600"/>
            <a:ext cx="414456" cy="54768"/>
          </a:xfrm>
          <a:prstGeom prst="rect">
            <a:avLst/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48400" y="2336601"/>
            <a:ext cx="5138975" cy="2585442"/>
          </a:xfrm>
          <a:prstGeom prst="roundRect">
            <a:avLst>
              <a:gd name="adj" fmla="val 2357"/>
            </a:avLst>
          </a:prstGeom>
          <a:solidFill>
            <a:srgbClr val="F4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16528" y="2604730"/>
            <a:ext cx="1288137" cy="464820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E7E8F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914322" y="2604730"/>
            <a:ext cx="1605200" cy="464820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E7E8F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16528" y="3179206"/>
            <a:ext cx="1500068" cy="464820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E7E8F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26253" y="3179206"/>
            <a:ext cx="1182052" cy="464820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E7E8F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417962" y="3179206"/>
            <a:ext cx="1290042" cy="464820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E7E8F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000" y="609600"/>
            <a:ext cx="2979896" cy="2057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b="1" sz="1200" lang="ru-RU" spc="192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КАКИЕ БЫВАЮТ ИГРЫ · 3 ИЗ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24" y="2260401"/>
            <a:ext cx="2797016" cy="6629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4132"/>
              </a:lnSpc>
              <a:spcBef>
                <a:spcPts val="0"/>
              </a:spcBef>
              <a:spcAft>
                <a:spcPts val="0"/>
              </a:spcAft>
            </a:pPr>
            <a:r>
              <a:rPr b="0" sz="3936" lang="ru-RU" spc="-39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Сюжетные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24" y="2785110"/>
            <a:ext cx="2585085" cy="6629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4132"/>
              </a:lnSpc>
              <a:spcBef>
                <a:spcPts val="0"/>
              </a:spcBef>
              <a:spcAft>
                <a:spcPts val="0"/>
              </a:spcAft>
            </a:pPr>
            <a:r>
              <a:rPr b="0" sz="3936" lang="ru-RU" spc="-39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и ролевые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24" y="3227427"/>
            <a:ext cx="1911905" cy="21107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9984"/>
              </a:lnSpc>
              <a:spcBef>
                <a:spcPts val="0"/>
              </a:spcBef>
              <a:spcAft>
                <a:spcPts val="0"/>
              </a:spcAft>
            </a:pPr>
            <a:r>
              <a:rPr b="0" sz="12480" lang="ru-RU">
                <a:solidFill>
                  <a:srgbClr val="B9C0EA"/>
                </a:solidFill>
                <a:latin typeface="Playfair Display Black"/>
                <a:cs typeface="Playfair Display Black"/>
                <a:ea typeface="Playfair Display Black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38937" y="2711410"/>
            <a:ext cx="873799" cy="2514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b="0" sz="1440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🧸 Куклы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6731" y="2711410"/>
            <a:ext cx="1190863" cy="2514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b="0" sz="1440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👩‍⚕️ Больница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8937" y="3285886"/>
            <a:ext cx="1085730" cy="2514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b="0" sz="1440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🛒 Магазин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662" y="3285886"/>
            <a:ext cx="767715" cy="2514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b="0" sz="1440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🍽️ Кафе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40371" y="3285886"/>
            <a:ext cx="875704" cy="2514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b="0" sz="1440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👨‍👩‍👧 Семья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24" y="609600"/>
            <a:ext cx="414456" cy="54768"/>
          </a:xfrm>
          <a:prstGeom prst="rect">
            <a:avLst/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4624" y="1010364"/>
            <a:ext cx="68580" cy="1049416"/>
          </a:xfrm>
          <a:prstGeom prst="rect">
            <a:avLst/>
          </a:prstGeom>
          <a:solidFill>
            <a:srgbClr val="B9C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4624" y="3101007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4624" y="3809191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24" y="4221147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24" y="4633103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24" y="5045059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000" y="609600"/>
            <a:ext cx="1388387" cy="2057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b="1" sz="1200" lang="ru-RU" spc="192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НАБЛЮДЕНИЕ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7044" y="934164"/>
            <a:ext cx="4725828" cy="6629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4132"/>
              </a:lnSpc>
              <a:spcBef>
                <a:spcPts val="0"/>
              </a:spcBef>
              <a:spcAft>
                <a:spcPts val="0"/>
              </a:spcAft>
            </a:pPr>
            <a:r>
              <a:rPr b="0" sz="3936" lang="ru-RU" spc="-39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Как выглядит игра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044" y="1458872"/>
            <a:ext cx="4082653" cy="6629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4132"/>
              </a:lnSpc>
              <a:spcBef>
                <a:spcPts val="0"/>
              </a:spcBef>
              <a:spcAft>
                <a:spcPts val="0"/>
              </a:spcAft>
            </a:pPr>
            <a:r>
              <a:rPr b="0" sz="3936" lang="ru-RU" spc="-39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у ребёнка с РАС?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2528" y="3041570"/>
            <a:ext cx="7907059" cy="57054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b="1" sz="1555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Нефункциональные действия</a:t>
            </a:r>
            <a:r>
              <a:rPr b="0" sz="1555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 с игрушками — разбрасывает, подкидывает, выстраивает в ряд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2528" y="3749754"/>
            <a:ext cx="3779639" cy="2743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b="0" sz="1555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повторяет одно действие многократно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2528" y="4161710"/>
            <a:ext cx="4332803" cy="2743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b="0" sz="1555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использует предмет только одним способом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2528" y="4573666"/>
            <a:ext cx="1482685" cy="2743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b="0" sz="1555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играет коротко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2528" y="4985623"/>
            <a:ext cx="3197066" cy="2743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b="0" sz="1555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не подключает другого человека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632960" cy="6858000"/>
          </a:xfrm>
          <a:prstGeom prst="rect">
            <a:avLst/>
          </a:prstGeom>
          <a:solidFill>
            <a:srgbClr val="B9C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18846" y="2420897"/>
            <a:ext cx="414456" cy="54768"/>
          </a:xfrm>
          <a:prstGeom prst="rect">
            <a:avLst/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210544" y="4133473"/>
            <a:ext cx="3795593" cy="364845"/>
          </a:xfrm>
          <a:prstGeom prst="rect">
            <a:avLst/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24742" y="2420897"/>
            <a:ext cx="1062632" cy="2057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b="1" sz="1200" lang="ru-RU" spc="192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РАЗДЕЛ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68715" y="2876430"/>
            <a:ext cx="4518660" cy="9601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>
              <a:lnSpc>
                <a:spcPts val="5664"/>
              </a:lnSpc>
              <a:spcBef>
                <a:spcPts val="0"/>
              </a:spcBef>
              <a:spcAft>
                <a:spcPts val="0"/>
              </a:spcAft>
            </a:pPr>
            <a:r>
              <a:rPr b="0" sz="5664" lang="ru-RU" spc="-56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Почему дети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09329" y="3595806"/>
            <a:ext cx="6278046" cy="9601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>
              <a:lnSpc>
                <a:spcPts val="5664"/>
              </a:lnSpc>
              <a:spcBef>
                <a:spcPts val="0"/>
              </a:spcBef>
              <a:spcAft>
                <a:spcPts val="0"/>
              </a:spcAft>
            </a:pPr>
            <a:r>
              <a:rPr b="0" sz="5664" lang="ru-RU" spc="-56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с РАС не играют?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24" y="609600"/>
            <a:ext cx="414456" cy="54768"/>
          </a:xfrm>
          <a:prstGeom prst="rect">
            <a:avLst/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08277" y="1860503"/>
            <a:ext cx="2932985" cy="121615"/>
          </a:xfrm>
          <a:prstGeom prst="rect">
            <a:avLst/>
          </a:prstGeom>
          <a:solidFill>
            <a:srgbClr val="B9C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4624" y="3248739"/>
            <a:ext cx="3105030" cy="176022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15240">
            <a:solidFill>
              <a:srgbClr val="E7E8F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43425" y="3248739"/>
            <a:ext cx="3105030" cy="176022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15240">
            <a:solidFill>
              <a:srgbClr val="E7E8F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82225" y="3248739"/>
            <a:ext cx="3105150" cy="1760220"/>
          </a:xfrm>
          <a:prstGeom prst="roundRect">
            <a:avLst>
              <a:gd name="adj" fmla="val 3463"/>
            </a:avLst>
          </a:prstGeom>
          <a:solidFill>
            <a:srgbClr val="B9C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41000" y="609600"/>
            <a:ext cx="2535435" cy="2057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b="1" sz="1200" lang="ru-RU" spc="192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ПОВЕДЕНЧЕСКИЙ РАЗБОР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24" y="934164"/>
            <a:ext cx="5001220" cy="6629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4132"/>
              </a:lnSpc>
              <a:spcBef>
                <a:spcPts val="0"/>
              </a:spcBef>
              <a:spcAft>
                <a:spcPts val="0"/>
              </a:spcAft>
            </a:pPr>
            <a:r>
              <a:rPr b="0" sz="3936" lang="ru-RU" spc="-39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Свободный оперант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24" y="1681281"/>
            <a:ext cx="4630816" cy="3200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583"/>
              </a:lnSpc>
              <a:spcBef>
                <a:spcPts val="0"/>
              </a:spcBef>
              <a:spcAft>
                <a:spcPts val="0"/>
              </a:spcAft>
            </a:pPr>
            <a:r>
              <a:rPr b="0" sz="1872" lang="ru-RU">
                <a:solidFill>
                  <a:srgbClr val="3A3A46"/>
                </a:solidFill>
                <a:latin typeface="Noto Sans"/>
                <a:cs typeface="Noto Sans"/>
                <a:ea typeface="Noto Sans"/>
              </a:rPr>
              <a:t>Начинается с мотивационных условий.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3704" y="3556515"/>
            <a:ext cx="2617350" cy="48720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ts val="1976"/>
              </a:lnSpc>
              <a:spcBef>
                <a:spcPts val="0"/>
              </a:spcBef>
              <a:spcAft>
                <a:spcPts val="0"/>
              </a:spcAft>
            </a:pPr>
            <a:r>
              <a:rPr b="1" sz="1363" lang="ru-RU" spc="190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МОТИВАЦИОННЫЕ УСЛОВИЯ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3704" y="4158972"/>
            <a:ext cx="2288500" cy="4724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3062"/>
              </a:lnSpc>
              <a:spcBef>
                <a:spcPts val="0"/>
              </a:spcBef>
              <a:spcAft>
                <a:spcPts val="0"/>
              </a:spcAft>
            </a:pPr>
            <a:r>
              <a:rPr b="1" sz="2784" lang="ru-RU" spc="-27">
                <a:solidFill>
                  <a:srgbClr val="15151B"/>
                </a:solidFill>
                <a:latin typeface="Playfair Display"/>
                <a:cs typeface="Playfair Display"/>
                <a:ea typeface="Playfair Display"/>
              </a:rPr>
              <a:t>Хочет играть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80271" y="3930729"/>
            <a:ext cx="323016" cy="3962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995"/>
              </a:lnSpc>
              <a:spcBef>
                <a:spcPts val="0"/>
              </a:spcBef>
              <a:spcAft>
                <a:spcPts val="0"/>
              </a:spcAft>
            </a:pPr>
            <a:r>
              <a:rPr b="1" sz="2304" lang="ru-RU">
                <a:solidFill>
                  <a:srgbClr val="B9C0EA"/>
                </a:solidFill>
                <a:latin typeface="Noto Sans"/>
                <a:cs typeface="Noto Sans"/>
                <a:ea typeface="Noto Sans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2505" y="3556515"/>
            <a:ext cx="1325641" cy="2362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976"/>
              </a:lnSpc>
              <a:spcBef>
                <a:spcPts val="0"/>
              </a:spcBef>
              <a:spcAft>
                <a:spcPts val="0"/>
              </a:spcAft>
            </a:pPr>
            <a:r>
              <a:rPr b="1" sz="1363" lang="ru-RU" spc="190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ПОВЕДЕНИЕ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2505" y="3907988"/>
            <a:ext cx="2416611" cy="4724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3062"/>
              </a:lnSpc>
              <a:spcBef>
                <a:spcPts val="0"/>
              </a:spcBef>
              <a:spcAft>
                <a:spcPts val="0"/>
              </a:spcAft>
            </a:pPr>
            <a:r>
              <a:rPr b="1" sz="2784" lang="ru-RU" spc="-27">
                <a:solidFill>
                  <a:srgbClr val="15151B"/>
                </a:solidFill>
                <a:latin typeface="Playfair Display"/>
                <a:cs typeface="Playfair Display"/>
                <a:ea typeface="Playfair Display"/>
              </a:rPr>
              <a:t>Идёт и играет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9072" y="3930729"/>
            <a:ext cx="323016" cy="3962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995"/>
              </a:lnSpc>
              <a:spcBef>
                <a:spcPts val="0"/>
              </a:spcBef>
              <a:spcAft>
                <a:spcPts val="0"/>
              </a:spcAft>
            </a:pPr>
            <a:r>
              <a:rPr b="1" sz="2304" lang="ru-RU">
                <a:solidFill>
                  <a:srgbClr val="B9C0EA"/>
                </a:solidFill>
                <a:latin typeface="Noto Sans"/>
                <a:cs typeface="Noto Sans"/>
                <a:ea typeface="Noto Sans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6065" y="3541275"/>
            <a:ext cx="1593770" cy="2362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976"/>
              </a:lnSpc>
              <a:spcBef>
                <a:spcPts val="0"/>
              </a:spcBef>
              <a:spcAft>
                <a:spcPts val="0"/>
              </a:spcAft>
            </a:pPr>
            <a:r>
              <a:rPr b="1" sz="1363" lang="ru-RU" spc="190">
                <a:solidFill>
                  <a:srgbClr val="3A3A55"/>
                </a:solidFill>
                <a:latin typeface="Noto Sans"/>
                <a:cs typeface="Noto Sans"/>
                <a:ea typeface="Noto Sans"/>
              </a:rPr>
              <a:t>ПОСЛЕДСТВИЕ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26065" y="3892748"/>
            <a:ext cx="2647950" cy="86141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ts val="3062"/>
              </a:lnSpc>
              <a:spcBef>
                <a:spcPts val="0"/>
              </a:spcBef>
              <a:spcAft>
                <a:spcPts val="0"/>
              </a:spcAft>
            </a:pPr>
            <a:r>
              <a:rPr b="1" sz="2784" lang="ru-RU" spc="-27">
                <a:solidFill>
                  <a:srgbClr val="15151B"/>
                </a:solidFill>
                <a:latin typeface="Playfair Display"/>
                <a:cs typeface="Playfair Display"/>
                <a:ea typeface="Playfair Display"/>
              </a:rPr>
              <a:t>Получает удовольствие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26280"/>
            <a:ext cx="12192000" cy="2331720"/>
          </a:xfrm>
          <a:prstGeom prst="rect">
            <a:avLst/>
          </a:prstGeom>
          <a:solidFill>
            <a:srgbClr val="F4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4624" y="609600"/>
            <a:ext cx="414456" cy="54768"/>
          </a:xfrm>
          <a:prstGeom prst="rect">
            <a:avLst/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4624" y="3546276"/>
            <a:ext cx="1518880" cy="446484"/>
          </a:xfrm>
          <a:prstGeom prst="roundRect">
            <a:avLst>
              <a:gd name="adj" fmla="val 10922"/>
            </a:avLst>
          </a:prstGeom>
          <a:solidFill>
            <a:srgbClr val="F4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847498" y="3546276"/>
            <a:ext cx="1599366" cy="446484"/>
          </a:xfrm>
          <a:prstGeom prst="roundRect">
            <a:avLst>
              <a:gd name="adj" fmla="val 10922"/>
            </a:avLst>
          </a:prstGeom>
          <a:solidFill>
            <a:srgbClr val="F4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970859" y="3546276"/>
            <a:ext cx="2505908" cy="446484"/>
          </a:xfrm>
          <a:prstGeom prst="roundRect">
            <a:avLst>
              <a:gd name="adj" fmla="val 10922"/>
            </a:avLst>
          </a:prstGeom>
          <a:solidFill>
            <a:srgbClr val="B9C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41000" y="609600"/>
            <a:ext cx="2535435" cy="2057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b="1" sz="1200" lang="ru-RU" spc="192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ПОВЕДЕНЧЕСКИЙ РАЗБОР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24" y="934164"/>
            <a:ext cx="4444007" cy="6629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4132"/>
              </a:lnSpc>
              <a:spcBef>
                <a:spcPts val="0"/>
              </a:spcBef>
              <a:spcAft>
                <a:spcPts val="0"/>
              </a:spcAft>
            </a:pPr>
            <a:r>
              <a:rPr b="0" sz="3936" lang="ru-RU" spc="-39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Как это выглядит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24" y="1458872"/>
            <a:ext cx="3106459" cy="6629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4132"/>
              </a:lnSpc>
              <a:spcBef>
                <a:spcPts val="0"/>
              </a:spcBef>
              <a:spcAft>
                <a:spcPts val="0"/>
              </a:spcAft>
            </a:pPr>
            <a:r>
              <a:rPr b="0" sz="3936" lang="ru-RU" spc="-39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на практике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5240" y="3643788"/>
            <a:ext cx="1208127" cy="2514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b="0" sz="1440" lang="ru-RU">
                <a:solidFill>
                  <a:srgbClr val="15151B"/>
                </a:solidFill>
                <a:latin typeface="Noto Sans SemiBold"/>
                <a:cs typeface="Noto Sans SemiBold"/>
                <a:ea typeface="Noto Sans SemiBold"/>
              </a:rPr>
              <a:t>хочет играть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9713" y="3607950"/>
            <a:ext cx="262056" cy="3124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24"/>
              </a:lnSpc>
              <a:spcBef>
                <a:spcPts val="0"/>
              </a:spcBef>
              <a:spcAft>
                <a:spcPts val="0"/>
              </a:spcAft>
            </a:pPr>
            <a:r>
              <a:rPr b="1" sz="1824" lang="ru-RU">
                <a:solidFill>
                  <a:srgbClr val="B9C0EA"/>
                </a:solidFill>
                <a:latin typeface="Noto Sans"/>
                <a:cs typeface="Noto Sans"/>
                <a:ea typeface="Noto Sans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8115" y="3643788"/>
            <a:ext cx="1288613" cy="2514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b="0" sz="1440" lang="ru-RU">
                <a:solidFill>
                  <a:srgbClr val="15151B"/>
                </a:solidFill>
                <a:latin typeface="Noto Sans SemiBold"/>
                <a:cs typeface="Noto Sans SemiBold"/>
                <a:ea typeface="Noto Sans SemiBold"/>
              </a:rPr>
              <a:t>идёт и играет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3074" y="3607950"/>
            <a:ext cx="262056" cy="3124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24"/>
              </a:lnSpc>
              <a:spcBef>
                <a:spcPts val="0"/>
              </a:spcBef>
              <a:spcAft>
                <a:spcPts val="0"/>
              </a:spcAft>
            </a:pPr>
            <a:r>
              <a:rPr b="1" sz="1824" lang="ru-RU">
                <a:solidFill>
                  <a:srgbClr val="B9C0EA"/>
                </a:solidFill>
                <a:latin typeface="Noto Sans"/>
                <a:cs typeface="Noto Sans"/>
                <a:ea typeface="Noto Sans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41475" y="3643788"/>
            <a:ext cx="2195155" cy="2514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b="0" sz="1440" lang="ru-RU">
                <a:solidFill>
                  <a:srgbClr val="15151B"/>
                </a:solidFill>
                <a:latin typeface="Noto Sans SemiBold"/>
                <a:cs typeface="Noto Sans SemiBold"/>
                <a:ea typeface="Noto Sans SemiBold"/>
              </a:rPr>
              <a:t>получает удовольствие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24" y="4177069"/>
            <a:ext cx="7438310" cy="57054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b="0" sz="1555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Если последнего звена нет — </a:t>
            </a:r>
            <a:r>
              <a:rPr b="1" sz="1555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игра не подкрепляется</a:t>
            </a:r>
            <a:r>
              <a:rPr b="0" sz="1555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, и цепочка не повторится сама собой.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24" y="609600"/>
            <a:ext cx="414456" cy="54768"/>
          </a:xfrm>
          <a:prstGeom prst="rect">
            <a:avLst/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4624" y="1010364"/>
            <a:ext cx="68580" cy="1049416"/>
          </a:xfrm>
          <a:prstGeom prst="rect">
            <a:avLst/>
          </a:prstGeom>
          <a:solidFill>
            <a:srgbClr val="B9C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4624" y="3627000"/>
            <a:ext cx="2328148" cy="446484"/>
          </a:xfrm>
          <a:prstGeom prst="roundRect">
            <a:avLst>
              <a:gd name="adj" fmla="val 10922"/>
            </a:avLst>
          </a:prstGeom>
          <a:solidFill>
            <a:srgbClr val="F4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6766" y="3627000"/>
            <a:ext cx="3334821" cy="446484"/>
          </a:xfrm>
          <a:prstGeom prst="roundRect">
            <a:avLst>
              <a:gd name="adj" fmla="val 10922"/>
            </a:avLst>
          </a:prstGeom>
          <a:solidFill>
            <a:srgbClr val="F4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15582" y="3627000"/>
            <a:ext cx="1954649" cy="446484"/>
          </a:xfrm>
          <a:prstGeom prst="roundRect">
            <a:avLst>
              <a:gd name="adj" fmla="val 10922"/>
            </a:avLst>
          </a:prstGeom>
          <a:solidFill>
            <a:srgbClr val="F4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24" y="4183141"/>
            <a:ext cx="2603539" cy="446484"/>
          </a:xfrm>
          <a:prstGeom prst="roundRect">
            <a:avLst>
              <a:gd name="adj" fmla="val 10922"/>
            </a:avLst>
          </a:prstGeom>
          <a:solidFill>
            <a:srgbClr val="F4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932158" y="4183141"/>
            <a:ext cx="2206466" cy="446484"/>
          </a:xfrm>
          <a:prstGeom prst="roundRect">
            <a:avLst>
              <a:gd name="adj" fmla="val 10922"/>
            </a:avLst>
          </a:prstGeom>
          <a:solidFill>
            <a:srgbClr val="F4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62618" y="4183141"/>
            <a:ext cx="2238494" cy="446484"/>
          </a:xfrm>
          <a:prstGeom prst="roundRect">
            <a:avLst>
              <a:gd name="adj" fmla="val 10922"/>
            </a:avLst>
          </a:prstGeom>
          <a:solidFill>
            <a:srgbClr val="F4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24" y="4739282"/>
            <a:ext cx="3130510" cy="446484"/>
          </a:xfrm>
          <a:prstGeom prst="roundRect">
            <a:avLst>
              <a:gd name="adj" fmla="val 10922"/>
            </a:avLst>
          </a:prstGeom>
          <a:solidFill>
            <a:srgbClr val="B9C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1000" y="609600"/>
            <a:ext cx="3505914" cy="2057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b="1" sz="1200" lang="ru-RU" spc="192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ПОЧЕМУ ДЕТИ С РАС НЕ ИГРАЮТ ·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7044" y="934164"/>
            <a:ext cx="4710350" cy="6629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4132"/>
              </a:lnSpc>
              <a:spcBef>
                <a:spcPts val="0"/>
              </a:spcBef>
              <a:spcAft>
                <a:spcPts val="0"/>
              </a:spcAft>
            </a:pPr>
            <a:r>
              <a:rPr b="0" sz="3936" lang="ru-RU" spc="-39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Игра — это не один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044" y="1458872"/>
            <a:ext cx="5011816" cy="6629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4132"/>
              </a:lnSpc>
              <a:spcBef>
                <a:spcPts val="0"/>
              </a:spcBef>
              <a:spcAft>
                <a:spcPts val="0"/>
              </a:spcAft>
            </a:pPr>
            <a:r>
              <a:rPr b="0" sz="3936" lang="ru-RU" spc="-39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врождённый навык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24" y="3122295"/>
            <a:ext cx="10412730" cy="3200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583"/>
              </a:lnSpc>
              <a:spcBef>
                <a:spcPts val="0"/>
              </a:spcBef>
              <a:spcAft>
                <a:spcPts val="0"/>
              </a:spcAft>
            </a:pPr>
            <a:r>
              <a:rPr b="0" sz="1872" lang="ru-RU">
                <a:solidFill>
                  <a:srgbClr val="3A3A46"/>
                </a:solidFill>
                <a:latin typeface="Noto Sans"/>
                <a:cs typeface="Noto Sans"/>
                <a:ea typeface="Noto Sans"/>
              </a:rPr>
              <a:t>Чтобы ребёнок начал играть самостоятельно, ему нужно освоить целый набор действий: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5240" y="3724513"/>
            <a:ext cx="2017395" cy="2514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b="0" sz="1440" lang="ru-RU">
                <a:solidFill>
                  <a:srgbClr val="15151B"/>
                </a:solidFill>
                <a:latin typeface="Noto Sans SemiBold"/>
                <a:cs typeface="Noto Sans SemiBold"/>
                <a:ea typeface="Noto Sans SemiBold"/>
              </a:rPr>
              <a:t>исследовать предмет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78981" y="3688675"/>
            <a:ext cx="262056" cy="3124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24"/>
              </a:lnSpc>
              <a:spcBef>
                <a:spcPts val="0"/>
              </a:spcBef>
              <a:spcAft>
                <a:spcPts val="0"/>
              </a:spcAft>
            </a:pPr>
            <a:r>
              <a:rPr b="1" sz="1824" lang="ru-RU">
                <a:solidFill>
                  <a:srgbClr val="B9C0EA"/>
                </a:solidFill>
                <a:latin typeface="Noto Sans"/>
                <a:cs typeface="Noto Sans"/>
                <a:ea typeface="Noto Sans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27383" y="3724513"/>
            <a:ext cx="3024068" cy="2514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b="0" sz="1440" lang="ru-RU">
                <a:solidFill>
                  <a:srgbClr val="15151B"/>
                </a:solidFill>
                <a:latin typeface="Noto Sans SemiBold"/>
                <a:cs typeface="Noto Sans SemiBold"/>
                <a:ea typeface="Noto Sans SemiBold"/>
              </a:rPr>
              <a:t>понять, что с ним можно делать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7796" y="3688675"/>
            <a:ext cx="262056" cy="3124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24"/>
              </a:lnSpc>
              <a:spcBef>
                <a:spcPts val="0"/>
              </a:spcBef>
              <a:spcAft>
                <a:spcPts val="0"/>
              </a:spcAft>
            </a:pPr>
            <a:r>
              <a:rPr b="1" sz="1824" lang="ru-RU">
                <a:solidFill>
                  <a:srgbClr val="B9C0EA"/>
                </a:solidFill>
                <a:latin typeface="Noto Sans"/>
                <a:cs typeface="Noto Sans"/>
                <a:ea typeface="Noto Sans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6198" y="3724513"/>
            <a:ext cx="1643895" cy="2514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b="0" sz="1440" lang="ru-RU">
                <a:solidFill>
                  <a:srgbClr val="15151B"/>
                </a:solidFill>
                <a:latin typeface="Noto Sans SemiBold"/>
                <a:cs typeface="Noto Sans SemiBold"/>
                <a:ea typeface="Noto Sans SemiBold"/>
              </a:rPr>
              <a:t>использовать его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16440" y="3688675"/>
            <a:ext cx="262056" cy="3124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24"/>
              </a:lnSpc>
              <a:spcBef>
                <a:spcPts val="0"/>
              </a:spcBef>
              <a:spcAft>
                <a:spcPts val="0"/>
              </a:spcAft>
            </a:pPr>
            <a:r>
              <a:rPr b="1" sz="1824" lang="ru-RU">
                <a:solidFill>
                  <a:srgbClr val="B9C0EA"/>
                </a:solidFill>
                <a:latin typeface="Noto Sans"/>
                <a:cs typeface="Noto Sans"/>
                <a:ea typeface="Noto Sans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5240" y="4280654"/>
            <a:ext cx="2292786" cy="2514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b="0" sz="1440" lang="ru-RU">
                <a:solidFill>
                  <a:srgbClr val="15151B"/>
                </a:solidFill>
                <a:latin typeface="Noto Sans SemiBold"/>
                <a:cs typeface="Noto Sans SemiBold"/>
                <a:ea typeface="Noto Sans SemiBold"/>
              </a:rPr>
              <a:t>менять способ действия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54372" y="4244816"/>
            <a:ext cx="262056" cy="3124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24"/>
              </a:lnSpc>
              <a:spcBef>
                <a:spcPts val="0"/>
              </a:spcBef>
              <a:spcAft>
                <a:spcPts val="0"/>
              </a:spcAft>
            </a:pPr>
            <a:r>
              <a:rPr b="1" sz="1824" lang="ru-RU">
                <a:solidFill>
                  <a:srgbClr val="B9C0EA"/>
                </a:solidFill>
                <a:latin typeface="Noto Sans"/>
                <a:cs typeface="Noto Sans"/>
                <a:ea typeface="Noto Sans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02774" y="4280654"/>
            <a:ext cx="1895713" cy="2514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b="0" sz="1440" lang="ru-RU">
                <a:solidFill>
                  <a:srgbClr val="15151B"/>
                </a:solidFill>
                <a:latin typeface="Noto Sans SemiBold"/>
                <a:cs typeface="Noto Sans SemiBold"/>
                <a:ea typeface="Noto Sans SemiBold"/>
              </a:rPr>
              <a:t>соединять действия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4833" y="4244816"/>
            <a:ext cx="262056" cy="3124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24"/>
              </a:lnSpc>
              <a:spcBef>
                <a:spcPts val="0"/>
              </a:spcBef>
              <a:spcAft>
                <a:spcPts val="0"/>
              </a:spcAft>
            </a:pPr>
            <a:r>
              <a:rPr b="1" sz="1824" lang="ru-RU">
                <a:solidFill>
                  <a:srgbClr val="B9C0EA"/>
                </a:solidFill>
                <a:latin typeface="Noto Sans"/>
                <a:cs typeface="Noto Sans"/>
                <a:ea typeface="Noto Sans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3235" y="4280654"/>
            <a:ext cx="1927740" cy="2514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b="0" sz="1440" lang="ru-RU">
                <a:solidFill>
                  <a:srgbClr val="15151B"/>
                </a:solidFill>
                <a:latin typeface="Noto Sans SemiBold"/>
                <a:cs typeface="Noto Sans SemiBold"/>
                <a:ea typeface="Noto Sans SemiBold"/>
              </a:rPr>
              <a:t>придумывать сюжет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47321" y="4244816"/>
            <a:ext cx="262056" cy="3124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24"/>
              </a:lnSpc>
              <a:spcBef>
                <a:spcPts val="0"/>
              </a:spcBef>
              <a:spcAft>
                <a:spcPts val="0"/>
              </a:spcAft>
            </a:pPr>
            <a:r>
              <a:rPr b="1" sz="1824" lang="ru-RU">
                <a:solidFill>
                  <a:srgbClr val="B9C0EA"/>
                </a:solidFill>
                <a:latin typeface="Noto Sans"/>
                <a:cs typeface="Noto Sans"/>
                <a:ea typeface="Noto Sans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5240" y="4836795"/>
            <a:ext cx="2819757" cy="2514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b="0" sz="1440" lang="ru-RU">
                <a:solidFill>
                  <a:srgbClr val="15151B"/>
                </a:solidFill>
                <a:latin typeface="Noto Sans SemiBold"/>
                <a:cs typeface="Noto Sans SemiBold"/>
                <a:ea typeface="Noto Sans SemiBold"/>
              </a:rPr>
              <a:t>подключать другого человека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720" y="0"/>
            <a:ext cx="4145280" cy="6858000"/>
          </a:xfrm>
          <a:prstGeom prst="rect">
            <a:avLst/>
          </a:prstGeom>
          <a:solidFill>
            <a:srgbClr val="F4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4624" y="609600"/>
            <a:ext cx="414456" cy="54768"/>
          </a:xfrm>
          <a:prstGeom prst="rect">
            <a:avLst/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28474" y="4269728"/>
            <a:ext cx="2717601" cy="104241"/>
          </a:xfrm>
          <a:prstGeom prst="rect">
            <a:avLst/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019210" y="2367200"/>
            <a:ext cx="1212175" cy="446484"/>
          </a:xfrm>
          <a:prstGeom prst="roundRect">
            <a:avLst>
              <a:gd name="adj" fmla="val 10922"/>
            </a:avLst>
          </a:prstGeom>
          <a:solidFill>
            <a:srgbClr val="B9C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755380" y="2367200"/>
            <a:ext cx="1742717" cy="446484"/>
          </a:xfrm>
          <a:prstGeom prst="roundRect">
            <a:avLst>
              <a:gd name="adj" fmla="val 10922"/>
            </a:avLst>
          </a:prstGeom>
          <a:solidFill>
            <a:srgbClr val="B9C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019210" y="3729990"/>
            <a:ext cx="937498" cy="446484"/>
          </a:xfrm>
          <a:prstGeom prst="roundRect">
            <a:avLst>
              <a:gd name="adj" fmla="val 10922"/>
            </a:avLst>
          </a:prstGeom>
          <a:solidFill>
            <a:srgbClr val="F4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80702" y="3729990"/>
            <a:ext cx="2113002" cy="446484"/>
          </a:xfrm>
          <a:prstGeom prst="roundRect">
            <a:avLst>
              <a:gd name="adj" fmla="val 10922"/>
            </a:avLst>
          </a:prstGeom>
          <a:solidFill>
            <a:srgbClr val="F4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019210" y="4286130"/>
            <a:ext cx="1247655" cy="446484"/>
          </a:xfrm>
          <a:prstGeom prst="roundRect">
            <a:avLst>
              <a:gd name="adj" fmla="val 10922"/>
            </a:avLst>
          </a:prstGeom>
          <a:solidFill>
            <a:srgbClr val="F4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90860" y="4286130"/>
            <a:ext cx="1239559" cy="446484"/>
          </a:xfrm>
          <a:prstGeom prst="roundRect">
            <a:avLst>
              <a:gd name="adj" fmla="val 10922"/>
            </a:avLst>
          </a:prstGeom>
          <a:solidFill>
            <a:srgbClr val="F4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019210" y="4842271"/>
            <a:ext cx="1051917" cy="446484"/>
          </a:xfrm>
          <a:prstGeom prst="roundRect">
            <a:avLst>
              <a:gd name="adj" fmla="val 10922"/>
            </a:avLst>
          </a:prstGeom>
          <a:solidFill>
            <a:srgbClr val="F4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595121" y="4842271"/>
            <a:ext cx="1188243" cy="446484"/>
          </a:xfrm>
          <a:prstGeom prst="roundRect">
            <a:avLst>
              <a:gd name="adj" fmla="val 10922"/>
            </a:avLst>
          </a:prstGeom>
          <a:solidFill>
            <a:srgbClr val="F4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41000" y="609600"/>
            <a:ext cx="3505914" cy="2057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b="1" sz="1200" lang="ru-RU" spc="192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ПОЧЕМУ ДЕТИ С РАС НЕ ИГРАЮТ ·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24" y="1893808"/>
            <a:ext cx="3670220" cy="6629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4132"/>
              </a:lnSpc>
              <a:spcBef>
                <a:spcPts val="0"/>
              </a:spcBef>
              <a:spcAft>
                <a:spcPts val="0"/>
              </a:spcAft>
            </a:pPr>
            <a:r>
              <a:rPr b="0" sz="3936" lang="ru-RU" spc="-39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Трудно самому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24" y="2418516"/>
            <a:ext cx="2743080" cy="6629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4132"/>
              </a:lnSpc>
              <a:spcBef>
                <a:spcPts val="0"/>
              </a:spcBef>
              <a:spcAft>
                <a:spcPts val="0"/>
              </a:spcAft>
            </a:pPr>
            <a:r>
              <a:rPr b="0" sz="3936" lang="ru-RU" spc="-39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придумать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24" y="2943225"/>
            <a:ext cx="3486269" cy="6629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4132"/>
              </a:lnSpc>
              <a:spcBef>
                <a:spcPts val="0"/>
              </a:spcBef>
              <a:spcAft>
                <a:spcPts val="0"/>
              </a:spcAft>
            </a:pPr>
            <a:r>
              <a:rPr b="0" sz="3936" lang="ru-RU" spc="-39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«что дальше»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24" y="3819882"/>
            <a:ext cx="6157162" cy="57054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b="0" sz="1555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Проблема может быть не в отсутствии интереса к машинке, а в узком репертуаре действий с ней.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9210" y="1970008"/>
            <a:ext cx="3289815" cy="2362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976"/>
              </a:lnSpc>
              <a:spcBef>
                <a:spcPts val="0"/>
              </a:spcBef>
              <a:spcAft>
                <a:spcPts val="0"/>
              </a:spcAft>
            </a:pPr>
            <a:r>
              <a:rPr b="0" sz="1363" lang="ru-RU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Ребёнок знает и любит одно действие: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89827" y="2464712"/>
            <a:ext cx="901422" cy="2514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b="0" sz="1440" lang="ru-RU">
                <a:solidFill>
                  <a:srgbClr val="15151B"/>
                </a:solidFill>
                <a:latin typeface="Noto Sans SemiBold"/>
                <a:cs typeface="Noto Sans SemiBold"/>
                <a:ea typeface="Noto Sans SemiBold"/>
              </a:rPr>
              <a:t>машинка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7594" y="2428875"/>
            <a:ext cx="262056" cy="3124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24"/>
              </a:lnSpc>
              <a:spcBef>
                <a:spcPts val="0"/>
              </a:spcBef>
              <a:spcAft>
                <a:spcPts val="0"/>
              </a:spcAft>
            </a:pPr>
            <a:r>
              <a:rPr b="1" sz="1824" lang="ru-RU">
                <a:solidFill>
                  <a:srgbClr val="B9C0EA"/>
                </a:solidFill>
                <a:latin typeface="Noto Sans"/>
                <a:cs typeface="Noto Sans"/>
                <a:ea typeface="Noto Sans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25996" y="2464712"/>
            <a:ext cx="1431964" cy="2514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b="0" sz="1440" lang="ru-RU">
                <a:solidFill>
                  <a:srgbClr val="15151B"/>
                </a:solidFill>
                <a:latin typeface="Noto Sans SemiBold"/>
                <a:cs typeface="Noto Sans SemiBold"/>
                <a:ea typeface="Noto Sans SemiBold"/>
              </a:rPr>
              <a:t>крутить колесо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9210" y="3081813"/>
            <a:ext cx="4398645" cy="48720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ts val="1976"/>
              </a:lnSpc>
              <a:spcBef>
                <a:spcPts val="0"/>
              </a:spcBef>
              <a:spcAft>
                <a:spcPts val="0"/>
              </a:spcAft>
            </a:pPr>
            <a:r>
              <a:rPr b="0" sz="1363" lang="ru-RU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А следующего варианта в репертуаре может не быть: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89827" y="3827502"/>
            <a:ext cx="626745" cy="2514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b="0" sz="1440" lang="ru-RU">
                <a:solidFill>
                  <a:srgbClr val="15151B"/>
                </a:solidFill>
                <a:latin typeface="Noto Sans SemiBold"/>
                <a:cs typeface="Noto Sans SemiBold"/>
                <a:ea typeface="Noto Sans SemiBold"/>
              </a:rPr>
              <a:t>катать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02917" y="3791664"/>
            <a:ext cx="262056" cy="3124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24"/>
              </a:lnSpc>
              <a:spcBef>
                <a:spcPts val="0"/>
              </a:spcBef>
              <a:spcAft>
                <a:spcPts val="0"/>
              </a:spcAft>
            </a:pPr>
            <a:r>
              <a:rPr b="1" sz="1824" lang="ru-RU">
                <a:solidFill>
                  <a:srgbClr val="B9C0EA"/>
                </a:solidFill>
                <a:latin typeface="Noto Sans"/>
                <a:cs typeface="Noto Sans"/>
                <a:ea typeface="Noto Sans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51319" y="3827502"/>
            <a:ext cx="1802249" cy="2514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b="0" sz="1440" lang="ru-RU">
                <a:solidFill>
                  <a:srgbClr val="15151B"/>
                </a:solidFill>
                <a:latin typeface="Noto Sans SemiBold"/>
                <a:cs typeface="Noto Sans SemiBold"/>
                <a:ea typeface="Noto Sans SemiBold"/>
              </a:rPr>
              <a:t>поставить на горку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39913" y="3791664"/>
            <a:ext cx="262056" cy="3124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24"/>
              </a:lnSpc>
              <a:spcBef>
                <a:spcPts val="0"/>
              </a:spcBef>
              <a:spcAft>
                <a:spcPts val="0"/>
              </a:spcAft>
            </a:pPr>
            <a:r>
              <a:rPr b="1" sz="1824" lang="ru-RU">
                <a:solidFill>
                  <a:srgbClr val="B9C0EA"/>
                </a:solidFill>
                <a:latin typeface="Noto Sans"/>
                <a:cs typeface="Noto Sans"/>
                <a:ea typeface="Noto Sans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89827" y="4383643"/>
            <a:ext cx="936902" cy="2514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b="0" sz="1440" lang="ru-RU">
                <a:solidFill>
                  <a:srgbClr val="15151B"/>
                </a:solidFill>
                <a:latin typeface="Noto Sans SemiBold"/>
                <a:cs typeface="Noto Sans SemiBold"/>
                <a:ea typeface="Noto Sans SemiBold"/>
              </a:rPr>
              <a:t>запустить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3075" y="4347805"/>
            <a:ext cx="262056" cy="3124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24"/>
              </a:lnSpc>
              <a:spcBef>
                <a:spcPts val="0"/>
              </a:spcBef>
              <a:spcAft>
                <a:spcPts val="0"/>
              </a:spcAft>
            </a:pPr>
            <a:r>
              <a:rPr b="1" sz="1824" lang="ru-RU">
                <a:solidFill>
                  <a:srgbClr val="B9C0EA"/>
                </a:solidFill>
                <a:latin typeface="Noto Sans"/>
                <a:cs typeface="Noto Sans"/>
                <a:ea typeface="Noto Sans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477" y="4383643"/>
            <a:ext cx="928806" cy="2514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b="0" sz="1440" lang="ru-RU">
                <a:solidFill>
                  <a:srgbClr val="15151B"/>
                </a:solidFill>
                <a:latin typeface="Noto Sans SemiBold"/>
                <a:cs typeface="Noto Sans SemiBold"/>
                <a:ea typeface="Noto Sans SemiBold"/>
              </a:rPr>
              <a:t>загрузить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76629" y="4347805"/>
            <a:ext cx="262056" cy="3124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24"/>
              </a:lnSpc>
              <a:spcBef>
                <a:spcPts val="0"/>
              </a:spcBef>
              <a:spcAft>
                <a:spcPts val="0"/>
              </a:spcAft>
            </a:pPr>
            <a:r>
              <a:rPr b="1" sz="1824" lang="ru-RU">
                <a:solidFill>
                  <a:srgbClr val="B9C0EA"/>
                </a:solidFill>
                <a:latin typeface="Noto Sans"/>
                <a:cs typeface="Noto Sans"/>
                <a:ea typeface="Noto Sans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89827" y="4939784"/>
            <a:ext cx="741164" cy="2514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b="0" sz="1440" lang="ru-RU">
                <a:solidFill>
                  <a:srgbClr val="15151B"/>
                </a:solidFill>
                <a:latin typeface="Noto Sans SemiBold"/>
                <a:cs typeface="Noto Sans SemiBold"/>
                <a:ea typeface="Noto Sans SemiBold"/>
              </a:rPr>
              <a:t>отвезти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7336" y="4903946"/>
            <a:ext cx="262056" cy="3124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24"/>
              </a:lnSpc>
              <a:spcBef>
                <a:spcPts val="0"/>
              </a:spcBef>
              <a:spcAft>
                <a:spcPts val="0"/>
              </a:spcAft>
            </a:pPr>
            <a:r>
              <a:rPr b="1" sz="1824" lang="ru-RU">
                <a:solidFill>
                  <a:srgbClr val="B9C0EA"/>
                </a:solidFill>
                <a:latin typeface="Noto Sans"/>
                <a:cs typeface="Noto Sans"/>
                <a:ea typeface="Noto Sans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65738" y="4939784"/>
            <a:ext cx="877490" cy="2514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b="0" sz="1440" lang="ru-RU">
                <a:solidFill>
                  <a:srgbClr val="15151B"/>
                </a:solidFill>
                <a:latin typeface="Noto Sans SemiBold"/>
                <a:cs typeface="Noto Sans SemiBold"/>
                <a:ea typeface="Noto Sans SemiBold"/>
              </a:rPr>
              <a:t>приехать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24" y="609600"/>
            <a:ext cx="414456" cy="54768"/>
          </a:xfrm>
          <a:prstGeom prst="rect">
            <a:avLst/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4624" y="3236118"/>
            <a:ext cx="1060727" cy="446484"/>
          </a:xfrm>
          <a:prstGeom prst="roundRect">
            <a:avLst>
              <a:gd name="adj" fmla="val 10922"/>
            </a:avLst>
          </a:prstGeom>
          <a:solidFill>
            <a:srgbClr val="F4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389346" y="3236118"/>
            <a:ext cx="1194435" cy="446484"/>
          </a:xfrm>
          <a:prstGeom prst="roundRect">
            <a:avLst>
              <a:gd name="adj" fmla="val 10922"/>
            </a:avLst>
          </a:prstGeom>
          <a:solidFill>
            <a:srgbClr val="F4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07775" y="3236118"/>
            <a:ext cx="1643776" cy="446484"/>
          </a:xfrm>
          <a:prstGeom prst="roundRect">
            <a:avLst>
              <a:gd name="adj" fmla="val 10922"/>
            </a:avLst>
          </a:prstGeom>
          <a:solidFill>
            <a:srgbClr val="F4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48400" y="3027283"/>
            <a:ext cx="5138975" cy="1512450"/>
          </a:xfrm>
          <a:prstGeom prst="roundRect">
            <a:avLst>
              <a:gd name="adj" fmla="val 4030"/>
            </a:avLst>
          </a:prstGeom>
          <a:solidFill>
            <a:srgbClr val="F4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40543" y="5145790"/>
            <a:ext cx="4391382" cy="104241"/>
          </a:xfrm>
          <a:prstGeom prst="rect">
            <a:avLst/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000" y="609600"/>
            <a:ext cx="3505914" cy="2057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b="1" sz="1200" lang="ru-RU" spc="192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ПОЧЕМУ ДЕТИ С РАС НЕ ИГРАЮТ ·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24" y="934164"/>
            <a:ext cx="6498193" cy="6629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4132"/>
              </a:lnSpc>
              <a:spcBef>
                <a:spcPts val="0"/>
              </a:spcBef>
              <a:spcAft>
                <a:spcPts val="0"/>
              </a:spcAft>
            </a:pPr>
            <a:r>
              <a:rPr b="0" sz="3936" lang="ru-RU" spc="-39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Повторяющееся действие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24" y="1458872"/>
            <a:ext cx="4649390" cy="6629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4132"/>
              </a:lnSpc>
              <a:spcBef>
                <a:spcPts val="0"/>
              </a:spcBef>
              <a:spcAft>
                <a:spcPts val="0"/>
              </a:spcAft>
            </a:pPr>
            <a:r>
              <a:rPr b="0" sz="3936" lang="ru-RU" spc="-39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ценно само по себе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5240" y="3333630"/>
            <a:ext cx="749974" cy="2514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b="0" sz="1440" lang="ru-RU">
                <a:solidFill>
                  <a:srgbClr val="15151B"/>
                </a:solidFill>
                <a:latin typeface="Noto Sans SemiBold"/>
                <a:cs typeface="Noto Sans SemiBold"/>
                <a:ea typeface="Noto Sans SemiBold"/>
              </a:rPr>
              <a:t>крутить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560" y="3297793"/>
            <a:ext cx="262056" cy="3124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24"/>
              </a:lnSpc>
              <a:spcBef>
                <a:spcPts val="0"/>
              </a:spcBef>
              <a:spcAft>
                <a:spcPts val="0"/>
              </a:spcAft>
            </a:pPr>
            <a:r>
              <a:rPr b="1" sz="1824" lang="ru-RU">
                <a:solidFill>
                  <a:srgbClr val="B9C0EA"/>
                </a:solidFill>
                <a:latin typeface="Noto Sans"/>
                <a:cs typeface="Noto Sans"/>
                <a:ea typeface="Noto Sans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59962" y="3333630"/>
            <a:ext cx="883681" cy="2514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b="0" sz="1440" lang="ru-RU">
                <a:solidFill>
                  <a:srgbClr val="15151B"/>
                </a:solidFill>
                <a:latin typeface="Noto Sans SemiBold"/>
                <a:cs typeface="Noto Sans SemiBold"/>
                <a:ea typeface="Noto Sans SemiBold"/>
              </a:rPr>
              <a:t>смотреть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9990" y="3297793"/>
            <a:ext cx="262056" cy="3124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24"/>
              </a:lnSpc>
              <a:spcBef>
                <a:spcPts val="0"/>
              </a:spcBef>
              <a:spcAft>
                <a:spcPts val="0"/>
              </a:spcAft>
            </a:pPr>
            <a:r>
              <a:rPr b="1" sz="1824" lang="ru-RU">
                <a:solidFill>
                  <a:srgbClr val="B9C0EA"/>
                </a:solidFill>
                <a:latin typeface="Noto Sans"/>
                <a:cs typeface="Noto Sans"/>
                <a:ea typeface="Noto Sans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8391" y="3333630"/>
            <a:ext cx="1333023" cy="2514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b="0" sz="1440" lang="ru-RU">
                <a:solidFill>
                  <a:srgbClr val="15151B"/>
                </a:solidFill>
                <a:latin typeface="Noto Sans SemiBold"/>
                <a:cs typeface="Noto Sans SemiBold"/>
                <a:ea typeface="Noto Sans SemiBold"/>
              </a:rPr>
              <a:t>снова крутить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24" y="3828811"/>
            <a:ext cx="5289368" cy="48720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ts val="1976"/>
              </a:lnSpc>
              <a:spcBef>
                <a:spcPts val="0"/>
              </a:spcBef>
              <a:spcAft>
                <a:spcPts val="0"/>
              </a:spcAft>
            </a:pPr>
            <a:r>
              <a:rPr b="0" sz="1363" lang="ru-RU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Для ребёнка это может иметь собственную сенсорную или другую подкрепляющую ценность.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6528" y="3295411"/>
            <a:ext cx="4144922" cy="3200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583"/>
              </a:lnSpc>
              <a:spcBef>
                <a:spcPts val="0"/>
              </a:spcBef>
              <a:spcAft>
                <a:spcPts val="0"/>
              </a:spcAft>
            </a:pPr>
            <a:r>
              <a:rPr b="0" sz="1872" lang="ru-RU">
                <a:solidFill>
                  <a:srgbClr val="3A3A46"/>
                </a:solidFill>
                <a:latin typeface="Noto Sans"/>
                <a:cs typeface="Noto Sans"/>
                <a:ea typeface="Noto Sans"/>
              </a:rPr>
              <a:t>«Давай лучше покатаем машинку!»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6528" y="3769637"/>
            <a:ext cx="4633198" cy="48720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ts val="1976"/>
              </a:lnSpc>
              <a:spcBef>
                <a:spcPts val="0"/>
              </a:spcBef>
              <a:spcAft>
                <a:spcPts val="0"/>
              </a:spcAft>
            </a:pPr>
            <a:r>
              <a:rPr b="0" sz="1363" lang="ru-RU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— взрослое предложение, которое может быть вообще неинтересно.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24" y="4992171"/>
            <a:ext cx="10585370" cy="2743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b="0" sz="1555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Сначала понять, что поддерживает существующее поведение, — и только потом решать, как его расширять.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24" y="609600"/>
            <a:ext cx="414456" cy="54768"/>
          </a:xfrm>
          <a:prstGeom prst="rect">
            <a:avLst/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4624" y="3060382"/>
            <a:ext cx="1514713" cy="464820"/>
          </a:xfrm>
          <a:prstGeom prst="roundRect">
            <a:avLst>
              <a:gd name="adj" fmla="val 50000"/>
            </a:avLst>
          </a:prstGeom>
          <a:solidFill>
            <a:srgbClr val="F4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453401" y="3060382"/>
            <a:ext cx="2275879" cy="464820"/>
          </a:xfrm>
          <a:prstGeom prst="roundRect">
            <a:avLst>
              <a:gd name="adj" fmla="val 50000"/>
            </a:avLst>
          </a:prstGeom>
          <a:solidFill>
            <a:srgbClr val="F4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863345" y="3060382"/>
            <a:ext cx="1766530" cy="464820"/>
          </a:xfrm>
          <a:prstGeom prst="roundRect">
            <a:avLst>
              <a:gd name="adj" fmla="val 50000"/>
            </a:avLst>
          </a:prstGeom>
          <a:solidFill>
            <a:srgbClr val="F4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763940" y="3060382"/>
            <a:ext cx="2662475" cy="464820"/>
          </a:xfrm>
          <a:prstGeom prst="roundRect">
            <a:avLst>
              <a:gd name="adj" fmla="val 50000"/>
            </a:avLst>
          </a:prstGeom>
          <a:solidFill>
            <a:srgbClr val="F4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24" y="3659266"/>
            <a:ext cx="3992522" cy="464820"/>
          </a:xfrm>
          <a:prstGeom prst="roundRect">
            <a:avLst>
              <a:gd name="adj" fmla="val 50000"/>
            </a:avLst>
          </a:prstGeom>
          <a:solidFill>
            <a:srgbClr val="F4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931211" y="3659266"/>
            <a:ext cx="2272426" cy="464820"/>
          </a:xfrm>
          <a:prstGeom prst="roundRect">
            <a:avLst>
              <a:gd name="adj" fmla="val 50000"/>
            </a:avLst>
          </a:prstGeom>
          <a:solidFill>
            <a:srgbClr val="F4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37702" y="3659266"/>
            <a:ext cx="2411253" cy="464820"/>
          </a:xfrm>
          <a:prstGeom prst="roundRect">
            <a:avLst>
              <a:gd name="adj" fmla="val 50000"/>
            </a:avLst>
          </a:prstGeom>
          <a:solidFill>
            <a:srgbClr val="F4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24" y="4258151"/>
            <a:ext cx="2943225" cy="464820"/>
          </a:xfrm>
          <a:prstGeom prst="roundRect">
            <a:avLst>
              <a:gd name="adj" fmla="val 50000"/>
            </a:avLst>
          </a:prstGeom>
          <a:solidFill>
            <a:srgbClr val="F4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881913" y="4258151"/>
            <a:ext cx="2227897" cy="464820"/>
          </a:xfrm>
          <a:prstGeom prst="roundRect">
            <a:avLst>
              <a:gd name="adj" fmla="val 50000"/>
            </a:avLst>
          </a:prstGeom>
          <a:solidFill>
            <a:srgbClr val="F4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1000" y="609600"/>
            <a:ext cx="3505914" cy="2057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b="1" sz="1200" lang="ru-RU" spc="192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ПОЧЕМУ ДЕТИ С РАС НЕ ИГРАЮТ ·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24" y="934164"/>
            <a:ext cx="7348894" cy="6629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4132"/>
              </a:lnSpc>
              <a:spcBef>
                <a:spcPts val="0"/>
              </a:spcBef>
              <a:spcAft>
                <a:spcPts val="0"/>
              </a:spcAft>
            </a:pPr>
            <a:r>
              <a:rPr b="0" sz="3936" lang="ru-RU" spc="-39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Ребёнку может быть сложно: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7033" y="3167062"/>
            <a:ext cx="1100375" cy="2514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b="0" sz="1440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начать игру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5810" y="3167062"/>
            <a:ext cx="1861542" cy="2514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b="0" sz="1440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выбрать активность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5754" y="3167062"/>
            <a:ext cx="1352192" cy="2514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b="0" sz="1440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удерживать её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86349" y="3167062"/>
            <a:ext cx="2248138" cy="2514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b="0" sz="1440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менять способ действия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7033" y="3765946"/>
            <a:ext cx="3578185" cy="2514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b="0" sz="1440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использовать предмет функционально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53620" y="3765946"/>
            <a:ext cx="1858089" cy="2514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b="0" sz="1440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соединять действия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60111" y="3765946"/>
            <a:ext cx="1996916" cy="2514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b="0" sz="1440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играть символически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033" y="4364831"/>
            <a:ext cx="2528887" cy="2514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b="0" sz="1440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включать другого человека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04322" y="4364831"/>
            <a:ext cx="1813560" cy="2514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b="0" sz="1440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соблюдать правила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24" y="609600"/>
            <a:ext cx="414456" cy="54768"/>
          </a:xfrm>
          <a:prstGeom prst="rect">
            <a:avLst/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4624" y="1010364"/>
            <a:ext cx="68580" cy="1049416"/>
          </a:xfrm>
          <a:prstGeom prst="rect">
            <a:avLst/>
          </a:prstGeom>
          <a:solidFill>
            <a:srgbClr val="B9C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95154" y="4071089"/>
            <a:ext cx="3108126" cy="92659"/>
          </a:xfrm>
          <a:prstGeom prst="rect">
            <a:avLst/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4624" y="4336241"/>
            <a:ext cx="1271349" cy="92659"/>
          </a:xfrm>
          <a:prstGeom prst="rect">
            <a:avLst/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09039" y="3573780"/>
            <a:ext cx="1081920" cy="35737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5840"/>
              </a:lnSpc>
              <a:spcBef>
                <a:spcPts val="0"/>
              </a:spcBef>
              <a:spcAft>
                <a:spcPts val="0"/>
              </a:spcAft>
            </a:pPr>
            <a:r>
              <a:rPr b="0" sz="21120" lang="ru-RU">
                <a:solidFill>
                  <a:srgbClr val="F4F5FB"/>
                </a:solidFill>
                <a:latin typeface="Playfair Display Black"/>
                <a:cs typeface="Playfair Display Black"/>
                <a:ea typeface="Playfair Display Black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1000" y="609600"/>
            <a:ext cx="2771298" cy="2057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b="1" sz="1200" lang="ru-RU" spc="192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ЗАЧЕМ РЕБЁНКУ С РАС ИГРА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7044" y="934164"/>
            <a:ext cx="3996094" cy="6629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4132"/>
              </a:lnSpc>
              <a:spcBef>
                <a:spcPts val="0"/>
              </a:spcBef>
              <a:spcAft>
                <a:spcPts val="0"/>
              </a:spcAft>
            </a:pPr>
            <a:r>
              <a:rPr b="0" sz="3936" lang="ru-RU" spc="-39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Игра — ведущая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044" y="1458872"/>
            <a:ext cx="5510569" cy="6629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4132"/>
              </a:lnSpc>
              <a:spcBef>
                <a:spcPts val="0"/>
              </a:spcBef>
              <a:spcAft>
                <a:spcPts val="0"/>
              </a:spcAft>
            </a:pPr>
            <a:r>
              <a:rPr b="0" sz="3936" lang="ru-RU" spc="-39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деятельность ребёнка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24" y="3204210"/>
            <a:ext cx="7650003" cy="58388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ts val="2318"/>
              </a:lnSpc>
              <a:spcBef>
                <a:spcPts val="0"/>
              </a:spcBef>
              <a:spcAft>
                <a:spcPts val="0"/>
              </a:spcAft>
            </a:pPr>
            <a:r>
              <a:rPr b="0" sz="1680" lang="ru-RU">
                <a:solidFill>
                  <a:srgbClr val="3A3A46"/>
                </a:solidFill>
                <a:latin typeface="Noto Sans"/>
                <a:cs typeface="Noto Sans"/>
                <a:ea typeface="Noto Sans"/>
              </a:rPr>
              <a:t>Это не просто приятное времяпрепровождение, а большая часть повседневной активности ребёнка.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24" y="3934539"/>
            <a:ext cx="7807813" cy="5089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b="0" sz="1392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Именно через игру ребёнок получает огромное количество естественных возможностей действовать, пробовать новое и взаимодействовать с окружающими.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24" y="4591288"/>
            <a:ext cx="8012394" cy="50018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ts val="2018"/>
              </a:lnSpc>
              <a:spcBef>
                <a:spcPts val="0"/>
              </a:spcBef>
              <a:spcAft>
                <a:spcPts val="0"/>
              </a:spcAft>
            </a:pPr>
            <a:r>
              <a:rPr b="0" sz="1392" lang="ru-RU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Если мы хотим развивать ребёнка в естественной среде — мы не можем игнорировать то, чем он в этой среде занимается.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24" y="609600"/>
            <a:ext cx="414456" cy="54768"/>
          </a:xfrm>
          <a:prstGeom prst="rect">
            <a:avLst/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4624" y="3148845"/>
            <a:ext cx="1093589" cy="386953"/>
          </a:xfrm>
          <a:prstGeom prst="roundRect">
            <a:avLst>
              <a:gd name="adj" fmla="val 12603"/>
            </a:avLst>
          </a:prstGeom>
          <a:solidFill>
            <a:srgbClr val="B9C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422207" y="3148845"/>
            <a:ext cx="806291" cy="386953"/>
          </a:xfrm>
          <a:prstGeom prst="roundRect">
            <a:avLst>
              <a:gd name="adj" fmla="val 12603"/>
            </a:avLst>
          </a:prstGeom>
          <a:solidFill>
            <a:srgbClr val="B9C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52492" y="3148845"/>
            <a:ext cx="883800" cy="386953"/>
          </a:xfrm>
          <a:prstGeom prst="roundRect">
            <a:avLst>
              <a:gd name="adj" fmla="val 12603"/>
            </a:avLst>
          </a:prstGeom>
          <a:solidFill>
            <a:srgbClr val="B9C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160287" y="3148845"/>
            <a:ext cx="893564" cy="386953"/>
          </a:xfrm>
          <a:prstGeom prst="roundRect">
            <a:avLst>
              <a:gd name="adj" fmla="val 12603"/>
            </a:avLst>
          </a:prstGeom>
          <a:solidFill>
            <a:srgbClr val="B9C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77845" y="3148845"/>
            <a:ext cx="724971" cy="386953"/>
          </a:xfrm>
          <a:prstGeom prst="roundRect">
            <a:avLst>
              <a:gd name="adj" fmla="val 12603"/>
            </a:avLst>
          </a:prstGeom>
          <a:solidFill>
            <a:srgbClr val="B9C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77199" y="3573780"/>
            <a:ext cx="1513760" cy="35737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5840"/>
              </a:lnSpc>
              <a:spcBef>
                <a:spcPts val="0"/>
              </a:spcBef>
              <a:spcAft>
                <a:spcPts val="0"/>
              </a:spcAft>
            </a:pPr>
            <a:r>
              <a:rPr b="0" sz="21120" lang="ru-RU">
                <a:solidFill>
                  <a:srgbClr val="F4F5FB"/>
                </a:solidFill>
                <a:latin typeface="Playfair Display Black"/>
                <a:cs typeface="Playfair Display Black"/>
                <a:ea typeface="Playfair Display Black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1000" y="609600"/>
            <a:ext cx="2771298" cy="2057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b="1" sz="1200" lang="ru-RU" spc="192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ЗАЧЕМ РЕБЁНКУ С РАС ИГРА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24" y="934164"/>
            <a:ext cx="5740479" cy="6629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4132"/>
              </a:lnSpc>
              <a:spcBef>
                <a:spcPts val="0"/>
              </a:spcBef>
              <a:spcAft>
                <a:spcPts val="0"/>
              </a:spcAft>
            </a:pPr>
            <a:r>
              <a:rPr b="0" sz="3936" lang="ru-RU" spc="-39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База, в которую можно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24" y="1458872"/>
            <a:ext cx="7240547" cy="6629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4132"/>
              </a:lnSpc>
              <a:spcBef>
                <a:spcPts val="0"/>
              </a:spcBef>
              <a:spcAft>
                <a:spcPts val="0"/>
              </a:spcAft>
            </a:pPr>
            <a:r>
              <a:rPr b="0" sz="3936" lang="ru-RU" spc="-39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«встраивать» новые навыки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24" y="2746295"/>
            <a:ext cx="3258383" cy="2438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018"/>
              </a:lnSpc>
              <a:spcBef>
                <a:spcPts val="0"/>
              </a:spcBef>
              <a:spcAft>
                <a:spcPts val="0"/>
              </a:spcAft>
            </a:pPr>
            <a:r>
              <a:rPr b="0" sz="1392" lang="ru-RU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Сначала формируем игровую рутину: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833" y="3228022"/>
            <a:ext cx="831651" cy="2286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b="0" sz="1324" lang="ru-RU">
                <a:solidFill>
                  <a:srgbClr val="15151B"/>
                </a:solidFill>
                <a:latin typeface="Noto Sans SemiBold"/>
                <a:cs typeface="Noto Sans SemiBold"/>
                <a:ea typeface="Noto Sans SemiBold"/>
              </a:rPr>
              <a:t>машинка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44422" y="3180754"/>
            <a:ext cx="262056" cy="3124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24"/>
              </a:lnSpc>
              <a:spcBef>
                <a:spcPts val="0"/>
              </a:spcBef>
              <a:spcAft>
                <a:spcPts val="0"/>
              </a:spcAft>
            </a:pPr>
            <a:r>
              <a:rPr b="1" sz="1824" lang="ru-RU">
                <a:solidFill>
                  <a:srgbClr val="B9C0EA"/>
                </a:solidFill>
                <a:latin typeface="Noto Sans"/>
                <a:cs typeface="Noto Sans"/>
                <a:ea typeface="Noto Sans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8416" y="3228022"/>
            <a:ext cx="544353" cy="2286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b="0" sz="1324" lang="ru-RU">
                <a:solidFill>
                  <a:srgbClr val="15151B"/>
                </a:solidFill>
                <a:latin typeface="Noto Sans SemiBold"/>
                <a:cs typeface="Noto Sans SemiBold"/>
                <a:ea typeface="Noto Sans SemiBold"/>
              </a:rPr>
              <a:t>гараж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74707" y="3180754"/>
            <a:ext cx="262056" cy="3124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24"/>
              </a:lnSpc>
              <a:spcBef>
                <a:spcPts val="0"/>
              </a:spcBef>
              <a:spcAft>
                <a:spcPts val="0"/>
              </a:spcAft>
            </a:pPr>
            <a:r>
              <a:rPr b="1" sz="1824" lang="ru-RU">
                <a:solidFill>
                  <a:srgbClr val="B9C0EA"/>
                </a:solidFill>
                <a:latin typeface="Noto Sans"/>
                <a:cs typeface="Noto Sans"/>
                <a:ea typeface="Noto Sans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98701" y="3228022"/>
            <a:ext cx="621863" cy="2286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b="0" sz="1324" lang="ru-RU">
                <a:solidFill>
                  <a:srgbClr val="15151B"/>
                </a:solidFill>
                <a:latin typeface="Noto Sans SemiBold"/>
                <a:cs typeface="Noto Sans SemiBold"/>
                <a:ea typeface="Noto Sans SemiBold"/>
              </a:rPr>
              <a:t>дорога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82502" y="3180754"/>
            <a:ext cx="262056" cy="3124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24"/>
              </a:lnSpc>
              <a:spcBef>
                <a:spcPts val="0"/>
              </a:spcBef>
              <a:spcAft>
                <a:spcPts val="0"/>
              </a:spcAft>
            </a:pPr>
            <a:r>
              <a:rPr b="1" sz="1824" lang="ru-RU">
                <a:solidFill>
                  <a:srgbClr val="B9C0EA"/>
                </a:solidFill>
                <a:latin typeface="Noto Sans"/>
                <a:cs typeface="Noto Sans"/>
                <a:ea typeface="Noto Sans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6496" y="3228022"/>
            <a:ext cx="631626" cy="2286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b="0" sz="1324" lang="ru-RU">
                <a:solidFill>
                  <a:srgbClr val="15151B"/>
                </a:solidFill>
                <a:latin typeface="Noto Sans SemiBold"/>
                <a:cs typeface="Noto Sans SemiBold"/>
                <a:ea typeface="Noto Sans SemiBold"/>
              </a:rPr>
              <a:t>грузим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00060" y="3180754"/>
            <a:ext cx="262056" cy="3124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24"/>
              </a:lnSpc>
              <a:spcBef>
                <a:spcPts val="0"/>
              </a:spcBef>
              <a:spcAft>
                <a:spcPts val="0"/>
              </a:spcAft>
            </a:pPr>
            <a:r>
              <a:rPr b="1" sz="1824" lang="ru-RU">
                <a:solidFill>
                  <a:srgbClr val="B9C0EA"/>
                </a:solidFill>
                <a:latin typeface="Noto Sans"/>
                <a:cs typeface="Noto Sans"/>
                <a:ea typeface="Noto Sans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4054" y="3228022"/>
            <a:ext cx="463034" cy="2286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b="0" sz="1324" lang="ru-RU">
                <a:solidFill>
                  <a:srgbClr val="15151B"/>
                </a:solidFill>
                <a:latin typeface="Noto Sans SemiBold"/>
                <a:cs typeface="Noto Sans SemiBold"/>
                <a:ea typeface="Noto Sans SemiBold"/>
              </a:rPr>
              <a:t>едем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24" y="3816072"/>
            <a:ext cx="1428630" cy="2438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09"/>
              </a:lnSpc>
              <a:spcBef>
                <a:spcPts val="0"/>
              </a:spcBef>
              <a:spcAft>
                <a:spcPts val="0"/>
              </a:spcAft>
            </a:pPr>
            <a:r>
              <a:rPr b="1" sz="1392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коммуникация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29720" y="3816072"/>
            <a:ext cx="952023" cy="2438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09"/>
              </a:lnSpc>
              <a:spcBef>
                <a:spcPts val="0"/>
              </a:spcBef>
              <a:spcAft>
                <a:spcPts val="0"/>
              </a:spcAft>
            </a:pPr>
            <a:r>
              <a:rPr b="1" sz="1392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имитация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54816" y="3816072"/>
            <a:ext cx="964882" cy="2438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09"/>
              </a:lnSpc>
              <a:spcBef>
                <a:spcPts val="0"/>
              </a:spcBef>
              <a:spcAft>
                <a:spcPts val="0"/>
              </a:spcAft>
            </a:pPr>
            <a:r>
              <a:rPr b="1" sz="1392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ожидание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24" y="4181832"/>
            <a:ext cx="2086927" cy="2362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976"/>
              </a:lnSpc>
              <a:spcBef>
                <a:spcPts val="0"/>
              </a:spcBef>
              <a:spcAft>
                <a:spcPts val="0"/>
              </a:spcAft>
            </a:pPr>
            <a:r>
              <a:rPr b="0" sz="1363" lang="ru-RU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«ещё», «дай», «поехали»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29720" y="4181832"/>
            <a:ext cx="2624732" cy="2362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976"/>
              </a:lnSpc>
              <a:spcBef>
                <a:spcPts val="0"/>
              </a:spcBef>
              <a:spcAft>
                <a:spcPts val="0"/>
              </a:spcAft>
            </a:pPr>
            <a:r>
              <a:rPr b="0" sz="1363" lang="ru-RU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повторить действие взрослого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54816" y="4181832"/>
            <a:ext cx="2213014" cy="2362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976"/>
              </a:lnSpc>
              <a:spcBef>
                <a:spcPts val="0"/>
              </a:spcBef>
              <a:spcAft>
                <a:spcPts val="0"/>
              </a:spcAft>
            </a:pPr>
            <a:r>
              <a:rPr b="0" sz="1363" lang="ru-RU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дождаться своей очереди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24" y="4554735"/>
            <a:ext cx="618886" cy="2438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09"/>
              </a:lnSpc>
              <a:spcBef>
                <a:spcPts val="0"/>
              </a:spcBef>
              <a:spcAft>
                <a:spcPts val="0"/>
              </a:spcAft>
            </a:pPr>
            <a:r>
              <a:rPr b="1" sz="1392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выбор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29720" y="4554735"/>
            <a:ext cx="488156" cy="2438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09"/>
              </a:lnSpc>
              <a:spcBef>
                <a:spcPts val="0"/>
              </a:spcBef>
              <a:spcAft>
                <a:spcPts val="0"/>
              </a:spcAft>
            </a:pPr>
            <a:r>
              <a:rPr b="1" sz="1392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язык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24" y="4920495"/>
            <a:ext cx="2724864" cy="2362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976"/>
              </a:lnSpc>
              <a:spcBef>
                <a:spcPts val="0"/>
              </a:spcBef>
              <a:spcAft>
                <a:spcPts val="0"/>
              </a:spcAft>
            </a:pPr>
            <a:r>
              <a:rPr b="0" sz="1363" lang="ru-RU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выбрать машинку или маршрут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29720" y="4920495"/>
            <a:ext cx="2626637" cy="2362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976"/>
              </a:lnSpc>
              <a:spcBef>
                <a:spcPts val="0"/>
              </a:spcBef>
              <a:spcAft>
                <a:spcPts val="0"/>
              </a:spcAft>
            </a:pPr>
            <a:r>
              <a:rPr b="0" sz="1363" lang="ru-RU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назвать действие или предмет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24" y="5305544"/>
            <a:ext cx="5095994" cy="2438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018"/>
              </a:lnSpc>
              <a:spcBef>
                <a:spcPts val="0"/>
              </a:spcBef>
              <a:spcAft>
                <a:spcPts val="0"/>
              </a:spcAft>
            </a:pPr>
            <a:r>
              <a:rPr b="0" sz="1392" lang="ru-RU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Не нужно каждый раз создавать новую учебную ситуацию.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24" y="609600"/>
            <a:ext cx="414456" cy="54768"/>
          </a:xfrm>
          <a:prstGeom prst="rect">
            <a:avLst/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4624" y="3090386"/>
            <a:ext cx="1481732" cy="386953"/>
          </a:xfrm>
          <a:prstGeom prst="roundRect">
            <a:avLst>
              <a:gd name="adj" fmla="val 12603"/>
            </a:avLst>
          </a:prstGeom>
          <a:solidFill>
            <a:srgbClr val="F4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810351" y="3090386"/>
            <a:ext cx="1883330" cy="386953"/>
          </a:xfrm>
          <a:prstGeom prst="roundRect">
            <a:avLst>
              <a:gd name="adj" fmla="val 12603"/>
            </a:avLst>
          </a:prstGeom>
          <a:solidFill>
            <a:srgbClr val="F4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217675" y="3090386"/>
            <a:ext cx="3138130" cy="386953"/>
          </a:xfrm>
          <a:prstGeom prst="roundRect">
            <a:avLst>
              <a:gd name="adj" fmla="val 12603"/>
            </a:avLst>
          </a:prstGeom>
          <a:solidFill>
            <a:srgbClr val="F4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24" y="4013954"/>
            <a:ext cx="1683424" cy="386953"/>
          </a:xfrm>
          <a:prstGeom prst="roundRect">
            <a:avLst>
              <a:gd name="adj" fmla="val 12603"/>
            </a:avLst>
          </a:prstGeom>
          <a:solidFill>
            <a:srgbClr val="B9C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012043" y="4013954"/>
            <a:ext cx="1606867" cy="386953"/>
          </a:xfrm>
          <a:prstGeom prst="roundRect">
            <a:avLst>
              <a:gd name="adj" fmla="val 12603"/>
            </a:avLst>
          </a:prstGeom>
          <a:solidFill>
            <a:srgbClr val="B9C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42904" y="4013954"/>
            <a:ext cx="1508640" cy="386953"/>
          </a:xfrm>
          <a:prstGeom prst="roundRect">
            <a:avLst>
              <a:gd name="adj" fmla="val 12603"/>
            </a:avLst>
          </a:prstGeom>
          <a:solidFill>
            <a:srgbClr val="B9C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75539" y="4013954"/>
            <a:ext cx="1613654" cy="386953"/>
          </a:xfrm>
          <a:prstGeom prst="roundRect">
            <a:avLst>
              <a:gd name="adj" fmla="val 12603"/>
            </a:avLst>
          </a:prstGeom>
          <a:solidFill>
            <a:srgbClr val="B9C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313187" y="4013954"/>
            <a:ext cx="1581150" cy="386953"/>
          </a:xfrm>
          <a:prstGeom prst="roundRect">
            <a:avLst>
              <a:gd name="adj" fmla="val 12603"/>
            </a:avLst>
          </a:prstGeom>
          <a:solidFill>
            <a:srgbClr val="B9C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24" y="4510563"/>
            <a:ext cx="2633305" cy="386953"/>
          </a:xfrm>
          <a:prstGeom prst="roundRect">
            <a:avLst>
              <a:gd name="adj" fmla="val 12603"/>
            </a:avLst>
          </a:prstGeom>
          <a:solidFill>
            <a:srgbClr val="B9C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79451" y="5488057"/>
            <a:ext cx="1888093" cy="110032"/>
          </a:xfrm>
          <a:prstGeom prst="rect">
            <a:avLst/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87094" y="3573780"/>
            <a:ext cx="1403865" cy="35737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5840"/>
              </a:lnSpc>
              <a:spcBef>
                <a:spcPts val="0"/>
              </a:spcBef>
              <a:spcAft>
                <a:spcPts val="0"/>
              </a:spcAft>
            </a:pPr>
            <a:r>
              <a:rPr b="0" sz="21120" lang="ru-RU">
                <a:solidFill>
                  <a:srgbClr val="F4F5FB"/>
                </a:solidFill>
                <a:latin typeface="Playfair Display Black"/>
                <a:cs typeface="Playfair Display Black"/>
                <a:ea typeface="Playfair Display Black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1000" y="609600"/>
            <a:ext cx="2771298" cy="2057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b="1" sz="1200" lang="ru-RU" spc="192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ЗАЧЕМ РЕБЁНКУ С РАС ИГРА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24" y="934164"/>
            <a:ext cx="7468433" cy="6629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4132"/>
              </a:lnSpc>
              <a:spcBef>
                <a:spcPts val="0"/>
              </a:spcBef>
              <a:spcAft>
                <a:spcPts val="0"/>
              </a:spcAft>
            </a:pPr>
            <a:r>
              <a:rPr b="0" sz="3936" lang="ru-RU" spc="-39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Репертуар, который заменяет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24" y="1458872"/>
            <a:ext cx="7697271" cy="6629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4132"/>
              </a:lnSpc>
              <a:spcBef>
                <a:spcPts val="0"/>
              </a:spcBef>
              <a:spcAft>
                <a:spcPts val="0"/>
              </a:spcAft>
            </a:pPr>
            <a:r>
              <a:rPr b="0" sz="3936" lang="ru-RU" spc="-39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нефункциональную занятость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24" y="2687835"/>
            <a:ext cx="3054786" cy="2438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018"/>
              </a:lnSpc>
              <a:spcBef>
                <a:spcPts val="0"/>
              </a:spcBef>
              <a:spcAft>
                <a:spcPts val="0"/>
              </a:spcAft>
            </a:pPr>
            <a:r>
              <a:rPr b="0" sz="1392" lang="ru-RU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Было — свободное время ребёнка: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833" y="3169562"/>
            <a:ext cx="1219795" cy="2286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b="0" sz="1324" lang="ru-RU">
                <a:solidFill>
                  <a:srgbClr val="15151B"/>
                </a:solidFill>
                <a:latin typeface="Noto Sans SemiBold"/>
                <a:cs typeface="Noto Sans SemiBold"/>
                <a:ea typeface="Noto Sans SemiBold"/>
              </a:rPr>
              <a:t>крутит колёса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32565" y="3122295"/>
            <a:ext cx="262056" cy="3124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24"/>
              </a:lnSpc>
              <a:spcBef>
                <a:spcPts val="0"/>
              </a:spcBef>
              <a:spcAft>
                <a:spcPts val="0"/>
              </a:spcAft>
            </a:pPr>
            <a:r>
              <a:rPr b="1" sz="1824" lang="ru-RU">
                <a:solidFill>
                  <a:srgbClr val="B9C0EA"/>
                </a:solidFill>
                <a:latin typeface="Noto Sans"/>
                <a:cs typeface="Noto Sans"/>
                <a:ea typeface="Noto Sans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56560" y="3169562"/>
            <a:ext cx="1621393" cy="2286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b="0" sz="1324" lang="ru-RU">
                <a:solidFill>
                  <a:srgbClr val="15151B"/>
                </a:solidFill>
                <a:latin typeface="Noto Sans SemiBold"/>
                <a:cs typeface="Noto Sans SemiBold"/>
                <a:ea typeface="Noto Sans SemiBold"/>
              </a:rPr>
              <a:t>открывает дверцы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39890" y="3122295"/>
            <a:ext cx="262056" cy="3124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24"/>
              </a:lnSpc>
              <a:spcBef>
                <a:spcPts val="0"/>
              </a:spcBef>
              <a:spcAft>
                <a:spcPts val="0"/>
              </a:spcAft>
            </a:pPr>
            <a:r>
              <a:rPr b="1" sz="1824" lang="ru-RU">
                <a:solidFill>
                  <a:srgbClr val="B9C0EA"/>
                </a:solidFill>
                <a:latin typeface="Noto Sans"/>
                <a:cs typeface="Noto Sans"/>
                <a:ea typeface="Noto Sans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63884" y="3169562"/>
            <a:ext cx="2876192" cy="2286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b="0" sz="1324" lang="ru-RU">
                <a:solidFill>
                  <a:srgbClr val="15151B"/>
                </a:solidFill>
                <a:latin typeface="Noto Sans SemiBold"/>
                <a:cs typeface="Noto Sans SemiBold"/>
                <a:ea typeface="Noto Sans SemiBold"/>
              </a:rPr>
              <a:t>бесцельно перебирает предметы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24" y="3611403"/>
            <a:ext cx="2973228" cy="2438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018"/>
              </a:lnSpc>
              <a:spcBef>
                <a:spcPts val="0"/>
              </a:spcBef>
              <a:spcAft>
                <a:spcPts val="0"/>
              </a:spcAft>
            </a:pPr>
            <a:r>
              <a:rPr b="0" sz="1392" lang="ru-RU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Можем постепенно формировать: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833" y="4093130"/>
            <a:ext cx="1421487" cy="2286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b="0" sz="1324" lang="ru-RU">
                <a:solidFill>
                  <a:srgbClr val="15151B"/>
                </a:solidFill>
                <a:latin typeface="Noto Sans SemiBold"/>
                <a:cs typeface="Noto Sans SemiBold"/>
                <a:ea typeface="Noto Sans SemiBold"/>
              </a:rPr>
              <a:t>катать машинку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34257" y="4045862"/>
            <a:ext cx="262056" cy="3124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24"/>
              </a:lnSpc>
              <a:spcBef>
                <a:spcPts val="0"/>
              </a:spcBef>
              <a:spcAft>
                <a:spcPts val="0"/>
              </a:spcAft>
            </a:pPr>
            <a:r>
              <a:rPr b="1" sz="1824" lang="ru-RU">
                <a:solidFill>
                  <a:srgbClr val="B9C0EA"/>
                </a:solidFill>
                <a:latin typeface="Noto Sans"/>
                <a:cs typeface="Noto Sans"/>
                <a:ea typeface="Noto Sans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58251" y="4093130"/>
            <a:ext cx="1344930" cy="2286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b="0" sz="1324" lang="ru-RU">
                <a:solidFill>
                  <a:srgbClr val="15151B"/>
                </a:solidFill>
                <a:latin typeface="Noto Sans SemiBold"/>
                <a:cs typeface="Noto Sans SemiBold"/>
                <a:ea typeface="Noto Sans SemiBold"/>
              </a:rPr>
              <a:t>строить башню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65119" y="4045862"/>
            <a:ext cx="262056" cy="3124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24"/>
              </a:lnSpc>
              <a:spcBef>
                <a:spcPts val="0"/>
              </a:spcBef>
              <a:spcAft>
                <a:spcPts val="0"/>
              </a:spcAft>
            </a:pPr>
            <a:r>
              <a:rPr b="1" sz="1824" lang="ru-RU">
                <a:solidFill>
                  <a:srgbClr val="B9C0EA"/>
                </a:solidFill>
                <a:latin typeface="Noto Sans"/>
                <a:cs typeface="Noto Sans"/>
                <a:ea typeface="Noto Sans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89113" y="4093130"/>
            <a:ext cx="1246703" cy="2286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b="0" sz="1324" lang="ru-RU">
                <a:solidFill>
                  <a:srgbClr val="15151B"/>
                </a:solidFill>
                <a:latin typeface="Noto Sans SemiBold"/>
                <a:cs typeface="Noto Sans SemiBold"/>
                <a:ea typeface="Noto Sans SemiBold"/>
              </a:rPr>
              <a:t>собирать пазл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97754" y="4045862"/>
            <a:ext cx="262056" cy="3124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24"/>
              </a:lnSpc>
              <a:spcBef>
                <a:spcPts val="0"/>
              </a:spcBef>
              <a:spcAft>
                <a:spcPts val="0"/>
              </a:spcAft>
            </a:pPr>
            <a:r>
              <a:rPr b="1" sz="1824" lang="ru-RU">
                <a:solidFill>
                  <a:srgbClr val="B9C0EA"/>
                </a:solidFill>
                <a:latin typeface="Noto Sans"/>
                <a:cs typeface="Noto Sans"/>
                <a:ea typeface="Noto Sans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21748" y="4093130"/>
            <a:ext cx="1351716" cy="2286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b="0" sz="1324" lang="ru-RU">
                <a:solidFill>
                  <a:srgbClr val="15151B"/>
                </a:solidFill>
                <a:latin typeface="Noto Sans SemiBold"/>
                <a:cs typeface="Noto Sans SemiBold"/>
                <a:ea typeface="Noto Sans SemiBold"/>
              </a:rPr>
              <a:t>играть с мячом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35402" y="4045862"/>
            <a:ext cx="262056" cy="3124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24"/>
              </a:lnSpc>
              <a:spcBef>
                <a:spcPts val="0"/>
              </a:spcBef>
              <a:spcAft>
                <a:spcPts val="0"/>
              </a:spcAft>
            </a:pPr>
            <a:r>
              <a:rPr b="1" sz="1824" lang="ru-RU">
                <a:solidFill>
                  <a:srgbClr val="B9C0EA"/>
                </a:solidFill>
                <a:latin typeface="Noto Sans"/>
                <a:cs typeface="Noto Sans"/>
                <a:ea typeface="Noto Sans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59396" y="4093130"/>
            <a:ext cx="1319212" cy="2286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b="0" sz="1324" lang="ru-RU">
                <a:solidFill>
                  <a:srgbClr val="15151B"/>
                </a:solidFill>
                <a:latin typeface="Noto Sans SemiBold"/>
                <a:cs typeface="Noto Sans SemiBold"/>
                <a:ea typeface="Noto Sans SemiBold"/>
              </a:rPr>
              <a:t>играть в сюжет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40546" y="4045862"/>
            <a:ext cx="262056" cy="3124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24"/>
              </a:lnSpc>
              <a:spcBef>
                <a:spcPts val="0"/>
              </a:spcBef>
              <a:spcAft>
                <a:spcPts val="0"/>
              </a:spcAft>
            </a:pPr>
            <a:r>
              <a:rPr b="1" sz="1824" lang="ru-RU">
                <a:solidFill>
                  <a:srgbClr val="B9C0EA"/>
                </a:solidFill>
                <a:latin typeface="Noto Sans"/>
                <a:cs typeface="Noto Sans"/>
                <a:ea typeface="Noto Sans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833" y="4589740"/>
            <a:ext cx="2371367" cy="2286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b="0" sz="1324" lang="ru-RU">
                <a:solidFill>
                  <a:srgbClr val="15151B"/>
                </a:solidFill>
                <a:latin typeface="Noto Sans SemiBold"/>
                <a:cs typeface="Noto Sans SemiBold"/>
                <a:ea typeface="Noto Sans SemiBold"/>
              </a:rPr>
              <a:t>играть с другим человеком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24" y="5031581"/>
            <a:ext cx="8584739" cy="58388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ts val="2318"/>
              </a:lnSpc>
              <a:spcBef>
                <a:spcPts val="0"/>
              </a:spcBef>
              <a:spcAft>
                <a:spcPts val="0"/>
              </a:spcAft>
            </a:pPr>
            <a:r>
              <a:rPr b="0" sz="1680" lang="ru-RU">
                <a:solidFill>
                  <a:srgbClr val="3A3A46"/>
                </a:solidFill>
                <a:latin typeface="Noto Sans"/>
                <a:cs typeface="Noto Sans"/>
                <a:ea typeface="Noto Sans"/>
              </a:rPr>
              <a:t>«Наша задача — не просто убрать нефункциональное поведение. Нам нужно дать ребёнку, чем его заменить».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24" y="609600"/>
            <a:ext cx="414456" cy="54768"/>
          </a:xfrm>
          <a:prstGeom prst="rect">
            <a:avLst/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4624" y="2785372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4624" y="3135773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4624" y="3486174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24" y="3836575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24" y="4186976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19210" y="2327910"/>
            <a:ext cx="4368165" cy="2956440"/>
          </a:xfrm>
          <a:prstGeom prst="roundRect">
            <a:avLst>
              <a:gd name="adj" fmla="val 2061"/>
            </a:avLst>
          </a:prstGeom>
          <a:solidFill>
            <a:srgbClr val="F4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709660" y="2709495"/>
            <a:ext cx="1753671" cy="110032"/>
          </a:xfrm>
          <a:prstGeom prst="rect">
            <a:avLst/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38642" y="3003818"/>
            <a:ext cx="621744" cy="110032"/>
          </a:xfrm>
          <a:prstGeom prst="rect">
            <a:avLst/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38642" y="3684746"/>
            <a:ext cx="1528524" cy="386953"/>
          </a:xfrm>
          <a:prstGeom prst="roundRect">
            <a:avLst>
              <a:gd name="adj" fmla="val 12603"/>
            </a:avLst>
          </a:prstGeom>
          <a:solidFill>
            <a:srgbClr val="F4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291161" y="3684746"/>
            <a:ext cx="811768" cy="386953"/>
          </a:xfrm>
          <a:prstGeom prst="roundRect">
            <a:avLst>
              <a:gd name="adj" fmla="val 12603"/>
            </a:avLst>
          </a:prstGeom>
          <a:solidFill>
            <a:srgbClr val="F4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238642" y="4181355"/>
            <a:ext cx="1047988" cy="386953"/>
          </a:xfrm>
          <a:prstGeom prst="roundRect">
            <a:avLst>
              <a:gd name="adj" fmla="val 12603"/>
            </a:avLst>
          </a:prstGeom>
          <a:solidFill>
            <a:srgbClr val="F4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810625" y="4181355"/>
            <a:ext cx="1260990" cy="386953"/>
          </a:xfrm>
          <a:prstGeom prst="roundRect">
            <a:avLst>
              <a:gd name="adj" fmla="val 12603"/>
            </a:avLst>
          </a:prstGeom>
          <a:solidFill>
            <a:srgbClr val="F4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238642" y="4677965"/>
            <a:ext cx="1326475" cy="386953"/>
          </a:xfrm>
          <a:prstGeom prst="roundRect">
            <a:avLst>
              <a:gd name="adj" fmla="val 12603"/>
            </a:avLst>
          </a:prstGeom>
          <a:solidFill>
            <a:srgbClr val="F4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85176" y="3573780"/>
            <a:ext cx="1505783" cy="35737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5840"/>
              </a:lnSpc>
              <a:spcBef>
                <a:spcPts val="0"/>
              </a:spcBef>
              <a:spcAft>
                <a:spcPts val="0"/>
              </a:spcAft>
            </a:pPr>
            <a:r>
              <a:rPr b="0" sz="21120" lang="ru-RU">
                <a:solidFill>
                  <a:srgbClr val="F4F5FB"/>
                </a:solidFill>
                <a:latin typeface="Playfair Display Black"/>
                <a:cs typeface="Playfair Display Black"/>
                <a:ea typeface="Playfair Display Black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1000" y="609600"/>
            <a:ext cx="2771298" cy="2057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b="1" sz="1200" lang="ru-RU" spc="192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ЗАЧЕМ РЕБЁНКУ С РАС ИГРА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24" y="934164"/>
            <a:ext cx="7408902" cy="6629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4132"/>
              </a:lnSpc>
              <a:spcBef>
                <a:spcPts val="0"/>
              </a:spcBef>
              <a:spcAft>
                <a:spcPts val="0"/>
              </a:spcAft>
            </a:pPr>
            <a:r>
              <a:rPr b="0" sz="3936" lang="ru-RU" spc="-39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Способ общения со взрослым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24" y="1458872"/>
            <a:ext cx="4036575" cy="6629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4132"/>
              </a:lnSpc>
              <a:spcBef>
                <a:spcPts val="0"/>
              </a:spcBef>
              <a:spcAft>
                <a:spcPts val="0"/>
              </a:spcAft>
            </a:pPr>
            <a:r>
              <a:rPr b="0" sz="3936" lang="ru-RU" spc="-39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и сверстниками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24" y="2327910"/>
            <a:ext cx="4828103" cy="2438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018"/>
              </a:lnSpc>
              <a:spcBef>
                <a:spcPts val="0"/>
              </a:spcBef>
              <a:spcAft>
                <a:spcPts val="0"/>
              </a:spcAft>
            </a:pPr>
            <a:r>
              <a:rPr b="0" sz="1392" lang="ru-RU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Ещё не умеет вести развёрнутый диалог, но уже может: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2528" y="2725935"/>
            <a:ext cx="1701998" cy="2438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b="0" sz="1392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играть в догонялки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2528" y="3076336"/>
            <a:ext cx="2982872" cy="2438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b="0" sz="1392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строить вместе башню из кубиков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2528" y="3426737"/>
            <a:ext cx="1897260" cy="2438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b="0" sz="1392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катать мяч друг другу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2528" y="3777138"/>
            <a:ext cx="3320653" cy="2438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b="0" sz="1392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играть в «ку-ку», ждать своей очереди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2528" y="4127539"/>
            <a:ext cx="3153965" cy="2438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b="0" sz="1392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показывать, что хочет продолжения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38642" y="2547342"/>
            <a:ext cx="3959780" cy="58388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ts val="2318"/>
              </a:lnSpc>
              <a:spcBef>
                <a:spcPts val="0"/>
              </a:spcBef>
              <a:spcAft>
                <a:spcPts val="0"/>
              </a:spcAft>
            </a:pPr>
            <a:r>
              <a:rPr b="0" sz="1680" lang="ru-RU">
                <a:solidFill>
                  <a:srgbClr val="3A3A46"/>
                </a:solidFill>
                <a:latin typeface="Noto Sans"/>
                <a:cs typeface="Noto Sans"/>
                <a:ea typeface="Noto Sans"/>
              </a:rPr>
              <a:t>Для общения не всегда нужны слова.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38642" y="3282195"/>
            <a:ext cx="3161466" cy="2438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018"/>
              </a:lnSpc>
              <a:spcBef>
                <a:spcPts val="0"/>
              </a:spcBef>
              <a:spcAft>
                <a:spcPts val="0"/>
              </a:spcAft>
            </a:pPr>
            <a:r>
              <a:rPr b="0" sz="1392" lang="ru-RU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Совместная игра даёт возможность: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84851" y="3763922"/>
            <a:ext cx="1266586" cy="2286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b="0" sz="1324" lang="ru-RU">
                <a:solidFill>
                  <a:srgbClr val="15151B"/>
                </a:solidFill>
                <a:latin typeface="Noto Sans SemiBold"/>
                <a:cs typeface="Noto Sans SemiBold"/>
                <a:ea typeface="Noto Sans SemiBold"/>
              </a:rPr>
              <a:t>инициировать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13375" y="3716655"/>
            <a:ext cx="262056" cy="3124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24"/>
              </a:lnSpc>
              <a:spcBef>
                <a:spcPts val="0"/>
              </a:spcBef>
              <a:spcAft>
                <a:spcPts val="0"/>
              </a:spcAft>
            </a:pPr>
            <a:r>
              <a:rPr b="1" sz="1824" lang="ru-RU">
                <a:solidFill>
                  <a:srgbClr val="B9C0EA"/>
                </a:solidFill>
                <a:latin typeface="Noto Sans"/>
                <a:cs typeface="Noto Sans"/>
                <a:ea typeface="Noto Sans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37370" y="3763922"/>
            <a:ext cx="549830" cy="2286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b="0" sz="1324" lang="ru-RU">
                <a:solidFill>
                  <a:srgbClr val="15151B"/>
                </a:solidFill>
                <a:latin typeface="Noto Sans SemiBold"/>
                <a:cs typeface="Noto Sans SemiBold"/>
                <a:ea typeface="Noto Sans SemiBold"/>
              </a:rPr>
              <a:t>ждать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9138" y="3716655"/>
            <a:ext cx="262056" cy="3124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24"/>
              </a:lnSpc>
              <a:spcBef>
                <a:spcPts val="0"/>
              </a:spcBef>
              <a:spcAft>
                <a:spcPts val="0"/>
              </a:spcAft>
            </a:pPr>
            <a:r>
              <a:rPr b="1" sz="1824" lang="ru-RU">
                <a:solidFill>
                  <a:srgbClr val="B9C0EA"/>
                </a:solidFill>
                <a:latin typeface="Noto Sans"/>
                <a:cs typeface="Noto Sans"/>
                <a:ea typeface="Noto Sans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84851" y="4260532"/>
            <a:ext cx="786050" cy="2286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b="0" sz="1324" lang="ru-RU">
                <a:solidFill>
                  <a:srgbClr val="15151B"/>
                </a:solidFill>
                <a:latin typeface="Noto Sans SemiBold"/>
                <a:cs typeface="Noto Sans SemiBold"/>
                <a:ea typeface="Noto Sans SemiBold"/>
              </a:rPr>
              <a:t>отвечать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32839" y="4213264"/>
            <a:ext cx="262056" cy="3124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24"/>
              </a:lnSpc>
              <a:spcBef>
                <a:spcPts val="0"/>
              </a:spcBef>
              <a:spcAft>
                <a:spcPts val="0"/>
              </a:spcAft>
            </a:pPr>
            <a:r>
              <a:rPr b="1" sz="1824" lang="ru-RU">
                <a:solidFill>
                  <a:srgbClr val="B9C0EA"/>
                </a:solidFill>
                <a:latin typeface="Noto Sans"/>
                <a:cs typeface="Noto Sans"/>
                <a:ea typeface="Noto Sans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56833" y="4260532"/>
            <a:ext cx="999053" cy="2286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b="0" sz="1324" lang="ru-RU">
                <a:solidFill>
                  <a:srgbClr val="15151B"/>
                </a:solidFill>
                <a:latin typeface="Noto Sans SemiBold"/>
                <a:cs typeface="Noto Sans SemiBold"/>
                <a:ea typeface="Noto Sans SemiBold"/>
              </a:rPr>
              <a:t>предлагать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17824" y="4213264"/>
            <a:ext cx="262056" cy="3124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24"/>
              </a:lnSpc>
              <a:spcBef>
                <a:spcPts val="0"/>
              </a:spcBef>
              <a:spcAft>
                <a:spcPts val="0"/>
              </a:spcAft>
            </a:pPr>
            <a:r>
              <a:rPr b="1" sz="1824" lang="ru-RU">
                <a:solidFill>
                  <a:srgbClr val="B9C0EA"/>
                </a:solidFill>
                <a:latin typeface="Noto Sans"/>
                <a:cs typeface="Noto Sans"/>
                <a:ea typeface="Noto Sans"/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84851" y="4757142"/>
            <a:ext cx="1064537" cy="2286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b="0" sz="1324" lang="ru-RU">
                <a:solidFill>
                  <a:srgbClr val="15151B"/>
                </a:solidFill>
                <a:latin typeface="Noto Sans SemiBold"/>
                <a:cs typeface="Noto Sans SemiBold"/>
                <a:ea typeface="Noto Sans SemiBold"/>
              </a:rPr>
              <a:t>продолжать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632960" cy="6858000"/>
          </a:xfrm>
          <a:prstGeom prst="rect">
            <a:avLst/>
          </a:prstGeom>
          <a:solidFill>
            <a:srgbClr val="B9C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18846" y="2070973"/>
            <a:ext cx="414456" cy="54768"/>
          </a:xfrm>
          <a:prstGeom prst="rect">
            <a:avLst/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760618" y="3783549"/>
            <a:ext cx="2626756" cy="364845"/>
          </a:xfrm>
          <a:prstGeom prst="rect">
            <a:avLst/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24742" y="2070973"/>
            <a:ext cx="1062632" cy="2057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b="1" sz="1200" lang="ru-RU" spc="192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РАЗДЕЛ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13821" y="2526506"/>
            <a:ext cx="3673554" cy="9601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>
              <a:lnSpc>
                <a:spcPts val="5664"/>
              </a:lnSpc>
              <a:spcBef>
                <a:spcPts val="0"/>
              </a:spcBef>
              <a:spcAft>
                <a:spcPts val="0"/>
              </a:spcAft>
            </a:pPr>
            <a:r>
              <a:rPr b="0" sz="5664" lang="ru-RU" spc="-56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Как учить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24286" y="3245881"/>
            <a:ext cx="5663088" cy="9601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>
              <a:lnSpc>
                <a:spcPts val="5664"/>
              </a:lnSpc>
              <a:spcBef>
                <a:spcPts val="0"/>
              </a:spcBef>
              <a:spcAft>
                <a:spcPts val="0"/>
              </a:spcAft>
            </a:pPr>
            <a:r>
              <a:rPr b="0" sz="5664" lang="ru-RU" spc="-56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ребёнка играть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486" y="4458890"/>
            <a:ext cx="4824888" cy="3200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>
              <a:lnSpc>
                <a:spcPts val="2583"/>
              </a:lnSpc>
              <a:spcBef>
                <a:spcPts val="0"/>
              </a:spcBef>
              <a:spcAft>
                <a:spcPts val="0"/>
              </a:spcAft>
            </a:pPr>
            <a:r>
              <a:rPr b="0" sz="1872" lang="ru-RU">
                <a:solidFill>
                  <a:srgbClr val="3A3A46"/>
                </a:solidFill>
                <a:latin typeface="Noto Sans"/>
                <a:cs typeface="Noto Sans"/>
                <a:ea typeface="Noto Sans"/>
              </a:rPr>
              <a:t>Шаг первый — определить уровень игры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24" y="609600"/>
            <a:ext cx="414456" cy="54768"/>
          </a:xfrm>
          <a:prstGeom prst="rect">
            <a:avLst/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4624" y="3941802"/>
            <a:ext cx="1472326" cy="464820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E7E8F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386607" y="3941802"/>
            <a:ext cx="1192649" cy="464820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E7E8F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88913" y="3941802"/>
            <a:ext cx="1200864" cy="464820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E7E8F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999434" y="3941802"/>
            <a:ext cx="1161930" cy="464820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E7E8F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24" y="4516278"/>
            <a:ext cx="1034295" cy="464820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E7E8F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948576" y="4516278"/>
            <a:ext cx="3040499" cy="464820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E7E8F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019210" y="2277546"/>
            <a:ext cx="4368165" cy="2703552"/>
          </a:xfrm>
          <a:prstGeom prst="roundRect">
            <a:avLst>
              <a:gd name="adj" fmla="val 2254"/>
            </a:avLst>
          </a:prstGeom>
          <a:solidFill>
            <a:srgbClr val="F4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287339" y="3034332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B9C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87339" y="3440216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B9C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287339" y="3846100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B9C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287339" y="4251984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B9C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8455" y="3573780"/>
            <a:ext cx="2892504" cy="35737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5840"/>
              </a:lnSpc>
              <a:spcBef>
                <a:spcPts val="0"/>
              </a:spcBef>
              <a:spcAft>
                <a:spcPts val="0"/>
              </a:spcAft>
            </a:pPr>
            <a:r>
              <a:rPr b="0" sz="21120" lang="ru-RU">
                <a:solidFill>
                  <a:srgbClr val="F4F5FB"/>
                </a:solidFill>
                <a:latin typeface="Playfair Display Black"/>
                <a:cs typeface="Playfair Display Black"/>
                <a:ea typeface="Playfair Display Black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1000" y="609600"/>
            <a:ext cx="1430297" cy="2057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b="1" sz="1200" lang="ru-RU" spc="192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УРОВНИ ИГРЫ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24" y="2201346"/>
            <a:ext cx="3520797" cy="6629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4132"/>
              </a:lnSpc>
              <a:spcBef>
                <a:spcPts val="0"/>
              </a:spcBef>
              <a:spcAft>
                <a:spcPts val="0"/>
              </a:spcAft>
            </a:pPr>
            <a:r>
              <a:rPr b="0" sz="3936" lang="ru-RU" spc="-39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Манипуляция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24" y="2948463"/>
            <a:ext cx="4758809" cy="3200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583"/>
              </a:lnSpc>
              <a:spcBef>
                <a:spcPts val="0"/>
              </a:spcBef>
              <a:spcAft>
                <a:spcPts val="0"/>
              </a:spcAft>
            </a:pPr>
            <a:r>
              <a:rPr b="0" sz="1872" lang="ru-RU">
                <a:solidFill>
                  <a:srgbClr val="3A3A46"/>
                </a:solidFill>
                <a:latin typeface="Noto Sans"/>
                <a:cs typeface="Noto Sans"/>
                <a:ea typeface="Noto Sans"/>
              </a:rPr>
              <a:t>«Что можно сделать с этим предметом?»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24" y="3544609"/>
            <a:ext cx="2415063" cy="2362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976"/>
              </a:lnSpc>
              <a:spcBef>
                <a:spcPts val="0"/>
              </a:spcBef>
              <a:spcAft>
                <a:spcPts val="0"/>
              </a:spcAft>
            </a:pPr>
            <a:r>
              <a:rPr b="0" sz="1363" lang="ru-RU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Ребёнок исследует предмет: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7033" y="4048482"/>
            <a:ext cx="1057989" cy="2514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b="0" sz="1440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ощупывает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9016" y="4048482"/>
            <a:ext cx="778311" cy="2514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b="0" sz="1440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смотрит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11322" y="4048482"/>
            <a:ext cx="786526" cy="2514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b="0" sz="1440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слушает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21843" y="4048482"/>
            <a:ext cx="747593" cy="2514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b="0" sz="1440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бросает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7033" y="4622958"/>
            <a:ext cx="619958" cy="2514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b="0" sz="1440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стучит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70985" y="4622958"/>
            <a:ext cx="2626161" cy="2514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b="0" sz="1440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трогает разными способами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87339" y="2545675"/>
            <a:ext cx="1128593" cy="2362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976"/>
              </a:lnSpc>
              <a:spcBef>
                <a:spcPts val="0"/>
              </a:spcBef>
              <a:spcAft>
                <a:spcPts val="0"/>
              </a:spcAft>
            </a:pPr>
            <a:r>
              <a:rPr b="1" sz="1363" lang="ru-RU" spc="218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ПРИМЕРЫ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65243" y="2974895"/>
            <a:ext cx="2157412" cy="2743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b="0" sz="1555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погремушка — трясти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65243" y="3380779"/>
            <a:ext cx="1655564" cy="2743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b="0" sz="1555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кубик — бросить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65243" y="3786663"/>
            <a:ext cx="2255639" cy="2743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b="0" sz="1555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мяч — катать / бросать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65243" y="4192547"/>
            <a:ext cx="3083361" cy="2743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b="0" sz="1555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коробочка — открыть / закрыть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24" y="609600"/>
            <a:ext cx="414456" cy="54768"/>
          </a:xfrm>
          <a:prstGeom prst="rect">
            <a:avLst/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341608" y="2387903"/>
            <a:ext cx="1360884" cy="92659"/>
          </a:xfrm>
          <a:prstGeom prst="rect">
            <a:avLst/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019210" y="2243732"/>
            <a:ext cx="4368165" cy="2088951"/>
          </a:xfrm>
          <a:prstGeom prst="roundRect">
            <a:avLst>
              <a:gd name="adj" fmla="val 2918"/>
            </a:avLst>
          </a:prstGeom>
          <a:solidFill>
            <a:srgbClr val="F4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66615" y="3573780"/>
            <a:ext cx="3324344" cy="35737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5840"/>
              </a:lnSpc>
              <a:spcBef>
                <a:spcPts val="0"/>
              </a:spcBef>
              <a:spcAft>
                <a:spcPts val="0"/>
              </a:spcAft>
            </a:pPr>
            <a:r>
              <a:rPr b="0" sz="21120" lang="ru-RU">
                <a:solidFill>
                  <a:srgbClr val="F4F5FB"/>
                </a:solidFill>
                <a:latin typeface="Playfair Display Black"/>
                <a:cs typeface="Playfair Display Black"/>
                <a:ea typeface="Playfair Display Black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1000" y="609600"/>
            <a:ext cx="1430297" cy="2057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b="1" sz="1200" lang="ru-RU" spc="192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УРОВНИ ИГРЫ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24" y="934164"/>
            <a:ext cx="5647610" cy="6629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4132"/>
              </a:lnSpc>
              <a:spcBef>
                <a:spcPts val="0"/>
              </a:spcBef>
              <a:spcAft>
                <a:spcPts val="0"/>
              </a:spcAft>
            </a:pPr>
            <a:r>
              <a:rPr b="0" sz="3936" lang="ru-RU" spc="-39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Функциональная игра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24" y="1681281"/>
            <a:ext cx="4126825" cy="2895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318"/>
              </a:lnSpc>
              <a:spcBef>
                <a:spcPts val="0"/>
              </a:spcBef>
              <a:spcAft>
                <a:spcPts val="0"/>
              </a:spcAft>
            </a:pPr>
            <a:r>
              <a:rPr b="0" sz="1680" lang="ru-RU">
                <a:solidFill>
                  <a:srgbClr val="3A3A46"/>
                </a:solidFill>
                <a:latin typeface="Noto Sans"/>
                <a:cs typeface="Noto Sans"/>
                <a:ea typeface="Noto Sans"/>
              </a:rPr>
              <a:t>«Я знаю, что с этим предметом делать»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24" y="2251352"/>
            <a:ext cx="5940266" cy="5089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b="0" sz="1392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Ребёнок использует предмет по назначению или близко к назначению.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24" y="2996445"/>
            <a:ext cx="304323" cy="2971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b="0" sz="1728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0388" y="3042165"/>
            <a:ext cx="1636752" cy="2438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09"/>
              </a:lnSpc>
              <a:spcBef>
                <a:spcPts val="0"/>
              </a:spcBef>
              <a:spcAft>
                <a:spcPts val="0"/>
              </a:spcAft>
            </a:pPr>
            <a:r>
              <a:rPr b="0" sz="1392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машинку — катать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05726" y="2996445"/>
            <a:ext cx="304323" cy="2971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b="0" sz="1728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1490" y="3042165"/>
            <a:ext cx="1320760" cy="2438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09"/>
              </a:lnSpc>
              <a:spcBef>
                <a:spcPts val="0"/>
              </a:spcBef>
              <a:spcAft>
                <a:spcPts val="0"/>
              </a:spcAft>
            </a:pPr>
            <a:r>
              <a:rPr b="0" sz="1392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мяч — бросать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24" y="3362205"/>
            <a:ext cx="304323" cy="2971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b="0" sz="1728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0388" y="3407925"/>
            <a:ext cx="1900475" cy="2438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09"/>
              </a:lnSpc>
              <a:spcBef>
                <a:spcPts val="0"/>
              </a:spcBef>
              <a:spcAft>
                <a:spcPts val="0"/>
              </a:spcAft>
            </a:pPr>
            <a:r>
              <a:rPr b="0" sz="1392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кубики — складывать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05726" y="3362205"/>
            <a:ext cx="304323" cy="2971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b="0" sz="1728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01490" y="3407925"/>
            <a:ext cx="1920597" cy="2438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09"/>
              </a:lnSpc>
              <a:spcBef>
                <a:spcPts val="0"/>
              </a:spcBef>
              <a:spcAft>
                <a:spcPts val="0"/>
              </a:spcAft>
            </a:pPr>
            <a:r>
              <a:rPr b="0" sz="1392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кольца — нанизывать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24" y="3727965"/>
            <a:ext cx="304323" cy="2971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b="0" sz="1728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0388" y="3773685"/>
            <a:ext cx="2264211" cy="2438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09"/>
              </a:lnSpc>
              <a:spcBef>
                <a:spcPts val="0"/>
              </a:spcBef>
              <a:spcAft>
                <a:spcPts val="0"/>
              </a:spcAft>
            </a:pPr>
            <a:r>
              <a:rPr b="0" sz="1392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ложкой — перекладывать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8642" y="2463165"/>
            <a:ext cx="1382553" cy="2438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018"/>
              </a:lnSpc>
              <a:spcBef>
                <a:spcPts val="0"/>
              </a:spcBef>
              <a:spcAft>
                <a:spcPts val="0"/>
              </a:spcAft>
            </a:pPr>
            <a:r>
              <a:rPr b="1" sz="1392" lang="ru-RU" spc="222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ЧТО ВАЖНО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38642" y="2865715"/>
            <a:ext cx="3959780" cy="58388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ts val="2318"/>
              </a:lnSpc>
              <a:spcBef>
                <a:spcPts val="0"/>
              </a:spcBef>
              <a:spcAft>
                <a:spcPts val="0"/>
              </a:spcAft>
            </a:pPr>
            <a:r>
              <a:rPr b="0" sz="1680" lang="ru-RU">
                <a:solidFill>
                  <a:srgbClr val="3A3A46"/>
                </a:solidFill>
                <a:latin typeface="Noto Sans"/>
                <a:cs typeface="Noto Sans"/>
                <a:ea typeface="Noto Sans"/>
              </a:rPr>
              <a:t>Одно понятное действие → много повторений.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38642" y="3600569"/>
            <a:ext cx="3992851" cy="50018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ts val="2018"/>
              </a:lnSpc>
              <a:spcBef>
                <a:spcPts val="0"/>
              </a:spcBef>
              <a:spcAft>
                <a:spcPts val="0"/>
              </a:spcAft>
            </a:pPr>
            <a:r>
              <a:rPr b="0" sz="1392" lang="ru-RU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Ребёнок уже не просто исследует кубик. Он </a:t>
            </a:r>
            <a:r>
              <a:rPr b="1" sz="1392" lang="ru-RU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строит</a:t>
            </a:r>
            <a:r>
              <a:rPr b="0" sz="1392" lang="ru-RU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 из кубиков.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26280"/>
            <a:ext cx="12192000" cy="2331720"/>
          </a:xfrm>
          <a:prstGeom prst="rect">
            <a:avLst/>
          </a:prstGeom>
          <a:solidFill>
            <a:srgbClr val="F4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4624" y="609600"/>
            <a:ext cx="414456" cy="54768"/>
          </a:xfrm>
          <a:prstGeom prst="rect">
            <a:avLst/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76913" y="4402245"/>
            <a:ext cx="2017752" cy="104241"/>
          </a:xfrm>
          <a:prstGeom prst="rect">
            <a:avLst/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76629" y="3573780"/>
            <a:ext cx="3214330" cy="35737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5840"/>
              </a:lnSpc>
              <a:spcBef>
                <a:spcPts val="0"/>
              </a:spcBef>
              <a:spcAft>
                <a:spcPts val="0"/>
              </a:spcAft>
            </a:pPr>
            <a:r>
              <a:rPr b="0" sz="21120" lang="ru-RU">
                <a:solidFill>
                  <a:srgbClr val="F4F5FB"/>
                </a:solidFill>
                <a:latin typeface="Playfair Display Black"/>
                <a:cs typeface="Playfair Display Black"/>
                <a:ea typeface="Playfair Display Black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1000" y="609600"/>
            <a:ext cx="1430297" cy="2057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b="1" sz="1200" lang="ru-RU" spc="192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УРОВНИ ИГРЫ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24" y="934164"/>
            <a:ext cx="3331845" cy="6629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4132"/>
              </a:lnSpc>
              <a:spcBef>
                <a:spcPts val="0"/>
              </a:spcBef>
              <a:spcAft>
                <a:spcPts val="0"/>
              </a:spcAft>
            </a:pPr>
            <a:r>
              <a:rPr b="0" sz="3936" lang="ru-RU" spc="-39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Два действия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24" y="1681281"/>
            <a:ext cx="3174444" cy="3200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583"/>
              </a:lnSpc>
              <a:spcBef>
                <a:spcPts val="0"/>
              </a:spcBef>
              <a:spcAft>
                <a:spcPts val="0"/>
              </a:spcAft>
            </a:pPr>
            <a:r>
              <a:rPr b="0" sz="1872" lang="ru-RU">
                <a:solidFill>
                  <a:srgbClr val="3A3A46"/>
                </a:solidFill>
                <a:latin typeface="Noto Sans"/>
                <a:cs typeface="Noto Sans"/>
                <a:ea typeface="Noto Sans"/>
              </a:rPr>
              <a:t>«Сначала это → потом это»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24" y="3393757"/>
            <a:ext cx="304323" cy="2971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b="0" sz="1728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0388" y="3424237"/>
            <a:ext cx="3159561" cy="2590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934"/>
              </a:lnSpc>
              <a:spcBef>
                <a:spcPts val="0"/>
              </a:spcBef>
              <a:spcAft>
                <a:spcPts val="0"/>
              </a:spcAft>
            </a:pPr>
            <a:r>
              <a:rPr b="0" sz="1488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положить мяч → толкнуть с горки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2208" y="3393757"/>
            <a:ext cx="304323" cy="2971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b="0" sz="1728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37972" y="3424237"/>
            <a:ext cx="3126700" cy="2590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934"/>
              </a:lnSpc>
              <a:spcBef>
                <a:spcPts val="0"/>
              </a:spcBef>
              <a:spcAft>
                <a:spcPts val="0"/>
              </a:spcAft>
            </a:pPr>
            <a:r>
              <a:rPr b="0" sz="1488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построить башню → столкнуть её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24" y="3774757"/>
            <a:ext cx="304323" cy="2971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b="0" sz="1728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0388" y="3805237"/>
            <a:ext cx="3624262" cy="2590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934"/>
              </a:lnSpc>
              <a:spcBef>
                <a:spcPts val="0"/>
              </a:spcBef>
              <a:spcAft>
                <a:spcPts val="0"/>
              </a:spcAft>
            </a:pPr>
            <a:r>
              <a:rPr b="0" sz="1488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набрать краску → поставить отпечаток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2208" y="3774757"/>
            <a:ext cx="304323" cy="2971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b="0" sz="1728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🏖️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37972" y="3805237"/>
            <a:ext cx="3253501" cy="2590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934"/>
              </a:lnSpc>
              <a:spcBef>
                <a:spcPts val="0"/>
              </a:spcBef>
              <a:spcAft>
                <a:spcPts val="0"/>
              </a:spcAft>
            </a:pPr>
            <a:r>
              <a:rPr b="0" sz="1488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насыпать песок → достать фигурку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24" y="4248626"/>
            <a:ext cx="7650003" cy="57054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b="0" sz="1555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Появляется последовательность: чтобы произошло интересное событие, нужно сделать несколько действий.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24" y="609600"/>
            <a:ext cx="414456" cy="54768"/>
          </a:xfrm>
          <a:prstGeom prst="rect">
            <a:avLst/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4624" y="4466034"/>
            <a:ext cx="1129307" cy="446484"/>
          </a:xfrm>
          <a:prstGeom prst="roundRect">
            <a:avLst>
              <a:gd name="adj" fmla="val 10922"/>
            </a:avLst>
          </a:prstGeom>
          <a:solidFill>
            <a:srgbClr val="B9C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457926" y="4466034"/>
            <a:ext cx="1429583" cy="446484"/>
          </a:xfrm>
          <a:prstGeom prst="roundRect">
            <a:avLst>
              <a:gd name="adj" fmla="val 10922"/>
            </a:avLst>
          </a:prstGeom>
          <a:solidFill>
            <a:srgbClr val="B9C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11503" y="4466034"/>
            <a:ext cx="1230630" cy="446484"/>
          </a:xfrm>
          <a:prstGeom prst="roundRect">
            <a:avLst>
              <a:gd name="adj" fmla="val 10922"/>
            </a:avLst>
          </a:prstGeom>
          <a:solidFill>
            <a:srgbClr val="B9C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48400" y="2413302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48400" y="282525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48400" y="3237214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48400" y="3649171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48400" y="4061127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2216" y="3573780"/>
            <a:ext cx="3278743" cy="35737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5840"/>
              </a:lnSpc>
              <a:spcBef>
                <a:spcPts val="0"/>
              </a:spcBef>
              <a:spcAft>
                <a:spcPts val="0"/>
              </a:spcAft>
            </a:pPr>
            <a:r>
              <a:rPr b="0" sz="21120" lang="ru-RU">
                <a:solidFill>
                  <a:srgbClr val="F4F5FB"/>
                </a:solidFill>
                <a:latin typeface="Playfair Display Black"/>
                <a:cs typeface="Playfair Display Black"/>
                <a:ea typeface="Playfair Display Black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1000" y="609600"/>
            <a:ext cx="1430297" cy="2057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b="1" sz="1200" lang="ru-RU" spc="192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УРОВНИ ИГРЫ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24" y="2270045"/>
            <a:ext cx="2146815" cy="6629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4132"/>
              </a:lnSpc>
              <a:spcBef>
                <a:spcPts val="0"/>
              </a:spcBef>
              <a:spcAft>
                <a:spcPts val="0"/>
              </a:spcAft>
            </a:pPr>
            <a:r>
              <a:rPr b="0" sz="3936" lang="ru-RU" spc="-39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Предмет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24" y="2794754"/>
            <a:ext cx="4020145" cy="6629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4132"/>
              </a:lnSpc>
              <a:spcBef>
                <a:spcPts val="0"/>
              </a:spcBef>
              <a:spcAft>
                <a:spcPts val="0"/>
              </a:spcAft>
            </a:pPr>
            <a:r>
              <a:rPr b="0" sz="3936" lang="ru-RU" spc="-39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как инструмент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24" y="3541871"/>
            <a:ext cx="2958345" cy="3200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583"/>
              </a:lnSpc>
              <a:spcBef>
                <a:spcPts val="0"/>
              </a:spcBef>
              <a:spcAft>
                <a:spcPts val="0"/>
              </a:spcAft>
            </a:pPr>
            <a:r>
              <a:rPr b="0" sz="1872" lang="ru-RU">
                <a:solidFill>
                  <a:srgbClr val="3A3A46"/>
                </a:solidFill>
                <a:latin typeface="Noto Sans"/>
                <a:cs typeface="Noto Sans"/>
                <a:ea typeface="Noto Sans"/>
              </a:rPr>
              <a:t>«Один предмет помогает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24" y="3869888"/>
            <a:ext cx="3166824" cy="3200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583"/>
              </a:lnSpc>
              <a:spcBef>
                <a:spcPts val="0"/>
              </a:spcBef>
              <a:spcAft>
                <a:spcPts val="0"/>
              </a:spcAft>
            </a:pPr>
            <a:r>
              <a:rPr b="0" sz="1872" lang="ru-RU">
                <a:solidFill>
                  <a:srgbClr val="3A3A46"/>
                </a:solidFill>
                <a:latin typeface="Noto Sans"/>
                <a:cs typeface="Noto Sans"/>
                <a:ea typeface="Noto Sans"/>
              </a:rPr>
              <a:t>воздействовать на другой»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5240" y="4563546"/>
            <a:ext cx="818554" cy="2514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b="0" sz="1440" lang="ru-RU">
                <a:solidFill>
                  <a:srgbClr val="15151B"/>
                </a:solidFill>
                <a:latin typeface="Noto Sans SemiBold"/>
                <a:cs typeface="Noto Sans SemiBold"/>
                <a:ea typeface="Noto Sans SemiBold"/>
              </a:rPr>
              <a:t>предмет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80140" y="4527708"/>
            <a:ext cx="262056" cy="3124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24"/>
              </a:lnSpc>
              <a:spcBef>
                <a:spcPts val="0"/>
              </a:spcBef>
              <a:spcAft>
                <a:spcPts val="0"/>
              </a:spcAft>
            </a:pPr>
            <a:r>
              <a:rPr b="1" sz="1824" lang="ru-RU">
                <a:solidFill>
                  <a:srgbClr val="B9C0EA"/>
                </a:solidFill>
                <a:latin typeface="Noto Sans"/>
                <a:cs typeface="Noto Sans"/>
                <a:ea typeface="Noto Sans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28542" y="4563546"/>
            <a:ext cx="1118830" cy="2514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b="0" sz="1440" lang="ru-RU">
                <a:solidFill>
                  <a:srgbClr val="15151B"/>
                </a:solidFill>
                <a:latin typeface="Noto Sans SemiBold"/>
                <a:cs typeface="Noto Sans SemiBold"/>
                <a:ea typeface="Noto Sans SemiBold"/>
              </a:rPr>
              <a:t>инструмент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33718" y="4527708"/>
            <a:ext cx="262056" cy="3124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24"/>
              </a:lnSpc>
              <a:spcBef>
                <a:spcPts val="0"/>
              </a:spcBef>
              <a:spcAft>
                <a:spcPts val="0"/>
              </a:spcAft>
            </a:pPr>
            <a:r>
              <a:rPr b="1" sz="1824" lang="ru-RU">
                <a:solidFill>
                  <a:srgbClr val="B9C0EA"/>
                </a:solidFill>
                <a:latin typeface="Noto Sans"/>
                <a:cs typeface="Noto Sans"/>
                <a:ea typeface="Noto Sans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2120" y="4563546"/>
            <a:ext cx="919876" cy="2514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b="0" sz="1440" lang="ru-RU">
                <a:solidFill>
                  <a:srgbClr val="15151B"/>
                </a:solidFill>
                <a:latin typeface="Noto Sans SemiBold"/>
                <a:cs typeface="Noto Sans SemiBold"/>
                <a:ea typeface="Noto Sans SemiBold"/>
              </a:rPr>
              <a:t>результат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6304" y="2353865"/>
            <a:ext cx="2743557" cy="2743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b="0" sz="1555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🎣 удочка → поймать рыбку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6304" y="2765821"/>
            <a:ext cx="2492811" cy="2743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b="0" sz="1555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🌷 лейка → полить цветы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6304" y="3177778"/>
            <a:ext cx="2771179" cy="2743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b="0" sz="1555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🔨 молоток → забить шарик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6304" y="3589734"/>
            <a:ext cx="2589728" cy="2743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b="0" sz="1555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🖌️ кисточка → нарисовать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6304" y="4001690"/>
            <a:ext cx="3239214" cy="2743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b="0" sz="1555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🔪 игрушечный нож → разрезать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8400" y="4558426"/>
            <a:ext cx="5113377" cy="2362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976"/>
              </a:lnSpc>
              <a:spcBef>
                <a:spcPts val="0"/>
              </a:spcBef>
              <a:spcAft>
                <a:spcPts val="0"/>
              </a:spcAft>
            </a:pPr>
            <a:r>
              <a:rPr b="0" sz="1363" lang="ru-RU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Это уже значительно более сложная организация действия.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24" y="609600"/>
            <a:ext cx="414456" cy="54768"/>
          </a:xfrm>
          <a:prstGeom prst="rect">
            <a:avLst/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019210" y="2243732"/>
            <a:ext cx="4368165" cy="2383274"/>
          </a:xfrm>
          <a:prstGeom prst="roundRect">
            <a:avLst>
              <a:gd name="adj" fmla="val 2557"/>
            </a:avLst>
          </a:prstGeom>
          <a:solidFill>
            <a:srgbClr val="F4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238642" y="3981083"/>
            <a:ext cx="3630334" cy="110032"/>
          </a:xfrm>
          <a:prstGeom prst="rect">
            <a:avLst/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238642" y="4275405"/>
            <a:ext cx="594717" cy="110032"/>
          </a:xfrm>
          <a:prstGeom prst="rect">
            <a:avLst/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38304" y="3573780"/>
            <a:ext cx="3152655" cy="35737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5840"/>
              </a:lnSpc>
              <a:spcBef>
                <a:spcPts val="0"/>
              </a:spcBef>
              <a:spcAft>
                <a:spcPts val="0"/>
              </a:spcAft>
            </a:pPr>
            <a:r>
              <a:rPr b="0" sz="21120" lang="ru-RU">
                <a:solidFill>
                  <a:srgbClr val="F4F5FB"/>
                </a:solidFill>
                <a:latin typeface="Playfair Display Black"/>
                <a:cs typeface="Playfair Display Black"/>
                <a:ea typeface="Playfair Display Black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1000" y="609600"/>
            <a:ext cx="1430297" cy="2057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b="1" sz="1200" lang="ru-RU" spc="192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УРОВНИ ИГРЫ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24" y="934164"/>
            <a:ext cx="5013245" cy="6629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4132"/>
              </a:lnSpc>
              <a:spcBef>
                <a:spcPts val="0"/>
              </a:spcBef>
              <a:spcAft>
                <a:spcPts val="0"/>
              </a:spcAft>
            </a:pPr>
            <a:r>
              <a:rPr b="0" sz="3936" lang="ru-RU" spc="-39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Сюжетное действие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24" y="1681281"/>
            <a:ext cx="4072294" cy="2895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318"/>
              </a:lnSpc>
              <a:spcBef>
                <a:spcPts val="0"/>
              </a:spcBef>
              <a:spcAft>
                <a:spcPts val="0"/>
              </a:spcAft>
            </a:pPr>
            <a:r>
              <a:rPr b="0" sz="1680" lang="ru-RU">
                <a:solidFill>
                  <a:srgbClr val="3A3A46"/>
                </a:solidFill>
                <a:latin typeface="Noto Sans"/>
                <a:cs typeface="Noto Sans"/>
                <a:ea typeface="Noto Sans"/>
              </a:rPr>
              <a:t>«Предмет становится частью истории»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24" y="2243732"/>
            <a:ext cx="5940266" cy="50018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ts val="2018"/>
              </a:lnSpc>
              <a:spcBef>
                <a:spcPts val="0"/>
              </a:spcBef>
              <a:spcAft>
                <a:spcPts val="0"/>
              </a:spcAft>
            </a:pPr>
            <a:r>
              <a:rPr b="0" sz="1392" lang="ru-RU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Ребёнок не просто использует предмет функционально, а </a:t>
            </a:r>
            <a:r>
              <a:rPr b="1" sz="1392" lang="ru-RU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разыгрывает знакомое действие</a:t>
            </a:r>
            <a:r>
              <a:rPr b="0" sz="1392" lang="ru-RU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24" y="2856904"/>
            <a:ext cx="304323" cy="2971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b="0" sz="1728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0388" y="2902624"/>
            <a:ext cx="1486257" cy="2438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09"/>
              </a:lnSpc>
              <a:spcBef>
                <a:spcPts val="0"/>
              </a:spcBef>
              <a:spcAft>
                <a:spcPts val="0"/>
              </a:spcAft>
            </a:pPr>
            <a:r>
              <a:rPr b="0" sz="1392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покормить куклу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05726" y="2856904"/>
            <a:ext cx="304323" cy="2971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b="0" sz="1728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🛏️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1490" y="2902624"/>
            <a:ext cx="1254085" cy="2438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09"/>
              </a:lnSpc>
              <a:spcBef>
                <a:spcPts val="0"/>
              </a:spcBef>
              <a:spcAft>
                <a:spcPts val="0"/>
              </a:spcAft>
            </a:pPr>
            <a:r>
              <a:rPr b="0" sz="1392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уложить спать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24" y="3222664"/>
            <a:ext cx="304323" cy="2971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b="0" sz="1728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0388" y="3268384"/>
            <a:ext cx="1530429" cy="2438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09"/>
              </a:lnSpc>
              <a:spcBef>
                <a:spcPts val="0"/>
              </a:spcBef>
              <a:spcAft>
                <a:spcPts val="0"/>
              </a:spcAft>
            </a:pPr>
            <a:r>
              <a:rPr b="0" sz="1392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расчесать зверей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05726" y="3222664"/>
            <a:ext cx="304323" cy="2971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b="0" sz="1728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1490" y="3268384"/>
            <a:ext cx="2221468" cy="2438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09"/>
              </a:lnSpc>
              <a:spcBef>
                <a:spcPts val="0"/>
              </a:spcBef>
              <a:spcAft>
                <a:spcPts val="0"/>
              </a:spcAft>
            </a:pPr>
            <a:r>
              <a:rPr b="0" sz="1392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закатить машину в гараж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24" y="3588424"/>
            <a:ext cx="304323" cy="2971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b="0" sz="1728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0388" y="3634144"/>
            <a:ext cx="1435774" cy="2438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09"/>
              </a:lnSpc>
              <a:spcBef>
                <a:spcPts val="0"/>
              </a:spcBef>
              <a:spcAft>
                <a:spcPts val="0"/>
              </a:spcAft>
            </a:pPr>
            <a:r>
              <a:rPr b="0" sz="1392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перемешать суп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05726" y="3588424"/>
            <a:ext cx="304323" cy="2971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b="0" sz="1728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01490" y="3634144"/>
            <a:ext cx="1682353" cy="2438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09"/>
              </a:lnSpc>
              <a:spcBef>
                <a:spcPts val="0"/>
              </a:spcBef>
              <a:spcAft>
                <a:spcPts val="0"/>
              </a:spcAft>
            </a:pPr>
            <a:r>
              <a:rPr b="0" sz="1392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наклеить пластырь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38642" y="2463165"/>
            <a:ext cx="2514004" cy="2438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018"/>
              </a:lnSpc>
              <a:spcBef>
                <a:spcPts val="0"/>
              </a:spcBef>
              <a:spcAft>
                <a:spcPts val="0"/>
              </a:spcAft>
            </a:pPr>
            <a:r>
              <a:rPr b="1" sz="1392" lang="ru-RU" spc="222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ГЛАВНОЕ ИЗМЕНЕНИЕ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8642" y="2865715"/>
            <a:ext cx="481845" cy="2438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018"/>
              </a:lnSpc>
              <a:spcBef>
                <a:spcPts val="0"/>
              </a:spcBef>
              <a:spcAft>
                <a:spcPts val="0"/>
              </a:spcAft>
            </a:pPr>
            <a:r>
              <a:rPr b="0" sz="1392" lang="ru-RU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Было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38642" y="3122056"/>
            <a:ext cx="3207424" cy="2895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318"/>
              </a:lnSpc>
              <a:spcBef>
                <a:spcPts val="0"/>
              </a:spcBef>
              <a:spcAft>
                <a:spcPts val="0"/>
              </a:spcAft>
            </a:pPr>
            <a:r>
              <a:rPr b="0" sz="1680" lang="ru-RU">
                <a:solidFill>
                  <a:srgbClr val="3A3A46"/>
                </a:solidFill>
                <a:latin typeface="Noto Sans"/>
                <a:cs typeface="Noto Sans"/>
                <a:ea typeface="Noto Sans"/>
              </a:rPr>
              <a:t>ложка → взять → переместить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38642" y="3562588"/>
            <a:ext cx="532685" cy="2438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018"/>
              </a:lnSpc>
              <a:spcBef>
                <a:spcPts val="0"/>
              </a:spcBef>
              <a:spcAft>
                <a:spcPts val="0"/>
              </a:spcAft>
            </a:pPr>
            <a:r>
              <a:rPr b="0" sz="1392" lang="ru-RU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Стало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38642" y="3818929"/>
            <a:ext cx="3959780" cy="58388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ts val="2318"/>
              </a:lnSpc>
              <a:spcBef>
                <a:spcPts val="0"/>
              </a:spcBef>
              <a:spcAft>
                <a:spcPts val="0"/>
              </a:spcAft>
            </a:pPr>
            <a:r>
              <a:rPr b="0" sz="1680" lang="ru-RU">
                <a:solidFill>
                  <a:srgbClr val="3A3A46"/>
                </a:solidFill>
                <a:latin typeface="Noto Sans"/>
                <a:cs typeface="Noto Sans"/>
                <a:ea typeface="Noto Sans"/>
              </a:rPr>
              <a:t>кукла → взять ложку → накормить куклу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24" y="609600"/>
            <a:ext cx="414456" cy="54768"/>
          </a:xfrm>
          <a:prstGeom prst="rect">
            <a:avLst/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4624" y="3915013"/>
            <a:ext cx="1433750" cy="386953"/>
          </a:xfrm>
          <a:prstGeom prst="roundRect">
            <a:avLst>
              <a:gd name="adj" fmla="val 12603"/>
            </a:avLst>
          </a:prstGeom>
          <a:solidFill>
            <a:srgbClr val="B9C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62369" y="3915013"/>
            <a:ext cx="1697593" cy="386953"/>
          </a:xfrm>
          <a:prstGeom prst="roundRect">
            <a:avLst>
              <a:gd name="adj" fmla="val 12603"/>
            </a:avLst>
          </a:prstGeom>
          <a:solidFill>
            <a:srgbClr val="B9C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983956" y="3915013"/>
            <a:ext cx="1226224" cy="386953"/>
          </a:xfrm>
          <a:prstGeom prst="roundRect">
            <a:avLst>
              <a:gd name="adj" fmla="val 12603"/>
            </a:avLst>
          </a:prstGeom>
          <a:solidFill>
            <a:srgbClr val="B9C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734175" y="3915013"/>
            <a:ext cx="867965" cy="386953"/>
          </a:xfrm>
          <a:prstGeom prst="roundRect">
            <a:avLst>
              <a:gd name="adj" fmla="val 12603"/>
            </a:avLst>
          </a:prstGeom>
          <a:solidFill>
            <a:srgbClr val="B9C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24" y="4448175"/>
            <a:ext cx="1021913" cy="386953"/>
          </a:xfrm>
          <a:prstGeom prst="roundRect">
            <a:avLst>
              <a:gd name="adj" fmla="val 12603"/>
            </a:avLst>
          </a:prstGeom>
          <a:solidFill>
            <a:srgbClr val="F4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350531" y="4448175"/>
            <a:ext cx="1268372" cy="386953"/>
          </a:xfrm>
          <a:prstGeom prst="roundRect">
            <a:avLst>
              <a:gd name="adj" fmla="val 12603"/>
            </a:avLst>
          </a:prstGeom>
          <a:solidFill>
            <a:srgbClr val="F4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42898" y="4448175"/>
            <a:ext cx="956786" cy="386953"/>
          </a:xfrm>
          <a:prstGeom prst="roundRect">
            <a:avLst>
              <a:gd name="adj" fmla="val 12603"/>
            </a:avLst>
          </a:prstGeom>
          <a:solidFill>
            <a:srgbClr val="F4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23679" y="4448175"/>
            <a:ext cx="1201578" cy="386953"/>
          </a:xfrm>
          <a:prstGeom prst="roundRect">
            <a:avLst>
              <a:gd name="adj" fmla="val 12603"/>
            </a:avLst>
          </a:prstGeom>
          <a:solidFill>
            <a:srgbClr val="F4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53803" y="5113362"/>
            <a:ext cx="3477220" cy="92659"/>
          </a:xfrm>
          <a:prstGeom prst="rect">
            <a:avLst/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64698" y="3573780"/>
            <a:ext cx="3426261" cy="35737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5840"/>
              </a:lnSpc>
              <a:spcBef>
                <a:spcPts val="0"/>
              </a:spcBef>
              <a:spcAft>
                <a:spcPts val="0"/>
              </a:spcAft>
            </a:pPr>
            <a:r>
              <a:rPr b="0" sz="21120" lang="ru-RU">
                <a:solidFill>
                  <a:srgbClr val="F4F5FB"/>
                </a:solidFill>
                <a:latin typeface="Playfair Display Black"/>
                <a:cs typeface="Playfair Display Black"/>
                <a:ea typeface="Playfair Display Black"/>
              </a:rPr>
              <a:t>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1000" y="609600"/>
            <a:ext cx="1430297" cy="2057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b="1" sz="1200" lang="ru-RU" spc="192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УРОВНИ ИГРЫ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24" y="934164"/>
            <a:ext cx="2962036" cy="6629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4132"/>
              </a:lnSpc>
              <a:spcBef>
                <a:spcPts val="0"/>
              </a:spcBef>
              <a:spcAft>
                <a:spcPts val="0"/>
              </a:spcAft>
            </a:pPr>
            <a:r>
              <a:rPr b="0" sz="3936" lang="ru-RU" spc="-39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Соединение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24" y="1458872"/>
            <a:ext cx="5166240" cy="6629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4132"/>
              </a:lnSpc>
              <a:spcBef>
                <a:spcPts val="0"/>
              </a:spcBef>
              <a:spcAft>
                <a:spcPts val="0"/>
              </a:spcAft>
            </a:pPr>
            <a:r>
              <a:rPr b="0" sz="3936" lang="ru-RU" spc="-39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сюжетных действий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24" y="2205990"/>
            <a:ext cx="4289226" cy="2895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318"/>
              </a:lnSpc>
              <a:spcBef>
                <a:spcPts val="0"/>
              </a:spcBef>
              <a:spcAft>
                <a:spcPts val="0"/>
              </a:spcAft>
            </a:pPr>
            <a:r>
              <a:rPr b="0" sz="1680" lang="ru-RU">
                <a:solidFill>
                  <a:srgbClr val="3A3A46"/>
                </a:solidFill>
                <a:latin typeface="Noto Sans"/>
                <a:cs typeface="Noto Sans"/>
                <a:ea typeface="Noto Sans"/>
              </a:rPr>
              <a:t>«Теперь появляется маленькая история»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24" y="3495960"/>
            <a:ext cx="440136" cy="358449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419"/>
              </a:lnSpc>
              <a:spcBef>
                <a:spcPts val="0"/>
              </a:spcBef>
              <a:spcAft>
                <a:spcPts val="0"/>
              </a:spcAft>
            </a:pPr>
            <a:r>
              <a:rPr b="1" sz="2016" lang="ru-RU">
                <a:solidFill>
                  <a:srgbClr val="C86A6A"/>
                </a:solidFill>
                <a:latin typeface="Noto Sans"/>
                <a:cs typeface="Noto Sans"/>
                <a:ea typeface="Noto Sans"/>
              </a:rPr>
              <a:t>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8120" y="3514248"/>
            <a:ext cx="3125390" cy="2667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b="0" sz="1536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одно действие: накормить куклу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833" y="3994189"/>
            <a:ext cx="1171813" cy="2286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b="0" sz="1324" lang="ru-RU">
                <a:solidFill>
                  <a:srgbClr val="15151B"/>
                </a:solidFill>
                <a:latin typeface="Noto Sans SemiBold"/>
                <a:cs typeface="Noto Sans SemiBold"/>
                <a:ea typeface="Noto Sans SemiBold"/>
              </a:rPr>
              <a:t>накрыть стол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84583" y="3946921"/>
            <a:ext cx="262056" cy="3124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24"/>
              </a:lnSpc>
              <a:spcBef>
                <a:spcPts val="0"/>
              </a:spcBef>
              <a:spcAft>
                <a:spcPts val="0"/>
              </a:spcAft>
            </a:pPr>
            <a:r>
              <a:rPr b="1" sz="1824" lang="ru-RU">
                <a:solidFill>
                  <a:srgbClr val="B9C0EA"/>
                </a:solidFill>
                <a:latin typeface="Noto Sans"/>
                <a:cs typeface="Noto Sans"/>
                <a:ea typeface="Noto Sans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08577" y="3994189"/>
            <a:ext cx="1435655" cy="2286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b="0" sz="1324" lang="ru-RU">
                <a:solidFill>
                  <a:srgbClr val="15151B"/>
                </a:solidFill>
                <a:latin typeface="Noto Sans SemiBold"/>
                <a:cs typeface="Noto Sans SemiBold"/>
                <a:ea typeface="Noto Sans SemiBold"/>
              </a:rPr>
              <a:t>приготовить еду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06170" y="3946921"/>
            <a:ext cx="262056" cy="3124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24"/>
              </a:lnSpc>
              <a:spcBef>
                <a:spcPts val="0"/>
              </a:spcBef>
              <a:spcAft>
                <a:spcPts val="0"/>
              </a:spcAft>
            </a:pPr>
            <a:r>
              <a:rPr b="1" sz="1824" lang="ru-RU">
                <a:solidFill>
                  <a:srgbClr val="B9C0EA"/>
                </a:solidFill>
                <a:latin typeface="Noto Sans"/>
                <a:cs typeface="Noto Sans"/>
                <a:ea typeface="Noto Sans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30165" y="3994189"/>
            <a:ext cx="964287" cy="2286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b="0" sz="1324" lang="ru-RU">
                <a:solidFill>
                  <a:srgbClr val="15151B"/>
                </a:solidFill>
                <a:latin typeface="Noto Sans SemiBold"/>
                <a:cs typeface="Noto Sans SemiBold"/>
                <a:ea typeface="Noto Sans SemiBold"/>
              </a:rPr>
              <a:t>накормить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6389" y="3946921"/>
            <a:ext cx="262056" cy="3124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24"/>
              </a:lnSpc>
              <a:spcBef>
                <a:spcPts val="0"/>
              </a:spcBef>
              <a:spcAft>
                <a:spcPts val="0"/>
              </a:spcAft>
            </a:pPr>
            <a:r>
              <a:rPr b="1" sz="1824" lang="ru-RU">
                <a:solidFill>
                  <a:srgbClr val="B9C0EA"/>
                </a:solidFill>
                <a:latin typeface="Noto Sans"/>
                <a:cs typeface="Noto Sans"/>
                <a:ea typeface="Noto Sans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80383" y="3994189"/>
            <a:ext cx="606028" cy="2286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b="0" sz="1324" lang="ru-RU">
                <a:solidFill>
                  <a:srgbClr val="15151B"/>
                </a:solidFill>
                <a:latin typeface="Noto Sans SemiBold"/>
                <a:cs typeface="Noto Sans SemiBold"/>
                <a:ea typeface="Noto Sans SemiBold"/>
              </a:rPr>
              <a:t>убрать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833" y="4527351"/>
            <a:ext cx="759975" cy="2286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b="0" sz="1324" lang="ru-RU">
                <a:solidFill>
                  <a:srgbClr val="15151B"/>
                </a:solidFill>
                <a:latin typeface="Noto Sans SemiBold"/>
                <a:cs typeface="Noto Sans SemiBold"/>
                <a:ea typeface="Noto Sans SemiBold"/>
              </a:rPr>
              <a:t>умыться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72746" y="4480083"/>
            <a:ext cx="262056" cy="3124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24"/>
              </a:lnSpc>
              <a:spcBef>
                <a:spcPts val="0"/>
              </a:spcBef>
              <a:spcAft>
                <a:spcPts val="0"/>
              </a:spcAft>
            </a:pPr>
            <a:r>
              <a:rPr b="1" sz="1824" lang="ru-RU">
                <a:solidFill>
                  <a:srgbClr val="B9C0EA"/>
                </a:solidFill>
                <a:latin typeface="Noto Sans"/>
                <a:cs typeface="Noto Sans"/>
                <a:ea typeface="Noto Sans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96740" y="4527351"/>
            <a:ext cx="1006435" cy="2286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b="0" sz="1324" lang="ru-RU">
                <a:solidFill>
                  <a:srgbClr val="15151B"/>
                </a:solidFill>
                <a:latin typeface="Noto Sans SemiBold"/>
                <a:cs typeface="Noto Sans SemiBold"/>
                <a:ea typeface="Noto Sans SemiBold"/>
              </a:rPr>
              <a:t>вытереться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65113" y="4480083"/>
            <a:ext cx="262056" cy="3124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24"/>
              </a:lnSpc>
              <a:spcBef>
                <a:spcPts val="0"/>
              </a:spcBef>
              <a:spcAft>
                <a:spcPts val="0"/>
              </a:spcAft>
            </a:pPr>
            <a:r>
              <a:rPr b="1" sz="1824" lang="ru-RU">
                <a:solidFill>
                  <a:srgbClr val="B9C0EA"/>
                </a:solidFill>
                <a:latin typeface="Noto Sans"/>
                <a:cs typeface="Noto Sans"/>
                <a:ea typeface="Noto Sans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89107" y="4527351"/>
            <a:ext cx="694848" cy="2286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b="0" sz="1324" lang="ru-RU">
                <a:solidFill>
                  <a:srgbClr val="15151B"/>
                </a:solidFill>
                <a:latin typeface="Noto Sans SemiBold"/>
                <a:cs typeface="Noto Sans SemiBold"/>
                <a:ea typeface="Noto Sans SemiBold"/>
              </a:rPr>
              <a:t>одеться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45893" y="4480083"/>
            <a:ext cx="262056" cy="3124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24"/>
              </a:lnSpc>
              <a:spcBef>
                <a:spcPts val="0"/>
              </a:spcBef>
              <a:spcAft>
                <a:spcPts val="0"/>
              </a:spcAft>
            </a:pPr>
            <a:r>
              <a:rPr b="1" sz="1824" lang="ru-RU">
                <a:solidFill>
                  <a:srgbClr val="B9C0EA"/>
                </a:solidFill>
                <a:latin typeface="Noto Sans"/>
                <a:cs typeface="Noto Sans"/>
                <a:ea typeface="Noto Sans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9887" y="4527351"/>
            <a:ext cx="939641" cy="2286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b="0" sz="1324" lang="ru-RU">
                <a:solidFill>
                  <a:srgbClr val="15151B"/>
                </a:solidFill>
                <a:latin typeface="Noto Sans SemiBold"/>
                <a:cs typeface="Noto Sans SemiBold"/>
                <a:ea typeface="Noto Sans SemiBold"/>
              </a:rPr>
              <a:t>лечь спать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24" y="4976812"/>
            <a:ext cx="6297334" cy="2438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b="0" sz="1392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Появляется последовательность и смысловая связь между действиями.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24" y="609600"/>
            <a:ext cx="414456" cy="54768"/>
          </a:xfrm>
          <a:prstGeom prst="rect">
            <a:avLst/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81719" y="1860503"/>
            <a:ext cx="611624" cy="121615"/>
          </a:xfrm>
          <a:prstGeom prst="rect">
            <a:avLst/>
          </a:prstGeom>
          <a:solidFill>
            <a:srgbClr val="B9C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40923" y="3573780"/>
            <a:ext cx="3150036" cy="35737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5840"/>
              </a:lnSpc>
              <a:spcBef>
                <a:spcPts val="0"/>
              </a:spcBef>
              <a:spcAft>
                <a:spcPts val="0"/>
              </a:spcAft>
            </a:pPr>
            <a:r>
              <a:rPr b="0" sz="21120" lang="ru-RU">
                <a:solidFill>
                  <a:srgbClr val="F4F5FB"/>
                </a:solidFill>
                <a:latin typeface="Playfair Display Black"/>
                <a:cs typeface="Playfair Display Black"/>
                <a:ea typeface="Playfair Display Black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1000" y="609600"/>
            <a:ext cx="1430297" cy="2057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b="1" sz="1200" lang="ru-RU" spc="192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УРОВНИ ИГРЫ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24" y="934164"/>
            <a:ext cx="3277909" cy="6629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4132"/>
              </a:lnSpc>
              <a:spcBef>
                <a:spcPts val="0"/>
              </a:spcBef>
              <a:spcAft>
                <a:spcPts val="0"/>
              </a:spcAft>
            </a:pPr>
            <a:r>
              <a:rPr b="0" sz="3936" lang="ru-RU" spc="-39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Ролевая игра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24" y="1681281"/>
            <a:ext cx="8485584" cy="3200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583"/>
              </a:lnSpc>
              <a:spcBef>
                <a:spcPts val="0"/>
              </a:spcBef>
              <a:spcAft>
                <a:spcPts val="0"/>
              </a:spcAft>
            </a:pPr>
            <a:r>
              <a:rPr b="0" sz="1872" lang="ru-RU">
                <a:solidFill>
                  <a:srgbClr val="3A3A46"/>
                </a:solidFill>
                <a:latin typeface="Noto Sans"/>
                <a:cs typeface="Noto Sans"/>
                <a:ea typeface="Noto Sans"/>
              </a:rPr>
              <a:t>«Я становлюсь кем-то» — появляется роль и организованный сценарий.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24" y="3194685"/>
            <a:ext cx="304323" cy="2971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b="0" sz="1728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👩‍⚕️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388" y="3225165"/>
            <a:ext cx="986670" cy="2590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934"/>
              </a:lnSpc>
              <a:spcBef>
                <a:spcPts val="0"/>
              </a:spcBef>
              <a:spcAft>
                <a:spcPts val="0"/>
              </a:spcAft>
            </a:pPr>
            <a:r>
              <a:rPr b="1" sz="1488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Больница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23886" y="3229213"/>
            <a:ext cx="3227665" cy="2362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976"/>
              </a:lnSpc>
              <a:spcBef>
                <a:spcPts val="0"/>
              </a:spcBef>
              <a:spcAft>
                <a:spcPts val="0"/>
              </a:spcAft>
            </a:pPr>
            <a:r>
              <a:rPr b="0" sz="1363" lang="ru-RU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врач → пациент → осмотр → лечение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24" y="3581757"/>
            <a:ext cx="304323" cy="2971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b="0" sz="1728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0388" y="3612237"/>
            <a:ext cx="872370" cy="2590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934"/>
              </a:lnSpc>
              <a:spcBef>
                <a:spcPts val="0"/>
              </a:spcBef>
              <a:spcAft>
                <a:spcPts val="0"/>
              </a:spcAft>
            </a:pPr>
            <a:r>
              <a:rPr b="1" sz="1488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Магазин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23886" y="3616285"/>
            <a:ext cx="3650218" cy="2362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976"/>
              </a:lnSpc>
              <a:spcBef>
                <a:spcPts val="0"/>
              </a:spcBef>
              <a:spcAft>
                <a:spcPts val="0"/>
              </a:spcAft>
            </a:pPr>
            <a:r>
              <a:rPr b="0" sz="1363" lang="ru-RU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продавец → покупатель → товар → оплата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24" y="3968829"/>
            <a:ext cx="304323" cy="2971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b="0" sz="1728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🍽️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0388" y="3999309"/>
            <a:ext cx="535662" cy="2590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934"/>
              </a:lnSpc>
              <a:spcBef>
                <a:spcPts val="0"/>
              </a:spcBef>
              <a:spcAft>
                <a:spcPts val="0"/>
              </a:spcAft>
            </a:pPr>
            <a:r>
              <a:rPr b="1" sz="1488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Кафе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23886" y="4003357"/>
            <a:ext cx="2979896" cy="2362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976"/>
              </a:lnSpc>
              <a:spcBef>
                <a:spcPts val="0"/>
              </a:spcBef>
              <a:spcAft>
                <a:spcPts val="0"/>
              </a:spcAft>
            </a:pPr>
            <a:r>
              <a:rPr b="0" sz="1363" lang="ru-RU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официант → заказ → еда → оплата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24" y="4355901"/>
            <a:ext cx="304323" cy="2971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b="0" sz="1728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👨‍🔧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0388" y="4386381"/>
            <a:ext cx="1061442" cy="2590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934"/>
              </a:lnSpc>
              <a:spcBef>
                <a:spcPts val="0"/>
              </a:spcBef>
              <a:spcAft>
                <a:spcPts val="0"/>
              </a:spcAft>
            </a:pPr>
            <a:r>
              <a:rPr b="1" sz="1488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Строители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23886" y="4390429"/>
            <a:ext cx="3487102" cy="2362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976"/>
              </a:lnSpc>
              <a:spcBef>
                <a:spcPts val="0"/>
              </a:spcBef>
              <a:spcAft>
                <a:spcPts val="0"/>
              </a:spcAft>
            </a:pPr>
            <a:r>
              <a:rPr b="0" sz="1363" lang="ru-RU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строить → ремонтировать → перевозить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24" y="4742973"/>
            <a:ext cx="304323" cy="2971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b="0" sz="1728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👩‍👧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388" y="4773453"/>
            <a:ext cx="643175" cy="2590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934"/>
              </a:lnSpc>
              <a:spcBef>
                <a:spcPts val="0"/>
              </a:spcBef>
              <a:spcAft>
                <a:spcPts val="0"/>
              </a:spcAft>
            </a:pPr>
            <a:r>
              <a:rPr b="1" sz="1488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Семья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3886" y="4777501"/>
            <a:ext cx="3308985" cy="2362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976"/>
              </a:lnSpc>
              <a:spcBef>
                <a:spcPts val="0"/>
              </a:spcBef>
              <a:spcAft>
                <a:spcPts val="0"/>
              </a:spcAft>
            </a:pPr>
            <a:r>
              <a:rPr b="0" sz="1363" lang="ru-RU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кормить → купать → укладывать спать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24" y="609600"/>
            <a:ext cx="414456" cy="54768"/>
          </a:xfrm>
          <a:prstGeom prst="rect">
            <a:avLst/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4624" y="1010364"/>
            <a:ext cx="68580" cy="1049416"/>
          </a:xfrm>
          <a:prstGeom prst="rect">
            <a:avLst/>
          </a:prstGeom>
          <a:solidFill>
            <a:srgbClr val="B9C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41079" y="4256654"/>
            <a:ext cx="1080965" cy="19407"/>
          </a:xfrm>
          <a:prstGeom prst="rect">
            <a:avLst/>
          </a:prstGeom>
          <a:solidFill>
            <a:srgbClr val="E7E8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4624" y="4000619"/>
            <a:ext cx="536376" cy="536376"/>
          </a:xfrm>
          <a:prstGeom prst="roundRect">
            <a:avLst>
              <a:gd name="adj" fmla="val 50000"/>
            </a:avLst>
          </a:prstGeom>
          <a:solidFill>
            <a:srgbClr val="C6E3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4871" y="4256654"/>
            <a:ext cx="1080965" cy="19407"/>
          </a:xfrm>
          <a:prstGeom prst="rect">
            <a:avLst/>
          </a:prstGeom>
          <a:solidFill>
            <a:srgbClr val="E7E8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568416" y="4000619"/>
            <a:ext cx="536376" cy="536376"/>
          </a:xfrm>
          <a:prstGeom prst="roundRect">
            <a:avLst>
              <a:gd name="adj" fmla="val 50000"/>
            </a:avLst>
          </a:prstGeom>
          <a:solidFill>
            <a:srgbClr val="F6DFA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68662" y="4256654"/>
            <a:ext cx="1080965" cy="19407"/>
          </a:xfrm>
          <a:prstGeom prst="rect">
            <a:avLst/>
          </a:prstGeom>
          <a:solidFill>
            <a:srgbClr val="E7E8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32208" y="4000619"/>
            <a:ext cx="536376" cy="536376"/>
          </a:xfrm>
          <a:prstGeom prst="roundRect">
            <a:avLst>
              <a:gd name="adj" fmla="val 50000"/>
            </a:avLst>
          </a:prstGeom>
          <a:solidFill>
            <a:srgbClr val="F0C6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32454" y="4256654"/>
            <a:ext cx="1080965" cy="19407"/>
          </a:xfrm>
          <a:prstGeom prst="rect">
            <a:avLst/>
          </a:prstGeom>
          <a:solidFill>
            <a:srgbClr val="E7E8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96000" y="4000619"/>
            <a:ext cx="536376" cy="536376"/>
          </a:xfrm>
          <a:prstGeom prst="roundRect">
            <a:avLst>
              <a:gd name="adj" fmla="val 50000"/>
            </a:avLst>
          </a:prstGeom>
          <a:solidFill>
            <a:srgbClr val="F3C4A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96246" y="4256654"/>
            <a:ext cx="1080965" cy="19407"/>
          </a:xfrm>
          <a:prstGeom prst="rect">
            <a:avLst/>
          </a:prstGeom>
          <a:solidFill>
            <a:srgbClr val="E7E8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859791" y="4000619"/>
            <a:ext cx="536376" cy="536376"/>
          </a:xfrm>
          <a:prstGeom prst="roundRect">
            <a:avLst>
              <a:gd name="adj" fmla="val 50000"/>
            </a:avLst>
          </a:prstGeom>
          <a:solidFill>
            <a:srgbClr val="B9C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23583" y="4000619"/>
            <a:ext cx="536376" cy="536376"/>
          </a:xfrm>
          <a:prstGeom prst="roundRect">
            <a:avLst>
              <a:gd name="adj" fmla="val 50000"/>
            </a:avLst>
          </a:prstGeom>
          <a:solidFill>
            <a:srgbClr val="C7BE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41000" y="609600"/>
            <a:ext cx="1230391" cy="2057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b="1" sz="1200" lang="ru-RU" spc="192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ОРИЕНТИРЫ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7044" y="934164"/>
            <a:ext cx="5530572" cy="6629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4132"/>
              </a:lnSpc>
              <a:spcBef>
                <a:spcPts val="0"/>
              </a:spcBef>
              <a:spcAft>
                <a:spcPts val="0"/>
              </a:spcAft>
            </a:pPr>
            <a:r>
              <a:rPr b="0" sz="3936" lang="ru-RU" spc="-39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Как развивается игра: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044" y="1458872"/>
            <a:ext cx="7572375" cy="6629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4132"/>
              </a:lnSpc>
              <a:spcBef>
                <a:spcPts val="0"/>
              </a:spcBef>
              <a:spcAft>
                <a:spcPts val="0"/>
              </a:spcAft>
            </a:pPr>
            <a:r>
              <a:rPr b="0" sz="3936" lang="ru-RU" spc="-39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если собрать всё в одну линию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24" y="2205990"/>
            <a:ext cx="7579042" cy="2362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976"/>
              </a:lnSpc>
              <a:spcBef>
                <a:spcPts val="0"/>
              </a:spcBef>
              <a:spcAft>
                <a:spcPts val="0"/>
              </a:spcAft>
            </a:pPr>
            <a:r>
              <a:rPr b="0" sz="1363" lang="ru-RU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Возрастные ориентиры — это ориентиры, а не «нормативы, по которым ставим оценки».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24" y="4671060"/>
            <a:ext cx="643056" cy="2514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b="1" sz="1440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6+ мес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24" y="4849415"/>
            <a:ext cx="823198" cy="2209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684"/>
              </a:lnSpc>
              <a:spcBef>
                <a:spcPts val="0"/>
              </a:spcBef>
              <a:spcAft>
                <a:spcPts val="0"/>
              </a:spcAft>
            </a:pPr>
            <a:r>
              <a:rPr b="0" sz="1296" lang="ru-RU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исследует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8416" y="4671060"/>
            <a:ext cx="643056" cy="2514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b="1" sz="1440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8+ мес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8416" y="4849415"/>
            <a:ext cx="716875" cy="2209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684"/>
              </a:lnSpc>
              <a:spcBef>
                <a:spcPts val="0"/>
              </a:spcBef>
              <a:spcAft>
                <a:spcPts val="0"/>
              </a:spcAft>
            </a:pPr>
            <a:r>
              <a:rPr b="0" sz="1296" lang="ru-RU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функция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32208" y="4671060"/>
            <a:ext cx="747593" cy="2514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b="1" sz="1440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10+ мес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32208" y="4849415"/>
            <a:ext cx="1097756" cy="2209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684"/>
              </a:lnSpc>
              <a:spcBef>
                <a:spcPts val="0"/>
              </a:spcBef>
              <a:spcAft>
                <a:spcPts val="0"/>
              </a:spcAft>
            </a:pPr>
            <a:r>
              <a:rPr b="0" sz="1296" lang="ru-RU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два действия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0" y="4671060"/>
            <a:ext cx="747593" cy="2514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b="1" sz="1440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12+ мес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0" y="4849415"/>
            <a:ext cx="526970" cy="2209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684"/>
              </a:lnSpc>
              <a:spcBef>
                <a:spcPts val="0"/>
              </a:spcBef>
              <a:spcAft>
                <a:spcPts val="0"/>
              </a:spcAft>
            </a:pPr>
            <a:r>
              <a:rPr b="0" sz="1296" lang="ru-RU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сюжет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59791" y="4671060"/>
            <a:ext cx="747593" cy="2514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b="1" sz="1440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18+ мес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59791" y="4849415"/>
            <a:ext cx="860345" cy="2209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684"/>
              </a:lnSpc>
              <a:spcBef>
                <a:spcPts val="0"/>
              </a:spcBef>
              <a:spcAft>
                <a:spcPts val="0"/>
              </a:spcAft>
            </a:pPr>
            <a:r>
              <a:rPr b="0" sz="1296" lang="ru-RU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соединяет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23583" y="4671060"/>
            <a:ext cx="747593" cy="2514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b="1" sz="1440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18+ мес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23583" y="4849415"/>
            <a:ext cx="1665327" cy="2209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684"/>
              </a:lnSpc>
              <a:spcBef>
                <a:spcPts val="0"/>
              </a:spcBef>
              <a:spcAft>
                <a:spcPts val="0"/>
              </a:spcAft>
            </a:pPr>
            <a:r>
              <a:rPr b="0" sz="1296" lang="ru-RU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роль / социальность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632960" cy="6858000"/>
          </a:xfrm>
          <a:prstGeom prst="rect">
            <a:avLst/>
          </a:prstGeom>
          <a:solidFill>
            <a:srgbClr val="B9C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18846" y="2420897"/>
            <a:ext cx="414456" cy="54768"/>
          </a:xfrm>
          <a:prstGeom prst="rect">
            <a:avLst/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84381" y="3414098"/>
            <a:ext cx="3002994" cy="364845"/>
          </a:xfrm>
          <a:prstGeom prst="rect">
            <a:avLst/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24742" y="2420897"/>
            <a:ext cx="1062632" cy="2057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b="1" sz="1200" lang="ru-RU" spc="192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РАЗДЕЛ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39069" y="2876430"/>
            <a:ext cx="4548306" cy="9601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>
              <a:lnSpc>
                <a:spcPts val="5664"/>
              </a:lnSpc>
              <a:spcBef>
                <a:spcPts val="0"/>
              </a:spcBef>
              <a:spcAft>
                <a:spcPts val="0"/>
              </a:spcAft>
            </a:pPr>
            <a:r>
              <a:rPr b="0" sz="5664" lang="ru-RU" spc="-56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Как обучать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61577" y="3595806"/>
            <a:ext cx="1625798" cy="9601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>
              <a:lnSpc>
                <a:spcPts val="5664"/>
              </a:lnSpc>
              <a:spcBef>
                <a:spcPts val="0"/>
              </a:spcBef>
              <a:spcAft>
                <a:spcPts val="0"/>
              </a:spcAft>
            </a:pPr>
            <a:r>
              <a:rPr b="0" sz="5664" lang="ru-RU" spc="-56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игре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24" y="609600"/>
            <a:ext cx="414456" cy="54768"/>
          </a:xfrm>
          <a:prstGeom prst="rect">
            <a:avLst/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4624" y="2394966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4624" y="2806923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4624" y="3218879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48400" y="2394966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48400" y="2806923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48400" y="3218879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09039" y="3573780"/>
            <a:ext cx="1081920" cy="35737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5840"/>
              </a:lnSpc>
              <a:spcBef>
                <a:spcPts val="0"/>
              </a:spcBef>
              <a:spcAft>
                <a:spcPts val="0"/>
              </a:spcAft>
            </a:pPr>
            <a:r>
              <a:rPr b="0" sz="21120" lang="ru-RU">
                <a:solidFill>
                  <a:srgbClr val="F4F5FB"/>
                </a:solidFill>
                <a:latin typeface="Playfair Display Black"/>
                <a:cs typeface="Playfair Display Black"/>
                <a:ea typeface="Playfair Display Black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1000" y="609600"/>
            <a:ext cx="2707481" cy="2057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b="1" sz="1200" lang="ru-RU" spc="192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КАК ОБУЧАТЬ ИГРЕ · ШАГ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24" y="934164"/>
            <a:ext cx="5399127" cy="6629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4132"/>
              </a:lnSpc>
              <a:spcBef>
                <a:spcPts val="0"/>
              </a:spcBef>
              <a:spcAft>
                <a:spcPts val="0"/>
              </a:spcAft>
            </a:pPr>
            <a:r>
              <a:rPr b="0" sz="3936" lang="ru-RU" spc="-39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Определить текущий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24" y="1458872"/>
            <a:ext cx="3423285" cy="6629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4132"/>
              </a:lnSpc>
              <a:spcBef>
                <a:spcPts val="0"/>
              </a:spcBef>
              <a:spcAft>
                <a:spcPts val="0"/>
              </a:spcAft>
            </a:pPr>
            <a:r>
              <a:rPr b="0" sz="3936" lang="ru-RU" spc="-39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уровень игры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2528" y="2335530"/>
            <a:ext cx="3295292" cy="2743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b="0" sz="1555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Что ребёнок делает с игрушками?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2528" y="2747486"/>
            <a:ext cx="3210520" cy="2743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b="0" sz="1555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Сколько разных действий умеет?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2528" y="3159442"/>
            <a:ext cx="4103965" cy="2743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b="0" sz="1555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Повторяет одно действие или меняет его?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6304" y="2335530"/>
            <a:ext cx="3649384" cy="2743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b="0" sz="1555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Использует предмет функционально?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6304" y="2747486"/>
            <a:ext cx="2849046" cy="2743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b="0" sz="1555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Есть ли последовательности?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6304" y="3159442"/>
            <a:ext cx="3316366" cy="2743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b="0" sz="1555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Подключает ли другого человека?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720" y="0"/>
            <a:ext cx="4145280" cy="6858000"/>
          </a:xfrm>
          <a:prstGeom prst="rect">
            <a:avLst/>
          </a:prstGeom>
          <a:solidFill>
            <a:srgbClr val="F4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4624" y="609600"/>
            <a:ext cx="414456" cy="54768"/>
          </a:xfrm>
          <a:prstGeom prst="rect">
            <a:avLst/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011447" y="3985531"/>
            <a:ext cx="3067050" cy="121615"/>
          </a:xfrm>
          <a:prstGeom prst="rect">
            <a:avLst/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77199" y="3573780"/>
            <a:ext cx="1513760" cy="35737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5840"/>
              </a:lnSpc>
              <a:spcBef>
                <a:spcPts val="0"/>
              </a:spcBef>
              <a:spcAft>
                <a:spcPts val="0"/>
              </a:spcAft>
            </a:pPr>
            <a:r>
              <a:rPr b="0" sz="21120" lang="ru-RU">
                <a:solidFill>
                  <a:srgbClr val="F4F5FB"/>
                </a:solidFill>
                <a:latin typeface="Playfair Display Black"/>
                <a:cs typeface="Playfair Display Black"/>
                <a:ea typeface="Playfair Display Black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1000" y="609600"/>
            <a:ext cx="2707481" cy="2057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b="1" sz="1200" lang="ru-RU" spc="192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КАК ОБУЧАТЬ ИГРЕ · ШАГ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24" y="2412563"/>
            <a:ext cx="3674268" cy="6629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4132"/>
              </a:lnSpc>
              <a:spcBef>
                <a:spcPts val="0"/>
              </a:spcBef>
              <a:spcAft>
                <a:spcPts val="0"/>
              </a:spcAft>
            </a:pPr>
            <a:r>
              <a:rPr b="0" sz="3936" lang="ru-RU" spc="-39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Выбрать, чему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24" y="2937271"/>
            <a:ext cx="3294340" cy="6629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4132"/>
              </a:lnSpc>
              <a:spcBef>
                <a:spcPts val="0"/>
              </a:spcBef>
              <a:spcAft>
                <a:spcPts val="0"/>
              </a:spcAft>
            </a:pPr>
            <a:r>
              <a:rPr b="0" sz="3936" lang="ru-RU" spc="-39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именно учим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24" y="3806309"/>
            <a:ext cx="5368051" cy="3200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583"/>
              </a:lnSpc>
              <a:spcBef>
                <a:spcPts val="0"/>
              </a:spcBef>
              <a:spcAft>
                <a:spcPts val="0"/>
              </a:spcAft>
            </a:pPr>
            <a:r>
              <a:rPr b="0" sz="1872" lang="ru-RU">
                <a:solidFill>
                  <a:srgbClr val="3A3A46"/>
                </a:solidFill>
                <a:latin typeface="Noto Sans"/>
                <a:cs typeface="Noto Sans"/>
                <a:ea typeface="Noto Sans"/>
              </a:rPr>
              <a:t>Цель должна быть понятной и наблюдаемой.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19210" y="2470475"/>
            <a:ext cx="440136" cy="358449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419"/>
              </a:lnSpc>
              <a:spcBef>
                <a:spcPts val="0"/>
              </a:spcBef>
              <a:spcAft>
                <a:spcPts val="0"/>
              </a:spcAft>
            </a:pPr>
            <a:r>
              <a:rPr b="1" sz="2016" lang="ru-RU">
                <a:solidFill>
                  <a:srgbClr val="C86A6A"/>
                </a:solidFill>
                <a:latin typeface="Noto Sans"/>
                <a:cs typeface="Noto Sans"/>
                <a:ea typeface="Noto Sans"/>
              </a:rPr>
              <a:t>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72707" y="2488763"/>
            <a:ext cx="2074187" cy="2667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b="0" sz="1536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«Будем учить играть»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19210" y="2852951"/>
            <a:ext cx="381614" cy="30724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073"/>
              </a:lnSpc>
              <a:spcBef>
                <a:spcPts val="0"/>
              </a:spcBef>
              <a:spcAft>
                <a:spcPts val="0"/>
              </a:spcAft>
            </a:pPr>
            <a:r>
              <a:rPr b="1" sz="1728" lang="ru-RU">
                <a:solidFill>
                  <a:srgbClr val="6FA33C"/>
                </a:solidFill>
                <a:latin typeface="Noto Sans"/>
                <a:cs typeface="Noto Sans"/>
                <a:ea typeface="Noto San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72707" y="2859047"/>
            <a:ext cx="2972871" cy="2667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b="0" sz="1536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«Будем учить катать машинку»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9210" y="3223236"/>
            <a:ext cx="381614" cy="30724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073"/>
              </a:lnSpc>
              <a:spcBef>
                <a:spcPts val="0"/>
              </a:spcBef>
              <a:spcAft>
                <a:spcPts val="0"/>
              </a:spcAft>
            </a:pPr>
            <a:r>
              <a:rPr b="1" sz="1728" lang="ru-RU">
                <a:solidFill>
                  <a:srgbClr val="6FA33C"/>
                </a:solidFill>
                <a:latin typeface="Noto Sans"/>
                <a:cs typeface="Noto Sans"/>
                <a:ea typeface="Noto San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72707" y="3229332"/>
            <a:ext cx="4045148" cy="533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b="0" sz="1536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«Будем учить строить башню из 3 кубиков»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9210" y="3860220"/>
            <a:ext cx="381614" cy="30724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073"/>
              </a:lnSpc>
              <a:spcBef>
                <a:spcPts val="0"/>
              </a:spcBef>
              <a:spcAft>
                <a:spcPts val="0"/>
              </a:spcAft>
            </a:pPr>
            <a:r>
              <a:rPr b="1" sz="1728" lang="ru-RU">
                <a:solidFill>
                  <a:srgbClr val="6FA33C"/>
                </a:solidFill>
                <a:latin typeface="Noto Sans"/>
                <a:cs typeface="Noto Sans"/>
                <a:ea typeface="Noto San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72707" y="3866316"/>
            <a:ext cx="3580209" cy="2667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b="0" sz="1536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«Будем учить кормить куклу ложкой»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9210" y="4230504"/>
            <a:ext cx="381614" cy="30724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073"/>
              </a:lnSpc>
              <a:spcBef>
                <a:spcPts val="0"/>
              </a:spcBef>
              <a:spcAft>
                <a:spcPts val="0"/>
              </a:spcAft>
            </a:pPr>
            <a:r>
              <a:rPr b="1" sz="1728" lang="ru-RU">
                <a:solidFill>
                  <a:srgbClr val="6FA33C"/>
                </a:solidFill>
                <a:latin typeface="Noto Sans"/>
                <a:cs typeface="Noto Sans"/>
                <a:ea typeface="Noto San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72707" y="4236600"/>
            <a:ext cx="4045148" cy="533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b="0" sz="1536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«Будем учить бросать мяч другому человеку»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24" y="609600"/>
            <a:ext cx="414456" cy="54768"/>
          </a:xfrm>
          <a:prstGeom prst="rect">
            <a:avLst/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4624" y="2529150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4624" y="2879551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4624" y="3229952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24" y="3580353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48400" y="1803201"/>
            <a:ext cx="5138975" cy="3089195"/>
          </a:xfrm>
          <a:prstGeom prst="roundRect">
            <a:avLst>
              <a:gd name="adj" fmla="val 1973"/>
            </a:avLst>
          </a:prstGeom>
          <a:solidFill>
            <a:srgbClr val="F4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67832" y="3648908"/>
            <a:ext cx="1388745" cy="457200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E7E8F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966233" y="3648908"/>
            <a:ext cx="1621035" cy="457200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E7E8F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96926" y="3648908"/>
            <a:ext cx="823317" cy="457200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E7E8F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67832" y="4215765"/>
            <a:ext cx="1184790" cy="457200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E7E8F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87094" y="3573780"/>
            <a:ext cx="1403865" cy="35737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5840"/>
              </a:lnSpc>
              <a:spcBef>
                <a:spcPts val="0"/>
              </a:spcBef>
              <a:spcAft>
                <a:spcPts val="0"/>
              </a:spcAft>
            </a:pPr>
            <a:r>
              <a:rPr b="0" sz="21120" lang="ru-RU">
                <a:solidFill>
                  <a:srgbClr val="F4F5FB"/>
                </a:solidFill>
                <a:latin typeface="Playfair Display Black"/>
                <a:cs typeface="Playfair Display Black"/>
                <a:ea typeface="Playfair Display Black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1000" y="609600"/>
            <a:ext cx="2707481" cy="2057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b="1" sz="1200" lang="ru-RU" spc="192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КАК ОБУЧАТЬ ИГРЕ · ШАГ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24" y="934164"/>
            <a:ext cx="8376046" cy="6629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4132"/>
              </a:lnSpc>
              <a:spcBef>
                <a:spcPts val="0"/>
              </a:spcBef>
              <a:spcAft>
                <a:spcPts val="0"/>
              </a:spcAft>
            </a:pPr>
            <a:r>
              <a:rPr b="0" sz="3936" lang="ru-RU" spc="-39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Найти, что уже нравится ребёнку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24" y="1803201"/>
            <a:ext cx="5169455" cy="50018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ts val="2018"/>
              </a:lnSpc>
              <a:spcBef>
                <a:spcPts val="0"/>
              </a:spcBef>
              <a:spcAft>
                <a:spcPts val="0"/>
              </a:spcAft>
            </a:pPr>
            <a:r>
              <a:rPr b="0" sz="1392" lang="ru-RU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Нам не обязательно создавать интерес с нуля. Сначала смотрим: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2528" y="2469713"/>
            <a:ext cx="2417564" cy="2438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b="0" sz="1392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Что ребёнок выбирает сам?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2528" y="2820114"/>
            <a:ext cx="1338024" cy="2438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b="0" sz="1392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Что повторяет?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2528" y="3170515"/>
            <a:ext cx="1952744" cy="2438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b="0" sz="1392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К чему возвращается?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2528" y="3520916"/>
            <a:ext cx="3368754" cy="2438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b="0" sz="1392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Что поддерживает его вовлечённость?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7832" y="2022633"/>
            <a:ext cx="960596" cy="2438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018"/>
              </a:lnSpc>
              <a:spcBef>
                <a:spcPts val="0"/>
              </a:spcBef>
              <a:spcAft>
                <a:spcPts val="0"/>
              </a:spcAft>
            </a:pPr>
            <a:r>
              <a:rPr b="1" sz="1392" lang="ru-RU" spc="222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ПРИМЕР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7832" y="2425184"/>
            <a:ext cx="3562230" cy="2895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318"/>
              </a:lnSpc>
              <a:spcBef>
                <a:spcPts val="0"/>
              </a:spcBef>
              <a:spcAft>
                <a:spcPts val="0"/>
              </a:spcAft>
            </a:pPr>
            <a:r>
              <a:rPr b="0" sz="1680" lang="ru-RU">
                <a:solidFill>
                  <a:srgbClr val="3A3A46"/>
                </a:solidFill>
                <a:latin typeface="Noto Sans"/>
                <a:cs typeface="Noto Sans"/>
                <a:ea typeface="Noto Sans"/>
              </a:rPr>
              <a:t>Ребёнок любит 🫘 трогать фасоль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7832" y="2847427"/>
            <a:ext cx="440136" cy="358449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419"/>
              </a:lnSpc>
              <a:spcBef>
                <a:spcPts val="0"/>
              </a:spcBef>
              <a:spcAft>
                <a:spcPts val="0"/>
              </a:spcAft>
            </a:pPr>
            <a:r>
              <a:rPr b="1" sz="2016" lang="ru-RU">
                <a:solidFill>
                  <a:srgbClr val="C86A6A"/>
                </a:solidFill>
                <a:latin typeface="Noto Sans"/>
                <a:cs typeface="Noto Sans"/>
                <a:ea typeface="Noto Sans"/>
              </a:rPr>
              <a:t>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21328" y="2865715"/>
            <a:ext cx="3175515" cy="2667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b="0" sz="1536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«С фасолью мы играть не будем»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7832" y="3229903"/>
            <a:ext cx="381614" cy="30724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073"/>
              </a:lnSpc>
              <a:spcBef>
                <a:spcPts val="0"/>
              </a:spcBef>
              <a:spcAft>
                <a:spcPts val="0"/>
              </a:spcAft>
            </a:pPr>
            <a:r>
              <a:rPr b="1" sz="1728" lang="ru-RU">
                <a:solidFill>
                  <a:srgbClr val="6FA33C"/>
                </a:solidFill>
                <a:latin typeface="Noto Sans"/>
                <a:cs typeface="Noto Sans"/>
                <a:ea typeface="Noto Sans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21328" y="3235999"/>
            <a:ext cx="2765226" cy="2667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b="0" sz="1536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«Что именно ему нравится?»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90240" y="3755588"/>
            <a:ext cx="974407" cy="2438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09"/>
              </a:lnSpc>
              <a:spcBef>
                <a:spcPts val="0"/>
              </a:spcBef>
              <a:spcAft>
                <a:spcPts val="0"/>
              </a:spcAft>
            </a:pPr>
            <a:r>
              <a:rPr b="0" sz="1392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ощущение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8642" y="3755588"/>
            <a:ext cx="1206698" cy="2438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09"/>
              </a:lnSpc>
              <a:spcBef>
                <a:spcPts val="0"/>
              </a:spcBef>
              <a:spcAft>
                <a:spcPts val="0"/>
              </a:spcAft>
            </a:pPr>
            <a:r>
              <a:rPr b="0" sz="1392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пересыпание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19335" y="3755588"/>
            <a:ext cx="408979" cy="2438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09"/>
              </a:lnSpc>
              <a:spcBef>
                <a:spcPts val="0"/>
              </a:spcBef>
              <a:spcAft>
                <a:spcPts val="0"/>
              </a:spcAft>
            </a:pPr>
            <a:r>
              <a:rPr b="0" sz="1392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звук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90240" y="4322445"/>
            <a:ext cx="770453" cy="2438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09"/>
              </a:lnSpc>
              <a:spcBef>
                <a:spcPts val="0"/>
              </a:spcBef>
              <a:spcAft>
                <a:spcPts val="0"/>
              </a:spcAft>
            </a:pPr>
            <a:r>
              <a:rPr b="0" sz="1392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падение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24" y="609600"/>
            <a:ext cx="414456" cy="54768"/>
          </a:xfrm>
          <a:prstGeom prst="rect">
            <a:avLst/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375296" y="3558811"/>
            <a:ext cx="3241714" cy="121615"/>
          </a:xfrm>
          <a:prstGeom prst="rect">
            <a:avLst/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019210" y="2062043"/>
            <a:ext cx="2793682" cy="446484"/>
          </a:xfrm>
          <a:prstGeom prst="roundRect">
            <a:avLst>
              <a:gd name="adj" fmla="val 10922"/>
            </a:avLst>
          </a:prstGeom>
          <a:solidFill>
            <a:srgbClr val="F4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019210" y="2874287"/>
            <a:ext cx="3471981" cy="446484"/>
          </a:xfrm>
          <a:prstGeom prst="roundRect">
            <a:avLst>
              <a:gd name="adj" fmla="val 10922"/>
            </a:avLst>
          </a:prstGeom>
          <a:solidFill>
            <a:srgbClr val="F4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019210" y="3686532"/>
            <a:ext cx="2602230" cy="446484"/>
          </a:xfrm>
          <a:prstGeom prst="roundRect">
            <a:avLst>
              <a:gd name="adj" fmla="val 10922"/>
            </a:avLst>
          </a:prstGeom>
          <a:solidFill>
            <a:srgbClr val="F4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019210" y="4498776"/>
            <a:ext cx="4368165" cy="697944"/>
          </a:xfrm>
          <a:prstGeom prst="roundRect">
            <a:avLst>
              <a:gd name="adj" fmla="val 6987"/>
            </a:avLst>
          </a:prstGeom>
          <a:solidFill>
            <a:srgbClr val="B9C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85176" y="3573780"/>
            <a:ext cx="1505783" cy="35737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5840"/>
              </a:lnSpc>
              <a:spcBef>
                <a:spcPts val="0"/>
              </a:spcBef>
              <a:spcAft>
                <a:spcPts val="0"/>
              </a:spcAft>
            </a:pPr>
            <a:r>
              <a:rPr b="0" sz="21120" lang="ru-RU">
                <a:solidFill>
                  <a:srgbClr val="F4F5FB"/>
                </a:solidFill>
                <a:latin typeface="Playfair Display Black"/>
                <a:cs typeface="Playfair Display Black"/>
                <a:ea typeface="Playfair Display Black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1000" y="609600"/>
            <a:ext cx="2707481" cy="2057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b="1" sz="1200" lang="ru-RU" spc="192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КАК ОБУЧАТЬ ИГРЕ · ШАГ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24" y="1985843"/>
            <a:ext cx="2052875" cy="6629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4132"/>
              </a:lnSpc>
              <a:spcBef>
                <a:spcPts val="0"/>
              </a:spcBef>
              <a:spcAft>
                <a:spcPts val="0"/>
              </a:spcAft>
            </a:pPr>
            <a:r>
              <a:rPr b="0" sz="3936" lang="ru-RU" spc="-39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Следуем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24" y="2510551"/>
            <a:ext cx="3022996" cy="6629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4132"/>
              </a:lnSpc>
              <a:spcBef>
                <a:spcPts val="0"/>
              </a:spcBef>
              <a:spcAft>
                <a:spcPts val="0"/>
              </a:spcAft>
            </a:pPr>
            <a:r>
              <a:rPr b="0" sz="3936" lang="ru-RU" spc="-39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за ребёнком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24" y="3379589"/>
            <a:ext cx="4906565" cy="3200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583"/>
              </a:lnSpc>
              <a:spcBef>
                <a:spcPts val="0"/>
              </a:spcBef>
              <a:spcAft>
                <a:spcPts val="0"/>
              </a:spcAft>
            </a:pPr>
            <a:r>
              <a:rPr b="0" sz="1872" lang="ru-RU">
                <a:solidFill>
                  <a:srgbClr val="3A3A46"/>
                </a:solidFill>
                <a:latin typeface="Noto Sans"/>
                <a:cs typeface="Noto Sans"/>
                <a:ea typeface="Noto Sans"/>
              </a:rPr>
              <a:t>Следовать — не значит ничего не делать.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89827" y="2159555"/>
            <a:ext cx="2482929" cy="2514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b="0" sz="1440" lang="ru-RU">
                <a:solidFill>
                  <a:srgbClr val="15151B"/>
                </a:solidFill>
                <a:latin typeface="Noto Sans SemiBold"/>
                <a:cs typeface="Noto Sans SemiBold"/>
                <a:ea typeface="Noto Sans SemiBold"/>
              </a:rPr>
              <a:t>заметить интерес ребёнка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9171" y="2575619"/>
            <a:ext cx="342900" cy="23157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24"/>
              </a:lnSpc>
              <a:spcBef>
                <a:spcPts val="0"/>
              </a:spcBef>
              <a:spcAft>
                <a:spcPts val="0"/>
              </a:spcAft>
            </a:pPr>
            <a:r>
              <a:rPr b="1" sz="1824" lang="ru-RU">
                <a:solidFill>
                  <a:srgbClr val="B9C0EA"/>
                </a:solidFill>
                <a:latin typeface="Noto Sans"/>
                <a:cs typeface="Noto Sans"/>
                <a:ea typeface="Noto Sans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89827" y="2971800"/>
            <a:ext cx="3161228" cy="2514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b="0" sz="1440" lang="ru-RU">
                <a:solidFill>
                  <a:srgbClr val="15151B"/>
                </a:solidFill>
                <a:latin typeface="Noto Sans SemiBold"/>
                <a:cs typeface="Noto Sans SemiBold"/>
                <a:ea typeface="Noto Sans SemiBold"/>
              </a:rPr>
              <a:t>присоединиться к его активности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9171" y="3387863"/>
            <a:ext cx="342900" cy="23157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24"/>
              </a:lnSpc>
              <a:spcBef>
                <a:spcPts val="0"/>
              </a:spcBef>
              <a:spcAft>
                <a:spcPts val="0"/>
              </a:spcAft>
            </a:pPr>
            <a:r>
              <a:rPr b="1" sz="1824" lang="ru-RU">
                <a:solidFill>
                  <a:srgbClr val="B9C0EA"/>
                </a:solidFill>
                <a:latin typeface="Noto Sans"/>
                <a:cs typeface="Noto Sans"/>
                <a:ea typeface="Noto Sans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89827" y="3784044"/>
            <a:ext cx="2291476" cy="2514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b="0" sz="1440" lang="ru-RU">
                <a:solidFill>
                  <a:srgbClr val="15151B"/>
                </a:solidFill>
                <a:latin typeface="Noto Sans SemiBold"/>
                <a:cs typeface="Noto Sans SemiBold"/>
                <a:ea typeface="Noto Sans SemiBold"/>
              </a:rPr>
              <a:t>не забирать управление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9171" y="4200108"/>
            <a:ext cx="342900" cy="23157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24"/>
              </a:lnSpc>
              <a:spcBef>
                <a:spcPts val="0"/>
              </a:spcBef>
              <a:spcAft>
                <a:spcPts val="0"/>
              </a:spcAft>
            </a:pPr>
            <a:r>
              <a:rPr b="1" sz="1824" lang="ru-RU">
                <a:solidFill>
                  <a:srgbClr val="B9C0EA"/>
                </a:solidFill>
                <a:latin typeface="Noto Sans"/>
                <a:cs typeface="Noto Sans"/>
                <a:ea typeface="Noto Sans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89827" y="4596288"/>
            <a:ext cx="4057338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b="0" sz="1440" lang="ru-RU">
                <a:solidFill>
                  <a:srgbClr val="15151B"/>
                </a:solidFill>
                <a:latin typeface="Noto Sans SemiBold"/>
                <a:cs typeface="Noto Sans SemiBold"/>
                <a:ea typeface="Noto Sans SemiBold"/>
              </a:rPr>
              <a:t>использовать интерес, чтобы добавить новый навык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26280"/>
            <a:ext cx="12192000" cy="2331720"/>
          </a:xfrm>
          <a:prstGeom prst="rect">
            <a:avLst/>
          </a:prstGeom>
          <a:solidFill>
            <a:srgbClr val="F4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4624" y="609600"/>
            <a:ext cx="414456" cy="54768"/>
          </a:xfrm>
          <a:prstGeom prst="rect">
            <a:avLst/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4624" y="2483881"/>
            <a:ext cx="5138975" cy="2311003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240">
            <a:solidFill>
              <a:srgbClr val="E7E8F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48400" y="2483881"/>
            <a:ext cx="5138975" cy="2311003"/>
          </a:xfrm>
          <a:prstGeom prst="roundRect">
            <a:avLst>
              <a:gd name="adj" fmla="val 2637"/>
            </a:avLst>
          </a:prstGeom>
          <a:solidFill>
            <a:srgbClr val="F4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84175" y="5150796"/>
            <a:ext cx="1901785" cy="121615"/>
          </a:xfrm>
          <a:prstGeom prst="rect">
            <a:avLst/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41000" y="609600"/>
            <a:ext cx="832604" cy="2057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b="1" sz="1200" lang="ru-RU" spc="192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ПРИМЕР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24" y="934164"/>
            <a:ext cx="6006465" cy="6629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4132"/>
              </a:lnSpc>
              <a:spcBef>
                <a:spcPts val="0"/>
              </a:spcBef>
              <a:spcAft>
                <a:spcPts val="0"/>
              </a:spcAft>
            </a:pPr>
            <a:r>
              <a:rPr b="0" sz="3936" lang="ru-RU" spc="-39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Ребёнок трогает фасоль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7993" y="2767250"/>
            <a:ext cx="1744384" cy="2362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976"/>
              </a:lnSpc>
              <a:spcBef>
                <a:spcPts val="0"/>
              </a:spcBef>
              <a:spcAft>
                <a:spcPts val="0"/>
              </a:spcAft>
            </a:pPr>
            <a:r>
              <a:rPr b="1" sz="1363" lang="ru-RU" spc="218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МЫ НЕ ДЕЛАЕМ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7993" y="3146154"/>
            <a:ext cx="440136" cy="358449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419"/>
              </a:lnSpc>
              <a:spcBef>
                <a:spcPts val="0"/>
              </a:spcBef>
              <a:spcAft>
                <a:spcPts val="0"/>
              </a:spcAft>
            </a:pPr>
            <a:r>
              <a:rPr b="1" sz="2016" lang="ru-RU">
                <a:solidFill>
                  <a:srgbClr val="C86A6A"/>
                </a:solidFill>
                <a:latin typeface="Noto Sans"/>
                <a:cs typeface="Noto Sans"/>
                <a:ea typeface="Noto Sans"/>
              </a:rPr>
              <a:t>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1489" y="3164443"/>
            <a:ext cx="1863209" cy="2667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b="0" sz="1536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не убираем фасоль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7993" y="3516439"/>
            <a:ext cx="440136" cy="358449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419"/>
              </a:lnSpc>
              <a:spcBef>
                <a:spcPts val="0"/>
              </a:spcBef>
              <a:spcAft>
                <a:spcPts val="0"/>
              </a:spcAft>
            </a:pPr>
            <a:r>
              <a:rPr b="1" sz="2016" lang="ru-RU">
                <a:solidFill>
                  <a:srgbClr val="C86A6A"/>
                </a:solidFill>
                <a:latin typeface="Noto Sans"/>
                <a:cs typeface="Noto Sans"/>
                <a:ea typeface="Noto Sans"/>
              </a:rPr>
              <a:t>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1489" y="3534727"/>
            <a:ext cx="2360533" cy="2667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b="0" sz="1536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не даём другую игрушку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7993" y="3886723"/>
            <a:ext cx="440136" cy="358449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419"/>
              </a:lnSpc>
              <a:spcBef>
                <a:spcPts val="0"/>
              </a:spcBef>
              <a:spcAft>
                <a:spcPts val="0"/>
              </a:spcAft>
            </a:pPr>
            <a:r>
              <a:rPr b="1" sz="2016" lang="ru-RU">
                <a:solidFill>
                  <a:srgbClr val="C86A6A"/>
                </a:solidFill>
                <a:latin typeface="Noto Sans"/>
                <a:cs typeface="Noto Sans"/>
                <a:ea typeface="Noto Sans"/>
              </a:rPr>
              <a:t>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1489" y="3905011"/>
            <a:ext cx="2660808" cy="2667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b="0" sz="1536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не говорим «делай вот так»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6528" y="2752010"/>
            <a:ext cx="2597943" cy="2362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976"/>
              </a:lnSpc>
              <a:spcBef>
                <a:spcPts val="0"/>
              </a:spcBef>
              <a:spcAft>
                <a:spcPts val="0"/>
              </a:spcAft>
            </a:pPr>
            <a:r>
              <a:rPr b="1" sz="1363" lang="ru-RU" spc="218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МЫ ПРИСОЕДИНЯЕМСЯ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6528" y="3143107"/>
            <a:ext cx="381614" cy="30724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073"/>
              </a:lnSpc>
              <a:spcBef>
                <a:spcPts val="0"/>
              </a:spcBef>
              <a:spcAft>
                <a:spcPts val="0"/>
              </a:spcAft>
            </a:pPr>
            <a:r>
              <a:rPr b="1" sz="1728" lang="ru-RU">
                <a:solidFill>
                  <a:srgbClr val="6FA33C"/>
                </a:solidFill>
                <a:latin typeface="Noto Sans"/>
                <a:cs typeface="Noto Sans"/>
                <a:ea typeface="Noto San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70025" y="3149203"/>
            <a:ext cx="1494948" cy="2667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b="0" sz="1536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садимся рядом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6528" y="3513391"/>
            <a:ext cx="381614" cy="30724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073"/>
              </a:lnSpc>
              <a:spcBef>
                <a:spcPts val="0"/>
              </a:spcBef>
              <a:spcAft>
                <a:spcPts val="0"/>
              </a:spcAft>
            </a:pPr>
            <a:r>
              <a:rPr b="1" sz="1728" lang="ru-RU">
                <a:solidFill>
                  <a:srgbClr val="6FA33C"/>
                </a:solidFill>
                <a:latin typeface="Noto Sans"/>
                <a:cs typeface="Noto Sans"/>
                <a:ea typeface="Noto San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70025" y="3519487"/>
            <a:ext cx="1363980" cy="2667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b="0" sz="1536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берём фасоль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6528" y="3883675"/>
            <a:ext cx="381614" cy="30724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073"/>
              </a:lnSpc>
              <a:spcBef>
                <a:spcPts val="0"/>
              </a:spcBef>
              <a:spcAft>
                <a:spcPts val="0"/>
              </a:spcAft>
            </a:pPr>
            <a:r>
              <a:rPr b="1" sz="1728" lang="ru-RU">
                <a:solidFill>
                  <a:srgbClr val="6FA33C"/>
                </a:solidFill>
                <a:latin typeface="Noto Sans"/>
                <a:cs typeface="Noto Sans"/>
                <a:ea typeface="Noto Sans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0025" y="3889771"/>
            <a:ext cx="1922502" cy="2667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b="0" sz="1536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делаем то же самое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6528" y="4253960"/>
            <a:ext cx="381614" cy="30724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073"/>
              </a:lnSpc>
              <a:spcBef>
                <a:spcPts val="0"/>
              </a:spcBef>
              <a:spcAft>
                <a:spcPts val="0"/>
              </a:spcAft>
            </a:pPr>
            <a:r>
              <a:rPr b="1" sz="1728" lang="ru-RU">
                <a:solidFill>
                  <a:srgbClr val="6FA33C"/>
                </a:solidFill>
                <a:latin typeface="Noto Sans"/>
                <a:cs typeface="Noto Sans"/>
                <a:ea typeface="Noto Sans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70025" y="4260056"/>
            <a:ext cx="3122652" cy="2667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b="0" sz="1536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создаём совместную активность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24" y="4971573"/>
            <a:ext cx="5075515" cy="3200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583"/>
              </a:lnSpc>
              <a:spcBef>
                <a:spcPts val="0"/>
              </a:spcBef>
              <a:spcAft>
                <a:spcPts val="0"/>
              </a:spcAft>
            </a:pPr>
            <a:r>
              <a:rPr b="0" sz="1872" lang="ru-RU">
                <a:solidFill>
                  <a:srgbClr val="3A3A46"/>
                </a:solidFill>
                <a:latin typeface="Noto Sans"/>
                <a:cs typeface="Noto Sans"/>
                <a:ea typeface="Noto Sans"/>
              </a:rPr>
              <a:t>И только потом начинаем расширять игру.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24" y="609600"/>
            <a:ext cx="414456" cy="54768"/>
          </a:xfrm>
          <a:prstGeom prst="rect">
            <a:avLst/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4624" y="3605245"/>
            <a:ext cx="3713678" cy="121615"/>
          </a:xfrm>
          <a:prstGeom prst="rect">
            <a:avLst/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48768" y="3573780"/>
            <a:ext cx="1342191" cy="35737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5840"/>
              </a:lnSpc>
              <a:spcBef>
                <a:spcPts val="0"/>
              </a:spcBef>
              <a:spcAft>
                <a:spcPts val="0"/>
              </a:spcAft>
            </a:pPr>
            <a:r>
              <a:rPr b="0" sz="21120" lang="ru-RU">
                <a:solidFill>
                  <a:srgbClr val="F4F5FB"/>
                </a:solidFill>
                <a:latin typeface="Playfair Display Black"/>
                <a:cs typeface="Playfair Display Black"/>
                <a:ea typeface="Playfair Display Black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1000" y="609600"/>
            <a:ext cx="2707481" cy="2057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b="1" sz="1200" lang="ru-RU" spc="192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КАК ОБУЧАТЬ ИГРЕ · ШАГ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24" y="934164"/>
            <a:ext cx="5479613" cy="6629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4132"/>
              </a:lnSpc>
              <a:spcBef>
                <a:spcPts val="0"/>
              </a:spcBef>
              <a:spcAft>
                <a:spcPts val="0"/>
              </a:spcAft>
            </a:pPr>
            <a:r>
              <a:rPr b="0" sz="3936" lang="ru-RU" spc="-39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Добавляем одно новое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24" y="1458872"/>
            <a:ext cx="6698694" cy="6629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4132"/>
              </a:lnSpc>
              <a:spcBef>
                <a:spcPts val="0"/>
              </a:spcBef>
              <a:spcAft>
                <a:spcPts val="0"/>
              </a:spcAft>
            </a:pPr>
            <a:r>
              <a:rPr b="0" sz="3936" lang="ru-RU" spc="-39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функциональное действие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24" y="2327910"/>
            <a:ext cx="472678" cy="2362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976"/>
              </a:lnSpc>
              <a:spcBef>
                <a:spcPts val="0"/>
              </a:spcBef>
              <a:spcAft>
                <a:spcPts val="0"/>
              </a:spcAft>
            </a:pPr>
            <a:r>
              <a:rPr b="0" sz="1363" lang="ru-RU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Было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24" y="2578893"/>
            <a:ext cx="3177778" cy="3200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583"/>
              </a:lnSpc>
              <a:spcBef>
                <a:spcPts val="0"/>
              </a:spcBef>
              <a:spcAft>
                <a:spcPts val="0"/>
              </a:spcAft>
            </a:pPr>
            <a:r>
              <a:rPr b="0" sz="1872" lang="ru-RU">
                <a:solidFill>
                  <a:srgbClr val="3A3A46"/>
                </a:solidFill>
                <a:latin typeface="Noto Sans"/>
                <a:cs typeface="Noto Sans"/>
                <a:ea typeface="Noto Sans"/>
              </a:rPr>
              <a:t>🫘 ребёнок трогает фасоль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24" y="3175039"/>
            <a:ext cx="1167050" cy="2362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976"/>
              </a:lnSpc>
              <a:spcBef>
                <a:spcPts val="0"/>
              </a:spcBef>
              <a:spcAft>
                <a:spcPts val="0"/>
              </a:spcAft>
            </a:pPr>
            <a:r>
              <a:rPr b="0" sz="1363" lang="ru-RU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Новый навык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24" y="3426023"/>
            <a:ext cx="3744158" cy="3200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583"/>
              </a:lnSpc>
              <a:spcBef>
                <a:spcPts val="0"/>
              </a:spcBef>
              <a:spcAft>
                <a:spcPts val="0"/>
              </a:spcAft>
            </a:pPr>
            <a:r>
              <a:rPr b="0" sz="1872" lang="ru-RU">
                <a:solidFill>
                  <a:srgbClr val="3A3A46"/>
                </a:solidFill>
                <a:latin typeface="Noto Sans"/>
                <a:cs typeface="Noto Sans"/>
                <a:ea typeface="Noto Sans"/>
              </a:rPr>
              <a:t>🥛 высыпать фасоль из стакана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8400" y="2327910"/>
            <a:ext cx="1850350" cy="2362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976"/>
              </a:lnSpc>
              <a:spcBef>
                <a:spcPts val="0"/>
              </a:spcBef>
              <a:spcAft>
                <a:spcPts val="0"/>
              </a:spcAft>
            </a:pPr>
            <a:r>
              <a:rPr b="0" sz="1363" lang="ru-RU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Мы не требуем сразу: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8400" y="2682525"/>
            <a:ext cx="440136" cy="358449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419"/>
              </a:lnSpc>
              <a:spcBef>
                <a:spcPts val="0"/>
              </a:spcBef>
              <a:spcAft>
                <a:spcPts val="0"/>
              </a:spcAft>
            </a:pPr>
            <a:r>
              <a:rPr b="1" sz="2016" lang="ru-RU">
                <a:solidFill>
                  <a:srgbClr val="C86A6A"/>
                </a:solidFill>
                <a:latin typeface="Noto Sans"/>
                <a:cs typeface="Noto Sans"/>
                <a:ea typeface="Noto Sans"/>
              </a:rPr>
              <a:t>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896" y="2700813"/>
            <a:ext cx="2880836" cy="2667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b="0" sz="1536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насыпать фасоль в 5 стаканов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8400" y="3052809"/>
            <a:ext cx="440136" cy="358449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419"/>
              </a:lnSpc>
              <a:spcBef>
                <a:spcPts val="0"/>
              </a:spcBef>
              <a:spcAft>
                <a:spcPts val="0"/>
              </a:spcAft>
            </a:pPr>
            <a:r>
              <a:rPr b="1" sz="2016" lang="ru-RU">
                <a:solidFill>
                  <a:srgbClr val="C86A6A"/>
                </a:solidFill>
                <a:latin typeface="Noto Sans"/>
                <a:cs typeface="Noto Sans"/>
                <a:ea typeface="Noto Sans"/>
              </a:rPr>
              <a:t>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896" y="3071098"/>
            <a:ext cx="1950600" cy="2667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b="0" sz="1536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сортировать фасоль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8400" y="3423094"/>
            <a:ext cx="440136" cy="358449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419"/>
              </a:lnSpc>
              <a:spcBef>
                <a:spcPts val="0"/>
              </a:spcBef>
              <a:spcAft>
                <a:spcPts val="0"/>
              </a:spcAft>
            </a:pPr>
            <a:r>
              <a:rPr b="1" sz="2016" lang="ru-RU">
                <a:solidFill>
                  <a:srgbClr val="C86A6A"/>
                </a:solidFill>
                <a:latin typeface="Noto Sans"/>
                <a:cs typeface="Noto Sans"/>
                <a:ea typeface="Noto Sans"/>
              </a:rPr>
              <a:t>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1896" y="3441382"/>
            <a:ext cx="4593550" cy="2667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b="0" sz="1536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кормить кукол фасолью по сложному сценарию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8400" y="3983831"/>
            <a:ext cx="3552229" cy="2743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b="0" sz="1555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Сначала — </a:t>
            </a:r>
            <a:r>
              <a:rPr b="1" sz="1555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одно простое действие</a:t>
            </a:r>
            <a:r>
              <a:rPr b="0" sz="1555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24" y="609600"/>
            <a:ext cx="414456" cy="54768"/>
          </a:xfrm>
          <a:prstGeom prst="rect">
            <a:avLst/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4624" y="2778872"/>
            <a:ext cx="195024" cy="19407"/>
          </a:xfrm>
          <a:prstGeom prst="rect">
            <a:avLst/>
          </a:prstGeom>
          <a:solidFill>
            <a:srgbClr val="B9C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4624" y="3505392"/>
            <a:ext cx="195024" cy="19407"/>
          </a:xfrm>
          <a:prstGeom prst="rect">
            <a:avLst/>
          </a:prstGeom>
          <a:solidFill>
            <a:srgbClr val="B9C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2778872"/>
            <a:ext cx="195024" cy="19407"/>
          </a:xfrm>
          <a:prstGeom prst="rect">
            <a:avLst/>
          </a:prstGeom>
          <a:solidFill>
            <a:srgbClr val="B9C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0" y="3505392"/>
            <a:ext cx="195024" cy="19407"/>
          </a:xfrm>
          <a:prstGeom prst="rect">
            <a:avLst/>
          </a:prstGeom>
          <a:solidFill>
            <a:srgbClr val="B9C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24" y="4280535"/>
            <a:ext cx="10582751" cy="864274"/>
          </a:xfrm>
          <a:prstGeom prst="roundRect">
            <a:avLst>
              <a:gd name="adj" fmla="val 7053"/>
            </a:avLst>
          </a:prstGeom>
          <a:solidFill>
            <a:srgbClr val="F4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52073" y="4727886"/>
            <a:ext cx="3245762" cy="121615"/>
          </a:xfrm>
          <a:prstGeom prst="rect">
            <a:avLst/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162" y="3573780"/>
            <a:ext cx="1615797" cy="357378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5840"/>
              </a:lnSpc>
              <a:spcBef>
                <a:spcPts val="0"/>
              </a:spcBef>
              <a:spcAft>
                <a:spcPts val="0"/>
              </a:spcAft>
            </a:pPr>
            <a:r>
              <a:rPr b="0" sz="21120" lang="ru-RU">
                <a:solidFill>
                  <a:srgbClr val="F4F5FB"/>
                </a:solidFill>
                <a:latin typeface="Playfair Display Black"/>
                <a:cs typeface="Playfair Display Black"/>
                <a:ea typeface="Playfair Display Black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1000" y="609600"/>
            <a:ext cx="2707481" cy="2057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b="1" sz="1200" lang="ru-RU" spc="192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КАК ОБУЧАТЬ ИГРЕ · ШАГ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24" y="934164"/>
            <a:ext cx="5328165" cy="6629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4132"/>
              </a:lnSpc>
              <a:spcBef>
                <a:spcPts val="0"/>
              </a:spcBef>
              <a:spcAft>
                <a:spcPts val="0"/>
              </a:spcAft>
            </a:pPr>
            <a:r>
              <a:rPr b="0" sz="3936" lang="ru-RU" spc="-39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Формируем действие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1568" y="2646283"/>
            <a:ext cx="4882991" cy="57054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b="1" sz="1555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1.</a:t>
            </a:r>
            <a:r>
              <a:rPr b="0" sz="1555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 Даём доступ к тому, что интересно — 🫘 фасоль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1568" y="3372802"/>
            <a:ext cx="4995560" cy="57054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b="1" sz="1555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2.</a:t>
            </a:r>
            <a:r>
              <a:rPr b="0" sz="1555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 Добавляем понятное действие — 🥛 стакан → высыпать фасоль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4864" y="2646283"/>
            <a:ext cx="4882991" cy="57054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b="1" sz="1555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3.</a:t>
            </a:r>
            <a:r>
              <a:rPr b="0" sz="1555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 При необходимости помогаем выполнить действие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4864" y="3372802"/>
            <a:ext cx="4793099" cy="2743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b="1" sz="1555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4.</a:t>
            </a:r>
            <a:r>
              <a:rPr b="0" sz="1555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 Сразу возвращаем доступ к тому, что нравится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753" y="4548663"/>
            <a:ext cx="7982069" cy="3200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583"/>
              </a:lnSpc>
              <a:spcBef>
                <a:spcPts val="0"/>
              </a:spcBef>
              <a:spcAft>
                <a:spcPts val="0"/>
              </a:spcAft>
            </a:pPr>
            <a:r>
              <a:rPr b="0" sz="1872" lang="ru-RU">
                <a:solidFill>
                  <a:srgbClr val="3A3A46"/>
                </a:solidFill>
                <a:latin typeface="Noto Sans"/>
                <a:cs typeface="Noto Sans"/>
                <a:ea typeface="Noto Sans"/>
              </a:rPr>
              <a:t>новое действие → естественное продолжение любимой активности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24" y="609600"/>
            <a:ext cx="414456" cy="54768"/>
          </a:xfrm>
          <a:prstGeom prst="rect">
            <a:avLst/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019210" y="2593895"/>
            <a:ext cx="1109424" cy="446484"/>
          </a:xfrm>
          <a:prstGeom prst="roundRect">
            <a:avLst>
              <a:gd name="adj" fmla="val 10922"/>
            </a:avLst>
          </a:prstGeom>
          <a:solidFill>
            <a:srgbClr val="F4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019210" y="3406140"/>
            <a:ext cx="1215628" cy="446484"/>
          </a:xfrm>
          <a:prstGeom prst="roundRect">
            <a:avLst>
              <a:gd name="adj" fmla="val 10922"/>
            </a:avLst>
          </a:prstGeom>
          <a:solidFill>
            <a:srgbClr val="F4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019210" y="4218384"/>
            <a:ext cx="3242310" cy="446484"/>
          </a:xfrm>
          <a:prstGeom prst="roundRect">
            <a:avLst>
              <a:gd name="adj" fmla="val 10922"/>
            </a:avLst>
          </a:prstGeom>
          <a:solidFill>
            <a:srgbClr val="B9C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41000" y="609600"/>
            <a:ext cx="2932985" cy="2057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b="1" sz="1200" lang="ru-RU" spc="192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КАК ОБУЧАТЬ ИГРЕ · ДАЛЬШЕ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24" y="2517695"/>
            <a:ext cx="3229927" cy="6629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4132"/>
              </a:lnSpc>
              <a:spcBef>
                <a:spcPts val="0"/>
              </a:spcBef>
              <a:spcAft>
                <a:spcPts val="0"/>
              </a:spcAft>
            </a:pPr>
            <a:r>
              <a:rPr b="0" sz="3936" lang="ru-RU" spc="-39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Что дальше?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24" y="3394352"/>
            <a:ext cx="5940266" cy="57054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b="0" sz="1555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Ребёнок научился: </a:t>
            </a:r>
            <a:r>
              <a:rPr b="1" sz="1555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🥛 высыпать фасоль из одного стакана.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24" y="4125396"/>
            <a:ext cx="5940266" cy="487203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ts val="1976"/>
              </a:lnSpc>
              <a:spcBef>
                <a:spcPts val="0"/>
              </a:spcBef>
              <a:spcAft>
                <a:spcPts val="0"/>
              </a:spcAft>
            </a:pPr>
            <a:r>
              <a:rPr b="0" sz="1363" lang="ru-RU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Теперь можно постепенно менять задачу — шаг за шагом, до конечной цели.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89827" y="2691407"/>
            <a:ext cx="798671" cy="2514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b="0" sz="1440" lang="ru-RU">
                <a:solidFill>
                  <a:srgbClr val="15151B"/>
                </a:solidFill>
                <a:latin typeface="Noto Sans SemiBold"/>
                <a:cs typeface="Noto Sans SemiBold"/>
                <a:ea typeface="Noto Sans SemiBold"/>
              </a:rPr>
              <a:t>1 стакан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9171" y="3107471"/>
            <a:ext cx="342900" cy="23157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24"/>
              </a:lnSpc>
              <a:spcBef>
                <a:spcPts val="0"/>
              </a:spcBef>
              <a:spcAft>
                <a:spcPts val="0"/>
              </a:spcAft>
            </a:pPr>
            <a:r>
              <a:rPr b="1" sz="1824" lang="ru-RU">
                <a:solidFill>
                  <a:srgbClr val="B9C0EA"/>
                </a:solidFill>
                <a:latin typeface="Noto Sans"/>
                <a:cs typeface="Noto Sans"/>
                <a:ea typeface="Noto Sans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89827" y="3503652"/>
            <a:ext cx="904875" cy="2514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b="0" sz="1440" lang="ru-RU">
                <a:solidFill>
                  <a:srgbClr val="15151B"/>
                </a:solidFill>
                <a:latin typeface="Noto Sans SemiBold"/>
                <a:cs typeface="Noto Sans SemiBold"/>
                <a:ea typeface="Noto Sans SemiBold"/>
              </a:rPr>
              <a:t>2 стакана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9171" y="3919716"/>
            <a:ext cx="342900" cy="23157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24"/>
              </a:lnSpc>
              <a:spcBef>
                <a:spcPts val="0"/>
              </a:spcBef>
              <a:spcAft>
                <a:spcPts val="0"/>
              </a:spcAft>
            </a:pPr>
            <a:r>
              <a:rPr b="1" sz="1824" lang="ru-RU">
                <a:solidFill>
                  <a:srgbClr val="B9C0EA"/>
                </a:solidFill>
                <a:latin typeface="Noto Sans"/>
                <a:cs typeface="Noto Sans"/>
                <a:ea typeface="Noto Sans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89827" y="4315896"/>
            <a:ext cx="2931556" cy="2514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b="0" sz="1440" lang="ru-RU">
                <a:solidFill>
                  <a:srgbClr val="15151B"/>
                </a:solidFill>
                <a:latin typeface="Noto Sans SemiBold"/>
                <a:cs typeface="Noto Sans SemiBold"/>
                <a:ea typeface="Noto Sans SemiBold"/>
              </a:rPr>
              <a:t>…и дальше по программе цели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632960" cy="6858000"/>
          </a:xfrm>
          <a:prstGeom prst="rect">
            <a:avLst/>
          </a:prstGeom>
          <a:solidFill>
            <a:srgbClr val="B9C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18846" y="2442924"/>
            <a:ext cx="414456" cy="54768"/>
          </a:xfrm>
          <a:prstGeom prst="rect">
            <a:avLst/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24742" y="2442924"/>
            <a:ext cx="1062632" cy="2057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b="1" sz="1200" lang="ru-RU" spc="192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РАЗДЕЛ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5729" y="2898457"/>
            <a:ext cx="1741646" cy="9601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>
              <a:lnSpc>
                <a:spcPts val="5664"/>
              </a:lnSpc>
              <a:spcBef>
                <a:spcPts val="0"/>
              </a:spcBef>
              <a:spcAft>
                <a:spcPts val="0"/>
              </a:spcAft>
            </a:pPr>
            <a:r>
              <a:rPr b="0" sz="5664" lang="ru-RU" spc="-56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Кейс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9628" y="4087058"/>
            <a:ext cx="4837747" cy="3200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>
              <a:lnSpc>
                <a:spcPts val="2583"/>
              </a:lnSpc>
              <a:spcBef>
                <a:spcPts val="0"/>
              </a:spcBef>
              <a:spcAft>
                <a:spcPts val="0"/>
              </a:spcAft>
            </a:pPr>
            <a:r>
              <a:rPr b="0" sz="1872" lang="ru-RU">
                <a:solidFill>
                  <a:srgbClr val="3A3A46"/>
                </a:solidFill>
                <a:latin typeface="Noto Sans"/>
                <a:cs typeface="Noto Sans"/>
                <a:ea typeface="Noto Sans"/>
              </a:rPr>
              <a:t>Диана, 5 лет · занимается в центре 3 года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24" y="609600"/>
            <a:ext cx="414456" cy="54768"/>
          </a:xfrm>
          <a:prstGeom prst="rect">
            <a:avLst/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4624" y="1010364"/>
            <a:ext cx="68580" cy="1574125"/>
          </a:xfrm>
          <a:prstGeom prst="rect">
            <a:avLst/>
          </a:prstGeom>
          <a:solidFill>
            <a:srgbClr val="B9C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4624" y="2992827"/>
            <a:ext cx="195024" cy="19407"/>
          </a:xfrm>
          <a:prstGeom prst="rect">
            <a:avLst/>
          </a:prstGeom>
          <a:solidFill>
            <a:srgbClr val="B9C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4624" y="3349420"/>
            <a:ext cx="195024" cy="19407"/>
          </a:xfrm>
          <a:prstGeom prst="rect">
            <a:avLst/>
          </a:prstGeom>
          <a:solidFill>
            <a:srgbClr val="B9C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24" y="3971164"/>
            <a:ext cx="195024" cy="19407"/>
          </a:xfrm>
          <a:prstGeom prst="rect">
            <a:avLst/>
          </a:prstGeom>
          <a:solidFill>
            <a:srgbClr val="B9C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24" y="4592908"/>
            <a:ext cx="195024" cy="19407"/>
          </a:xfrm>
          <a:prstGeom prst="rect">
            <a:avLst/>
          </a:prstGeom>
          <a:solidFill>
            <a:srgbClr val="B9C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7816" y="2992827"/>
            <a:ext cx="195024" cy="19407"/>
          </a:xfrm>
          <a:prstGeom prst="rect">
            <a:avLst/>
          </a:prstGeom>
          <a:solidFill>
            <a:srgbClr val="B9C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7816" y="3349420"/>
            <a:ext cx="195024" cy="19407"/>
          </a:xfrm>
          <a:prstGeom prst="rect">
            <a:avLst/>
          </a:prstGeom>
          <a:solidFill>
            <a:srgbClr val="B9C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7816" y="3706012"/>
            <a:ext cx="195024" cy="19407"/>
          </a:xfrm>
          <a:prstGeom prst="rect">
            <a:avLst/>
          </a:prstGeom>
          <a:solidFill>
            <a:srgbClr val="B9C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7816" y="4327756"/>
            <a:ext cx="195024" cy="19407"/>
          </a:xfrm>
          <a:prstGeom prst="rect">
            <a:avLst/>
          </a:prstGeom>
          <a:solidFill>
            <a:srgbClr val="B9C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71008" y="2992827"/>
            <a:ext cx="195024" cy="19407"/>
          </a:xfrm>
          <a:prstGeom prst="rect">
            <a:avLst/>
          </a:prstGeom>
          <a:solidFill>
            <a:srgbClr val="B9C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71008" y="3349420"/>
            <a:ext cx="195024" cy="19407"/>
          </a:xfrm>
          <a:prstGeom prst="rect">
            <a:avLst/>
          </a:prstGeom>
          <a:solidFill>
            <a:srgbClr val="B9C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24" y="5512355"/>
            <a:ext cx="10582751" cy="736044"/>
          </a:xfrm>
          <a:prstGeom prst="roundRect">
            <a:avLst>
              <a:gd name="adj" fmla="val 9938"/>
            </a:avLst>
          </a:prstGeom>
          <a:solidFill>
            <a:srgbClr val="FAFAFC"/>
          </a:solidFill>
          <a:ln w="15240">
            <a:solidFill>
              <a:srgbClr val="B9C0EA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41000" y="609600"/>
            <a:ext cx="1422201" cy="2057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b="1" sz="1200" lang="ru-RU" spc="192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КЕЙС · ДИАНА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7044" y="934164"/>
            <a:ext cx="8819197" cy="17123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ts val="4132"/>
              </a:lnSpc>
              <a:spcBef>
                <a:spcPts val="0"/>
              </a:spcBef>
              <a:spcAft>
                <a:spcPts val="0"/>
              </a:spcAft>
            </a:pPr>
            <a:r>
              <a:rPr b="0" sz="3936" lang="ru-RU" spc="-39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Цель 1. Играть в 10 игр</a:t>
            </a:r>
          </a:p>
          <a:p>
            <a:pPr algn="l">
              <a:lnSpc>
                <a:spcPts val="4132"/>
              </a:lnSpc>
              <a:spcBef>
                <a:spcPts val="0"/>
              </a:spcBef>
              <a:spcAft>
                <a:spcPts val="0"/>
              </a:spcAft>
            </a:pPr>
            <a:r>
              <a:rPr b="0" sz="3936" lang="ru-RU" spc="-39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с одним функциональным действием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1568" y="2860238"/>
            <a:ext cx="2767965" cy="2438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b="0" sz="1392" lang="ru-RU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Кубики — ставить друг на друга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1568" y="3216830"/>
            <a:ext cx="3029783" cy="5089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b="0" sz="1392" lang="ru-RU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Кольца — нанизывать на стержень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1568" y="3838575"/>
            <a:ext cx="3029783" cy="5089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b="0" sz="1392" lang="ru-RU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Стаканчики-вкладыши — складывать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1568" y="4460319"/>
            <a:ext cx="3049207" cy="5089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b="0" sz="1392" lang="ru-RU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Палочки — вставлять колышки в отверстия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760" y="2860238"/>
            <a:ext cx="2893933" cy="2438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b="0" sz="1392" lang="ru-RU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Крышечки — кидать в контейнер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760" y="3216830"/>
            <a:ext cx="2893218" cy="2438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b="0" sz="1392" lang="ru-RU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Шарики — закидывать в коробку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760" y="3573422"/>
            <a:ext cx="3029783" cy="5089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b="0" sz="1392" lang="ru-RU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Мячик — перекатывать себе или взрослому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760" y="4195167"/>
            <a:ext cx="3029783" cy="5089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b="0" sz="1392" lang="ru-RU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Ленточки — вытаскивать из бутылки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7953" y="2860238"/>
            <a:ext cx="2433637" cy="2438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b="0" sz="1392" lang="ru-RU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Камушки — опускать в воду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7953" y="3216830"/>
            <a:ext cx="3137804" cy="5089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b="0" sz="1392" lang="ru-RU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Платочки — складывать в банку и доставать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35228" y="5747027"/>
            <a:ext cx="951904" cy="2667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b="0" sz="1536" lang="ru-RU" spc="368">
                <a:solidFill>
                  <a:srgbClr val="87879A"/>
                </a:solidFill>
                <a:latin typeface="Noto Sans SemiBold"/>
                <a:cs typeface="Noto Sans SemiBold"/>
                <a:ea typeface="Noto Sans SemiBold"/>
              </a:rPr>
              <a:t>ВИДЕО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720" y="0"/>
            <a:ext cx="4145280" cy="6858000"/>
          </a:xfrm>
          <a:prstGeom prst="rect">
            <a:avLst/>
          </a:prstGeom>
          <a:solidFill>
            <a:srgbClr val="F4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4624" y="609600"/>
            <a:ext cx="414456" cy="54768"/>
          </a:xfrm>
          <a:prstGeom prst="rect">
            <a:avLst/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019210" y="2384345"/>
            <a:ext cx="4368165" cy="2489954"/>
          </a:xfrm>
          <a:prstGeom prst="roundRect">
            <a:avLst>
              <a:gd name="adj" fmla="val 2448"/>
            </a:avLst>
          </a:prstGeom>
          <a:solidFill>
            <a:srgbClr val="F4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287339" y="3141131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B9C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287339" y="3553087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B9C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287339" y="3965044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B9C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287339" y="4377000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B9C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000" y="609600"/>
            <a:ext cx="1422201" cy="2057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b="1" sz="1200" lang="ru-RU" spc="192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КЕЙС · ДИАНА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24" y="2308145"/>
            <a:ext cx="1786413" cy="6629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4132"/>
              </a:lnSpc>
              <a:spcBef>
                <a:spcPts val="0"/>
              </a:spcBef>
              <a:spcAft>
                <a:spcPts val="0"/>
              </a:spcAft>
            </a:pPr>
            <a:r>
              <a:rPr b="0" sz="3936" lang="ru-RU" spc="-39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Цель 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24" y="2832854"/>
            <a:ext cx="3127414" cy="6629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4132"/>
              </a:lnSpc>
              <a:spcBef>
                <a:spcPts val="0"/>
              </a:spcBef>
              <a:spcAft>
                <a:spcPts val="0"/>
              </a:spcAft>
            </a:pPr>
            <a:r>
              <a:rPr b="0" sz="3936" lang="ru-RU" spc="-39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Расширение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24" y="3357562"/>
            <a:ext cx="3789164" cy="6629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4132"/>
              </a:lnSpc>
              <a:spcBef>
                <a:spcPts val="0"/>
              </a:spcBef>
              <a:spcAft>
                <a:spcPts val="0"/>
              </a:spcAft>
            </a:pPr>
            <a:r>
              <a:rPr b="0" sz="3936" lang="ru-RU" spc="-39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репертуара игр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87339" y="2652474"/>
            <a:ext cx="2034540" cy="2362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976"/>
              </a:lnSpc>
              <a:spcBef>
                <a:spcPts val="0"/>
              </a:spcBef>
              <a:spcAft>
                <a:spcPts val="0"/>
              </a:spcAft>
            </a:pPr>
            <a:r>
              <a:rPr b="1" sz="1363" lang="ru-RU" spc="218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НОВЫЕ ВИДЫ ИГР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65243" y="3081694"/>
            <a:ext cx="1188362" cy="2743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b="0" sz="1555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спортивные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5243" y="3493650"/>
            <a:ext cx="1127521" cy="2743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b="0" sz="1555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творческие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65243" y="3905607"/>
            <a:ext cx="1480304" cy="2743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b="0" sz="1555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дидактические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65243" y="4317563"/>
            <a:ext cx="1342667" cy="2743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b="0" sz="1555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музыкальные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24" y="609600"/>
            <a:ext cx="414456" cy="54768"/>
          </a:xfrm>
          <a:prstGeom prst="rect">
            <a:avLst/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4624" y="2327910"/>
            <a:ext cx="5138975" cy="1840468"/>
          </a:xfrm>
          <a:prstGeom prst="roundRect">
            <a:avLst>
              <a:gd name="adj" fmla="val 3312"/>
            </a:avLst>
          </a:prstGeom>
          <a:solidFill>
            <a:srgbClr val="F4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72753" y="3751454"/>
            <a:ext cx="3352442" cy="121615"/>
          </a:xfrm>
          <a:prstGeom prst="rect">
            <a:avLst/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48400" y="2327910"/>
            <a:ext cx="5138975" cy="1840468"/>
          </a:xfrm>
          <a:prstGeom prst="roundRect">
            <a:avLst>
              <a:gd name="adj" fmla="val 3312"/>
            </a:avLst>
          </a:prstGeom>
          <a:solidFill>
            <a:srgbClr val="F4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16528" y="3751454"/>
            <a:ext cx="2004298" cy="121615"/>
          </a:xfrm>
          <a:prstGeom prst="rect">
            <a:avLst/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24" y="5366146"/>
            <a:ext cx="10582751" cy="882253"/>
          </a:xfrm>
          <a:prstGeom prst="roundRect">
            <a:avLst>
              <a:gd name="adj" fmla="val 8291"/>
            </a:avLst>
          </a:prstGeom>
          <a:solidFill>
            <a:srgbClr val="FAFAFC"/>
          </a:solidFill>
          <a:ln w="15240">
            <a:solidFill>
              <a:srgbClr val="B9C0EA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1000" y="609600"/>
            <a:ext cx="1422201" cy="2057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b="1" sz="1200" lang="ru-RU" spc="192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КЕЙС · ДИАНА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24" y="934164"/>
            <a:ext cx="7236499" cy="6629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4132"/>
              </a:lnSpc>
              <a:spcBef>
                <a:spcPts val="0"/>
              </a:spcBef>
              <a:spcAft>
                <a:spcPts val="0"/>
              </a:spcAft>
            </a:pPr>
            <a:r>
              <a:rPr b="0" sz="3936" lang="ru-RU" spc="-39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Цель 3. Играть в 10 вариаций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24" y="1458872"/>
            <a:ext cx="4865370" cy="6629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4132"/>
              </a:lnSpc>
              <a:spcBef>
                <a:spcPts val="0"/>
              </a:spcBef>
              <a:spcAft>
                <a:spcPts val="0"/>
              </a:spcAft>
            </a:pPr>
            <a:r>
              <a:rPr b="0" sz="3936" lang="ru-RU" spc="-39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к освоенным играм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753" y="2596038"/>
            <a:ext cx="472678" cy="2362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976"/>
              </a:lnSpc>
              <a:spcBef>
                <a:spcPts val="0"/>
              </a:spcBef>
              <a:spcAft>
                <a:spcPts val="0"/>
              </a:spcAft>
            </a:pPr>
            <a:r>
              <a:rPr b="0" sz="1363" lang="ru-RU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Было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753" y="2847022"/>
            <a:ext cx="2475666" cy="3200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583"/>
              </a:lnSpc>
              <a:spcBef>
                <a:spcPts val="0"/>
              </a:spcBef>
              <a:spcAft>
                <a:spcPts val="0"/>
              </a:spcAft>
            </a:pPr>
            <a:r>
              <a:rPr b="0" sz="1872" lang="ru-RU">
                <a:solidFill>
                  <a:srgbClr val="3A3A46"/>
                </a:solidFill>
                <a:latin typeface="Noto Sans"/>
                <a:cs typeface="Noto Sans"/>
                <a:ea typeface="Noto Sans"/>
              </a:rPr>
              <a:t>собирала пирамидку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753" y="3321248"/>
            <a:ext cx="522565" cy="2362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976"/>
              </a:lnSpc>
              <a:spcBef>
                <a:spcPts val="0"/>
              </a:spcBef>
              <a:spcAft>
                <a:spcPts val="0"/>
              </a:spcAft>
            </a:pPr>
            <a:r>
              <a:rPr b="0" sz="1363" lang="ru-RU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Стало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753" y="3572232"/>
            <a:ext cx="3382922" cy="3200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583"/>
              </a:lnSpc>
              <a:spcBef>
                <a:spcPts val="0"/>
              </a:spcBef>
              <a:spcAft>
                <a:spcPts val="0"/>
              </a:spcAft>
            </a:pPr>
            <a:r>
              <a:rPr b="0" sz="1872" lang="ru-RU">
                <a:solidFill>
                  <a:srgbClr val="3A3A46"/>
                </a:solidFill>
                <a:latin typeface="Noto Sans"/>
                <a:cs typeface="Noto Sans"/>
                <a:ea typeface="Noto Sans"/>
              </a:rPr>
              <a:t>нанизывать кольца на нитку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6528" y="2596038"/>
            <a:ext cx="472678" cy="2362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976"/>
              </a:lnSpc>
              <a:spcBef>
                <a:spcPts val="0"/>
              </a:spcBef>
              <a:spcAft>
                <a:spcPts val="0"/>
              </a:spcAft>
            </a:pPr>
            <a:r>
              <a:rPr b="0" sz="1363" lang="ru-RU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Было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6528" y="2847022"/>
            <a:ext cx="2351603" cy="3200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583"/>
              </a:lnSpc>
              <a:spcBef>
                <a:spcPts val="0"/>
              </a:spcBef>
              <a:spcAft>
                <a:spcPts val="0"/>
              </a:spcAft>
            </a:pPr>
            <a:r>
              <a:rPr b="0" sz="1872" lang="ru-RU">
                <a:solidFill>
                  <a:srgbClr val="3A3A46"/>
                </a:solidFill>
                <a:latin typeface="Noto Sans"/>
                <a:cs typeface="Noto Sans"/>
                <a:ea typeface="Noto Sans"/>
              </a:rPr>
              <a:t>вставляла червяков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6528" y="3321248"/>
            <a:ext cx="522565" cy="2362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976"/>
              </a:lnSpc>
              <a:spcBef>
                <a:spcPts val="0"/>
              </a:spcBef>
              <a:spcAft>
                <a:spcPts val="0"/>
              </a:spcAft>
            </a:pPr>
            <a:r>
              <a:rPr b="0" sz="1363" lang="ru-RU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Стало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6528" y="3572232"/>
            <a:ext cx="2034778" cy="3200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583"/>
              </a:lnSpc>
              <a:spcBef>
                <a:spcPts val="0"/>
              </a:spcBef>
              <a:spcAft>
                <a:spcPts val="0"/>
              </a:spcAft>
            </a:pPr>
            <a:r>
              <a:rPr b="0" sz="1872" lang="ru-RU">
                <a:solidFill>
                  <a:srgbClr val="3A3A46"/>
                </a:solidFill>
                <a:latin typeface="Noto Sans"/>
                <a:cs typeface="Noto Sans"/>
                <a:ea typeface="Noto Sans"/>
              </a:rPr>
              <a:t>ловить червяков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35228" y="5673923"/>
            <a:ext cx="951904" cy="2667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b="0" sz="1536" lang="ru-RU" spc="368">
                <a:solidFill>
                  <a:srgbClr val="87879A"/>
                </a:solidFill>
                <a:latin typeface="Noto Sans SemiBold"/>
                <a:cs typeface="Noto Sans SemiBold"/>
                <a:ea typeface="Noto Sans SemiBold"/>
              </a:rPr>
              <a:t>ВИДЕО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24" y="609600"/>
            <a:ext cx="414456" cy="54768"/>
          </a:xfrm>
          <a:prstGeom prst="rect">
            <a:avLst/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4624" y="3377326"/>
            <a:ext cx="3324344" cy="1222771"/>
          </a:xfrm>
          <a:prstGeom prst="roundRect">
            <a:avLst>
              <a:gd name="adj" fmla="val 4985"/>
            </a:avLst>
          </a:prstGeom>
          <a:solidFill>
            <a:srgbClr val="FFFFFF"/>
          </a:solidFill>
          <a:ln w="15240">
            <a:solidFill>
              <a:srgbClr val="E7E8F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433768" y="3377326"/>
            <a:ext cx="3324344" cy="1222771"/>
          </a:xfrm>
          <a:prstGeom prst="roundRect">
            <a:avLst>
              <a:gd name="adj" fmla="val 4985"/>
            </a:avLst>
          </a:prstGeom>
          <a:solidFill>
            <a:srgbClr val="FFFFFF"/>
          </a:solidFill>
          <a:ln w="15240">
            <a:solidFill>
              <a:srgbClr val="E7E8F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62912" y="3377326"/>
            <a:ext cx="3324463" cy="1222771"/>
          </a:xfrm>
          <a:prstGeom prst="roundRect">
            <a:avLst>
              <a:gd name="adj" fmla="val 4985"/>
            </a:avLst>
          </a:prstGeom>
          <a:solidFill>
            <a:srgbClr val="FFFFFF"/>
          </a:solidFill>
          <a:ln w="15240">
            <a:solidFill>
              <a:srgbClr val="E7E8F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24" y="5366146"/>
            <a:ext cx="10582751" cy="882253"/>
          </a:xfrm>
          <a:prstGeom prst="roundRect">
            <a:avLst>
              <a:gd name="adj" fmla="val 8291"/>
            </a:avLst>
          </a:prstGeom>
          <a:solidFill>
            <a:srgbClr val="FAFAFC"/>
          </a:solidFill>
          <a:ln w="15240">
            <a:solidFill>
              <a:srgbClr val="B9C0EA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41000" y="609600"/>
            <a:ext cx="1422201" cy="2057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b="1" sz="1200" lang="ru-RU" spc="192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КЕЙС · ДИАНА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24" y="934164"/>
            <a:ext cx="8919924" cy="2237065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ts val="4132"/>
              </a:lnSpc>
              <a:spcBef>
                <a:spcPts val="0"/>
              </a:spcBef>
              <a:spcAft>
                <a:spcPts val="0"/>
              </a:spcAft>
            </a:pPr>
            <a:r>
              <a:rPr b="0" sz="3936" lang="ru-RU" spc="-39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Цель 4. Выполнять 5 сюжетных действий</a:t>
            </a:r>
          </a:p>
          <a:p>
            <a:pPr algn="l">
              <a:lnSpc>
                <a:spcPts val="4132"/>
              </a:lnSpc>
              <a:spcBef>
                <a:spcPts val="0"/>
              </a:spcBef>
              <a:spcAft>
                <a:spcPts val="0"/>
              </a:spcAft>
            </a:pPr>
            <a:r>
              <a:rPr b="0" sz="3936" lang="ru-RU" spc="-39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без переключения между действиями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7993" y="3660695"/>
            <a:ext cx="1236702" cy="3200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583"/>
              </a:lnSpc>
              <a:spcBef>
                <a:spcPts val="0"/>
              </a:spcBef>
              <a:spcAft>
                <a:spcPts val="0"/>
              </a:spcAft>
            </a:pPr>
            <a:r>
              <a:rPr b="0" sz="1872" lang="ru-RU">
                <a:solidFill>
                  <a:srgbClr val="3A3A46"/>
                </a:solidFill>
                <a:latin typeface="Noto Sans"/>
                <a:cs typeface="Noto Sans"/>
                <a:ea typeface="Noto Sans"/>
              </a:rPr>
              <a:t>🧸 кормит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7993" y="3988712"/>
            <a:ext cx="877490" cy="3200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583"/>
              </a:lnSpc>
              <a:spcBef>
                <a:spcPts val="0"/>
              </a:spcBef>
              <a:spcAft>
                <a:spcPts val="0"/>
              </a:spcAft>
            </a:pPr>
            <a:r>
              <a:rPr b="0" sz="1872" lang="ru-RU">
                <a:solidFill>
                  <a:srgbClr val="3A3A46"/>
                </a:solidFill>
                <a:latin typeface="Noto Sans"/>
                <a:cs typeface="Noto Sans"/>
                <a:ea typeface="Noto Sans"/>
              </a:rPr>
              <a:t>5 кукол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7137" y="3660695"/>
            <a:ext cx="1856422" cy="3200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583"/>
              </a:lnSpc>
              <a:spcBef>
                <a:spcPts val="0"/>
              </a:spcBef>
              <a:spcAft>
                <a:spcPts val="0"/>
              </a:spcAft>
            </a:pPr>
            <a:r>
              <a:rPr b="0" sz="1872" lang="ru-RU">
                <a:solidFill>
                  <a:srgbClr val="3A3A46"/>
                </a:solidFill>
                <a:latin typeface="Noto Sans"/>
                <a:cs typeface="Noto Sans"/>
                <a:ea typeface="Noto Sans"/>
              </a:rPr>
              <a:t>💇 расчёсывает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17137" y="3988712"/>
            <a:ext cx="877490" cy="3200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583"/>
              </a:lnSpc>
              <a:spcBef>
                <a:spcPts val="0"/>
              </a:spcBef>
              <a:spcAft>
                <a:spcPts val="0"/>
              </a:spcAft>
            </a:pPr>
            <a:r>
              <a:rPr b="0" sz="1872" lang="ru-RU">
                <a:solidFill>
                  <a:srgbClr val="3A3A46"/>
                </a:solidFill>
                <a:latin typeface="Noto Sans"/>
                <a:cs typeface="Noto Sans"/>
                <a:ea typeface="Noto Sans"/>
              </a:rPr>
              <a:t>5 кукол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6281" y="3660695"/>
            <a:ext cx="2430422" cy="3200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583"/>
              </a:lnSpc>
              <a:spcBef>
                <a:spcPts val="0"/>
              </a:spcBef>
              <a:spcAft>
                <a:spcPts val="0"/>
              </a:spcAft>
            </a:pPr>
            <a:r>
              <a:rPr b="0" sz="1872" lang="ru-RU">
                <a:solidFill>
                  <a:srgbClr val="3A3A46"/>
                </a:solidFill>
                <a:latin typeface="Noto Sans"/>
                <a:cs typeface="Noto Sans"/>
                <a:ea typeface="Noto Sans"/>
              </a:rPr>
              <a:t>🛏️ укладывает спать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6281" y="3988712"/>
            <a:ext cx="877490" cy="3200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583"/>
              </a:lnSpc>
              <a:spcBef>
                <a:spcPts val="0"/>
              </a:spcBef>
              <a:spcAft>
                <a:spcPts val="0"/>
              </a:spcAft>
            </a:pPr>
            <a:r>
              <a:rPr b="0" sz="1872" lang="ru-RU">
                <a:solidFill>
                  <a:srgbClr val="3A3A46"/>
                </a:solidFill>
                <a:latin typeface="Noto Sans"/>
                <a:cs typeface="Noto Sans"/>
                <a:ea typeface="Noto Sans"/>
              </a:rPr>
              <a:t>5 кукол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35228" y="5673923"/>
            <a:ext cx="951904" cy="2667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b="0" sz="1536" lang="ru-RU" spc="368">
                <a:solidFill>
                  <a:srgbClr val="87879A"/>
                </a:solidFill>
                <a:latin typeface="Noto Sans SemiBold"/>
                <a:cs typeface="Noto Sans SemiBold"/>
                <a:ea typeface="Noto Sans SemiBold"/>
              </a:rPr>
              <a:t>ВИДЕО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26280"/>
            <a:ext cx="12192000" cy="2331720"/>
          </a:xfrm>
          <a:prstGeom prst="rect">
            <a:avLst/>
          </a:prstGeom>
          <a:solidFill>
            <a:srgbClr val="F4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4624" y="609600"/>
            <a:ext cx="414456" cy="54768"/>
          </a:xfrm>
          <a:prstGeom prst="rect">
            <a:avLst/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4624" y="4052649"/>
            <a:ext cx="1928812" cy="446484"/>
          </a:xfrm>
          <a:prstGeom prst="roundRect">
            <a:avLst>
              <a:gd name="adj" fmla="val 10922"/>
            </a:avLst>
          </a:prstGeom>
          <a:solidFill>
            <a:srgbClr val="B9C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158370" y="4052649"/>
            <a:ext cx="1672828" cy="446484"/>
          </a:xfrm>
          <a:prstGeom prst="roundRect">
            <a:avLst>
              <a:gd name="adj" fmla="val 10922"/>
            </a:avLst>
          </a:prstGeom>
          <a:solidFill>
            <a:srgbClr val="B9C0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24" y="4675822"/>
            <a:ext cx="1672828" cy="446484"/>
          </a:xfrm>
          <a:prstGeom prst="roundRect">
            <a:avLst>
              <a:gd name="adj" fmla="val 10922"/>
            </a:avLst>
          </a:prstGeom>
          <a:solidFill>
            <a:srgbClr val="F4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902386" y="4675822"/>
            <a:ext cx="1797248" cy="446484"/>
          </a:xfrm>
          <a:prstGeom prst="roundRect">
            <a:avLst>
              <a:gd name="adj" fmla="val 10922"/>
            </a:avLst>
          </a:prstGeom>
          <a:solidFill>
            <a:srgbClr val="F4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24" y="5366146"/>
            <a:ext cx="10582751" cy="882253"/>
          </a:xfrm>
          <a:prstGeom prst="roundRect">
            <a:avLst>
              <a:gd name="adj" fmla="val 8291"/>
            </a:avLst>
          </a:prstGeom>
          <a:solidFill>
            <a:srgbClr val="FAFAFC"/>
          </a:solidFill>
          <a:ln w="15240">
            <a:solidFill>
              <a:srgbClr val="B9C0EA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000" y="609600"/>
            <a:ext cx="1422201" cy="2057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b="1" sz="1200" lang="ru-RU" spc="192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КЕЙС · ДИАНА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24" y="934164"/>
            <a:ext cx="4890849" cy="6629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4132"/>
              </a:lnSpc>
              <a:spcBef>
                <a:spcPts val="0"/>
              </a:spcBef>
              <a:spcAft>
                <a:spcPts val="0"/>
              </a:spcAft>
            </a:pPr>
            <a:r>
              <a:rPr b="0" sz="3936" lang="ru-RU" spc="-39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Цель 5. Гибкая игра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24" y="1681281"/>
            <a:ext cx="5801796" cy="3200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583"/>
              </a:lnSpc>
              <a:spcBef>
                <a:spcPts val="0"/>
              </a:spcBef>
              <a:spcAft>
                <a:spcPts val="0"/>
              </a:spcAft>
            </a:pPr>
            <a:r>
              <a:rPr b="0" sz="1872" lang="ru-RU">
                <a:solidFill>
                  <a:srgbClr val="3A3A46"/>
                </a:solidFill>
                <a:latin typeface="Noto Sans"/>
                <a:cs typeface="Noto Sans"/>
                <a:ea typeface="Noto Sans"/>
              </a:rPr>
              <a:t>Комбинировать сюжетные действия между собой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5240" y="4150161"/>
            <a:ext cx="1618059" cy="2514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b="0" sz="1440" lang="ru-RU">
                <a:solidFill>
                  <a:srgbClr val="15151B"/>
                </a:solidFill>
                <a:latin typeface="Noto Sans SemiBold"/>
                <a:cs typeface="Noto Sans SemiBold"/>
                <a:ea typeface="Noto Sans SemiBold"/>
              </a:rPr>
              <a:t>накормить куклу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79645" y="4114323"/>
            <a:ext cx="162996" cy="3124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24"/>
              </a:lnSpc>
              <a:spcBef>
                <a:spcPts val="0"/>
              </a:spcBef>
              <a:spcAft>
                <a:spcPts val="0"/>
              </a:spcAft>
            </a:pPr>
            <a:r>
              <a:rPr b="1" sz="1824" lang="ru-RU">
                <a:solidFill>
                  <a:srgbClr val="B9C0EA"/>
                </a:solidFill>
                <a:latin typeface="Noto Sans"/>
                <a:cs typeface="Noto Sans"/>
                <a:ea typeface="Noto Sans"/>
              </a:rPr>
              <a:t>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28987" y="4150161"/>
            <a:ext cx="1362075" cy="2514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b="0" sz="1440" lang="ru-RU">
                <a:solidFill>
                  <a:srgbClr val="15151B"/>
                </a:solidFill>
                <a:latin typeface="Noto Sans SemiBold"/>
                <a:cs typeface="Noto Sans SemiBold"/>
                <a:ea typeface="Noto Sans SemiBold"/>
              </a:rPr>
              <a:t>уложить спать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5240" y="4773334"/>
            <a:ext cx="1362075" cy="2514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b="0" sz="1440" lang="ru-RU">
                <a:solidFill>
                  <a:srgbClr val="15151B"/>
                </a:solidFill>
                <a:latin typeface="Noto Sans SemiBold"/>
                <a:cs typeface="Noto Sans SemiBold"/>
                <a:ea typeface="Noto Sans SemiBold"/>
              </a:rPr>
              <a:t>уложить спать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23661" y="4737496"/>
            <a:ext cx="162996" cy="3124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24"/>
              </a:lnSpc>
              <a:spcBef>
                <a:spcPts val="0"/>
              </a:spcBef>
              <a:spcAft>
                <a:spcPts val="0"/>
              </a:spcAft>
            </a:pPr>
            <a:r>
              <a:rPr b="1" sz="1824" lang="ru-RU">
                <a:solidFill>
                  <a:srgbClr val="B9C0EA"/>
                </a:solidFill>
                <a:latin typeface="Noto Sans"/>
                <a:cs typeface="Noto Sans"/>
                <a:ea typeface="Noto Sans"/>
              </a:rPr>
              <a:t>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3003" y="4773334"/>
            <a:ext cx="1486495" cy="2514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b="0" sz="1440" lang="ru-RU">
                <a:solidFill>
                  <a:srgbClr val="15151B"/>
                </a:solidFill>
                <a:latin typeface="Noto Sans SemiBold"/>
                <a:cs typeface="Noto Sans SemiBold"/>
                <a:ea typeface="Noto Sans SemiBold"/>
              </a:rPr>
              <a:t>почистить зубы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35228" y="5673923"/>
            <a:ext cx="951904" cy="2667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b="0" sz="1536" lang="ru-RU" spc="368">
                <a:solidFill>
                  <a:srgbClr val="87879A"/>
                </a:solidFill>
                <a:latin typeface="Noto Sans SemiBold"/>
                <a:cs typeface="Noto Sans SemiBold"/>
                <a:ea typeface="Noto Sans SemiBold"/>
              </a:rPr>
              <a:t>ВИДЕО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24" y="609600"/>
            <a:ext cx="414456" cy="54768"/>
          </a:xfrm>
          <a:prstGeom prst="rect">
            <a:avLst/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4624" y="1778912"/>
            <a:ext cx="10582751" cy="4469487"/>
          </a:xfrm>
          <a:prstGeom prst="roundRect">
            <a:avLst>
              <a:gd name="adj" fmla="val 1636"/>
            </a:avLst>
          </a:prstGeom>
          <a:solidFill>
            <a:srgbClr val="FAFAFC"/>
          </a:solidFill>
          <a:ln w="15240">
            <a:solidFill>
              <a:srgbClr val="B9C0EA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41000" y="609600"/>
            <a:ext cx="1422201" cy="2057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b="1" sz="1200" lang="ru-RU" spc="192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КЕЙС · ДИАНА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24" y="934164"/>
            <a:ext cx="7413902" cy="6629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4132"/>
              </a:lnSpc>
              <a:spcBef>
                <a:spcPts val="0"/>
              </a:spcBef>
              <a:spcAft>
                <a:spcPts val="0"/>
              </a:spcAft>
            </a:pPr>
            <a:r>
              <a:rPr b="0" sz="3936" lang="ru-RU" spc="-39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Свободная игра Дианы сейчас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35228" y="3880246"/>
            <a:ext cx="951904" cy="2667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996"/>
              </a:lnSpc>
              <a:spcBef>
                <a:spcPts val="0"/>
              </a:spcBef>
              <a:spcAft>
                <a:spcPts val="0"/>
              </a:spcAft>
            </a:pPr>
            <a:r>
              <a:rPr b="0" sz="1536" lang="ru-RU" spc="368">
                <a:solidFill>
                  <a:srgbClr val="87879A"/>
                </a:solidFill>
                <a:latin typeface="Noto Sans SemiBold"/>
                <a:cs typeface="Noto Sans SemiBold"/>
                <a:ea typeface="Noto Sans SemiBold"/>
              </a:rPr>
              <a:t>ВИДЕО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24" y="609600"/>
            <a:ext cx="414456" cy="54768"/>
          </a:xfrm>
          <a:prstGeom prst="rect">
            <a:avLst/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4624" y="4463448"/>
            <a:ext cx="3393043" cy="121615"/>
          </a:xfrm>
          <a:prstGeom prst="rect">
            <a:avLst/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019210" y="2774895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019210" y="3483079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019210" y="3895035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019210" y="4306991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19210" y="4718947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C7E7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000" y="609600"/>
            <a:ext cx="537686" cy="2057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b="1" sz="1200" lang="ru-RU" spc="192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ИТОГ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24" y="2234445"/>
            <a:ext cx="2747129" cy="6629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4132"/>
              </a:lnSpc>
              <a:spcBef>
                <a:spcPts val="0"/>
              </a:spcBef>
              <a:spcAft>
                <a:spcPts val="0"/>
              </a:spcAft>
            </a:pPr>
            <a:r>
              <a:rPr b="0" sz="3936" lang="ru-RU" spc="-39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Игра — это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24" y="2759154"/>
            <a:ext cx="3666291" cy="6629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4132"/>
              </a:lnSpc>
              <a:spcBef>
                <a:spcPts val="0"/>
              </a:spcBef>
              <a:spcAft>
                <a:spcPts val="0"/>
              </a:spcAft>
            </a:pPr>
            <a:r>
              <a:rPr b="0" sz="3936" lang="ru-RU" spc="-39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не просто игра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24" y="3628191"/>
            <a:ext cx="4880967" cy="32004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583"/>
              </a:lnSpc>
              <a:spcBef>
                <a:spcPts val="0"/>
              </a:spcBef>
              <a:spcAft>
                <a:spcPts val="0"/>
              </a:spcAft>
            </a:pPr>
            <a:r>
              <a:rPr b="0" sz="1872" lang="ru-RU">
                <a:solidFill>
                  <a:srgbClr val="3A3A46"/>
                </a:solidFill>
                <a:latin typeface="Noto Sans"/>
                <a:cs typeface="Noto Sans"/>
                <a:ea typeface="Noto Sans"/>
              </a:rPr>
              <a:t>Мы не учим ребёнка играть «правильно».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24" y="3956208"/>
            <a:ext cx="5940266" cy="64805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ts val="2583"/>
              </a:lnSpc>
              <a:spcBef>
                <a:spcPts val="0"/>
              </a:spcBef>
              <a:spcAft>
                <a:spcPts val="0"/>
              </a:spcAft>
            </a:pPr>
            <a:r>
              <a:rPr b="0" sz="1872" lang="ru-RU">
                <a:solidFill>
                  <a:srgbClr val="3A3A46"/>
                </a:solidFill>
                <a:latin typeface="Noto Sans"/>
                <a:cs typeface="Noto Sans"/>
                <a:ea typeface="Noto Sans"/>
              </a:rPr>
              <a:t>Мы расширяем его игровой репертуар, чтобы расширить его возможности.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9210" y="2310645"/>
            <a:ext cx="2268974" cy="2362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976"/>
              </a:lnSpc>
              <a:spcBef>
                <a:spcPts val="0"/>
              </a:spcBef>
              <a:spcAft>
                <a:spcPts val="0"/>
              </a:spcAft>
            </a:pPr>
            <a:r>
              <a:rPr b="0" sz="1363" lang="ru-RU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Это возможность ребёнка: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97115" y="2715458"/>
            <a:ext cx="4020740" cy="57054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b="0" sz="1555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самостоятельно заниматься тем, что нравится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97115" y="3423642"/>
            <a:ext cx="1549003" cy="2743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b="0" sz="1555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учиться новому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97115" y="3835598"/>
            <a:ext cx="1976794" cy="2743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b="0" sz="1555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общаться с другими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97115" y="4247554"/>
            <a:ext cx="3612237" cy="2743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b="0" sz="1555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пробовать разные способы действий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97115" y="4659510"/>
            <a:ext cx="1874758" cy="2743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2332"/>
              </a:lnSpc>
              <a:spcBef>
                <a:spcPts val="0"/>
              </a:spcBef>
              <a:spcAft>
                <a:spcPts val="0"/>
              </a:spcAft>
            </a:pPr>
            <a:r>
              <a:rPr b="0" sz="1555" lang="ru-RU">
                <a:solidFill>
                  <a:srgbClr val="15151B"/>
                </a:solidFill>
                <a:latin typeface="Noto Sans"/>
                <a:cs typeface="Noto Sans"/>
                <a:ea typeface="Noto Sans"/>
              </a:rPr>
              <a:t>быть более гибким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720" y="0"/>
            <a:ext cx="4145280" cy="6858000"/>
          </a:xfrm>
          <a:prstGeom prst="rect">
            <a:avLst/>
          </a:prstGeom>
          <a:solidFill>
            <a:srgbClr val="F4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019210" y="2223611"/>
            <a:ext cx="2062162" cy="2062162"/>
          </a:xfrm>
          <a:prstGeom prst="roundRect">
            <a:avLst>
              <a:gd name="adj" fmla="val 2956"/>
            </a:avLst>
          </a:prstGeom>
          <a:solidFill>
            <a:srgbClr val="F4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25213" y="2223611"/>
            <a:ext cx="2062162" cy="2062162"/>
          </a:xfrm>
          <a:prstGeom prst="roundRect">
            <a:avLst>
              <a:gd name="adj" fmla="val 2956"/>
            </a:avLst>
          </a:prstGeom>
          <a:solidFill>
            <a:srgbClr val="F4F5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9210" y="2223611"/>
            <a:ext cx="2062162" cy="2062162"/>
          </a:xfrm>
          <a:prstGeom prst="rect">
            <a:avLst/>
          </a:prstGeom>
        </p:spPr>
      </p:pic>
      <p:pic>
        <p:nvPicPr>
          <p:cNvPr id="7" name="Picture 6" descr="img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5213" y="2223611"/>
            <a:ext cx="2062162" cy="206216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24" y="2060495"/>
            <a:ext cx="3034903" cy="9601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5664"/>
              </a:lnSpc>
              <a:spcBef>
                <a:spcPts val="0"/>
              </a:spcBef>
              <a:spcAft>
                <a:spcPts val="0"/>
              </a:spcAft>
            </a:pPr>
            <a:r>
              <a:rPr b="0" sz="5664" lang="ru-RU" spc="-56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Спасибо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24" y="2779871"/>
            <a:ext cx="4488537" cy="9601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5664"/>
              </a:lnSpc>
              <a:spcBef>
                <a:spcPts val="0"/>
              </a:spcBef>
              <a:spcAft>
                <a:spcPts val="0"/>
              </a:spcAft>
            </a:pPr>
            <a:r>
              <a:rPr b="0" sz="5664" lang="ru-RU" spc="-56">
                <a:solidFill>
                  <a:srgbClr val="15151B"/>
                </a:solidFill>
                <a:latin typeface="Playfair Display Black"/>
                <a:cs typeface="Playfair Display Black"/>
                <a:ea typeface="Playfair Display Black"/>
              </a:rPr>
              <a:t>за внимание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24" y="3843575"/>
            <a:ext cx="5940266" cy="4724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ts val="3062"/>
              </a:lnSpc>
              <a:spcBef>
                <a:spcPts val="0"/>
              </a:spcBef>
              <a:spcAft>
                <a:spcPts val="0"/>
              </a:spcAft>
            </a:pPr>
            <a:r>
              <a:rPr b="1" sz="2784" lang="ru-RU" spc="-27">
                <a:solidFill>
                  <a:srgbClr val="15151B"/>
                </a:solidFill>
                <a:latin typeface="Playfair Display"/>
                <a:cs typeface="Playfair Display"/>
                <a:ea typeface="Playfair Display"/>
              </a:rPr>
              <a:t>Щептева Юлия </a:t>
            </a:r>
            <a:r>
              <a:rPr b="0" sz="1440" lang="ru-RU" spc="-27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(CBA-S, IBA)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24" y="4424481"/>
            <a:ext cx="2238613" cy="2362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ts val="1976"/>
              </a:lnSpc>
              <a:spcBef>
                <a:spcPts val="0"/>
              </a:spcBef>
              <a:spcAft>
                <a:spcPts val="0"/>
              </a:spcAft>
            </a:pPr>
            <a:r>
              <a:rPr b="0" sz="1363" lang="ru-RU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ABA / ESDM центр «Ветер»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0455" y="4383285"/>
            <a:ext cx="1199554" cy="2362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ts val="1976"/>
              </a:lnSpc>
              <a:spcBef>
                <a:spcPts val="0"/>
              </a:spcBef>
              <a:spcAft>
                <a:spcPts val="0"/>
              </a:spcAft>
            </a:pPr>
            <a:r>
              <a:rPr b="0" sz="1363" lang="ru-RU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@center_veter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7986" y="4383285"/>
            <a:ext cx="1496496" cy="2362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ts val="1976"/>
              </a:lnSpc>
              <a:spcBef>
                <a:spcPts val="0"/>
              </a:spcBef>
              <a:spcAft>
                <a:spcPts val="0"/>
              </a:spcAft>
            </a:pPr>
            <a:r>
              <a:rPr b="0" sz="1363" lang="ru-RU">
                <a:solidFill>
                  <a:srgbClr val="87879A"/>
                </a:solidFill>
                <a:latin typeface="Noto Sans"/>
                <a:cs typeface="Noto Sans"/>
                <a:ea typeface="Noto Sans"/>
              </a:rPr>
              <a:t>@shchepteva.julia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