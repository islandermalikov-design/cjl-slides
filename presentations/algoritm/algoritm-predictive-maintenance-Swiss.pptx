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05272" y="0"/>
            <a:ext cx="6583680" cy="6858000"/>
          </a:xfrm>
          <a:prstGeom prst="rect">
            <a:avLst/>
          </a:prstGeom>
          <a:gradFill rotWithShape="1">
            <a:gsLst>
              <a:gs pos="0">
                <a:srgbClr val="B72E26"/>
              </a:gs>
              <a:gs pos="100000">
                <a:srgbClr val="8C1B13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gorit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457834" cy="868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600200"/>
            <a:ext cx="777240" cy="45720"/>
          </a:xfrm>
          <a:prstGeom prst="rect">
            <a:avLst/>
          </a:prstGeom>
          <a:solidFill>
            <a:srgbClr val="B7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6634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212"/>
                </a:solidFill>
                <a:latin typeface="DM Sans"/>
              </a:rPr>
              <a:t>Предиктивное обслуживание и решения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212"/>
                </a:solidFill>
                <a:latin typeface="DM Sans"/>
              </a:rPr>
              <a:t>для горнодобывающей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41212"/>
                </a:solidFill>
                <a:latin typeface="DM Sans"/>
              </a:rPr>
              <a:t>промышленности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ООО «Алгоритм» · Красноярск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Комплексный подход к решению задач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4754880"/>
            <a:ext cx="4663440" cy="10972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DM Sans"/>
              </a:rPr>
              <a:t>Прогнозное техническое обслуживание оборудования на базе промышленного мониторинга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598932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C4C4"/>
                </a:solidFill>
                <a:latin typeface="DM Sans"/>
              </a:rPr>
              <a:t>КОММЕРЧЕСКОЕ ПРЕДЛОЖЕНИЕ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C4C4"/>
                </a:solidFill>
                <a:latin typeface="DM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72E26"/>
                </a:solidFill>
                <a:latin typeface="DM Sans"/>
              </a:rPr>
              <a:t>О КОМПАНИИ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DM Sans"/>
              </a:rPr>
              <a:t>ООО «Алгоритм» — ваш партнер в цифровизации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DM Sans"/>
              </a:rPr>
              <a:t>промышленности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88920"/>
            <a:ext cx="2606040" cy="32004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53512"/>
            <a:ext cx="2606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41212"/>
                </a:solidFill>
                <a:latin typeface="DM Sans"/>
              </a:rPr>
              <a:t>Мы предлагаем полный цикл внедрения систем прогнозного технического обслуживания: от аудита оборудования и подбора аппаратных решений до развертывания программного обеспечения и обучения персонала.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88920"/>
            <a:ext cx="2606040" cy="32004"/>
          </a:xfrm>
          <a:prstGeom prst="rect">
            <a:avLst/>
          </a:prstGeom>
          <a:solidFill>
            <a:srgbClr val="B7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953512"/>
            <a:ext cx="2606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B72E26"/>
                </a:solidFill>
                <a:latin typeface="DM Sans"/>
              </a:rPr>
              <a:t>Индивидуальный подход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Адаптируем решения под специфику конкретного предприятия и отрасли.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2788920"/>
            <a:ext cx="2606040" cy="32004"/>
          </a:xfrm>
          <a:prstGeom prst="rect">
            <a:avLst/>
          </a:prstGeom>
          <a:solidFill>
            <a:srgbClr val="B7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953512"/>
            <a:ext cx="2606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B72E26"/>
                </a:solidFill>
                <a:latin typeface="DM Sans"/>
              </a:rPr>
              <a:t>Экспертная поддержка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Обеспечиваем консалтинг и сопровождение на всех этапах жизненного цикла системы.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2788920"/>
            <a:ext cx="2606040" cy="32004"/>
          </a:xfrm>
          <a:prstGeom prst="rect">
            <a:avLst/>
          </a:prstGeom>
          <a:solidFill>
            <a:srgbClr val="B7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2953512"/>
            <a:ext cx="2606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B72E26"/>
                </a:solidFill>
                <a:latin typeface="DM Sans"/>
              </a:rPr>
              <a:t>Мировые стандарты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Опираемся на проверенную технологическую базу, успешно зарекомендовавшую себя на крупнейших промышленных объектах.</a:t>
            </a:r>
          </a:p>
        </p:txBody>
      </p:sp>
      <p:pic>
        <p:nvPicPr>
          <p:cNvPr id="14" name="Picture 13" descr="algorit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89320"/>
            <a:ext cx="844009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880360"/>
          </a:xfrm>
          <a:prstGeom prst="rect">
            <a:avLst/>
          </a:prstGeom>
          <a:gradFill rotWithShape="1">
            <a:gsLst>
              <a:gs pos="0">
                <a:srgbClr val="B72E26"/>
              </a:gs>
              <a:gs pos="100000">
                <a:srgbClr val="8C1B13"/>
              </a:gs>
            </a:gsLst>
            <a:lin scaled="0" ang="15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0C3BF"/>
                </a:solidFill>
                <a:latin typeface="DM Sans"/>
              </a:rPr>
              <a:t>ТЕХНОЛОГИЧЕСКАЯ БАЗА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686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DM Sans"/>
              </a:rPr>
              <a:t>Масштаб внедрения предлагаемых решений</a:t>
            </a:r>
          </a:p>
        </p:txBody>
      </p:sp>
      <p:pic>
        <p:nvPicPr>
          <p:cNvPr id="6" name="Picture 5" descr="algoritm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502920"/>
            <a:ext cx="951428" cy="5669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4160520"/>
            <a:ext cx="3566160" cy="18288"/>
          </a:xfrm>
          <a:prstGeom prst="rect">
            <a:avLst/>
          </a:prstGeom>
          <a:solidFill>
            <a:srgbClr val="6E6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DM Sans"/>
              </a:rPr>
              <a:t>800+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9C4C4"/>
                </a:solidFill>
                <a:latin typeface="DM Sans"/>
              </a:rPr>
              <a:t>сотрудников в командах разработки и инженерной поддержки технологической платформы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4160520"/>
            <a:ext cx="3566160" cy="18288"/>
          </a:xfrm>
          <a:prstGeom prst="rect">
            <a:avLst/>
          </a:prstGeom>
          <a:solidFill>
            <a:srgbClr val="6E6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434340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DM Sans"/>
              </a:rPr>
              <a:t>250+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25780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9C4C4"/>
                </a:solidFill>
                <a:latin typeface="DM Sans"/>
              </a:rPr>
              <a:t>патентов и зарегистрированных технических решений в основе платформы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4160520"/>
            <a:ext cx="3566160" cy="18288"/>
          </a:xfrm>
          <a:prstGeom prst="rect">
            <a:avLst/>
          </a:prstGeom>
          <a:solidFill>
            <a:srgbClr val="6E6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434340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DM Sans"/>
              </a:rPr>
              <a:t>882 000+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25780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9C4C4"/>
                </a:solidFill>
                <a:latin typeface="DM Sans"/>
              </a:rPr>
              <a:t>датчиков, установленных на промышленных объектах по всему миру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685"/>
                </a:solidFill>
                <a:latin typeface="DM Sans"/>
              </a:rPr>
              <a:t>Показатели характеризуют технологическую базу, на которую опирается ООО «Алгоритм» при реализации проектов в РФ.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72E26"/>
                </a:solidFill>
                <a:latin typeface="DM Sans"/>
              </a:rPr>
              <a:t>ОСНОВАНИЕ ДЛЯ ВЫБОРА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3657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1212"/>
                </a:solidFill>
                <a:latin typeface="DM Sans"/>
              </a:rPr>
              <a:t>Проверенная технология в руках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1212"/>
                </a:solidFill>
                <a:latin typeface="DM Sans"/>
              </a:rPr>
              <a:t>российского интегратора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ООО «Алгоритм» выступает единым центром ответственности: поставка, внедрение, поддержка и обучение на территории РФ.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60520"/>
            <a:ext cx="32004" cy="777240"/>
          </a:xfrm>
          <a:prstGeom prst="rect">
            <a:avLst/>
          </a:prstGeom>
          <a:solidFill>
            <a:srgbClr val="B7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C1B13"/>
                </a:solidFill>
                <a:latin typeface="DM Sans"/>
              </a:rPr>
              <a:t>Слайды 3–4 исходной презентации переработаны: акцент смещён с юрлица завода-изготовителя на масштаб внедрения технологии.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05156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72E26"/>
                </a:solidFill>
                <a:latin typeface="DM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051560"/>
            <a:ext cx="5577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1212"/>
                </a:solidFill>
                <a:latin typeface="DM Sans"/>
              </a:rPr>
              <a:t>Аудит и обследование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Определяем критичное оборудование, точки контроля и целевые показатели надёжности.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2240280"/>
            <a:ext cx="6446520" cy="9525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350008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72E26"/>
                </a:solidFill>
                <a:latin typeface="DM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350008"/>
            <a:ext cx="5577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1212"/>
                </a:solidFill>
                <a:latin typeface="DM Sans"/>
              </a:rPr>
              <a:t>Подбор аппаратных решений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Формируем конфигурацию датчиков и шлюзов под условия конкретной площадки.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3538728"/>
            <a:ext cx="6446520" cy="9525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3648456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72E26"/>
                </a:solidFill>
                <a:latin typeface="DM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648456"/>
            <a:ext cx="5577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1212"/>
                </a:solidFill>
                <a:latin typeface="DM Sans"/>
              </a:rPr>
              <a:t>Развёртывание ПО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Пусконаладка системы мониторинга и интеграция с существующим контуром предприятия.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0" y="4837176"/>
            <a:ext cx="6446520" cy="9525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4946904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72E26"/>
                </a:solidFill>
                <a:latin typeface="DM San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946904"/>
            <a:ext cx="5577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1212"/>
                </a:solidFill>
                <a:latin typeface="DM Sans"/>
              </a:rPr>
              <a:t>Обучение и сопровождение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Передаём компетенции персоналу заказчика и обеспечиваем поддержку на всём жизненном цикле.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72E26"/>
                </a:solidFill>
                <a:latin typeface="DM Sans"/>
              </a:rPr>
              <a:t>СЦЕНАРИИ ПРИМЕНЕНИЯ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1212"/>
                </a:solidFill>
                <a:latin typeface="DM Sans"/>
              </a:rPr>
              <a:t>Беспроводные и проводные схемы сбора данных</a:t>
            </a:r>
          </a:p>
        </p:txBody>
      </p:sp>
      <p:pic>
        <p:nvPicPr>
          <p:cNvPr id="5" name="Picture 4" descr="algorit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951428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965960"/>
            <a:ext cx="5486400" cy="41148"/>
          </a:xfrm>
          <a:prstGeom prst="rect">
            <a:avLst/>
          </a:prstGeom>
          <a:solidFill>
            <a:srgbClr val="B7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864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8685"/>
                </a:solidFill>
                <a:latin typeface="DM Sans"/>
              </a:rPr>
              <a:t>БЕСПРОВОДНОЙ ШЛЮЗ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1212"/>
                </a:solidFill>
                <a:latin typeface="DM Sans"/>
              </a:rPr>
              <a:t>RH570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063240"/>
            <a:ext cx="4846320" cy="1051560"/>
          </a:xfrm>
          <a:prstGeom prst="rect">
            <a:avLst/>
          </a:prstGeom>
          <a:solidFill>
            <a:srgbClr val="F6E3E1"/>
          </a:solidFill>
          <a:ln w="9525">
            <a:solidFill>
              <a:srgbClr val="B7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C1B13"/>
                </a:solidFill>
                <a:latin typeface="DM Sans"/>
              </a:rPr>
              <a:t>Схема из исходной презентации (слайды 12–14).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C1B13"/>
                </a:solidFill>
                <a:latin typeface="DM Sans"/>
              </a:rPr>
              <a:t>Логотипы завода-изготовителя на корпусах приборов удаляются.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Развёртывание без прокладки кабельных трасс — для распределённого и труднодоступного оборудования.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965960"/>
            <a:ext cx="5486400" cy="41148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011680"/>
            <a:ext cx="54864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128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8685"/>
                </a:solidFill>
                <a:latin typeface="DM Sans"/>
              </a:rPr>
              <a:t>ПРОВОДНОЙ ШЛЮЗ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871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1212"/>
                </a:solidFill>
                <a:latin typeface="DM Sans"/>
              </a:rPr>
              <a:t>RH2000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063240"/>
            <a:ext cx="4846320" cy="1051560"/>
          </a:xfrm>
          <a:prstGeom prst="rect">
            <a:avLst/>
          </a:prstGeom>
          <a:solidFill>
            <a:srgbClr val="F6E3E1"/>
          </a:solidFill>
          <a:ln w="9525">
            <a:solidFill>
              <a:srgbClr val="B7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C1B13"/>
                </a:solidFill>
                <a:latin typeface="DM Sans"/>
              </a:rPr>
              <a:t>Схема из исходной презентации (слайды 12–14).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C1B13"/>
                </a:solidFill>
                <a:latin typeface="DM Sans"/>
              </a:rPr>
              <a:t>Логотипы завода-изготовителя на корпусах приборов удаляются.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9768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Стационарная схема для ответственных агрегатов с высокой частотой опроса и постоянным питанием.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62872" y="0"/>
            <a:ext cx="2926080" cy="6858000"/>
          </a:xfrm>
          <a:prstGeom prst="rect">
            <a:avLst/>
          </a:prstGeom>
          <a:gradFill rotWithShape="1">
            <a:gsLst>
              <a:gs pos="0">
                <a:srgbClr val="B72E26"/>
              </a:gs>
              <a:gs pos="100000">
                <a:srgbClr val="8C1B13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72E26"/>
                </a:solidFill>
                <a:latin typeface="DM Sans"/>
              </a:rPr>
              <a:t>СЕРВИСЫ ПОДДЕРЖКИ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8229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1212"/>
                </a:solidFill>
                <a:latin typeface="DM Sans"/>
              </a:rPr>
              <a:t>Услуги, которые ООО «Алгоритм» оказывает своим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1212"/>
                </a:solidFill>
                <a:latin typeface="DM Sans"/>
              </a:rPr>
              <a:t>клиентам в РФ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2004" cy="685800"/>
          </a:xfrm>
          <a:prstGeom prst="rect">
            <a:avLst/>
          </a:prstGeom>
          <a:solidFill>
            <a:srgbClr val="B7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7589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41212"/>
                </a:solidFill>
                <a:latin typeface="DM Sans"/>
              </a:rPr>
              <a:t>Круглосуточный мониторинг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Непрерывный контроль состояния оборудования и оповещение об отклонениях.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37560"/>
            <a:ext cx="32004" cy="685800"/>
          </a:xfrm>
          <a:prstGeom prst="rect">
            <a:avLst/>
          </a:prstGeom>
          <a:solidFill>
            <a:srgbClr val="B7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7589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41212"/>
                </a:solidFill>
                <a:latin typeface="DM Sans"/>
              </a:rPr>
              <a:t>Обучение персонала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Подготовка специалистов заказчика к самостоятельной работе с системой.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06240"/>
            <a:ext cx="32004" cy="685800"/>
          </a:xfrm>
          <a:prstGeom prst="rect">
            <a:avLst/>
          </a:prstGeom>
          <a:solidFill>
            <a:srgbClr val="B7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06240"/>
            <a:ext cx="7589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41212"/>
                </a:solidFill>
                <a:latin typeface="DM Sans"/>
              </a:rPr>
              <a:t>Консалтинг и сопровождение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5757"/>
                </a:solidFill>
                <a:latin typeface="DM Sans"/>
              </a:rPr>
              <a:t>Методическая поддержка на всех этапах жизненного цикла системы.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5074920"/>
            <a:ext cx="2377440" cy="14630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FFFF"/>
                </a:solidFill>
                <a:latin typeface="DM Sans"/>
              </a:rPr>
              <a:t>Сертификация и соответствие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3D8D5"/>
                </a:solidFill>
                <a:latin typeface="DM Sans"/>
              </a:rPr>
              <a:t>Подтверждающие документы производителя приводятся справочно, в приложении к предложению.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700000">
            <a:off x="6400800" y="-2743200"/>
            <a:ext cx="8686800" cy="8686800"/>
          </a:xfrm>
          <a:prstGeom prst="rect">
            <a:avLst/>
          </a:prstGeom>
          <a:gradFill rotWithShape="1">
            <a:gsLst>
              <a:gs pos="0">
                <a:srgbClr val="B72E26"/>
              </a:gs>
              <a:gs pos="100000">
                <a:srgbClr val="141212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0C3BF"/>
                </a:solidFill>
                <a:latin typeface="DM Sans"/>
              </a:rPr>
              <a:t>РАЗДЕЛ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6400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DM Sans"/>
              </a:rPr>
              <a:t>Международный опыт применения технологии на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DM Sans"/>
              </a:rPr>
              <a:t>крупнейших промышленных объектах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C4C4"/>
                </a:solidFill>
                <a:latin typeface="DM Sans"/>
              </a:rPr>
              <a:t>Раздел объединяет проекты внедрения на предприятиях горнодобывающей, металлургической и энергетической отраслей.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74920"/>
            <a:ext cx="1627631" cy="384048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DM Sans"/>
              </a:rPr>
              <a:t>Горная добыча</a:t>
            </a:r>
          </a:p>
        </p:txBody>
      </p:sp>
      <p:sp>
        <p:nvSpPr>
          <p:cNvPr id="8" name="Rectangle 7"/>
          <p:cNvSpPr/>
          <p:nvPr/>
        </p:nvSpPr>
        <p:spPr>
          <a:xfrm>
            <a:off x="2313431" y="5074920"/>
            <a:ext cx="1426464" cy="384048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DM Sans"/>
              </a:rPr>
              <a:t>Металлургия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3877055" y="5074920"/>
            <a:ext cx="1325880" cy="384048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DM Sans"/>
              </a:rPr>
              <a:t>Энергетика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0095" y="5074920"/>
            <a:ext cx="2532888" cy="384048"/>
          </a:xfrm>
          <a:prstGeom prst="rect">
            <a:avLst/>
          </a:prstGeom>
          <a:noFill/>
          <a:ln w="9525">
            <a:solidFill>
              <a:srgbClr val="5A5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DM Sans"/>
              </a:rPr>
              <a:t>Цементное производство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23560"/>
            <a:ext cx="32004" cy="548640"/>
          </a:xfrm>
          <a:prstGeom prst="rect">
            <a:avLst/>
          </a:prstGeom>
          <a:solidFill>
            <a:srgbClr val="E89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62356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938C"/>
                </a:solidFill>
                <a:latin typeface="DM Sans"/>
              </a:rPr>
              <a:t>Слайды 27–33 исходной презентации собираются под этим заголовком. На слайде 29 фотография убирается — остаётся только график.</a:t>
            </a:r>
          </a:p>
        </p:txBody>
      </p:sp>
      <p:pic>
        <p:nvPicPr>
          <p:cNvPr id="13" name="Picture 12" descr="algoritm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9514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67528" cy="6858000"/>
          </a:xfrm>
          <a:prstGeom prst="rect">
            <a:avLst/>
          </a:prstGeom>
          <a:solidFill>
            <a:srgbClr val="14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goritm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97480"/>
            <a:ext cx="1304378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703320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M Sans"/>
              </a:rPr>
              <a:t>ООО «Алгоритм»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9C4C4"/>
                </a:solidFill>
                <a:latin typeface="DM Sans"/>
              </a:rPr>
              <a:t>Комплексные решения для предиктивного обслуживания оборудования.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965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72E26"/>
                </a:solidFill>
                <a:latin typeface="DM Sans"/>
              </a:rPr>
              <a:t>ТЕЛЕФОН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258568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1212"/>
                </a:solidFill>
                <a:latin typeface="DM Sans"/>
              </a:rPr>
              <a:t>+7 (988) 492-81-03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3017520"/>
            <a:ext cx="5486400" cy="9525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31546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72E26"/>
                </a:solidFill>
                <a:latin typeface="DM Sans"/>
              </a:rPr>
              <a:t>E-MAIL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3447288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1212"/>
                </a:solidFill>
                <a:latin typeface="DM Sans"/>
              </a:rPr>
              <a:t>info@algoritmkrsk.ru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4206240"/>
            <a:ext cx="5486400" cy="9525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4343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72E26"/>
                </a:solidFill>
                <a:latin typeface="DM Sans"/>
              </a:rPr>
              <a:t>САЙТ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4636008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1212"/>
                </a:solidFill>
                <a:latin typeface="DM Sans"/>
              </a:rPr>
              <a:t>https://algoritmkrsk.ru/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5394960"/>
            <a:ext cx="5486400" cy="9525"/>
          </a:xfrm>
          <a:prstGeom prst="rect">
            <a:avLst/>
          </a:prstGeom>
          <a:solidFill>
            <a:srgbClr val="D8D4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5532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72E26"/>
                </a:solidFill>
                <a:latin typeface="DM Sans"/>
              </a:rPr>
              <a:t>АДРЕС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5824728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1212"/>
                </a:solidFill>
                <a:latin typeface="DM Sans"/>
              </a:rPr>
              <a:t>660075, Красноярский край, г. Красноярск,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41212"/>
                </a:solidFill>
                <a:latin typeface="DM Sans"/>
              </a:rPr>
              <a:t>ул. Маерчака, д. 8, офис 318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550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5757"/>
                </a:solidFill>
                <a:latin typeface="DM Sans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