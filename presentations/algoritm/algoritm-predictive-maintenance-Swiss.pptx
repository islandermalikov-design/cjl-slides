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05272" y="0"/>
            <a:ext cx="6583680" cy="6858000"/>
          </a:xfrm>
          <a:prstGeom prst="rect">
            <a:avLst/>
          </a:prstGeom>
          <a:gradFill rotWithShape="1">
            <a:gsLst>
              <a:gs pos="0">
                <a:srgbClr val="B72E26"/>
              </a:gs>
              <a:gs pos="100000">
                <a:srgbClr val="8C1B13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gorit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457834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600200"/>
            <a:ext cx="777240" cy="4572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46634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41212"/>
                </a:solidFill>
                <a:latin typeface="DM Sans"/>
              </a:rPr>
              <a:t>Предиктивное обслуживание и решения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41212"/>
                </a:solidFill>
                <a:latin typeface="DM Sans"/>
              </a:rPr>
              <a:t>для горнодобывающей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41212"/>
                </a:solidFill>
                <a:latin typeface="DM Sans"/>
              </a:rPr>
              <a:t>промышленности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ООО «Алгоритм» · Красноярск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Комплексный подход к решению задач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4754880"/>
            <a:ext cx="4663440" cy="10972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DM Sans"/>
              </a:rPr>
              <a:t>Прогнозное техническое обслуживание оборудования на базе промышленного мониторинга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59893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4C4"/>
                </a:solidFill>
                <a:latin typeface="DM Sans"/>
              </a:rPr>
              <a:t>КОММЕРЧЕСКОЕ ПРЕДЛОЖЕНИЕ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9C4C4"/>
                </a:solidFill>
                <a:latin typeface="DM San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72E26"/>
                </a:solidFill>
                <a:latin typeface="DM Sans"/>
              </a:rPr>
              <a:t>О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601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DM Sans"/>
              </a:rPr>
              <a:t>ООО «Алгоритм» — ваш партнер в цифровизации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DM Sans"/>
              </a:rPr>
              <a:t>промышленности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88920"/>
            <a:ext cx="2606040" cy="32004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95351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41212"/>
                </a:solidFill>
                <a:latin typeface="DM Sans"/>
              </a:rPr>
              <a:t>Мы предлагаем полный цикл внедрения систем прогнозного технического обслуживания: от аудита оборудования и подбора аппаратных решений до развертывания программного обеспечения и обучения персонала.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788920"/>
            <a:ext cx="2606040" cy="32004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95351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B72E26"/>
                </a:solidFill>
                <a:latin typeface="DM Sans"/>
              </a:rPr>
              <a:t>Индивидуальный подход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Адаптируем решения под специфику конкретного предприятия и отрасли.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2788920"/>
            <a:ext cx="2606040" cy="32004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95351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B72E26"/>
                </a:solidFill>
                <a:latin typeface="DM Sans"/>
              </a:rPr>
              <a:t>Экспертная поддержка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Обеспечиваем консалтинг и сопровождение на всех этапах жизненного цикла системы.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2788920"/>
            <a:ext cx="2606040" cy="32004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5351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B72E26"/>
                </a:solidFill>
                <a:latin typeface="DM Sans"/>
              </a:rPr>
              <a:t>Мировые стандарты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Опираемся на проверенную технологическую базу, успешно зарекомендовавшую себя на крупнейших промышленных объектах.</a:t>
            </a:r>
          </a:p>
        </p:txBody>
      </p:sp>
      <p:pic>
        <p:nvPicPr>
          <p:cNvPr id="14" name="Picture 13" descr="algorit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989320"/>
            <a:ext cx="844009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880360"/>
          </a:xfrm>
          <a:prstGeom prst="rect">
            <a:avLst/>
          </a:prstGeom>
          <a:gradFill rotWithShape="1">
            <a:gsLst>
              <a:gs pos="0">
                <a:srgbClr val="B72E26"/>
              </a:gs>
              <a:gs pos="100000">
                <a:srgbClr val="8C1B13"/>
              </a:gs>
            </a:gsLst>
            <a:lin scaled="0" ang="156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0C3BF"/>
                </a:solidFill>
                <a:latin typeface="DM Sans"/>
              </a:rPr>
              <a:t>ТЕХНОЛОГИЧЕСКАЯ БАЗА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8686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DM Sans"/>
              </a:rPr>
              <a:t>Масштаб внедрения предлагаемых решений</a:t>
            </a:r>
          </a:p>
        </p:txBody>
      </p:sp>
      <p:pic>
        <p:nvPicPr>
          <p:cNvPr id="6" name="Picture 5" descr="algorit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502920"/>
            <a:ext cx="951428" cy="5669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160520"/>
            <a:ext cx="3566160" cy="18288"/>
          </a:xfrm>
          <a:prstGeom prst="rect">
            <a:avLst/>
          </a:prstGeom>
          <a:solidFill>
            <a:srgbClr val="6E6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34340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DM Sans"/>
              </a:rPr>
              <a:t>800+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5780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C4C4"/>
                </a:solidFill>
                <a:latin typeface="DM Sans"/>
              </a:rPr>
              <a:t>сотрудников в командах разработки и инженерной поддержки технологической платформы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4160520"/>
            <a:ext cx="3566160" cy="18288"/>
          </a:xfrm>
          <a:prstGeom prst="rect">
            <a:avLst/>
          </a:prstGeom>
          <a:solidFill>
            <a:srgbClr val="6E6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434340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DM Sans"/>
              </a:rPr>
              <a:t>250+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525780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C4C4"/>
                </a:solidFill>
                <a:latin typeface="DM Sans"/>
              </a:rPr>
              <a:t>патентов и зарегистрированных технических решений в основе платформы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4160520"/>
            <a:ext cx="3566160" cy="18288"/>
          </a:xfrm>
          <a:prstGeom prst="rect">
            <a:avLst/>
          </a:prstGeom>
          <a:solidFill>
            <a:srgbClr val="6E62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34340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DM Sans"/>
              </a:rPr>
              <a:t>882 000+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25780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C4C4"/>
                </a:solidFill>
                <a:latin typeface="DM Sans"/>
              </a:rPr>
              <a:t>датчиков, установленных на промышленных объектах по всему миру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685"/>
                </a:solidFill>
                <a:latin typeface="DM Sans"/>
              </a:rPr>
              <a:t>Показатели характеризуют технологическую базу, на которую опирается ООО «Алгоритм» при реализации проектов в РФ.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636008" cy="6858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72E26"/>
                </a:solidFill>
                <a:latin typeface="DM Sans"/>
              </a:rPr>
              <a:t>ОСНОВАНИЕ ДЛЯ ВЫБОРА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3657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Проверенная технология в руках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российского интегратора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ООО «Алгоритм» выступает единым центром ответственности: поставка, внедрение, поддержка и обучение на территории РФ.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60520"/>
            <a:ext cx="32004" cy="77724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16052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1B13"/>
                </a:solidFill>
                <a:latin typeface="DM Sans"/>
              </a:rPr>
              <a:t>Слайды 3–4 исходной презентации переработаны: акцент смещён с юрлица завода-изготовителя на масштаб внедрения технологии.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1051560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72E26"/>
                </a:solidFill>
                <a:latin typeface="DM San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051560"/>
            <a:ext cx="5577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41212"/>
                </a:solidFill>
                <a:latin typeface="DM Sans"/>
              </a:rPr>
              <a:t>Аудит и обследование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Определяем критичное оборудование, точки контроля и целевые показатели надёжности.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66360" y="2240280"/>
            <a:ext cx="644652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2350008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72E26"/>
                </a:solidFill>
                <a:latin typeface="DM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350008"/>
            <a:ext cx="5577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41212"/>
                </a:solidFill>
                <a:latin typeface="DM Sans"/>
              </a:rPr>
              <a:t>Подбор аппаратных решений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Формируем конфигурацию датчиков и шлюзов под условия конкретной площадки.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66360" y="3538728"/>
            <a:ext cx="644652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3648456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72E26"/>
                </a:solidFill>
                <a:latin typeface="DM San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648456"/>
            <a:ext cx="5577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41212"/>
                </a:solidFill>
                <a:latin typeface="DM Sans"/>
              </a:rPr>
              <a:t>Развёртывание ПО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Пусконаладка системы мониторинга и интеграция с существующим контуром предприятия.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66360" y="4837176"/>
            <a:ext cx="644652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4946904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72E26"/>
                </a:solidFill>
                <a:latin typeface="DM San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946904"/>
            <a:ext cx="5577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41212"/>
                </a:solidFill>
                <a:latin typeface="DM Sans"/>
              </a:rPr>
              <a:t>Обучение и сопровождение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Передаём компетенции персоналу заказчика и обеспечиваем поддержку на всём жизненном цикле.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72E26"/>
                </a:solidFill>
                <a:latin typeface="DM Sans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DM Sans"/>
              </a:rPr>
              <a:t>Беспроводные и проводные схемы сбора данных</a:t>
            </a:r>
          </a:p>
        </p:txBody>
      </p:sp>
      <p:pic>
        <p:nvPicPr>
          <p:cNvPr id="5" name="Picture 4" descr="algorit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951428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1965960"/>
            <a:ext cx="5486400" cy="41148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864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128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A8685"/>
                </a:solidFill>
                <a:latin typeface="DM Sans"/>
              </a:rPr>
              <a:t>БЕСПРОВОДНОЙ ШЛЮЗ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87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DM Sans"/>
              </a:rPr>
              <a:t>RH570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17520"/>
            <a:ext cx="4846320" cy="10972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193292" y="3291840"/>
            <a:ext cx="589788" cy="274320"/>
          </a:xfrm>
          <a:prstGeom prst="line">
            <a:avLst/>
          </a:prstGeom>
          <a:ln w="13970">
            <a:solidFill>
              <a:srgbClr val="B72E2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93292" y="3566160"/>
            <a:ext cx="589788" cy="0"/>
          </a:xfrm>
          <a:prstGeom prst="line">
            <a:avLst/>
          </a:prstGeom>
          <a:ln w="13970">
            <a:solidFill>
              <a:srgbClr val="B72E2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93292" y="3566160"/>
            <a:ext cx="589788" cy="274320"/>
          </a:xfrm>
          <a:prstGeom prst="line">
            <a:avLst/>
          </a:prstGeom>
          <a:ln w="13970">
            <a:solidFill>
              <a:srgbClr val="B72E2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124712" y="3223260"/>
            <a:ext cx="137160" cy="137160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4712" y="3497580"/>
            <a:ext cx="137160" cy="137160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4712" y="3771900"/>
            <a:ext cx="137160" cy="137160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593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A5757"/>
                </a:solidFill>
                <a:latin typeface="DM Sans"/>
              </a:rPr>
              <a:t>Датчики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163824"/>
            <a:ext cx="1417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A5757"/>
                </a:solidFill>
                <a:latin typeface="DM Sans"/>
              </a:rPr>
              <a:t>LoRaWAN · Wi-Fi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3346704"/>
            <a:ext cx="1051560" cy="438912"/>
          </a:xfrm>
          <a:prstGeom prst="roundRect">
            <a:avLst>
              <a:gd name="adj" fmla="val 18000"/>
            </a:avLst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DM Sans"/>
              </a:rPr>
              <a:t>RH570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803904"/>
            <a:ext cx="1417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A5757"/>
                </a:solidFill>
                <a:latin typeface="DM Sans"/>
              </a:rPr>
              <a:t>Шлюз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834640" y="3566160"/>
            <a:ext cx="1691640" cy="0"/>
          </a:xfrm>
          <a:prstGeom prst="line">
            <a:avLst/>
          </a:prstGeom>
          <a:ln w="1397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526280" y="3346704"/>
            <a:ext cx="1051560" cy="438912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DM Sans"/>
              </a:rPr>
              <a:t>СЕРВЕР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DM Sans"/>
              </a:rPr>
              <a:t>АСУ ТП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803904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A5757"/>
                </a:solidFill>
                <a:latin typeface="DM Sans"/>
              </a:rPr>
              <a:t>Хранение и анализ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160520"/>
            <a:ext cx="48463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DM Sans"/>
              </a:rPr>
              <a:t>Развёртывание без прокладки кабельных трасс — для распределённого и труднодоступного оборудования.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1965960"/>
            <a:ext cx="5486400" cy="41148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2011680"/>
            <a:ext cx="54864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22128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A8685"/>
                </a:solidFill>
                <a:latin typeface="DM Sans"/>
              </a:rPr>
              <a:t>ПРОВОДНОЙ ШЛЮЗ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87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DM Sans"/>
              </a:rPr>
              <a:t>RH2000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017520"/>
            <a:ext cx="4846320" cy="109728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16852" y="3291840"/>
            <a:ext cx="589788" cy="274320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16852" y="3566160"/>
            <a:ext cx="589788" cy="0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816852" y="3566160"/>
            <a:ext cx="589788" cy="274320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748272" y="3223260"/>
            <a:ext cx="137160" cy="137160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48272" y="3497580"/>
            <a:ext cx="137160" cy="137160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748272" y="3771900"/>
            <a:ext cx="137160" cy="137160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28232" y="39593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5A5757"/>
                </a:solidFill>
                <a:latin typeface="DM Sans"/>
              </a:rPr>
              <a:t>Датчики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3163824"/>
            <a:ext cx="1417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A5757"/>
                </a:solidFill>
                <a:latin typeface="DM Sans"/>
              </a:rPr>
              <a:t>RS-485 · Ethernet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06640" y="3346704"/>
            <a:ext cx="1051560" cy="438912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DM Sans"/>
              </a:rPr>
              <a:t>RH2000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803904"/>
            <a:ext cx="1417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A5757"/>
                </a:solidFill>
                <a:latin typeface="DM Sans"/>
              </a:rPr>
              <a:t>Шлюз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458200" y="3566160"/>
            <a:ext cx="1691640" cy="0"/>
          </a:xfrm>
          <a:prstGeom prst="line">
            <a:avLst/>
          </a:prstGeom>
          <a:ln w="13970">
            <a:solidFill>
              <a:srgbClr val="B72E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0149840" y="3346704"/>
            <a:ext cx="1051560" cy="438912"/>
          </a:xfrm>
          <a:prstGeom prst="roundRect">
            <a:avLst>
              <a:gd name="adj" fmla="val 18000"/>
            </a:avLst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DM Sans"/>
              </a:rPr>
              <a:t>СЕРВЕР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DM Sans"/>
              </a:rPr>
              <a:t>АСУ ТП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3803904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5A5757"/>
                </a:solidFill>
                <a:latin typeface="DM Sans"/>
              </a:rPr>
              <a:t>Хранение и анализ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4160520"/>
            <a:ext cx="48463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DM Sans"/>
              </a:rPr>
              <a:t>Стационарная схема для ответственных агрегатов с высокой частотой опроса и постоянным питанием.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262872" y="0"/>
            <a:ext cx="2926080" cy="6858000"/>
          </a:xfrm>
          <a:prstGeom prst="rect">
            <a:avLst/>
          </a:prstGeom>
          <a:gradFill rotWithShape="1">
            <a:gsLst>
              <a:gs pos="0">
                <a:srgbClr val="B72E26"/>
              </a:gs>
              <a:gs pos="100000">
                <a:srgbClr val="8C1B13"/>
              </a:gs>
            </a:gsLst>
            <a:lin scaled="0" ang="12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72E26"/>
                </a:solidFill>
                <a:latin typeface="DM Sans"/>
              </a:rPr>
              <a:t>СЕРВИСЫ ПОДДЕРЖКИ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8229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DM Sans"/>
              </a:rPr>
              <a:t>Услуги, которые ООО «Алгоритм» оказывает своим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DM Sans"/>
              </a:rPr>
              <a:t>клиентам в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32004" cy="6858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7589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41212"/>
                </a:solidFill>
                <a:latin typeface="DM Sans"/>
              </a:rPr>
              <a:t>Круглосуточный мониторинг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Непрерывный контроль состояния оборудования и оповещение об отклонениях.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37560"/>
            <a:ext cx="32004" cy="6858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337560"/>
            <a:ext cx="7589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41212"/>
                </a:solidFill>
                <a:latin typeface="DM Sans"/>
              </a:rPr>
              <a:t>Обучение персонала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Подготовка специалистов заказчика к самостоятельной работе с системой.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06240"/>
            <a:ext cx="32004" cy="685800"/>
          </a:xfrm>
          <a:prstGeom prst="rect">
            <a:avLst/>
          </a:prstGeom>
          <a:solidFill>
            <a:srgbClr val="B7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206240"/>
            <a:ext cx="7589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41212"/>
                </a:solidFill>
                <a:latin typeface="DM Sans"/>
              </a:rPr>
              <a:t>Консалтинг и сопровождение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Методическая поддержка на всех этапах жизненного цикла системы.</a:t>
            </a:r>
          </a:p>
        </p:txBody>
      </p:sp>
      <p:sp>
        <p:nvSpPr>
          <p:cNvPr id="12" name="Oval 11"/>
          <p:cNvSpPr/>
          <p:nvPr/>
        </p:nvSpPr>
        <p:spPr>
          <a:xfrm>
            <a:off x="9619488" y="4453128"/>
            <a:ext cx="512064" cy="512064"/>
          </a:xfrm>
          <a:prstGeom prst="ellipse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9765792" y="4709160"/>
            <a:ext cx="91440" cy="91440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9857232" y="4599432"/>
            <a:ext cx="155448" cy="20116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555480" y="5074920"/>
            <a:ext cx="2377440" cy="14630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550" b="1">
                <a:solidFill>
                  <a:srgbClr val="FFFFFF"/>
                </a:solidFill>
                <a:latin typeface="DM Sans"/>
              </a:rPr>
              <a:t>Сертификация и соответствие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3D8D5"/>
                </a:solidFill>
                <a:latin typeface="DM Sans"/>
              </a:rPr>
              <a:t>Подтверждающие документы производителя приводятся справочно, в приложении к предложению.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B72E26"/>
              </a:gs>
              <a:gs pos="100000">
                <a:srgbClr val="14121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0C3BF"/>
                </a:solidFill>
                <a:latin typeface="DM Sans"/>
              </a:rPr>
              <a:t>РАЗДЕЛ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6400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DM Sans"/>
              </a:rPr>
              <a:t>Международный опыт применения технологии на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DM Sans"/>
              </a:rPr>
              <a:t>крупнейших промышленных объектах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9C4C4"/>
                </a:solidFill>
                <a:latin typeface="DM Sans"/>
              </a:rPr>
              <a:t>Раздел объединяет проекты внедрения на предприятиях горнодобывающей, металлургической и энергетической отраслей.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627631" cy="384048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DM Sans"/>
              </a:rPr>
              <a:t>Горная добыча</a:t>
            </a:r>
          </a:p>
        </p:txBody>
      </p:sp>
      <p:sp>
        <p:nvSpPr>
          <p:cNvPr id="8" name="Rectangle 7"/>
          <p:cNvSpPr/>
          <p:nvPr/>
        </p:nvSpPr>
        <p:spPr>
          <a:xfrm>
            <a:off x="2313431" y="5074920"/>
            <a:ext cx="1426464" cy="384048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DM Sans"/>
              </a:rPr>
              <a:t>Металлургия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877055" y="5074920"/>
            <a:ext cx="1325880" cy="384048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DM Sans"/>
              </a:rPr>
              <a:t>Энергетика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0095" y="5074920"/>
            <a:ext cx="2532888" cy="384048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DM Sans"/>
              </a:rPr>
              <a:t>Цементное производство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623560"/>
            <a:ext cx="32004" cy="548640"/>
          </a:xfrm>
          <a:prstGeom prst="rect">
            <a:avLst/>
          </a:prstGeom>
          <a:solidFill>
            <a:srgbClr val="E89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62356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938C"/>
                </a:solidFill>
                <a:latin typeface="DM Sans"/>
              </a:rPr>
              <a:t>Слайды 27–33 исходной презентации собираются под этим заголовком. На слайде 29 фотография убирается — остаётся только график.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09728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  <a:latin typeface="DM Sans"/>
              </a:rPr>
              <a:t>Снижение внеплановых простоев,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DM Sans"/>
              </a:rPr>
              <a:t>по направлениям внедрения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75320" y="3136392"/>
            <a:ext cx="3337560" cy="0"/>
          </a:xfrm>
          <a:prstGeom prst="line">
            <a:avLst/>
          </a:prstGeom>
          <a:ln w="9525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483917" y="1947672"/>
            <a:ext cx="417195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6757" y="1691640"/>
            <a:ext cx="6915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DM Sans"/>
              </a:rPr>
              <a:t>34%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182112"/>
            <a:ext cx="83439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8D8D6"/>
                </a:solidFill>
                <a:latin typeface="DM Sans"/>
              </a:rPr>
              <a:t>Добыча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18307" y="2157447"/>
            <a:ext cx="417195" cy="978945"/>
          </a:xfrm>
          <a:prstGeom prst="rect">
            <a:avLst/>
          </a:prstGeom>
          <a:solidFill>
            <a:srgbClr val="F3D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1147" y="1901415"/>
            <a:ext cx="6915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D6D3"/>
                </a:solidFill>
                <a:latin typeface="DM Sans"/>
              </a:rPr>
              <a:t>28%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9710" y="3182112"/>
            <a:ext cx="83439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8D8D6"/>
                </a:solidFill>
                <a:latin typeface="DM Sans"/>
              </a:rPr>
              <a:t>Металлургия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52697" y="2367221"/>
            <a:ext cx="417195" cy="769171"/>
          </a:xfrm>
          <a:prstGeom prst="rect">
            <a:avLst/>
          </a:prstGeom>
          <a:solidFill>
            <a:srgbClr val="F3D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15537" y="2111189"/>
            <a:ext cx="6915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D6D3"/>
                </a:solidFill>
                <a:latin typeface="DM Sans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44100" y="3182112"/>
            <a:ext cx="83439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8D8D6"/>
                </a:solidFill>
                <a:latin typeface="DM Sans"/>
              </a:rPr>
              <a:t>Энергетика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87087" y="2472108"/>
            <a:ext cx="417195" cy="664284"/>
          </a:xfrm>
          <a:prstGeom prst="rect">
            <a:avLst/>
          </a:prstGeom>
          <a:solidFill>
            <a:srgbClr val="F3D6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49927" y="2216076"/>
            <a:ext cx="69151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3D6D3"/>
                </a:solidFill>
                <a:latin typeface="DM Sans"/>
              </a:rPr>
              <a:t>19%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8490" y="3182112"/>
            <a:ext cx="83439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8D8D6"/>
                </a:solidFill>
                <a:latin typeface="DM Sans"/>
              </a:rPr>
              <a:t>Цемент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611880"/>
            <a:ext cx="3337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AEAC"/>
                </a:solidFill>
                <a:latin typeface="DM Sans"/>
              </a:rPr>
              <a:t>Иллюстративные данные — приводятся как референс и уточняются по факту внедрения.</a:t>
            </a:r>
          </a:p>
        </p:txBody>
      </p:sp>
      <p:pic>
        <p:nvPicPr>
          <p:cNvPr id="28" name="Picture 27" descr="algorit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9514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67528" cy="685800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goritm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1304378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703320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M Sans"/>
              </a:rPr>
              <a:t>ООО «Алгоритм»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5196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C4C4"/>
                </a:solidFill>
                <a:latin typeface="DM Sans"/>
              </a:rPr>
              <a:t>Комплексные решения для предиктивного обслуживания оборудования.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965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ТЕЛЕФОН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25856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+7 (988) 492-81-03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301752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31546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344728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info@algoritmkrsk.ru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420624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4343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САЙТ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463600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https://algoritmkrsk.ru/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539496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5532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72E26"/>
                </a:solidFill>
                <a:latin typeface="DM Sans"/>
              </a:rPr>
              <a:t>АДРЕС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582472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660075, Красноярский край, г. Красноярск,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ул. Маерчака, д. 8, офис 318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