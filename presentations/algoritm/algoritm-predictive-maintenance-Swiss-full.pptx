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8.jpg"/><Relationship Id="rId4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Relationship Id="rId4" Type="http://schemas.openxmlformats.org/officeDocument/2006/relationships/image" Target="../media/image46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5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9048" y="0"/>
            <a:ext cx="6099048" cy="68580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5A2417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644516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420624"/>
            <a:ext cx="1600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A5757"/>
                </a:solidFill>
                <a:latin typeface="Arial"/>
              </a:rPr>
              <a:t>Комплексный подход к решению задач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029200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1212"/>
                </a:solidFill>
                <a:latin typeface="Arial"/>
              </a:rPr>
              <a:t>Промышленный мониторинг и предиктивное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1212"/>
                </a:solidFill>
                <a:latin typeface="Arial"/>
              </a:rPr>
              <a:t>обслуживание оборудования ГОК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A5757"/>
                </a:solidFill>
                <a:latin typeface="Arial"/>
              </a:rPr>
              <a:t>Коммерческое предложение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4572000"/>
            <a:ext cx="658368" cy="38404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4572000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691640"/>
            <a:ext cx="4160520" cy="2569464"/>
          </a:xfrm>
          <a:prstGeom prst="rect">
            <a:avLst/>
          </a:prstGeom>
          <a:solidFill>
            <a:srgbClr val="1B1B1B"/>
          </a:solidFill>
          <a:ln>
            <a:noFill/>
          </a:ln>
          <a:effectLst>
            <a:outerShdw blurRad="110000" dist="30000" dir="5400000" rotWithShape="0">
              <a:srgbClr val="1A1815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upercare_le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783080"/>
            <a:ext cx="3977640" cy="238658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12580" y="4261104"/>
            <a:ext cx="640080" cy="201168"/>
          </a:xfrm>
          <a:prstGeom prst="rect">
            <a:avLst/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46820" y="4462272"/>
            <a:ext cx="1371600" cy="54864"/>
          </a:xfrm>
          <a:prstGeom prst="rect">
            <a:avLst/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Инженерно-сервисный центр: г. Красноярск, 2026.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РЕЗУЛЬТАТЫ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Измеримые результаты предиктивного обслуживания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Совокупный эффект от внедрения технологии на промышленных объектах — снижение затрат на техническое обслуживание оценивается в 4 000 000 $.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Arial"/>
              </a:rPr>
              <a:t>−57%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Arial"/>
              </a:rPr>
              <a:t>отказов механического оборудования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Arial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Arial"/>
              </a:rPr>
              <a:t>−80%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Arial"/>
              </a:rPr>
              <a:t>времени простоя из-за механических отказов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Arial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Arial"/>
              </a:rPr>
              <a:t>−37%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Arial"/>
              </a:rPr>
              <a:t>затрат на аутсорсинг технического обслуживания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Arial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pic>
        <p:nvPicPr>
          <p:cNvPr id="18" name="Picture 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E7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О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ООО «Алгоритм» — ваш партнер в цифровизации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промышленности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606040" cy="3175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41212"/>
                </a:solidFill>
                <a:latin typeface="Arial"/>
              </a:rPr>
              <a:t>Мы предлагаем полный цикл внедрения систем прогнозного технического обслуживания: от аудита оборудования и подбора аппаратных решений до развертывания программного обеспечения и обучения персонала.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Arial"/>
              </a:rPr>
              <a:t>Индивидуальный подход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Arial"/>
              </a:rPr>
              <a:t>Адаптируем решения под специфику конкретного предприятия и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Arial"/>
              </a:rPr>
              <a:t>Экспертная поддержка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Arial"/>
              </a:rPr>
              <a:t>Обеспечиваем консалтинг и сопровождение на всех этапах жизненного цикла системы.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Arial"/>
              </a:rPr>
              <a:t>Мировые стандарты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Arial"/>
              </a:rPr>
              <a:t>Опираемся на проверенную технологическую базу, успешно зарекомендовавшую себя на крупнейших промышленных объектах.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491059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ТЕХНОЛОГИЧЕСКАЯ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Масштаб и технологическая база платформы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1298448"/>
            <a:ext cx="0" cy="5102352"/>
          </a:xfrm>
          <a:prstGeom prst="line">
            <a:avLst/>
          </a:prstGeom>
          <a:ln w="9525">
            <a:solidFill>
              <a:srgbClr val="D8D4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29844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МАСШТАБ ВНЕДРЕНИЯ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64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3113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стран — география работы технологической платформы на крупнейших промышленных объектах мира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1576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188 000+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единиц оборудования находится под непрерывным онлайн-мониторингом платформы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6732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587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882 000+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3425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успешно установленных и работающих датчиков вибрации и температуры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1888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91032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3.0 ТБ+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8581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данных телеметрии обрабатывается интеллектуальными ИИ-алгоритмами ежедневно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9844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НАУЧНЫЙ ПОТЕНЦИАЛ ПЛАТФОРМЫ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664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7556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3113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команды — доля специалистов НИОКР (R&amp;D) в общей численности персонала платформы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71576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80720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250+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28269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патентов и зарегистрированных прав на собственное ПО и аппаратные решения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376732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587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800+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33425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сотрудников — общий штат экосистемы платформы, включая команду инженеров-диагностов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81888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91032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38581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национальных стандарта, разработанных на базе технологии техобслуживания оборудования</a:t>
            </a:r>
          </a:p>
        </p:txBody>
      </p:sp>
      <p:pic>
        <p:nvPicPr>
          <p:cNvPr id="32" name="Picture 3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Диагностируемое вращающееся оборудование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Цель — обеспечить долгосрочную надёжную и безопасную эксплуатацию оборудования, избежать незапланированных простоев и вторичных аварий.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Мельницы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Шаровые и полуавтоматические мельницы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3433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3433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2305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Компрессоры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Винтовые и воздушные компрессоры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8226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18226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7098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Насосы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Шламовые и центробежные насосы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53019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019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1891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Конвейеры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Ленточные конвейеры и приводы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7812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7812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6684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Подъёмные машины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Шахтные подъёмные установки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Вентиляторы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Вентиляторы главного проветривания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3433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3433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2305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Дробилки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Щековые, конусные, роторные дробилки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18226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18226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7098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Мостовые краны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Грузоподъёмное оборудование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53019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53019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1891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Прокатные станы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Металлургическое оборудование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87812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7812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6684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Прочее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Ж/д транспорт, ЦБП, винодельческое и медицинское оборудование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Архитектура системы: надёжная передача данных и гибкая интеграция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ВЕРХНИЙ УРОВЕНЬ — КУДА СОБИРАЮТСЯ ДАННЫЕ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20"/>
            <a:ext cx="5449824" cy="89611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20"/>
            <a:ext cx="32004" cy="89611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517550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Локальный сервер предприятия (On-Premise) / облачный сервер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Обеспечивает 100% безопасность данных внутри закрытого периметра завода или гибкий доступ через облако.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1874520"/>
            <a:ext cx="5449824" cy="89611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1874520"/>
            <a:ext cx="32004" cy="89611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517550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Программный комплекс SuperCare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Интеллектуальный центр анализа больших данных и ИИ-диагностики.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770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FABAA"/>
                </a:solidFill>
                <a:latin typeface="Arial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ЦЕНТРАЛЬНЫЙ УРОВЕНЬ — ИНФРАСТРУКТУРА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11064240" cy="89611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32004" cy="89611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429000"/>
            <a:ext cx="10789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Интеграция в локальную сеть предприятия (LAN / ВОЛС)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Передача данных на сервер по защищённым промышленным протоколам.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42336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FABAA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НИЖНИЙ УРОВЕНЬ — ТРИ ВАРИАНТА СБОРА ДАННЫХ С АГРЕГАТОВ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3578352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800600"/>
            <a:ext cx="32004" cy="1051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892040"/>
            <a:ext cx="3304032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Вариант 1. Высокоскоростной проводной сбор (кабель / оптика / Wi-Fi)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Для оборудования: критически важные и энергонасыщенные агрегаты с постоянным питанием — дробилки, главные приводы, масляные прессы.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1584" y="4800600"/>
            <a:ext cx="3578352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1584" y="4800600"/>
            <a:ext cx="32004" cy="1051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7888" y="4892040"/>
            <a:ext cx="3304032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Вариант 2. Беспроводная сеть малой дальности (ZigBee)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Для оборудования: компактные узлы и конвейерные линии на средних дистанциях — шахтные подъёмники, скребки, сушильные барабаны.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4528" y="4800600"/>
            <a:ext cx="3578352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34528" y="4800600"/>
            <a:ext cx="32004" cy="1051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0832" y="4892040"/>
            <a:ext cx="3304032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Вариант 3. Дальнобойная беспроводная сеть (LoRa / 4G / 5G)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Для оборудования: удалённые объекты в радиусе до 1 км без прокладки кабельных трасс — воздуходувки, насосные станции, компрессоры.</a:t>
            </a:r>
          </a:p>
        </p:txBody>
      </p:sp>
      <p:pic>
        <p:nvPicPr>
          <p:cNvPr id="28" name="Picture 2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Беспроводной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Консольный насос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Двухопорный насос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RH605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RH560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Вентилятор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Arial"/>
              </a:rPr>
              <a:t>Одноосные и трёхосные беспроводные датчики вибрации (RH505/RH605, RW506/RW606) передают данные на шлюз по радиоканалу — без прокладки кабельных трасс.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0168"/>
            <a:ext cx="32004" cy="70408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630168"/>
            <a:ext cx="4974336" cy="8412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🛠️ Монтаж за 15 минут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Датчики фиксируются на оборудовании с помощью шпилек, магнитов или промышленного клея. Никаких кабельных трасс и штробления.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71416"/>
            <a:ext cx="32004" cy="70408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4471416"/>
            <a:ext cx="4974336" cy="8412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🔋 До 3 лет автономной работы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Датчики оснащены встроенными промышленными батареями повышенной ёмкости. Замена элементов питания не требует демонтажа самого датчика.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12664"/>
            <a:ext cx="32004" cy="70408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312664"/>
            <a:ext cx="4974336" cy="8412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📡 Помехозащищённый радиоканал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Данные передаются на промышленный шлюз в автоматическом режиме. Система устойчива к электромагнитным помехам от мощных электродвигателей.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ireless_compon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775647"/>
            <a:ext cx="2615184" cy="10572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ireless_softw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7844" y="1453896"/>
            <a:ext cx="2501152" cy="17007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989320" y="3310128"/>
            <a:ext cx="5623560" cy="1691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ireless_inst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374136"/>
            <a:ext cx="2606040" cy="1563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498080" y="4663440"/>
            <a:ext cx="260604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Монтаж беспроводных датчиков на промышленном объекте</a:t>
            </a:r>
          </a:p>
        </p:txBody>
      </p:sp>
      <p:pic>
        <p:nvPicPr>
          <p:cNvPr id="20" name="Picture 19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Гориз.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RH103T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Верт. дробилка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RH104T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RH2000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Зубч.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RH113T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Arial"/>
              </a:rPr>
              <a:t>Проводные датчики с верхним или боковым (360°) выходом кабеля подключаются к шлюзу RH2000 — стационарная схема для ответственных агрегатов с постоянным питанием.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016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630168"/>
            <a:ext cx="497433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⚡ Постоянное питание и непрерывный сбор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Схема с подключением к шлюзу RH2000 обеспечивает ежесекундный мониторинг без задержек. Идеально для агрегатов класса «А», где секунда простоя стоит миллионы рублей.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2628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4526280"/>
            <a:ext cx="497433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🛡️ Защита кабеля на 360°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Датчики поставляются с верхним или боковым выходом кабеля в металлической бронерукаве. Полная защита от механических повреждений, пыли, влаги и вибрации.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42239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422392"/>
            <a:ext cx="497433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🎯 Анализ переходных процессов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Проводная схема позволяет ловить дефекты в моменты пуска и останова агрегата, когда нагрузка на подшипники и редукторы максимальна.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ired_senso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703" y="1453896"/>
            <a:ext cx="1564434" cy="170078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ired_gatew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9131" y="1453896"/>
            <a:ext cx="1978578" cy="17007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989320" y="3310128"/>
            <a:ext cx="5623560" cy="13258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ired_softw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269" y="3374136"/>
            <a:ext cx="1673662" cy="11978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9320" y="4681728"/>
            <a:ext cx="56235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A5757"/>
                </a:solidFill>
                <a:latin typeface="Arial"/>
              </a:rPr>
              <a:t>Программный комплекс обеспечивает глубокий спектральный анализ формы волны вибрации в реальном времени, выявляя скрытые трещины и микросколы задолго до их визуального проявления.</a:t>
            </a:r>
          </a:p>
        </p:txBody>
      </p:sp>
      <p:pic>
        <p:nvPicPr>
          <p:cNvPr id="20" name="Picture 19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КЕЙС ИЗ ПРАКТИКИ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Arial"/>
              </a:rPr>
              <a:t>От аномалии до устранения дефекта — за 5 часов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Объект: подземный резервный погрузчик (критически важное оборудование шахты)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🛑 02:00 ночи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e_char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282388"/>
            <a:ext cx="2478024" cy="12142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Внезапный скачок вибрации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Телеметрия в реальном времени зафиксировала резкое аномальное усиление вибрации на двигателе погрузчика. Система автоматически отправила сигнал тревоги.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2752344"/>
            <a:ext cx="164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FABAA"/>
                </a:solidFill>
                <a:latin typeface="Arial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33756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🧠 +15 минут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se_control_r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568" y="2459980"/>
            <a:ext cx="2478024" cy="859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3756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Мгновенный экспертный анализ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Дежурный эксперт удалённого диагностического центра проанализировал спектр волны и выдал заключение: «Критический дефект подшипника. Риск заклинивания двигателя».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752344"/>
            <a:ext cx="164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FABAA"/>
                </a:solidFill>
                <a:latin typeface="Arial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12648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🛠️ 06:43 утра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se_bea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303628"/>
            <a:ext cx="2478024" cy="117175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2648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Точечный плановый ремонт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Бригада заехала в шахту и оперативно заменила повреждённый узел. Сепаратор подшипника был полностью разрушен — до заклинивания и пожара оставались считанные часы.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1664" y="2752344"/>
            <a:ext cx="164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FABAA"/>
                </a:solidFill>
                <a:latin typeface="Arial"/>
              </a:rPr>
              <a:t>→</a:t>
            </a:r>
          </a:p>
        </p:txBody>
      </p:sp>
      <p:sp>
        <p:nvSpPr>
          <p:cNvPr id="27" name="Oval 26"/>
          <p:cNvSpPr/>
          <p:nvPr/>
        </p:nvSpPr>
        <p:spPr>
          <a:xfrm>
            <a:off x="891540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✅ 07:00 утра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ase_chart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2323689"/>
            <a:ext cx="2478024" cy="113163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91540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Возврат в штатный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После замены подшипника форма волны и графики вибрации мгновенно вернулись к норме. Погрузчик запущен в работу.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32120"/>
            <a:ext cx="11064240" cy="62179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32120"/>
            <a:ext cx="45720" cy="62179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559552"/>
            <a:ext cx="6400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3402B"/>
                </a:solidFill>
                <a:latin typeface="Arial"/>
              </a:rPr>
              <a:t>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586984"/>
            <a:ext cx="987552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3402B"/>
                </a:solidFill>
                <a:latin typeface="Arial"/>
              </a:rPr>
              <a:t>Главный вывод: результат для заказчика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1212"/>
                </a:solidFill>
                <a:latin typeface="Arial"/>
              </a:rPr>
              <a:t>Предотвращено внезапное аварийное отключение, исключены миллионные экономические потери от простоя линии и ликвидирована угроза нарушению техники безопасности (ТБ) под землёй.</a:t>
            </a:r>
          </a:p>
        </p:txBody>
      </p:sp>
      <p:pic>
        <p:nvPicPr>
          <p:cNvPr id="37" name="Picture 36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54B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454B51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8288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5C6267"/>
                </a:solidFill>
                <a:latin typeface="Arial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0916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Как сократить простои и затраты на контроле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оборудования в открытом карьере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8DADC"/>
                </a:solidFill>
                <a:latin typeface="Arial"/>
              </a:rPr>
              <a:t>Пилотное внедрение системы мониторинга: эффект от 30% снижения внеплановых остановок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457200"/>
            <a:ext cx="767281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69680" y="288036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−30%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3447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8DADC"/>
                </a:solidFill>
                <a:latin typeface="Arial"/>
              </a:rPr>
              <a:t>простоев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402336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11 мес.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4590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8DADC"/>
                </a:solidFill>
                <a:latin typeface="Arial"/>
              </a:rPr>
              <a:t>окупаемость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Сценарии применения: контроль оборудования на всех этапах — от добычи до плавки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Сокращаем внеплановые простои на 30–40%, окупаемость — 11–14 месяцев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3517392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58568"/>
            <a:ext cx="351739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3402B"/>
                </a:solidFill>
                <a:latin typeface="Arial"/>
              </a:rPr>
              <a:t>−30–40%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4056"/>
            <a:ext cx="351739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простоев оборудования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2064" y="2167128"/>
            <a:ext cx="3517392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2064" y="2258568"/>
            <a:ext cx="351739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3402B"/>
                </a:solidFill>
                <a:latin typeface="Arial"/>
              </a:rPr>
              <a:t>11 мес.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2064" y="2734056"/>
            <a:ext cx="351739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средняя окупаемость проекта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5488" y="2167128"/>
            <a:ext cx="3517392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5488" y="2258568"/>
            <a:ext cx="351739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3402B"/>
                </a:solidFill>
                <a:latin typeface="Arial"/>
              </a:rPr>
              <a:t>до 50 ед.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5488" y="2734056"/>
            <a:ext cx="351739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оборудования на участке под контролем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55848"/>
            <a:ext cx="3614928" cy="1234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55848"/>
            <a:ext cx="27432" cy="12344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355848"/>
            <a:ext cx="3395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Добыча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Шахтные подъёмные машины, ленточные конвейеры, буровые установки, вентиляторы главного проветривания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3296" y="3355848"/>
            <a:ext cx="3614928" cy="1234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3296" y="3355848"/>
            <a:ext cx="27432" cy="12344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2168" y="3355848"/>
            <a:ext cx="3395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Переработка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Щёковые и конусные дробилки, шаровые мельницы, флотационное и обогатительное оборудование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7952" y="3355848"/>
            <a:ext cx="3614928" cy="1234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7952" y="3355848"/>
            <a:ext cx="27432" cy="12344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6824" y="3355848"/>
            <a:ext cx="3395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Плавка и металлургия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Прокатные станы, винтовые компрессоры, насосные станции, мостовые краны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77316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Мельница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36192" y="477316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Дробилка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3744" y="4773168"/>
            <a:ext cx="64465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Насос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8124" y="4773168"/>
            <a:ext cx="103327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Вентилятор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1124" y="477316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Конвейер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8676" y="4773168"/>
            <a:ext cx="1499616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Подъёмная машина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18020" y="4773168"/>
            <a:ext cx="103327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Компрессор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61020" y="4773168"/>
            <a:ext cx="126644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Arial"/>
              </a:rPr>
              <a:t>Мостовой кран</a:t>
            </a:r>
          </a:p>
        </p:txBody>
      </p:sp>
      <p:pic>
        <p:nvPicPr>
          <p:cNvPr id="32" name="Picture 3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Arial"/>
              </a:rPr>
              <a:t>Для оборудования класса «C/D» — сокращение персонала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532888"/>
            <a:ext cx="594360" cy="0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8992" y="2468880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Датчики RW161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LoRa, до 1 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Шлюз LoRa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Локальная сеть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d_install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150409"/>
            <a:ext cx="2935224" cy="788317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RW161 — беспроводные датчики вибрации версии LoRa для оборудования уровня C/D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Экономичность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Конкурентоспособные цены для всех решений класса.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Удалённость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Радиус действия LoRa-канала — до 1 км без прокладки кабеля.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Замена инспекций персоналом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Сокращение ежедневных плановых и внеплановых проверок по сигналу тревоги.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Сбор формы волны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Дополнительная функция по сравнению с типовыми датчиками LoRa других производителей.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974336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974336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Интеллектуальный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Автоматическая настройка порога и интеллектуальная сигнализация аварий.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587044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587044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IP68 / ATEX — взрывозащищённое исполнение.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Arial"/>
              </a:rPr>
              <a:t>Для оборудования класса «B» — анализ неисправностей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264664"/>
            <a:ext cx="594360" cy="268224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268224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220065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273710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RH505/605, RW625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ZigBee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RH570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Локальная сеть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150409"/>
            <a:ext cx="2935224" cy="788317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RH570 — беспроводная станция сбора данных, датчики по ZigBee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Высокая производительность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Вибрация, температура, скорость (опц.) 3 в 1; диапазон 2–20 кГц (±3 дБ).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Расширенный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Фильтр ложных сигналов, определение запуска, более 20 специальных индексов.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Длина сбора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До 2048 Кб (819 200 линий) на измерение.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Срок службы батареи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До 3 лет автономной работы.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974336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4974336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IP68 / ATEX — взрывозащищённый сертификат.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Arial"/>
              </a:rPr>
              <a:t>Для оборудования класса «A» — анализ точности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264664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220065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273710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IEPE, обороты, частицы масла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RS485 / WiFi / 4-20mA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RH2000 / Exd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9340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SuperCare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Система мониторинга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347256"/>
            <a:ext cx="2935224" cy="394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RH2000 / RH2000 Exd — взрывозащищённая станция сбора данных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Высокая совместимость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IEPE-датчики вибрации, датчики оборотов, частиц металла в масле.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Характеристики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Постоянный сбор (индикация 30 с, форма волны 30 мин); 0,1–15 кГц (±3 дБ).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Интеллектуальный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Более 50 специальных индексов, диагностика с помощью ИИ.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IP68 / ATEX.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Контроль неисправностей оборудования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3383280"/>
              </a:tblGrid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ТИП НЕИСПРАВНОСТИ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СПЕЦИФИЧЕСКИЕ НЕИСПРАВНОСТИ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Дефект привода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Дисбаланс, несоосность, ослабление, эксцентриситет ротора, изгиб вала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Дефект подшипника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Сколы, износ, раковины, трещины, деформация сепаратора, недостаток смазки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Неисправность редуктора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Недостаток смазки, плохое зацепление, износ и поломка зубьев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Неисправность смазки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Arial"/>
                        </a:rPr>
                        <a:t>Загрязнение масла, химический износ, посторонние предметы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89320" y="1389888"/>
            <a:ext cx="5623560" cy="3840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fect_photo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17" y="1453896"/>
            <a:ext cx="4559166" cy="3712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383D4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Программные решения для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предиктивного технического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обслуживания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SuperCare — платформа предиктивного обслуживания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2860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percar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453896"/>
            <a:ext cx="3596640" cy="21579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72200" y="1389888"/>
            <a:ext cx="5440680" cy="22860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percare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64" y="1453896"/>
            <a:ext cx="4052552" cy="21579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13048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Архитектура больших данных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Удовлетворяет потребности для долгосрочного использования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3296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3296" y="3813048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168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B/S структура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Совместима с различными браузерами, не требует установки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7952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7952" y="3813048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6824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Самоопределяемое размещение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Быстрая настройка макета страницы под стилевые требования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76572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Профессиональная версия Pro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Унифицированный контроль верхней группы предприятий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3296" y="4576572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92168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Статистические таблицы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Глубокая аналитика по всем предприятиям для руководителя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7952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7952" y="4576572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6824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Совместимость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Интеграция с DCS/PLC/MES/SCADA и другими системами</a:t>
            </a:r>
          </a:p>
        </p:txBody>
      </p:sp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Профессиональная диагностика на основе 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834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i_panel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359" y="1453896"/>
            <a:ext cx="4365522" cy="27066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72200" y="1389888"/>
            <a:ext cx="5440680" cy="2834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i_panel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779" y="1453896"/>
            <a:ext cx="4365522" cy="27066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361688"/>
            <a:ext cx="5477256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36168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4361688"/>
            <a:ext cx="5257800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30+ инструментов профессиональной диагностики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Удовлетворяют потребности инженеров в поиске всех видов неисправностей вращающегося оборудования.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5624" y="4361688"/>
            <a:ext cx="5477256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35624" y="436168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4361688"/>
            <a:ext cx="5257800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AI-диагностика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Алгоритм автоматически даёт выводы по диагностике неисправностей и рекомендации по обслуживанию.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Удобный доступ к оборудованию с мобильного устройства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Контроль статуса в режиме реального времени, просмотр статистики и управление тревогами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2075688"/>
            <a:ext cx="1814732" cy="39319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on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666974"/>
            <a:ext cx="1686716" cy="27493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715768"/>
            <a:ext cx="2834640" cy="17373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0" y="2807208"/>
            <a:ext cx="2651760" cy="1554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on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3029224"/>
            <a:ext cx="2523744" cy="111044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78240" y="2075688"/>
            <a:ext cx="1814732" cy="39319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_rig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2248" y="2270596"/>
            <a:ext cx="1686716" cy="35421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EPM — простой мониторинг и диагностика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852160" cy="26517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pm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111" y="1453896"/>
            <a:ext cx="4495218" cy="2523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0" y="1389888"/>
            <a:ext cx="32004" cy="7315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9984" y="138988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B/S структура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Совместима с различным браузером, не требует установки на рабочем месте.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258568"/>
            <a:ext cx="32004" cy="7315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25856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Статистика состояния оборудования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Помогает управляющим быстро понять долгосрочный статус оборудования.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3127248"/>
            <a:ext cx="32004" cy="7315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9984" y="312724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2.5D моделирование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Реализует наглядное моделирование оборудования и точек измерения в реальном времени.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24528"/>
            <a:ext cx="562356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pm_machine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3216" y="4288536"/>
            <a:ext cx="2134408" cy="160934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293216" y="5623560"/>
            <a:ext cx="2134408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Мониторинг состояния оборудования в реальном времени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224528"/>
            <a:ext cx="534924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pm_wavefor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111" y="4288536"/>
            <a:ext cx="2136297" cy="160934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870111" y="5623560"/>
            <a:ext cx="2136297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Профессиональные инструменты диагностики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383D4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Сервисы для обеспечения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предиктивного технического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обслуживания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Шесть услуг обеспечивают эффективность диагностики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3774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rvices_control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825" y="1453896"/>
            <a:ext cx="3174590" cy="22494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8825" y="3429000"/>
            <a:ext cx="317459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Круглосуточный мониторинг в реальном времени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89888"/>
            <a:ext cx="5440680" cy="23774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rvices_campu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0440" y="1453896"/>
            <a:ext cx="3124200" cy="2249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30440" y="3429000"/>
            <a:ext cx="312420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Синхронизация данных в облачном диагностическом центре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24×7 экспертный мониторинг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0968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10968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9840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Оценка после техобслуживания на месте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3296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2168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Экспертный консалтинг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Ежемесячный отчёт о состоянии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97952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7952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6824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Постоянное обучение персонала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60280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60280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79152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Консалтинг диагностического центра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Обучение персонала и авторизация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44168"/>
            <a:ext cx="5248656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Международный центр обучения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Обучение вибродиагностике и сертификация инженеров уровней II, III и IV.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2140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121408"/>
            <a:ext cx="5248656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Передача компетенций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Помощь клиентам в создании собственной системы O&amp;M с ИИ-алгоритмом.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4416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344168"/>
            <a:ext cx="5294376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Сертифицированная платформа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Международная GL-сертифицированная платформа технического обслуживания.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12140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2121408"/>
            <a:ext cx="5294376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Сопровождение внедрения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Достижение интеллектуальной революции в перцепции и управлении оборудованием.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81528"/>
            <a:ext cx="5394960" cy="19659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ing_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303" y="3145536"/>
            <a:ext cx="2625634" cy="183794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933303" y="4709160"/>
            <a:ext cx="262563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Обучение инженеров вибродиагностике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81528"/>
            <a:ext cx="5440680" cy="19659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raining_serverr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2072" y="3145536"/>
            <a:ext cx="2540936" cy="183794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622072" y="4709160"/>
            <a:ext cx="2540936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Инфраструктура диагностического центра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846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Сертификаты — справочно, в приложении к предложению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383D4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Международный опыт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применения технологии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0C3BF"/>
                </a:solidFill>
                <a:latin typeface="Arial"/>
              </a:rPr>
              <a:t>МАСШТАБ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Продукты и услуги на базе технологии внедрены более чем в 35 странах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36576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Arial"/>
              </a:rPr>
              <a:t>35+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C4C4"/>
                </a:solidFill>
                <a:latin typeface="Arial"/>
              </a:rPr>
              <a:t>стран, где решения на базе этой технологической платформы работают на промышленных объектах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834640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Россия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952744" y="2834640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Германия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0296" y="2834640"/>
            <a:ext cx="134416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Великобритания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2834640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Швеция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2834640"/>
            <a:ext cx="1033272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Нидерланды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69296" y="2834640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Испания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273552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Италия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52744" y="3273552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Марокко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62572" y="3273552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Пакистан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50124" y="3273552"/>
            <a:ext cx="644652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Индия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04504" y="3273552"/>
            <a:ext cx="111099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Южная Корея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5228" y="3273552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Таиланд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3712464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Малайзия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8192" y="3712464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Сингапур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95744" y="3712464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Индонезия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61019" y="3712464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Австралия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4" y="3712464"/>
            <a:ext cx="48920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США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25226" y="3712464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Мексика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4151376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Бразилия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4151376"/>
            <a:ext cx="56692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Перу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4848" y="4151376"/>
            <a:ext cx="56692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Чили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61504" y="4151376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Аргентина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Arial"/>
              </a:rPr>
              <a:t>Типичные проекты за рубежом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se_zijin_s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643584"/>
            <a:ext cx="2363724" cy="11385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31470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e_zijin_equ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708" y="1809538"/>
            <a:ext cx="2363724" cy="806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Arial"/>
              </a:rPr>
              <a:t>Клиент: Zijin Julong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Тип сырья: медная руда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Датчиков установлено: 387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se_cnh_si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1643584"/>
            <a:ext cx="2363724" cy="1138527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93826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se_cnh_equi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2268" y="1809538"/>
            <a:ext cx="2363724" cy="8066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508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Arial"/>
              </a:rPr>
              <a:t>Клиент: CNH Energy Heidaigou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Тип сырья: уголь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Датчиков установлено: 1184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Arial"/>
              </a:rPr>
              <a:t>Типичные проекты за рубежом — Латинская Америка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507492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se_brazil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597233"/>
            <a:ext cx="4946904" cy="1231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Arial"/>
              </a:rPr>
              <a:t>Расположение: Бразилия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Промышленность: горнодобывающая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Датчиков установлено: 2000+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81328"/>
            <a:ext cx="507492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se_chile_phot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619220"/>
            <a:ext cx="4946904" cy="11872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Arial"/>
              </a:rPr>
              <a:t>Расположение: Чили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Промышленность: горнодобывающая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Датчиков установлено: 2000+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Кейс: интеграция с корпоративной платформой промышленной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Разработка интеллектуальной системы и операционной модели для собственного центра удалённой диагностики заказчика; платформа объединяет 18 предприятий и 31 линию.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2258568"/>
            <a:ext cx="7772400" cy="33832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idc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309991"/>
            <a:ext cx="7644384" cy="128043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58568" y="4316105"/>
            <a:ext cx="764438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Единая платформа удалённой диагностики группы предприятий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Проект, отмеченный международным признанием эффективности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Крупный проект по добыче гранита (500 млн тонн) включил интеллектуальную систему эксплуатации на базе этой платформы и вошёл в реестр Global Lighthouse Network, 2023.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3611880" cy="3566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ghthouse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892704"/>
            <a:ext cx="3483864" cy="22064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4824831"/>
            <a:ext cx="348386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01 — Обучение персонала диагностике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212848"/>
            <a:ext cx="3611880" cy="3566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ghthouse_equ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825930"/>
            <a:ext cx="3483864" cy="233999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361688" y="4891605"/>
            <a:ext cx="348386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02 — Пусконаладка на объекте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12848"/>
            <a:ext cx="3611880" cy="3566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ghthouse_l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991" y="2276856"/>
            <a:ext cx="3231338" cy="34381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236991" y="5440680"/>
            <a:ext cx="3231338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03 — Реестр Global Lighthouse Network,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Типичные случаи неисправностей на объекте по добыче гранита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265176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anyang_sit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97197"/>
            <a:ext cx="2523744" cy="13628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3538728"/>
            <a:ext cx="265176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anyang_sit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3725997"/>
            <a:ext cx="2523744" cy="136282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29000" y="1709928"/>
            <a:ext cx="32004" cy="15544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1709928"/>
            <a:ext cx="8037575" cy="1691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Случай 1 — износ муфты ударной дробилки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Диагностирована неисправность муфты высокоскоростного вала; через 3 дня муфта заменена по плану. На фото — явный износ нейлонового стержня.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3401568"/>
            <a:ext cx="32004" cy="15544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3401568"/>
            <a:ext cx="8037575" cy="1691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Случай 2 — ослабление болтов на вибрационном сите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Диагностирована недостаточная жёсткость основания; выявлено отсутствие 8 болтов. Через неделю проведено техническое обслуживание.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Кейс: горнодобывающая группа — четыре объекта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1064240" cy="1554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stern_mining_si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45" y="1453896"/>
            <a:ext cx="8865030" cy="14264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Объект 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121 ед. оборудования, 781 датчик, старт авг. 2021, 53 успешных кейса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2132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2132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1004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Объект 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24 ед. оборудования, 130 датчиков, старт авг. 2021, 11 успешных кейсов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4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5624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Объект 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62 ед. оборудования, 417 датчиков, старт авг. 2021, 27 успешных кейсов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29116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29116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47988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Объект 4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91 ед. оборудования, 917 датчиков, старт ноя. 2022, 11 успешных кейсов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7880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С 2021 года платформа помогла выявить неисправность основного подъёмника, пройти национальную сертификацию «умного месторождения», внедрить мониторинг подземного ключевого оборудования и расширить мониторинг масла.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Технические решения для специального горного оборудования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32004" cy="14173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709928"/>
            <a:ext cx="5248656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Проблема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При серьёзных перегрузках персонал не всегда в состоянии выявить скрытые неисправности — тяжёлые условия труда, сейсмическая опасность, сложность коммуникаций.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64408"/>
            <a:ext cx="32004" cy="14173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264408"/>
            <a:ext cx="5248656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Решение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Взрывозащищённые беспроводные датчики решают проблему монтажа кабелей в шахте; мониторинг масла, тока и напряжения; поддержка Ethernet/ВОЛС/WiFi/4G/5G.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709928"/>
            <a:ext cx="5440680" cy="23774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ining_sensor_produ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9781" y="1773936"/>
            <a:ext cx="3425518" cy="22494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2200" y="4224528"/>
            <a:ext cx="2651760" cy="1280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ining_install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4377525"/>
            <a:ext cx="2523744" cy="97416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961120" y="4224528"/>
            <a:ext cx="2651760" cy="1280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ng_install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128" y="4410334"/>
            <a:ext cx="2523744" cy="9085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Несколько типичных случаев неисправности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ult_sp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83741"/>
            <a:ext cx="1426464" cy="1212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40280" y="129844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Arial"/>
              </a:rPr>
              <a:t>Исключение незапланированных простоев 24/7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В 3 часа ночи диагностирована сломанная пружина в соединении ремня. Пружина заменена своевременно, отключение исключено.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9844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ult_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583741"/>
            <a:ext cx="1426464" cy="12124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129844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Arial"/>
              </a:rPr>
              <a:t>Техобслуживание по производственным планам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Диагностирован износ дорожки качения внутреннего кольца подшипника. Инженер провёл обслуживание раньше срока.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1868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ult_bea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3503981"/>
            <a:ext cx="1426464" cy="12124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40280" y="321868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Arial"/>
              </a:rPr>
              <a:t>Долгосрочное отслеживание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Обнаружено отслоение внутреннего кольца подшипника ролика; своевременное напоминание позволило спланировать ремонт.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21868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ult_roll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3503981"/>
            <a:ext cx="1426464" cy="12124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63840" y="321868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Arial"/>
              </a:rPr>
              <a:t>Руководство по выбору запасных частей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Выявлен значительный износ ролика ремня. Причина — неправильный выбор модели подшипника.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67528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1304378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033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ООО «Алгоритм»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5196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Arial"/>
              </a:rPr>
              <a:t>Комплексные решения для предиктивного обслуживания оборудования.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965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ТЕЛЕФОН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25856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+7 (988) 492-81-03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301752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3154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344728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info@algoritmkrsk.ru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20624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343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САЙТ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63600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https://algoritmkrsk.ru/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539496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АДРЕС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82472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660075, Красноярский край, г. Красноярск,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ул. Маерчака, д. 8, офис 318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