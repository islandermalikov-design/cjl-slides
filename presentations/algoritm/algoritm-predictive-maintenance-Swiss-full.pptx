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3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image" Target="../media/image3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jpg"/><Relationship Id="rId4" Type="http://schemas.openxmlformats.org/officeDocument/2006/relationships/image" Target="../media/image4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jpg"/><Relationship Id="rId4" Type="http://schemas.openxmlformats.org/officeDocument/2006/relationships/image" Target="../media/image51.jpg"/><Relationship Id="rId5" Type="http://schemas.openxmlformats.org/officeDocument/2006/relationships/image" Target="../media/image5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05272" y="0"/>
            <a:ext cx="6583680" cy="68580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5A2417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57834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600200"/>
            <a:ext cx="777240" cy="457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66344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Предиктивное обслуживание и решения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для горнодобывающей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41212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ООО «Алгоритм» · Красноярск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5757"/>
                </a:solidFill>
                <a:latin typeface="DM Sans"/>
              </a:rPr>
              <a:t>Комплексный подход к решению задач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4754880"/>
            <a:ext cx="4663440" cy="10972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DM Sans"/>
              </a:rPr>
              <a:t>Прогнозное техническое обслуживание оборудования на базе промышленного мониторинга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59893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9C4C4"/>
                </a:solidFill>
                <a:latin typeface="DM Sans"/>
              </a:rPr>
              <a:t>КОММЕРЧЕСКОЕ ПРЕДЛОЖЕНИЕ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РЕЗУЛЬТАТЫ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Измеримые результаты предиктивного обслуживания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Совокупный эффект от внедрения технологии на промышленных объектах — снижение затрат на техническое обслуживание оценивается в 4 000 000 $.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DM Sans"/>
              </a:rPr>
              <a:t>−57%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DM Sans"/>
              </a:rPr>
              <a:t>отказов механического оборудования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DM Sans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DM Sans"/>
              </a:rPr>
              <a:t>−80%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DM Sans"/>
              </a:rPr>
              <a:t>времени простоя из-за механических отказов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DM Sans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DM Sans"/>
              </a:rPr>
              <a:t>−37%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DM Sans"/>
              </a:rPr>
              <a:t>затрат на аутсорсинг технического обслуживания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DM Sans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M Sans"/>
              </a:rPr>
              <a:t>ООО «Алгоритм» — ваш партнер в цифровизации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DM Sans"/>
              </a:rPr>
              <a:t>промышленности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606040" cy="3175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41212"/>
                </a:solidFill>
                <a:latin typeface="DM Sans"/>
              </a:rPr>
              <a:t>Мы предлагаем полный цикл внедрения систем прогнозного технического обслуживания: от аудита оборудования и подбора аппаратных решений до развертывания программного обеспечения и обучения персонала.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DM Sans"/>
              </a:rPr>
              <a:t>Индивидуальный подход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Адаптируем решения под специфику конкретного предприятия и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DM Sans"/>
              </a:rPr>
              <a:t>Экспертная поддержка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Обеспечиваем консалтинг и сопровождение на всех этапах жизненного цикла системы.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DM Sans"/>
              </a:rPr>
              <a:t>Мировые стандарты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DM Sans"/>
              </a:rPr>
              <a:t>Опираемся на проверенную технологическую базу, успешно зарекомендовавшую себя на крупнейших промышленных объектах.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035040"/>
            <a:ext cx="767281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ТЕХНОЛОГИЧЕСКАЯ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Масштаб и технологическая база платформы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1298448"/>
            <a:ext cx="0" cy="5102352"/>
          </a:xfrm>
          <a:prstGeom prst="line">
            <a:avLst/>
          </a:prstGeom>
          <a:ln w="9525">
            <a:solidFill>
              <a:srgbClr val="D8D4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МАСШТАБ ВНЕДРЕНИЯ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882 000+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установленных датчиков на промышленных объектах по всему миру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807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98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188 000+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20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единиц оборудования на платформе онлайн-мониторинга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50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41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3.0 ТБ+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данных телеметрии обрабатывается ежедневно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НАУЧНЫЙ ПОТЕНЦИАЛ ПЛАТФОРМЫ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755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77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специалистов НИОКР в общей численности персонала платформы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807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898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250+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520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патентов и зарегистрированных технологических решений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3950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4041648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41212"/>
                </a:solidFill>
                <a:latin typeface="DM Sans"/>
              </a:rPr>
              <a:t>35+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4663440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стран внедрения технологии, 800+ сотрудников платформы</a:t>
            </a:r>
          </a:p>
        </p:txBody>
      </p:sp>
      <p:pic>
        <p:nvPicPr>
          <p:cNvPr id="26" name="Picture 2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Диагностируемое вращающееся оборудование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Цель — обеспечить долгосрочную надёжную и безопасную эксплуатацию оборудования, избежать незапланированных простоев и вторичных аварий.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Мельницы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Шаровые и полуавтоматические мельницы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3433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3433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2305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Компрессоры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Винтовые и воздушные компрессоры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8226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18226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7098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Насосы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Шламовые и центробежные насосы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53019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019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1891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Конвейеры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Ленточные конвейеры и приводы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7812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7812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6684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Подъёмные машины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Шахтные подъёмные установки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Вентиляторы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Вентиляторы главного проветривания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3433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3433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2305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Дробилки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Щековые, конусные, роторные дробилки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8226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8226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7098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Мостовые краны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Грузоподъёмное оборудование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53019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53019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1891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Прокатные станы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Металлургическое оборудование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87812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7812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6684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Прочее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Ж/д транспорт, ЦБП, винодельческое и медицинское оборудование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Архитектура сбора данных: гибкая интеграция в локальную сеть предприятия (LAN)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1554480"/>
            <a:ext cx="21031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34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212"/>
                </a:solidFill>
                <a:latin typeface="DM Sans"/>
              </a:rPr>
              <a:t>Облачный сервер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554480"/>
            <a:ext cx="2103120" cy="566928"/>
          </a:xfrm>
          <a:prstGeom prst="roundRect">
            <a:avLst/>
          </a:prstGeom>
          <a:solidFill>
            <a:srgbClr val="93402B"/>
          </a:solidFill>
          <a:ln>
            <a:solidFill>
              <a:srgbClr val="934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DM Sans"/>
              </a:rPr>
              <a:t>Локальный сервер данных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26880" y="1554480"/>
            <a:ext cx="2103120" cy="5669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9340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212"/>
                </a:solidFill>
                <a:latin typeface="DM Sans"/>
              </a:rPr>
              <a:t>Supercare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1837944"/>
            <a:ext cx="1965960" cy="0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60920" y="1837944"/>
            <a:ext cx="1965960" cy="0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8640" y="2606040"/>
            <a:ext cx="11064240" cy="384048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DM Sans"/>
              </a:rPr>
              <a:t>Локальная сеть предприятия (LAN)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121408"/>
            <a:ext cx="0" cy="48463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08760" y="2990088"/>
            <a:ext cx="0" cy="25603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120140" y="3246120"/>
            <a:ext cx="77724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1412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48156" y="3392424"/>
            <a:ext cx="393192" cy="0"/>
          </a:xfrm>
          <a:prstGeom prst="line">
            <a:avLst/>
          </a:prstGeom>
          <a:ln w="2286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48156" y="3520440"/>
            <a:ext cx="393192" cy="0"/>
          </a:xfrm>
          <a:prstGeom prst="line">
            <a:avLst/>
          </a:prstGeom>
          <a:ln w="2286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48156" y="3648456"/>
            <a:ext cx="274320" cy="0"/>
          </a:xfrm>
          <a:prstGeom prst="line">
            <a:avLst/>
          </a:prstGeom>
          <a:ln w="2286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805940" y="3099816"/>
            <a:ext cx="384048" cy="256032"/>
          </a:xfrm>
          <a:prstGeom prst="round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×N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" y="395020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DM Sans"/>
              </a:rPr>
              <a:t>Уровень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4251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Кабель / оптика / Wi-Fi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" y="45628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Дробилка, масляный пресс…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532120" y="2990088"/>
            <a:ext cx="0" cy="25603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143500" y="3246120"/>
            <a:ext cx="77724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9340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30952" y="3429000"/>
            <a:ext cx="118872" cy="118872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13832" y="3593592"/>
            <a:ext cx="73152" cy="10972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14416" y="3520440"/>
            <a:ext cx="73152" cy="1828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15000" y="3447288"/>
            <a:ext cx="73152" cy="25603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29300" y="3099816"/>
            <a:ext cx="384048" cy="256032"/>
          </a:xfrm>
          <a:prstGeom prst="round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×N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395020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DM Sans"/>
              </a:rPr>
              <a:t>Уровень 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4251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ZigBee / беспроводной шлюз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628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Подъёмник, скребок, сушилка…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55480" y="2990088"/>
            <a:ext cx="0" cy="256032"/>
          </a:xfrm>
          <a:prstGeom prst="line">
            <a:avLst/>
          </a:prstGeom>
          <a:ln w="15240">
            <a:solidFill>
              <a:srgbClr val="8A86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166860" y="3246120"/>
            <a:ext cx="777240" cy="56692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93402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354312" y="3429000"/>
            <a:ext cx="118872" cy="118872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37192" y="3593592"/>
            <a:ext cx="73152" cy="10972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637776" y="3520440"/>
            <a:ext cx="73152" cy="1828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38360" y="3447288"/>
            <a:ext cx="73152" cy="25603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852660" y="3099816"/>
            <a:ext cx="384048" cy="256032"/>
          </a:xfrm>
          <a:prstGeom prst="round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×N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3950208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DM Sans"/>
              </a:rPr>
              <a:t>Уровень 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2519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LoRa / 4G / 5G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45628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Воздуходувка, насос, компрессор…</a:t>
            </a:r>
          </a:p>
        </p:txBody>
      </p:sp>
      <p:pic>
        <p:nvPicPr>
          <p:cNvPr id="41" name="Picture 4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Беспроводной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Консольный насос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Двухопорный насос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RH605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RH560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Вентилятор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Одноосные и трёхосные беспроводные датчики вибрации (RH505/RH605, RW506/RW606) передают данные на шлюз по радиоканалу — без прокладки кабельных трасс.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ireless_compon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775647"/>
            <a:ext cx="2615184" cy="105728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ireless_softw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7844" y="1453896"/>
            <a:ext cx="2501152" cy="17007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reless_inst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374136"/>
            <a:ext cx="2606040" cy="1563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0" y="4663440"/>
            <a:ext cx="260604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Монтаж беспроводных датчиков на промышленном объекте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DM Sans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Гориз.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Верт. дробилка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RH104T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Зубч.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RH113T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DM Sans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DM Sans"/>
              </a:rPr>
              <a:t>Проводные датчики с верхним или боковым (360°) выходом кабеля подключаются к шлюзу RH2000 — стационарная схема для ответственных агрегатов с постоянным питанием.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ired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703" y="1453896"/>
            <a:ext cx="1564434" cy="17007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ired_gatew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9131" y="1453896"/>
            <a:ext cx="1978578" cy="17007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ired_softw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748" y="3374136"/>
            <a:ext cx="2184704" cy="1563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08748" y="4663440"/>
            <a:ext cx="218470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Программное обеспечение анализа вибрации в реальном времени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КЕЙС ИЗ ПРАКТИКИ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Типичный случай предиктивного обслуживания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se_char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964" y="1362456"/>
            <a:ext cx="2631232" cy="12893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02:00, 2 июля. Вибрация на двигателе внезапно усилилась — данные передаются в реальном времени.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9844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load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432" y="1362456"/>
            <a:ext cx="3008376" cy="12893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Ключевое оборудование. Подземный резервный погрузчик с установленными беспроводными датчиками.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9844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se_work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8860" y="1362456"/>
            <a:ext cx="2387600" cy="1289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276148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Результат. Предотвращено внезапное незапланированное отключение и нарушение техники безопасности.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9300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ase_control_roo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597798"/>
            <a:ext cx="3483864" cy="120773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+15 минут. Эксперт диагностического центра дал заключение обслуживающему инженеру.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49300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se_beari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0308" y="3557016"/>
            <a:ext cx="2726624" cy="128930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68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06:43. Инженер на месте заменил повреждённый подшипник — сепаратор был разрушен.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493008"/>
            <a:ext cx="3611880" cy="14173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se_chart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1013" y="3557016"/>
            <a:ext cx="2823293" cy="128930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046720" y="4956048"/>
            <a:ext cx="36118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После обслуживания. Форма волны вернулась к норме — оборудование работает штатно.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Проекты внедрения технологии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(открытый карьер)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Сценарии для добычи, переработки и плавки полезных ископаемых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Цель — обеспечить надёжную эксплуатацию оборудования, избежать экономических потерь и вторичных аварий из-за незапланированного простоя.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12848"/>
            <a:ext cx="27432" cy="13716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Добыча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Подъёмные машины, конвейеры, буровые установки, вентиляторы главного проветривания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3296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3296" y="2212848"/>
            <a:ext cx="27432" cy="13716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2168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Переработка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Дробилки, мельницы, флотационное и обогатительное оборудование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7952" y="2212848"/>
            <a:ext cx="3614928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97952" y="2212848"/>
            <a:ext cx="27432" cy="13716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16824" y="2212848"/>
            <a:ext cx="3395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Плавка и металлургия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Прокатные станы, компрессоры, насосные станции, мостовые краны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Мельница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36192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Дробилка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23744" y="3813048"/>
            <a:ext cx="64465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Насос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8124" y="381304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Вентилятор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1124" y="3813048"/>
            <a:ext cx="87782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Конвейер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8676" y="3813048"/>
            <a:ext cx="1499616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Подъёмная машина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18020" y="3813048"/>
            <a:ext cx="1033272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Компрессор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020" y="3813048"/>
            <a:ext cx="1266444" cy="329184"/>
          </a:xfrm>
          <a:prstGeom prst="rect">
            <a:avLst/>
          </a:prstGeom>
          <a:noFill/>
          <a:ln w="9525">
            <a:solidFill>
              <a:srgbClr val="8A8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41212"/>
                </a:solidFill>
                <a:latin typeface="DM Sans"/>
              </a:rPr>
              <a:t>Мостовой кран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«C/D» — сокращение персонала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532888"/>
            <a:ext cx="594360" cy="0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78992" y="2468880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Датчики RW161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LoRa, до 1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Шлюз LoRa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Локальная сеть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d_instal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150409"/>
            <a:ext cx="2935224" cy="788317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RW161 — беспроводные датчики вибрации версии LoRa для оборудования уровня C/D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Экономичность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Конкурентоспособные цены для всех решений класса.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Удалённость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Радиус действия LoRa-канала — до 1 км без прокладки кабеля.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Замена инспекций персоналом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Сокращение ежедневных плановых и внеплановых проверок по сигналу тревоги.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Сбор формы волны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Дополнительная функция по сравнению с типовыми датчиками LoRa других производителей.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Автоматическая настройка порога и интеллектуальная сигнализация аварий.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587044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587044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 — взрывозащищённое исполнение.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«B» — анализ неисправностей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RH505/605, RW625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ZigBee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RH570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Локальная сеть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b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150409"/>
            <a:ext cx="2935224" cy="788317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RH570 — беспроводная станция сбора данных, датчики по ZigBee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Высокая производительность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Вибрация, температура, скорость (опц.) 3 в 1; диапазон 2–20 кГц (±3 дБ).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Расширенный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Фильтр ложных сигналов, определение запуска, более 20 специальных индексов.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Длина сбора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 2048 Кб (819 200 линий) на измерение.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Срок службы батареи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 3 лет автономной работы.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974336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32904" y="4974336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 — взрывозащищённый сертификат.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Для оборудования класса «A» — анализ точности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43000" y="1728216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2264664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143000" y="2532888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2532888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166420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220065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273710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43814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IEPE, обороты, частицы масла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13969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RS485 / WiFi / 4-20mA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37360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DM Sans"/>
              </a:rPr>
              <a:t>RH2000 / Exd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88920" y="2532888"/>
            <a:ext cx="2587752" cy="0"/>
          </a:xfrm>
          <a:prstGeom prst="line">
            <a:avLst/>
          </a:prstGeom>
          <a:ln w="13970">
            <a:solidFill>
              <a:srgbClr val="9340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32257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SuperCare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02352" y="276148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DM Sans"/>
              </a:rPr>
              <a:t>Система мониторинга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5876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a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347256"/>
            <a:ext cx="2935224" cy="39462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749040" y="385876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399592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RH2000 / RH2000 Exd — взрывозащищённая станция сбора данных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138988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32904" y="1389888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Высокая совместимость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IEPE-датчики вибрации, датчики оборотов, частиц металла в масле.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228600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2286000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Характеристики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Постоянный сбор (индикация 30 с, форма волны 30 мин); 0,1–15 кГц (±3 дБ).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18211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3182112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Интеллектуальный анализ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Более 50 специальных индексов, диагностика с помощью ИИ.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4078224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32904" y="4078224"/>
            <a:ext cx="4379976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Высокая степень защиты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IP68 / ATEX.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Контроль неисправностей оборудования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3383280"/>
              </a:tblGrid>
              <a:tr h="365760">
                <a:tc>
                  <a:txBody>
                    <a:bodyPr lIns="82296" rIns="45720" tIns="0" bIns="0" anchor="ctr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DM Sans"/>
                        </a:rPr>
                        <a:t>ТИП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DM Sans"/>
                        </a:rPr>
                        <a:t>СПЕЦИФИЧЕСКИЕ НЕИСПРАВНОСТИ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Дефект привода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Дисбаланс, несоосность, ослабление, эксцентриситет ротора, изгиб вала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Дефект подшипника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Сколы, износ, раковины, трещины, деформация сепаратора, недостаток смазки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Неисправность редуктора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Недостаток смазки, плохое зацепление, износ и поломка зубьев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Неисправность смазки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/>
                    <a:lstStyle/>
                    <a:p>
                      <a:r>
                        <a:rPr sz="1050" b="0">
                          <a:solidFill>
                            <a:srgbClr val="141212"/>
                          </a:solidFill>
                          <a:latin typeface="DM Sans"/>
                        </a:rPr>
                        <a:t>Загрязнение масла, химический износ, посторонние предметы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989320" y="1389888"/>
            <a:ext cx="5623560" cy="3840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fect_photo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1517" y="1453896"/>
            <a:ext cx="4559166" cy="3712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Программные решения для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SuperCare — платформа предиктивного обслуживания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2860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percar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453896"/>
            <a:ext cx="3596640" cy="215798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2860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upercare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264" y="1453896"/>
            <a:ext cx="4052552" cy="21579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Архитектура больших данных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Удовлетворяет потребности для долгосрочного использования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3296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3296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168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B/S структура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Совместима с различными браузерами, не требует установки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7952" y="3813048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7952" y="3813048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6824" y="3813048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Самоопределяемое размещение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Быстрая настройка макета страницы под стилевые требования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Профессиональная версия Pro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Унифицированный контроль верхней группы предприятий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3296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92168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Статистические таблицы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Глубокая аналитика по всем предприятиям для руководителя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7952" y="4576572"/>
            <a:ext cx="3614928" cy="6537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7952" y="4576572"/>
            <a:ext cx="27432" cy="6537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6824" y="4576572"/>
            <a:ext cx="3395472" cy="6537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Совместимость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Интеграция с DCS/PLC/MES/SCADA и другими системами</a:t>
            </a:r>
          </a:p>
        </p:txBody>
      </p:sp>
      <p:pic>
        <p:nvPicPr>
          <p:cNvPr id="27" name="Picture 2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44200" y="457200"/>
            <a:ext cx="844009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Профессиональная диагностика на основе 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834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i_panel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359" y="1453896"/>
            <a:ext cx="4365522" cy="27066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389888"/>
            <a:ext cx="5440680" cy="2834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panel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9779" y="1453896"/>
            <a:ext cx="4365522" cy="270662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6168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30+ инструментов профессиональной диагностики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Удовлетворяют потребности инженеров в поиске всех видов неисправностей вращающегося оборудования.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35624" y="4361688"/>
            <a:ext cx="5477256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35624" y="436168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54496" y="4361688"/>
            <a:ext cx="52578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AI-диагностика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Алгоритм автоматически даёт выводы по диагностике неисправностей и рекомендации по обслуживанию.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Удобный доступ к оборудованию с мобильного устройства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Контроль статуса в режиме реального времени, просмотр статистики и управление тревогами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2075688"/>
            <a:ext cx="1814732" cy="39319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666974"/>
            <a:ext cx="1686716" cy="27493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715768"/>
            <a:ext cx="2834640" cy="17373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2807208"/>
            <a:ext cx="265176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3029224"/>
            <a:ext cx="2523744" cy="111044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8240" y="2075688"/>
            <a:ext cx="1814732" cy="393192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_rig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48" y="2270596"/>
            <a:ext cx="1686716" cy="35421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EPM — простой мониторинг и диагностика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852160" cy="26517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pm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111" y="1453896"/>
            <a:ext cx="4495218" cy="2523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0" y="138988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9984" y="138988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B/S структура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Совместима с различным браузером, не требует установки на рабочем месте.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25856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9984" y="225856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Статистика состояния оборудования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Помогает управляющим быстро понять долгосрочный статус оборудования.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3127248"/>
            <a:ext cx="32004" cy="7315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9984" y="3127248"/>
            <a:ext cx="488289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2.5D моделирование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Реализует наглядное моделирование оборудования и точек измерения в реальном времени.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24528"/>
            <a:ext cx="56235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epm_machine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3216" y="4288536"/>
            <a:ext cx="2134408" cy="160934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293216" y="5623560"/>
            <a:ext cx="213440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Мониторинг состояния оборудования в реальном времени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4224528"/>
            <a:ext cx="534924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epm_wavefor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111" y="4288536"/>
            <a:ext cx="2136297" cy="160934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870111" y="5623560"/>
            <a:ext cx="2136297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Профессиональные инструменты диагностики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Сервисы для обеспечения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предиктивного технического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обслуживания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Шесть услуг обеспечивают эффективность диагностики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539496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rvices_control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825" y="1453896"/>
            <a:ext cx="3174590" cy="22494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658825" y="3429000"/>
            <a:ext cx="317459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Круглосуточный мониторинг в реальном времени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89888"/>
            <a:ext cx="544068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ervices_campu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0440" y="1453896"/>
            <a:ext cx="3124200" cy="2249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30440" y="3429000"/>
            <a:ext cx="31242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Синхронизация данных в облачном диагностическом центре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24×7 экспертный мониторинг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0968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10968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29840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Оценка после техобслуживания на месте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3296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73296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2168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Экспертный консалтинг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35624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35624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54496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Ежемесячный отчёт о состоянии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97952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7952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6824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Постоянное обучение персонала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60280" y="3904488"/>
            <a:ext cx="1752600" cy="777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60280" y="3904488"/>
            <a:ext cx="27432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79152" y="3904488"/>
            <a:ext cx="153314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Консалтинг диагностического центра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Обучение персонала и авторизация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4416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Международный центр обучения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Обучение вибродиагностике и сертификация инженеров уровней II, III и IV.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2140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121408"/>
            <a:ext cx="524865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Передача компетенций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Помощь клиентам в создании собственной системы O&amp;M с ИИ-алгоритмом.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4416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34416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Сертифицированная платформа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Международная GL-сертифицированная платформа технического обслуживания.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2121408"/>
            <a:ext cx="32004" cy="6400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8504" y="2121408"/>
            <a:ext cx="529437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Сопровождение внедрения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Достижение интеллектуальной революции в перцепции и управлении оборудованием.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81528"/>
            <a:ext cx="5394960" cy="19659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ing_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303" y="3145536"/>
            <a:ext cx="2625634" cy="183794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933303" y="4709160"/>
            <a:ext cx="262563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Обучение инженеров вибродиагностике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81528"/>
            <a:ext cx="5440680" cy="19659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raining_server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2072" y="3145536"/>
            <a:ext cx="2540936" cy="183794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622072" y="4709160"/>
            <a:ext cx="2540936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Инфраструктура диагностического центра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846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Сертификаты — справочно, в приложении к предложению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2700000">
            <a:off x="6400800" y="-2743200"/>
            <a:ext cx="8686800" cy="86868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383D4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914400" cy="40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7772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Международный опыт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DM Sans"/>
              </a:rPr>
              <a:t>применения технологии</a:t>
            </a:r>
          </a:p>
        </p:txBody>
      </p:sp>
      <p:pic>
        <p:nvPicPr>
          <p:cNvPr id="6" name="Picture 5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9514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0C3BF"/>
                </a:solidFill>
                <a:latin typeface="DM Sans"/>
              </a:rPr>
              <a:t>МАСШТАБ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M Sans"/>
              </a:rPr>
              <a:t>Продукты и услуги на базе технологии внедрены более чем в 35 странах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DM Sans"/>
              </a:rPr>
              <a:t>35+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0520"/>
            <a:ext cx="3931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9C4C4"/>
                </a:solidFill>
                <a:latin typeface="DM Sans"/>
              </a:rPr>
              <a:t>стран, где решения на базе этой технологической платформы работают на промышленных объектах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Россия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952744" y="2834640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Германия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0296" y="2834640"/>
            <a:ext cx="134416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Великобритания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2834640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Швеция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26296" y="2834640"/>
            <a:ext cx="103327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Нидерланды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69296" y="2834640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Испания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273552"/>
            <a:ext cx="72237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Италия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52744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Марокко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62572" y="3273552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Пакистан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50124" y="3273552"/>
            <a:ext cx="644652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Индия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04504" y="3273552"/>
            <a:ext cx="1110996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Южная Корея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25228" y="3273552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Таиланд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Малайзия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8192" y="3712464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Сингапур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95744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Индонезия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61019" y="3712464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Австралия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26294" y="3712464"/>
            <a:ext cx="48920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США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25226" y="3712464"/>
            <a:ext cx="800100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Мексика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4151376"/>
            <a:ext cx="877824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Бразилия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Перу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84848" y="4151376"/>
            <a:ext cx="566928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Чили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61504" y="4151376"/>
            <a:ext cx="955547" cy="329184"/>
          </a:xfrm>
          <a:prstGeom prst="rect">
            <a:avLst/>
          </a:prstGeom>
          <a:noFill/>
          <a:ln w="9525">
            <a:solidFill>
              <a:srgbClr val="5A565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DM Sans"/>
              </a:rPr>
              <a:t>Аргентина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9C4C4"/>
                </a:solidFill>
                <a:latin typeface="DM Sans"/>
              </a:rPr>
              <a:t>21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Типичные проекты за рубежом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zijin_s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643584"/>
            <a:ext cx="2363724" cy="113852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31470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zijin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708" y="1809538"/>
            <a:ext cx="2363724" cy="806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DM Sans"/>
              </a:rPr>
              <a:t>Клиент: Zijin Julong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Тип сырья: медная руда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387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se_cnh_sit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1643584"/>
            <a:ext cx="2363724" cy="113852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938260" y="1481328"/>
            <a:ext cx="249174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se_cnh_equip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2268" y="1809538"/>
            <a:ext cx="2363724" cy="8066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DM Sans"/>
              </a:rPr>
              <a:t>Клиент: CNH Energy Heidaigou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Тип сырья: уголь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1184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DM Sans"/>
              </a:rPr>
              <a:t>Типичные проекты за рубежом — Латинская Америка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481328"/>
            <a:ext cx="507492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se_brazi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597233"/>
            <a:ext cx="4946904" cy="12312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DM Sans"/>
              </a:rPr>
              <a:t>Расположение: Бразилия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2000+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44168"/>
            <a:ext cx="5440680" cy="42062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481328"/>
            <a:ext cx="507492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ase_chile_photo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1619220"/>
            <a:ext cx="4946904" cy="11872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31272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93402B"/>
                </a:solidFill>
                <a:latin typeface="DM Sans"/>
              </a:rPr>
              <a:t>Расположение: Чили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51129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Промышленность: горнодобывающая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Датчиков установлено: 2000+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DM Sans"/>
              </a:rPr>
              <a:t>Кейс: интеграция с корпоративной платформой промышленной группы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Разработка интеллектуальной системы и операционной модели для собственного центра удалённой диагностики заказчика; платформа объединяет 18 предприятий и 31 линию.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2258568"/>
            <a:ext cx="7772400" cy="33832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idc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309991"/>
            <a:ext cx="7644384" cy="128043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58568" y="4316105"/>
            <a:ext cx="764438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Единая платформа удалённой диагностики группы предприятий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Проект, отмеченный международным признанием эффективности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DM Sans"/>
              </a:rPr>
              <a:t>Крупный проект по добыче гранита (500 млн тонн) включил интеллектуальную систему эксплуатации на базе этой платформы и вошёл в реестр Global Lighthouse Network, 2023.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ghthouse_gro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892704"/>
            <a:ext cx="3483864" cy="22064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2648" y="4824831"/>
            <a:ext cx="348386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01 — Обучение персонала диагностике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ighthouse_equi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825930"/>
            <a:ext cx="3483864" cy="233999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361688" y="4891605"/>
            <a:ext cx="3483864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02 — Пусконаладка на объекте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12848"/>
            <a:ext cx="3611880" cy="3566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ghthouse_li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991" y="2276856"/>
            <a:ext cx="3231338" cy="34381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236991" y="5440680"/>
            <a:ext cx="323133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DM Sans"/>
              </a:rPr>
              <a:t>03 — Реестр Global Lighthouse Network, 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Типичные случаи неисправностей на объекте по добыче гранита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26517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ianyang_sit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97197"/>
            <a:ext cx="2523744" cy="136282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538728"/>
            <a:ext cx="2651760" cy="17373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ianyang_sit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3725997"/>
            <a:ext cx="2523744" cy="136282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29000" y="1709928"/>
            <a:ext cx="32004" cy="15544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70992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Случай 1 — износ муфты ударной дробилки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Диагностирована неисправность муфты высокоскоростного вала; через 3 дня муфта заменена по плану. На фото — явный износ нейлонового стержня.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3401568"/>
            <a:ext cx="32004" cy="155448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5304" y="3401568"/>
            <a:ext cx="8037575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Случай 2 — ослабление болтов на вибрационном сите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Диагностирована недостаточная жёсткость основания; выявлено отсутствие 8 болтов. Через неделю проведено техническое обслуживание.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Кейс: горнодобывающая группа — четыре объекта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89888"/>
            <a:ext cx="1106424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estern_mining_si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45" y="1453896"/>
            <a:ext cx="8865030" cy="142646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1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121 ед. оборудования, 781 датчик, старт авг. 2021, 53 успешных кейса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42132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42132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61004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2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24 ед. оборудования, 130 датчиков, старт авг. 2021, 11 успешных кейсов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35624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35624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4496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3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62 ед. оборудования, 417 датчиков, старт авг. 2021, 27 успешных кейсов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29116" y="3127248"/>
            <a:ext cx="2683764" cy="9144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29116" y="3127248"/>
            <a:ext cx="27432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47988" y="3127248"/>
            <a:ext cx="24643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DM Sans"/>
              </a:rPr>
              <a:t>Объект 4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DM Sans"/>
              </a:rPr>
              <a:t>91 ед. оборудования, 917 датчиков, старт ноя. 2022, 11 успешных кейсов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7880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С 2021 года платформа помогла выявить неисправность основного подъёмника, пройти национальную сертификацию «умного месторождения», внедрить мониторинг подземного ключевого оборудования и расширить мониторинг масла.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DM Sans"/>
              </a:rPr>
              <a:t>Технические решения для специального горного оборудования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32004" cy="14173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70992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Проблема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При серьёзных перегрузках персонал не всегда в состоянии выявить скрытые неисправности — тяжёлые условия труда, сейсмическая опасность, сложность коммуникаций.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64408"/>
            <a:ext cx="32004" cy="141732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264408"/>
            <a:ext cx="524865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DM Sans"/>
              </a:rPr>
              <a:t>Решение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DM Sans"/>
              </a:rPr>
              <a:t>Взрывозащищённые беспроводные датчики решают проблему монтажа кабелей в шахте; мониторинг масла, тока и напряжения; поддержка Ethernet/ВОЛС/WiFi/4G/5G.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709928"/>
            <a:ext cx="544068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ining_sensor_produ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9781" y="1773936"/>
            <a:ext cx="3425518" cy="224942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4224528"/>
            <a:ext cx="2651760" cy="1280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ining_install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4377525"/>
            <a:ext cx="2523744" cy="97416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961120" y="4224528"/>
            <a:ext cx="2651760" cy="1280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ning_install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128" y="4410334"/>
            <a:ext cx="2523744" cy="9085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МЕЖДУНАРОДНЫЙ ОПЫТ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DM Sans"/>
              </a:rPr>
              <a:t>Несколько типичных случаев неисправности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9844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ult_sp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83741"/>
            <a:ext cx="1426464" cy="1212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24028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DM Sans"/>
              </a:rPr>
              <a:t>Исключение незапланированных простоев 24/7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В 3 часа ночи диагностирована сломанная пружина в соединении ремня. Пружина заменена своевременно, отключение исключено.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9844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ult_r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583741"/>
            <a:ext cx="1426464" cy="12124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29844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DM Sans"/>
              </a:rPr>
              <a:t>Техобслуживание по производственным планам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Диагностирован износ дорожки качения внутреннего кольца подшипника. Инженер провёл обслуживание раньше срока.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1868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ult_bea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" y="3503981"/>
            <a:ext cx="1426464" cy="12124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4028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DM Sans"/>
              </a:rPr>
              <a:t>Долгосрочное отслеживание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Обнаружено отслоение внутреннего кольца подшипника ролика; своевременное напоминание позволило спланировать ремонт.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218688"/>
            <a:ext cx="1554480" cy="17830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ult_roller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503981"/>
            <a:ext cx="1426464" cy="12124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63840" y="3218688"/>
            <a:ext cx="374904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93402B"/>
                </a:solidFill>
                <a:latin typeface="DM Sans"/>
              </a:rPr>
              <a:t>Руководство по выбору запасных частей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DM Sans"/>
              </a:rPr>
              <a:t>Выявлен значительный износ ролика ремня. Причина — неправильный выбор модели подшипника.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67528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1304378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033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DM Sans"/>
              </a:rPr>
              <a:t>ООО «Алгоритм»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DM Sans"/>
              </a:rPr>
              <a:t>Комплексные решения для предиктивного обслуживания оборудования.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965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ТЕЛЕФОН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25856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+7 (988) 492-81-03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301752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89320" y="31546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E-MAIL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344728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info@algoritmkrsk.ru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420624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4343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САЙТ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463600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https://algoritmkrsk.ru/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5394960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5532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DM Sans"/>
              </a:rPr>
              <a:t>АДРЕС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5824728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660075, Красноярский край, г. Красноярск,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DM Sans"/>
              </a:rPr>
              <a:t>ул. Маерчака, д. 8, офис 318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DM Sans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