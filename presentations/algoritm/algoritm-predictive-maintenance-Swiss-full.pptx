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1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jpg"/><Relationship Id="rId4" Type="http://schemas.openxmlformats.org/officeDocument/2006/relationships/image" Target="../media/image44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image" Target="../media/image49.jpg"/><Relationship Id="rId4" Type="http://schemas.openxmlformats.org/officeDocument/2006/relationships/image" Target="../media/image5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05272" y="0"/>
            <a:ext cx="6583680" cy="6858000"/>
          </a:xfrm>
          <a:prstGeom prst="rect">
            <a:avLst/>
          </a:prstGeom>
          <a:gradFill rotWithShape="1">
            <a:gsLst>
              <a:gs pos="0">
                <a:srgbClr val="B72E26"/>
              </a:gs>
              <a:gs pos="100000">
                <a:srgbClr val="8C1B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457834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600200"/>
            <a:ext cx="777240" cy="4572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466344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41212"/>
                </a:solidFill>
                <a:latin typeface="DM Sans"/>
              </a:rPr>
              <a:t>Предиктивное обслуживание и решения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41212"/>
                </a:solidFill>
                <a:latin typeface="DM Sans"/>
              </a:rPr>
              <a:t>для горнодобывающей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41212"/>
                </a:solidFill>
                <a:latin typeface="DM Sans"/>
              </a:rPr>
              <a:t>промышленности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ООО «Алгоритм» · Красноярск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Комплексный подход к решению задач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4754880"/>
            <a:ext cx="4663440" cy="10972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DM Sans"/>
              </a:rPr>
              <a:t>Прогнозное техническое обслуживание оборудования на базе промышленного мониторинга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598932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4C4"/>
                </a:solidFill>
                <a:latin typeface="DM Sans"/>
              </a:rPr>
              <a:t>КОММЕРЧЕСКОЕ ПРЕДЛОЖЕНИЕ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9C4C4"/>
                </a:solidFill>
                <a:latin typeface="DM San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О КОМПАНИИ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M Sans"/>
              </a:rPr>
              <a:t>ООО «Алгоритм» — ваш партнер в цифровизации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M Sans"/>
              </a:rPr>
              <a:t>промышленности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06040"/>
            <a:ext cx="2606040" cy="3175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41212"/>
                </a:solidFill>
                <a:latin typeface="DM Sans"/>
              </a:rPr>
              <a:t>Мы предлагаем полный цикл внедрения систем прогнозного технического обслуживания: от аудита оборудования и подбора аппаратных решений до развертывания программного обеспечения и обучения персонала.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606040"/>
            <a:ext cx="2606040" cy="3175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B72E26"/>
                </a:solidFill>
                <a:latin typeface="DM Sans"/>
              </a:rPr>
              <a:t>Индивидуальный подход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5757"/>
                </a:solidFill>
                <a:latin typeface="DM Sans"/>
              </a:rPr>
              <a:t>Адаптируем решения под специфику конкретного предприятия и отрасли.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2606040"/>
            <a:ext cx="2606040" cy="3175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B72E26"/>
                </a:solidFill>
                <a:latin typeface="DM Sans"/>
              </a:rPr>
              <a:t>Экспертная поддержка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5757"/>
                </a:solidFill>
                <a:latin typeface="DM Sans"/>
              </a:rPr>
              <a:t>Обеспечиваем консалтинг и сопровождение на всех этапах жизненного цикла системы.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72600" y="2606040"/>
            <a:ext cx="2606040" cy="3175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B72E26"/>
                </a:solidFill>
                <a:latin typeface="DM Sans"/>
              </a:rPr>
              <a:t>Мировые стандарты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5757"/>
                </a:solidFill>
                <a:latin typeface="DM Sans"/>
              </a:rPr>
              <a:t>Опираемся на проверенную технологическую базу, успешно зарекомендовавшую себя на крупнейших промышленных объектах.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35040"/>
            <a:ext cx="767281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ТЕХНОЛОГИЧЕСКАЯ БАЗА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Научно-техническая экспертиза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12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DM Sans"/>
              </a:rPr>
              <a:t>Показатели характеризуют технологическую базу, на которую опирается ООО «Алгоритм» при реализации проектов в РФ.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38528"/>
            <a:ext cx="1630680" cy="2794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630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72E26"/>
                </a:solidFill>
                <a:latin typeface="DM Sans"/>
              </a:rPr>
              <a:t>42%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1630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доля специалистов НИОКР в общей численности персонала платформы</a:t>
            </a:r>
          </a:p>
        </p:txBody>
      </p:sp>
      <p:sp>
        <p:nvSpPr>
          <p:cNvPr id="9" name="Rectangle 8"/>
          <p:cNvSpPr/>
          <p:nvPr/>
        </p:nvSpPr>
        <p:spPr>
          <a:xfrm>
            <a:off x="2435352" y="1938528"/>
            <a:ext cx="1630680" cy="2794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5352" y="2029968"/>
            <a:ext cx="1630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72E26"/>
                </a:solidFill>
                <a:latin typeface="DM Sans"/>
              </a:rPr>
              <a:t>49%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5352" y="2505456"/>
            <a:ext cx="1630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доля сотрудников с учёными и кандидатскими степенями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064" y="1938528"/>
            <a:ext cx="1630680" cy="2794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064" y="2029968"/>
            <a:ext cx="1630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72E26"/>
                </a:solidFill>
                <a:latin typeface="DM Sans"/>
              </a:rPr>
              <a:t>22%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2064" y="2505456"/>
            <a:ext cx="1630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доля инвестиций в НИОКР от выручки технологического партнёра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1938528"/>
            <a:ext cx="1630680" cy="2794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2029968"/>
            <a:ext cx="1630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72E26"/>
                </a:solidFill>
                <a:latin typeface="DM Sans"/>
              </a:rPr>
              <a:t>250+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505456"/>
            <a:ext cx="1630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патентов и зарегистрированных прав на ПО и технологические решения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5488" y="1938528"/>
            <a:ext cx="1630680" cy="2794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5488" y="2029968"/>
            <a:ext cx="1630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72E26"/>
                </a:solidFill>
                <a:latin typeface="DM Sans"/>
              </a:rPr>
              <a:t>20+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5488" y="2505456"/>
            <a:ext cx="1630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наград национального уровня за научные достижения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82200" y="1938528"/>
            <a:ext cx="1630680" cy="2794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82200" y="2029968"/>
            <a:ext cx="1630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72E26"/>
                </a:solidFill>
                <a:latin typeface="DM San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82200" y="2505456"/>
            <a:ext cx="1630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национальных стандарта технического обслуживания оборудования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538728"/>
            <a:ext cx="2683764" cy="10515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538728"/>
            <a:ext cx="27432" cy="105156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3538728"/>
            <a:ext cx="246430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Сильная команда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800+ сотрудников платформы, 300+ в составе НИОКР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42132" y="3538728"/>
            <a:ext cx="2683764" cy="10515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42132" y="3538728"/>
            <a:ext cx="27432" cy="105156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61004" y="3538728"/>
            <a:ext cx="246430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Комплексные возможности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Аппаратное и программное обеспечение, ИИ и удалённые сервисы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35624" y="3538728"/>
            <a:ext cx="2683764" cy="10515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35624" y="3538728"/>
            <a:ext cx="27432" cy="105156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54496" y="3538728"/>
            <a:ext cx="246430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Широкий охват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2000+ подключённых предприятий, 20+ отраслей промышленности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29116" y="3538728"/>
            <a:ext cx="2683764" cy="10515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29116" y="3538728"/>
            <a:ext cx="27432" cy="105156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47988" y="3538728"/>
            <a:ext cx="246430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Экспертиза диагностики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Центр авторизации Mobius, сертифицированный GL-центр диагностики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844009" cy="5029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ТЕХНОЛОГИЧЕСКАЯ БАЗА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DM Sans"/>
              </a:rPr>
              <a:t>Масштаб платформы удалённого мониторинга вращающегося оборудования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5394960" cy="246888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ag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09928"/>
            <a:ext cx="4937760" cy="2468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" y="3904488"/>
            <a:ext cx="493776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Платформа мониторинга — карта подключённых объектов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709928"/>
            <a:ext cx="5440680" cy="246888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_off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9490" y="1709928"/>
            <a:ext cx="308610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349490" y="3904488"/>
            <a:ext cx="308610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Центр удалённой диагностики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453128"/>
            <a:ext cx="5404104" cy="2794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544568"/>
            <a:ext cx="54041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2E26"/>
                </a:solidFill>
                <a:latin typeface="DM Sans"/>
              </a:rPr>
              <a:t>188 000+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0056"/>
            <a:ext cx="540410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единиц оборудования на платформе онлайн-мониторинга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8776" y="4453128"/>
            <a:ext cx="5404104" cy="2794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4544568"/>
            <a:ext cx="54041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B72E26"/>
                </a:solidFill>
                <a:latin typeface="DM Sans"/>
              </a:rPr>
              <a:t>882 000+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5020056"/>
            <a:ext cx="540410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установленных датчиков на промышленных объектах по всему миру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ОБЛАСТЬ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DM Sans"/>
              </a:rPr>
              <a:t>Диагностируемое вращающееся оборудование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12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DM Sans"/>
              </a:rPr>
              <a:t>Цель — обеспечить долгосрочную надёжную и безопасную эксплуатацию оборудования, избежать незапланированных простоев и вторичных аварий.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92808"/>
            <a:ext cx="27432" cy="140817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Мельницы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Шаровые и полуавтоматические мельницы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3433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83433" y="1892808"/>
            <a:ext cx="27432" cy="140817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2305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Компрессоры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Винтовые и воздушные компрессоры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18226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18226" y="1892808"/>
            <a:ext cx="27432" cy="140817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7098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Насосы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Шламовые и центробежные насосы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53019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019" y="1892808"/>
            <a:ext cx="27432" cy="140817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1891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Конвейеры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Ленточные конвейеры и приводы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87812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87812" y="1892808"/>
            <a:ext cx="27432" cy="140817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6684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Подъёмные машины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Шахтные подъёмные установки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410712"/>
            <a:ext cx="27432" cy="140817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Вентиляторы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Вентиляторы главного проветривания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3433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83433" y="3410712"/>
            <a:ext cx="27432" cy="140817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02305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Дробилки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Щековые, конусные, роторные дробилки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18226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18226" y="3410712"/>
            <a:ext cx="27432" cy="140817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37098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Мостовые краны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Грузоподъёмное оборудование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53019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53019" y="3410712"/>
            <a:ext cx="27432" cy="140817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71891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Прокатные станы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Металлургическое оборудование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87812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7812" y="3410712"/>
            <a:ext cx="27432" cy="140817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6684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Прочее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Ж/д транспорт, ЦБП, винодельческое и медицинское оборудование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844009" cy="5029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0C3BF"/>
                </a:solidFill>
                <a:latin typeface="DM Sans"/>
              </a:rPr>
              <a:t>АРХИТЕКТУРА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DM Sans"/>
              </a:rPr>
              <a:t>Интеллектуальный сценарий предиктивного технического обслуживания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554480"/>
            <a:ext cx="2103120" cy="566928"/>
          </a:xfrm>
          <a:prstGeom prst="roundRect">
            <a:avLst/>
          </a:prstGeom>
          <a:solidFill>
            <a:srgbClr val="242222"/>
          </a:solidFill>
          <a:ln w="9525">
            <a:solidFill>
              <a:srgbClr val="5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DM Sans"/>
              </a:rPr>
              <a:t>Облачный сервер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0" y="1554480"/>
            <a:ext cx="2103120" cy="566928"/>
          </a:xfrm>
          <a:prstGeom prst="roundRect">
            <a:avLst/>
          </a:prstGeom>
          <a:solidFill>
            <a:srgbClr val="B72E26"/>
          </a:solidFill>
          <a:ln>
            <a:solidFill>
              <a:srgbClr val="5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DM Sans"/>
              </a:rPr>
              <a:t>Локальный сервер данных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1554480"/>
            <a:ext cx="2103120" cy="566928"/>
          </a:xfrm>
          <a:prstGeom prst="roundRect">
            <a:avLst/>
          </a:prstGeom>
          <a:solidFill>
            <a:srgbClr val="242222"/>
          </a:solidFill>
          <a:ln w="9525">
            <a:solidFill>
              <a:srgbClr val="5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DM Sans"/>
              </a:rPr>
              <a:t>Supercare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1837944"/>
            <a:ext cx="1965960" cy="0"/>
          </a:xfrm>
          <a:prstGeom prst="line">
            <a:avLst/>
          </a:prstGeom>
          <a:ln w="1524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360920" y="1837944"/>
            <a:ext cx="1965960" cy="0"/>
          </a:xfrm>
          <a:prstGeom prst="line">
            <a:avLst/>
          </a:prstGeom>
          <a:ln w="1524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8640" y="2606040"/>
            <a:ext cx="11064240" cy="384048"/>
          </a:xfrm>
          <a:prstGeom prst="rect">
            <a:avLst/>
          </a:prstGeom>
          <a:solidFill>
            <a:srgbClr val="24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DM Sans"/>
              </a:rPr>
              <a:t>Локальная сеть предприятия (LAN)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121408"/>
            <a:ext cx="0" cy="484632"/>
          </a:xfrm>
          <a:prstGeom prst="line">
            <a:avLst/>
          </a:prstGeom>
          <a:ln w="1524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08760" y="2990088"/>
            <a:ext cx="0" cy="438912"/>
          </a:xfrm>
          <a:prstGeom prst="line">
            <a:avLst/>
          </a:prstGeom>
          <a:ln w="1524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" y="34747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DM Sans"/>
              </a:rPr>
              <a:t>Уровень A — кабель / оптика / Wi-Fi</a:t>
            </a:r>
          </a:p>
        </p:txBody>
      </p:sp>
      <p:sp>
        <p:nvSpPr>
          <p:cNvPr id="14" name="Oval 13"/>
          <p:cNvSpPr/>
          <p:nvPr/>
        </p:nvSpPr>
        <p:spPr>
          <a:xfrm>
            <a:off x="786384" y="3977639"/>
            <a:ext cx="256032" cy="256032"/>
          </a:xfrm>
          <a:prstGeom prst="ellipse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914400" y="3794760"/>
            <a:ext cx="0" cy="182879"/>
          </a:xfrm>
          <a:prstGeom prst="line">
            <a:avLst/>
          </a:prstGeom>
          <a:ln w="1270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380744" y="3977639"/>
            <a:ext cx="256032" cy="256032"/>
          </a:xfrm>
          <a:prstGeom prst="ellipse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508760" y="3794760"/>
            <a:ext cx="0" cy="182879"/>
          </a:xfrm>
          <a:prstGeom prst="line">
            <a:avLst/>
          </a:prstGeom>
          <a:ln w="1270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1975104" y="3977639"/>
            <a:ext cx="256032" cy="256032"/>
          </a:xfrm>
          <a:prstGeom prst="ellipse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2103120" y="3794760"/>
            <a:ext cx="0" cy="182879"/>
          </a:xfrm>
          <a:prstGeom prst="line">
            <a:avLst/>
          </a:prstGeom>
          <a:ln w="1270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14400" y="3794760"/>
            <a:ext cx="1188720" cy="0"/>
          </a:xfrm>
          <a:prstGeom prst="line">
            <a:avLst/>
          </a:prstGeom>
          <a:ln w="1270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" y="43434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C4C4"/>
                </a:solidFill>
                <a:latin typeface="DM Sans"/>
              </a:rPr>
              <a:t>Дробилка, масляный пресс…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532120" y="2990088"/>
            <a:ext cx="0" cy="438912"/>
          </a:xfrm>
          <a:prstGeom prst="line">
            <a:avLst/>
          </a:prstGeom>
          <a:ln w="1524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069080" y="34747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DM Sans"/>
              </a:rPr>
              <a:t>Уровень Б — ZigBee / беспроводной шлюз</a:t>
            </a:r>
          </a:p>
        </p:txBody>
      </p:sp>
      <p:sp>
        <p:nvSpPr>
          <p:cNvPr id="24" name="Oval 23"/>
          <p:cNvSpPr/>
          <p:nvPr/>
        </p:nvSpPr>
        <p:spPr>
          <a:xfrm>
            <a:off x="4809744" y="3977639"/>
            <a:ext cx="256032" cy="256032"/>
          </a:xfrm>
          <a:prstGeom prst="ellipse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937760" y="3794760"/>
            <a:ext cx="0" cy="182879"/>
          </a:xfrm>
          <a:prstGeom prst="line">
            <a:avLst/>
          </a:prstGeom>
          <a:ln w="1270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5404104" y="3977639"/>
            <a:ext cx="256032" cy="256032"/>
          </a:xfrm>
          <a:prstGeom prst="ellipse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532120" y="3794760"/>
            <a:ext cx="0" cy="182879"/>
          </a:xfrm>
          <a:prstGeom prst="line">
            <a:avLst/>
          </a:prstGeom>
          <a:ln w="1270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98464" y="3977639"/>
            <a:ext cx="256032" cy="256032"/>
          </a:xfrm>
          <a:prstGeom prst="ellipse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126480" y="3794760"/>
            <a:ext cx="0" cy="182879"/>
          </a:xfrm>
          <a:prstGeom prst="line">
            <a:avLst/>
          </a:prstGeom>
          <a:ln w="1270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937760" y="3794760"/>
            <a:ext cx="1188720" cy="0"/>
          </a:xfrm>
          <a:prstGeom prst="line">
            <a:avLst/>
          </a:prstGeom>
          <a:ln w="1270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069080" y="43434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C4C4"/>
                </a:solidFill>
                <a:latin typeface="DM Sans"/>
              </a:rPr>
              <a:t>Подъёмник, скребок, сушилка…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555480" y="2990088"/>
            <a:ext cx="0" cy="438912"/>
          </a:xfrm>
          <a:prstGeom prst="line">
            <a:avLst/>
          </a:prstGeom>
          <a:ln w="1524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092440" y="34747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DM Sans"/>
              </a:rPr>
              <a:t>Уровень В — LoRa / 4G / 5G</a:t>
            </a:r>
          </a:p>
        </p:txBody>
      </p:sp>
      <p:sp>
        <p:nvSpPr>
          <p:cNvPr id="34" name="Oval 33"/>
          <p:cNvSpPr/>
          <p:nvPr/>
        </p:nvSpPr>
        <p:spPr>
          <a:xfrm>
            <a:off x="8833104" y="3977639"/>
            <a:ext cx="256032" cy="256032"/>
          </a:xfrm>
          <a:prstGeom prst="ellipse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961120" y="3794760"/>
            <a:ext cx="0" cy="182879"/>
          </a:xfrm>
          <a:prstGeom prst="line">
            <a:avLst/>
          </a:prstGeom>
          <a:ln w="1270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9427464" y="3977639"/>
            <a:ext cx="256032" cy="256032"/>
          </a:xfrm>
          <a:prstGeom prst="ellipse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9555480" y="3794760"/>
            <a:ext cx="0" cy="182879"/>
          </a:xfrm>
          <a:prstGeom prst="line">
            <a:avLst/>
          </a:prstGeom>
          <a:ln w="1270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0021824" y="3977639"/>
            <a:ext cx="256032" cy="256032"/>
          </a:xfrm>
          <a:prstGeom prst="ellipse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0149840" y="3794760"/>
            <a:ext cx="0" cy="182879"/>
          </a:xfrm>
          <a:prstGeom prst="line">
            <a:avLst/>
          </a:prstGeom>
          <a:ln w="1270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61120" y="3794760"/>
            <a:ext cx="1188720" cy="0"/>
          </a:xfrm>
          <a:prstGeom prst="line">
            <a:avLst/>
          </a:prstGeom>
          <a:ln w="1270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092440" y="43434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C4C4"/>
                </a:solidFill>
                <a:latin typeface="DM Sans"/>
              </a:rPr>
              <a:t>Воздуходувка, насос, компрессор…</a:t>
            </a:r>
          </a:p>
        </p:txBody>
      </p:sp>
      <p:pic>
        <p:nvPicPr>
          <p:cNvPr id="42" name="Picture 41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844009" cy="50292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9C4C4"/>
                </a:solidFill>
                <a:latin typeface="DM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Беспроводной вариант решения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89888"/>
          <a:ext cx="5120640" cy="1481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914400"/>
                <a:gridCol w="1188720"/>
                <a:gridCol w="1280160"/>
              </a:tblGrid>
              <a:tr h="384048"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ОБОРУДОВАНИЕ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ДАТЧИКОВ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ТИП ДАТЧИКА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ТИП ШЛЮЗА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Консольный насос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RH505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Двухопорный насос</a:t>
                      </a:r>
                    </a:p>
                  </a:txBody>
                  <a:tcPr>
                    <a:solidFill>
                      <a:srgbClr val="F8F1F1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6</a:t>
                      </a:r>
                    </a:p>
                  </a:txBody>
                  <a:tcPr>
                    <a:solidFill>
                      <a:srgbClr val="F8F1F1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RH605</a:t>
                      </a:r>
                    </a:p>
                  </a:txBody>
                  <a:tcPr>
                    <a:solidFill>
                      <a:srgbClr val="F8F1F1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RH560</a:t>
                      </a:r>
                    </a:p>
                  </a:txBody>
                  <a:tcPr>
                    <a:solidFill>
                      <a:srgbClr val="F8F1F1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Вентилятор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898648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5757"/>
                </a:solidFill>
                <a:latin typeface="DM Sans"/>
              </a:rPr>
              <a:t>Одноосные и трёхосные беспроводные датчики вибрации (RH505/RH605, RW506/RW606) передают данные на шлюз по радиоканалу — без прокладки кабельных трасс.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389888"/>
            <a:ext cx="2743200" cy="18288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ireless_compon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749770"/>
            <a:ext cx="2743200" cy="1109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823960" y="1389888"/>
            <a:ext cx="2788920" cy="18288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ireless_softwa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3714" y="1389888"/>
            <a:ext cx="2689411" cy="18288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989320" y="3310128"/>
            <a:ext cx="5623560" cy="16916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ireless_inst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1400" y="3310128"/>
            <a:ext cx="2819400" cy="16916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391400" y="4727448"/>
            <a:ext cx="281940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Монтаж беспроводных датчиков на промышленном объекте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0" y="457200"/>
            <a:ext cx="844009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Проводной вариант решения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89888"/>
          <a:ext cx="5120640" cy="1481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914400"/>
                <a:gridCol w="1188720"/>
                <a:gridCol w="1280160"/>
              </a:tblGrid>
              <a:tr h="384048"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ОБОРУДОВАНИЕ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ДАТЧИКОВ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ТИП ДАТЧИКА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ТИП ШЛЮЗА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Гориз. дробилка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RH103T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RH2000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Верт. дробилка</a:t>
                      </a:r>
                    </a:p>
                  </a:txBody>
                  <a:tcPr>
                    <a:solidFill>
                      <a:srgbClr val="F8F1F1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16</a:t>
                      </a:r>
                    </a:p>
                  </a:txBody>
                  <a:tcPr>
                    <a:solidFill>
                      <a:srgbClr val="F8F1F1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RH104T</a:t>
                      </a:r>
                    </a:p>
                  </a:txBody>
                  <a:tcPr>
                    <a:solidFill>
                      <a:srgbClr val="F8F1F1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RH2000</a:t>
                      </a:r>
                    </a:p>
                  </a:txBody>
                  <a:tcPr>
                    <a:solidFill>
                      <a:srgbClr val="F8F1F1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Зубч. дробилка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RH113T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RH2000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898648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5757"/>
                </a:solidFill>
                <a:latin typeface="DM Sans"/>
              </a:rPr>
              <a:t>Проводные датчики с верхним или боковым (360°) выходом кабеля подключаются к шлюзу RH2000 — стационарная схема для ответственных агрегатов с постоянным питанием.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389888"/>
            <a:ext cx="2743200" cy="18288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ired_senso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1389888"/>
            <a:ext cx="2596896" cy="1828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823960" y="1389888"/>
            <a:ext cx="2788920" cy="18288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ired_gatew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0056" y="1389888"/>
            <a:ext cx="2216727" cy="18288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989320" y="3310128"/>
            <a:ext cx="5623560" cy="16916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ired_softw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316" y="3310128"/>
            <a:ext cx="2363568" cy="16916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619316" y="4727448"/>
            <a:ext cx="2363568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Программное обеспечение анализа вибрации в реальном времени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0" y="457200"/>
            <a:ext cx="844009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КЕЙС ИЗ ПРАКТИКИ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Типичный случай предиктивного обслуживания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3611880" cy="141732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_chart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335" y="1298448"/>
            <a:ext cx="2892489" cy="1417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761488"/>
            <a:ext cx="3611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02:00, 2 июля. Вибрация на двигателе внезапно усилилась — данные передаются в реальном времени.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298448"/>
            <a:ext cx="3611880" cy="141732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se_lo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080" y="1298448"/>
            <a:ext cx="3307080" cy="1417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7680" y="2761488"/>
            <a:ext cx="3611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Ключевое оборудование. Подземный резервный погрузчик с установленными беспроводными датчиками.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98448"/>
            <a:ext cx="3611880" cy="141732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se_work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0327" y="1298448"/>
            <a:ext cx="2624666" cy="1417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46720" y="2761488"/>
            <a:ext cx="3611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Результат. Предотвращено внезапное незапланированное отключение и нарушение техники безопасности.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93008"/>
            <a:ext cx="3611880" cy="141732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ase_control_roo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575609"/>
            <a:ext cx="3611880" cy="125211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4956048"/>
            <a:ext cx="3611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+15 минут. Эксперт диагностического центра дал заключение обслуживающему инженеру.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493008"/>
            <a:ext cx="3611880" cy="141732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se_bearin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4943" y="3493008"/>
            <a:ext cx="2997353" cy="1417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97680" y="4956048"/>
            <a:ext cx="3611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06:43. Инженер на месте заменил повреждённый подшипник — сепаратор был разрушен.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493008"/>
            <a:ext cx="3611880" cy="141732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ase_chart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0850" y="3493008"/>
            <a:ext cx="3103620" cy="1417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046720" y="4956048"/>
            <a:ext cx="3611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После обслуживания. Форма волны вернулась к норме — оборудование работает штатно.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700000">
            <a:off x="6400800" y="-2743200"/>
            <a:ext cx="8686800" cy="8686800"/>
          </a:xfrm>
          <a:prstGeom prst="rect">
            <a:avLst/>
          </a:prstGeom>
          <a:gradFill rotWithShape="1">
            <a:gsLst>
              <a:gs pos="0">
                <a:srgbClr val="B72E26"/>
              </a:gs>
              <a:gs pos="100000">
                <a:srgbClr val="14121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063240"/>
            <a:ext cx="914400" cy="4064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7772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Проекты внедрения технологии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(открытый карьер)</a:t>
            </a:r>
          </a:p>
        </p:txBody>
      </p:sp>
      <p:pic>
        <p:nvPicPr>
          <p:cNvPr id="6" name="Picture 5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9514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ОБЛАСТЬ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DM Sans"/>
              </a:rPr>
              <a:t>Сценарии для добычи, переработки и плавки полезных ископаемых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DM Sans"/>
              </a:rPr>
              <a:t>Цель — обеспечить надёжную эксплуатацию оборудования, избежать экономических потерь и вторичных аварий из-за незапланированного простоя.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12848"/>
            <a:ext cx="3614928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12848"/>
            <a:ext cx="27432" cy="137160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212848"/>
            <a:ext cx="3395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Добыча полезных ископаемых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Подъёмные машины, конвейеры, буровые установки, вентиляторы главного проветривания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3296" y="2212848"/>
            <a:ext cx="3614928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3296" y="2212848"/>
            <a:ext cx="27432" cy="137160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2168" y="2212848"/>
            <a:ext cx="3395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Переработка полезных ископаемых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Дробилки, мельницы, флотационное и обогатительное оборудование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97952" y="2212848"/>
            <a:ext cx="3614928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97952" y="2212848"/>
            <a:ext cx="27432" cy="137160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6824" y="2212848"/>
            <a:ext cx="3395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Плавка и металлургия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Прокатные станы, компрессоры, насосные станции, мостовые краны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13048"/>
            <a:ext cx="877824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Мельница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36192" y="3813048"/>
            <a:ext cx="877824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Дробилка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23744" y="3813048"/>
            <a:ext cx="644652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Насос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78124" y="3813048"/>
            <a:ext cx="1033272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Вентилятор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1124" y="3813048"/>
            <a:ext cx="877824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Конвейер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8676" y="3813048"/>
            <a:ext cx="1499616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Подъёмная машина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18020" y="3813048"/>
            <a:ext cx="1033272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Компрессор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61020" y="3813048"/>
            <a:ext cx="1266444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Мостовой кран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DM Sans"/>
              </a:rPr>
              <a:t>Для оборудования класса «C/D» — сокращение персонала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6263640" cy="2286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728216"/>
            <a:ext cx="594360" cy="804672"/>
          </a:xfrm>
          <a:prstGeom prst="line">
            <a:avLst/>
          </a:prstGeom>
          <a:ln w="13970">
            <a:solidFill>
              <a:srgbClr val="B72E2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2532888"/>
            <a:ext cx="594360" cy="0"/>
          </a:xfrm>
          <a:prstGeom prst="line">
            <a:avLst/>
          </a:prstGeom>
          <a:ln w="13970">
            <a:solidFill>
              <a:srgbClr val="B72E2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43000" y="2532888"/>
            <a:ext cx="594360" cy="804672"/>
          </a:xfrm>
          <a:prstGeom prst="line">
            <a:avLst/>
          </a:prstGeom>
          <a:ln w="13970">
            <a:solidFill>
              <a:srgbClr val="B72E2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078992" y="1664208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78992" y="2468880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" y="3273552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43814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Датчики RW161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139696"/>
            <a:ext cx="1508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LoRa, до 1 км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37360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DM Sans"/>
              </a:rPr>
              <a:t>Шлюз LoRa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88920" y="2532888"/>
            <a:ext cx="2587752" cy="0"/>
          </a:xfrm>
          <a:prstGeom prst="line">
            <a:avLst/>
          </a:prstGeom>
          <a:ln w="13970">
            <a:solidFill>
              <a:srgbClr val="1412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376672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761488"/>
            <a:ext cx="1600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Локальная сеть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5876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d_install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33219"/>
            <a:ext cx="3063240" cy="82269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3749040" y="385876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3995928"/>
            <a:ext cx="27889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RW161 — беспроводные датчики вибрации версии LoRa для оборудования уровня C/D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1389888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32904" y="1389888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Экономичность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Конкурентоспособные цены для всех решений класса.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2286000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2904" y="2286000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Удалённость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Радиус действия LoRa-канала — до 1 км без прокладки кабеля.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3182112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2904" y="3182112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Замена инспекций персоналом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Сокращение ежедневных плановых и внеплановых проверок по сигналу тревоги.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78224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2904" y="4078224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Сбор формы волны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Дополнительная функция по сравнению с типовыми датчиками LoRa других производителей.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4974336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32904" y="4974336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Интеллектуальный анализ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Автоматическая настройка порога и интеллектуальная сигнализация аварий.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5870448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32904" y="5870448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Высокая степень защиты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IP68 / ATEX — взрывозащищённое исполнение.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DM Sans"/>
              </a:rPr>
              <a:t>Для оборудования класса «B» — анализ неисправностей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6263640" cy="2286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728216"/>
            <a:ext cx="594360" cy="804672"/>
          </a:xfrm>
          <a:prstGeom prst="line">
            <a:avLst/>
          </a:prstGeom>
          <a:ln w="13970">
            <a:solidFill>
              <a:srgbClr val="B72E2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2264664"/>
            <a:ext cx="594360" cy="268224"/>
          </a:xfrm>
          <a:prstGeom prst="line">
            <a:avLst/>
          </a:prstGeom>
          <a:ln w="13970">
            <a:solidFill>
              <a:srgbClr val="B72E2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43000" y="2532888"/>
            <a:ext cx="594360" cy="268224"/>
          </a:xfrm>
          <a:prstGeom prst="line">
            <a:avLst/>
          </a:prstGeom>
          <a:ln w="13970">
            <a:solidFill>
              <a:srgbClr val="B72E2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43000" y="2532888"/>
            <a:ext cx="594360" cy="804672"/>
          </a:xfrm>
          <a:prstGeom prst="line">
            <a:avLst/>
          </a:prstGeom>
          <a:ln w="13970">
            <a:solidFill>
              <a:srgbClr val="B72E2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78992" y="1664208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" y="2200656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8992" y="2737104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43814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RH505/605, RW625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139696"/>
            <a:ext cx="1508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ZigBee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37360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DM Sans"/>
              </a:rPr>
              <a:t>RH570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88920" y="2532888"/>
            <a:ext cx="2587752" cy="0"/>
          </a:xfrm>
          <a:prstGeom prst="line">
            <a:avLst/>
          </a:prstGeom>
          <a:ln w="13970">
            <a:solidFill>
              <a:srgbClr val="1412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2352" y="2761488"/>
            <a:ext cx="1600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Локальная сеть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5876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_fault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33219"/>
            <a:ext cx="3063240" cy="82269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749040" y="385876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3995928"/>
            <a:ext cx="27889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RH570 — беспроводная станция сбора данных, датчики по ZigBee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1389888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2904" y="1389888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Высокая производительность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Вибрация, температура, скорость (опц.) 3 в 1; диапазон 2–20 кГц (±3 дБ).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2286000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2904" y="2286000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Расширенный анализ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Фильтр ложных сигналов, определение запуска, более 20 специальных индексов.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3182112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2904" y="3182112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Длина сбора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До 2048 Кб (819 200 линий) на измерение.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4078224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32904" y="4078224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Срок службы батареи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До 3 лет автономной работы.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974336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32904" y="4974336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Высокая степень защиты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IP68 / ATEX — взрывозащищённый сертификат.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DM Sans"/>
              </a:rPr>
              <a:t>Для оборудования класса «A» — анализ точности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6263640" cy="2286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728216"/>
            <a:ext cx="594360" cy="804672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2264664"/>
            <a:ext cx="594360" cy="268224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43000" y="2532888"/>
            <a:ext cx="594360" cy="268224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43000" y="2532888"/>
            <a:ext cx="594360" cy="804672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78992" y="1664208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" y="2200656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8992" y="2737104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43814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IEPE, обороты, частицы масла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139696"/>
            <a:ext cx="1508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RS485 / WiFi / 4-20mA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37360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DM Sans"/>
              </a:rPr>
              <a:t>RH2000 / Exd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88920" y="2532888"/>
            <a:ext cx="2587752" cy="0"/>
          </a:xfrm>
          <a:prstGeom prst="line">
            <a:avLst/>
          </a:prstGeom>
          <a:ln w="13970">
            <a:solidFill>
              <a:srgbClr val="B72E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SuperCare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2352" y="2761488"/>
            <a:ext cx="1600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Система мониторинга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5876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_fault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338650"/>
            <a:ext cx="3063240" cy="41183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749040" y="385876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3995928"/>
            <a:ext cx="27889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RH2000 / RH2000 Exd — взрывозащищённая станция сбора данных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1389888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2904" y="1389888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Высокая совместимость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IEPE-датчики вибрации, датчики оборотов, частиц металла в масле.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2286000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2904" y="2286000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Характеристики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Постоянный сбор (индикация 30 с, форма волны 30 мин); 0,1–15 кГц (±3 дБ).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3182112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2904" y="3182112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Интеллектуальный анализ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Более 50 специальных индексов, диагностика с помощью ИИ.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4078224"/>
            <a:ext cx="32004" cy="758952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32904" y="4078224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Высокая степень защиты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IP68 / ATEX.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ДИАГНОСТИКА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Контроль неисправностей оборудования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89888"/>
          <a:ext cx="51206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3383280"/>
              </a:tblGrid>
              <a:tr h="365760">
                <a:tc>
                  <a:txBody>
                    <a:bodyPr lIns="82296" rIns="45720" tIns="0" bIns="0" anchor="ctr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DM Sans"/>
                        </a:rPr>
                        <a:t>ТИП НЕИСПРАВНОСТИ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DM Sans"/>
                        </a:rPr>
                        <a:t>СПЕЦИФИЧЕСКИЕ НЕИСПРАВНОСТИ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</a:tr>
              <a:tr h="621792"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Дефект привода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Дисбаланс, несоосность, ослабление, эксцентриситет ротора, изгиб вала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Дефект подшипника</a:t>
                      </a:r>
                    </a:p>
                  </a:txBody>
                  <a:tcPr>
                    <a:solidFill>
                      <a:srgbClr val="F8F1F1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Сколы, износ, раковины, трещины, деформация сепаратора, недостаток смазки</a:t>
                      </a:r>
                    </a:p>
                  </a:txBody>
                  <a:tcPr>
                    <a:solidFill>
                      <a:srgbClr val="F8F1F1"/>
                    </a:solidFill>
                  </a:tcPr>
                </a:tc>
              </a:tr>
              <a:tr h="621792"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Неисправность редуктора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Недостаток смазки, плохое зацепление, износ и поломка зубьев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Неисправность смазки</a:t>
                      </a:r>
                    </a:p>
                  </a:txBody>
                  <a:tcPr>
                    <a:solidFill>
                      <a:srgbClr val="F8F1F1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Загрязнение масла, химический износ, посторонние предметы</a:t>
                      </a:r>
                    </a:p>
                  </a:txBody>
                  <a:tcPr>
                    <a:solidFill>
                      <a:srgbClr val="F8F1F1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989320" y="1389888"/>
            <a:ext cx="5623560" cy="384048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fect_photo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2911" y="1389888"/>
            <a:ext cx="4716378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700000">
            <a:off x="6400800" y="-2743200"/>
            <a:ext cx="8686800" cy="8686800"/>
          </a:xfrm>
          <a:prstGeom prst="rect">
            <a:avLst/>
          </a:prstGeom>
          <a:gradFill rotWithShape="1">
            <a:gsLst>
              <a:gs pos="0">
                <a:srgbClr val="B72E26"/>
              </a:gs>
              <a:gs pos="100000">
                <a:srgbClr val="14121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063240"/>
            <a:ext cx="914400" cy="4064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7772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Программные решения для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предиктивного технического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обслуживания</a:t>
            </a:r>
          </a:p>
        </p:txBody>
      </p:sp>
      <p:pic>
        <p:nvPicPr>
          <p:cNvPr id="6" name="Picture 5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9514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SuperCare — платформа предиктивного обслуживания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5394960" cy="2286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upercare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120" y="1389888"/>
            <a:ext cx="3810000" cy="228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72200" y="1389888"/>
            <a:ext cx="5440680" cy="2286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upercare_righ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6061" y="1389888"/>
            <a:ext cx="4292957" cy="2286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3813048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813048"/>
            <a:ext cx="27432" cy="65379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813048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Архитектура больших данных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Удовлетворяет потребности для долгосрочного использования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3296" y="3813048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3296" y="3813048"/>
            <a:ext cx="27432" cy="65379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168" y="3813048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B/S структура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Совместима с различными браузерами, не требует установки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7952" y="3813048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7952" y="3813048"/>
            <a:ext cx="27432" cy="65379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6824" y="3813048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Самоопределяемое размещение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Быстрая настройка макета страницы под стилевые требования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76572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576572"/>
            <a:ext cx="27432" cy="65379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4576572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Профессиональная версия Pro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Унифицированный контроль верхней группы предприятий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3296" y="4576572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3296" y="4576572"/>
            <a:ext cx="27432" cy="65379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92168" y="4576572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Статистические таблицы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Глубокая аналитика по всем предприятиям для руководителя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97952" y="4576572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97952" y="4576572"/>
            <a:ext cx="27432" cy="653796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6824" y="4576572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Совместимость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Интеграция с DCS/PLC/MES/SCADA и другими системами</a:t>
            </a:r>
          </a:p>
        </p:txBody>
      </p:sp>
      <p:pic>
        <p:nvPicPr>
          <p:cNvPr id="27" name="Picture 2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0" y="457200"/>
            <a:ext cx="844009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Профессиональная диагностика на основе 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5394960" cy="28346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i_panel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389888"/>
            <a:ext cx="4572000" cy="2834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72200" y="1389888"/>
            <a:ext cx="5440680" cy="28346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i_panel_righ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540" y="1389888"/>
            <a:ext cx="4572000" cy="2834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4361688"/>
            <a:ext cx="5477256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361688"/>
            <a:ext cx="27432" cy="91440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4361688"/>
            <a:ext cx="5257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30+ инструментов профессиональной диагностики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Удовлетворяют потребности инженеров в поиске всех видов неисправностей вращающегося оборудования.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35624" y="4361688"/>
            <a:ext cx="5477256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35624" y="4361688"/>
            <a:ext cx="27432" cy="91440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4361688"/>
            <a:ext cx="5257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AI-диагностика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Алгоритм автоматически даёт выводы по диагностике неисправностей и рекомендации по обслуживанию.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DM Sans"/>
              </a:rPr>
              <a:t>Удобный доступ к оборудованию с мобильного устройства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12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DM Sans"/>
              </a:rPr>
              <a:t>Контроль статуса в режиме реального времени, просмотр статистики и управление тревогами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2075688"/>
            <a:ext cx="1814732" cy="393192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one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562641"/>
            <a:ext cx="1814732" cy="295801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663440" y="2715768"/>
            <a:ext cx="2834640" cy="17373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0" y="2807208"/>
            <a:ext cx="2651760" cy="155448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hone_ch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3001061"/>
            <a:ext cx="2651760" cy="116677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78240" y="2075688"/>
            <a:ext cx="1814732" cy="393192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ne_righ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2136179"/>
            <a:ext cx="1814732" cy="38109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EPM — простой мониторинг и диагностика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5852160" cy="26517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pm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102" y="1389888"/>
            <a:ext cx="4723236" cy="2651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0" y="1389888"/>
            <a:ext cx="32004" cy="73152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9984" y="1389888"/>
            <a:ext cx="48828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B/S структура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Совместима с различным браузером, не требует установки на рабочем месте.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258568"/>
            <a:ext cx="32004" cy="73152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258568"/>
            <a:ext cx="48828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Статистика состояния оборудования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Помогает управляющим быстро понять долгосрочный статус оборудования.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3127248"/>
            <a:ext cx="32004" cy="73152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9984" y="3127248"/>
            <a:ext cx="48828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2.5D моделирование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Реализует наглядное моделирование оборудования и точек измерения в реальном времени.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24528"/>
            <a:ext cx="5623560" cy="17373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pm_machine3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8325" y="4224528"/>
            <a:ext cx="2304190" cy="17373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208325" y="5687568"/>
            <a:ext cx="230419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Мониторинг состояния оборудования в реальном времени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224528"/>
            <a:ext cx="5349240" cy="17373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pm_wavefor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145" y="4224528"/>
            <a:ext cx="2306230" cy="1737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785145" y="5687568"/>
            <a:ext cx="230623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Профессиональные инструменты диагностики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700000">
            <a:off x="6400800" y="-2743200"/>
            <a:ext cx="8686800" cy="8686800"/>
          </a:xfrm>
          <a:prstGeom prst="rect">
            <a:avLst/>
          </a:prstGeom>
          <a:gradFill rotWithShape="1">
            <a:gsLst>
              <a:gs pos="0">
                <a:srgbClr val="B72E26"/>
              </a:gs>
              <a:gs pos="100000">
                <a:srgbClr val="14121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063240"/>
            <a:ext cx="914400" cy="4064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7772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Сервисы для обеспечения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предиктивного технического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обслуживания</a:t>
            </a:r>
          </a:p>
        </p:txBody>
      </p:sp>
      <p:pic>
        <p:nvPicPr>
          <p:cNvPr id="6" name="Picture 5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9514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СЕРВИСЫ ПОДДЕРЖКИ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Шесть услуг обеспечивают эффективность диагностики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5394960" cy="23774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rvices_control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491" y="1389888"/>
            <a:ext cx="3355258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568491" y="3493008"/>
            <a:ext cx="3355258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Круглосуточный мониторинг в реальном времени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89888"/>
            <a:ext cx="5440680" cy="23774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ervices_campu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1540" y="1389888"/>
            <a:ext cx="3302000" cy="23774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241540" y="3493008"/>
            <a:ext cx="330200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Синхронизация данных в облачном диагностическом центре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04488"/>
            <a:ext cx="27432" cy="77724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24×7 экспертный мониторинг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10968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10968" y="3904488"/>
            <a:ext cx="27432" cy="77724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29840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Оценка после техобслуживания на месте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3296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3296" y="3904488"/>
            <a:ext cx="27432" cy="77724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2168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Экспертный консалтинг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35624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35624" y="3904488"/>
            <a:ext cx="27432" cy="77724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54496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Ежемесячный отчёт о состоянии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97952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97952" y="3904488"/>
            <a:ext cx="27432" cy="77724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6824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Постоянное обучение персонала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60280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60280" y="3904488"/>
            <a:ext cx="27432" cy="77724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79152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Консалтинг диагностического центра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СЕРВИСЫ ПОДДЕРЖКИ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Обучение персонала и авторизация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44168"/>
            <a:ext cx="32004" cy="64008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44168"/>
            <a:ext cx="524865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Международный центр обучения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Обучение вибродиагностике и сертификация инженеров уровней II, III и IV.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21408"/>
            <a:ext cx="32004" cy="64008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121408"/>
            <a:ext cx="524865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Передача компетенций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Помощь клиентам в создании собственной системы O&amp;M с ИИ-алгоритмом.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344168"/>
            <a:ext cx="32004" cy="64008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344168"/>
            <a:ext cx="529437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Сертифицированная платформа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Международная GL-сертифицированная платформа технического обслуживания.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121408"/>
            <a:ext cx="32004" cy="64008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8504" y="2121408"/>
            <a:ext cx="529437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Сопровождение внедрения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Достижение интеллектуальной революции в перцепции и управлении оборудованием.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81528"/>
            <a:ext cx="5394960" cy="19659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ing_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863" y="3081528"/>
            <a:ext cx="2808514" cy="19659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841863" y="4773168"/>
            <a:ext cx="2808514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Обучение инженеров вибродиагностике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081528"/>
            <a:ext cx="5440680" cy="19659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raining_serverr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581" y="3081528"/>
            <a:ext cx="2717917" cy="19659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533581" y="4773168"/>
            <a:ext cx="2717917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Инфраструктура диагностического центра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846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Сертификаты — справочно, в приложении к предложению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700000">
            <a:off x="6400800" y="-2743200"/>
            <a:ext cx="8686800" cy="8686800"/>
          </a:xfrm>
          <a:prstGeom prst="rect">
            <a:avLst/>
          </a:prstGeom>
          <a:gradFill rotWithShape="1">
            <a:gsLst>
              <a:gs pos="0">
                <a:srgbClr val="B72E26"/>
              </a:gs>
              <a:gs pos="100000">
                <a:srgbClr val="14121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063240"/>
            <a:ext cx="914400" cy="4064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7772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Международный опыт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применения технологии</a:t>
            </a:r>
          </a:p>
        </p:txBody>
      </p:sp>
      <p:pic>
        <p:nvPicPr>
          <p:cNvPr id="6" name="Picture 5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9514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0C3BF"/>
                </a:solidFill>
                <a:latin typeface="DM Sans"/>
              </a:rPr>
              <a:t>МАСШТАБ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DM Sans"/>
              </a:rPr>
              <a:t>Продукты и услуги на базе технологии внедрены более чем в 35 странах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3657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DM Sans"/>
              </a:rPr>
              <a:t>35+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9C4C4"/>
                </a:solidFill>
                <a:latin typeface="DM Sans"/>
              </a:rPr>
              <a:t>стран, где решения на базе этой технологической платформы работают на промышленных объектах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2834640"/>
            <a:ext cx="722376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Россия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5952744" y="2834640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Германия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0296" y="2834640"/>
            <a:ext cx="1344168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Великобритания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94192" y="2834640"/>
            <a:ext cx="722376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Швеция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26296" y="2834640"/>
            <a:ext cx="1033272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Нидерланды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69296" y="2834640"/>
            <a:ext cx="800100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Испания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273552"/>
            <a:ext cx="722376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Италия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52744" y="3273552"/>
            <a:ext cx="800100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Марокко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62572" y="3273552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Пакистан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50124" y="3273552"/>
            <a:ext cx="644652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Индия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04504" y="3273552"/>
            <a:ext cx="1110996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Южная Корея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5228" y="3273552"/>
            <a:ext cx="800100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Таиланд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3712464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Малайзия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8192" y="3712464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Сингапур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95744" y="3712464"/>
            <a:ext cx="955547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Индонезия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61019" y="3712464"/>
            <a:ext cx="955547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Австралия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26294" y="3712464"/>
            <a:ext cx="48920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США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25226" y="3712464"/>
            <a:ext cx="800100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Мексика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4151376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Бразилия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08192" y="4151376"/>
            <a:ext cx="566928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Перу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84848" y="4151376"/>
            <a:ext cx="566928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Чили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61504" y="4151376"/>
            <a:ext cx="955547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Аргентина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9C4C4"/>
                </a:solidFill>
                <a:latin typeface="DM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0C3BF"/>
                </a:solidFill>
                <a:latin typeface="DM Sans"/>
              </a:rPr>
              <a:t>МАСШТАБ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DM Sans"/>
              </a:rPr>
              <a:t>Эксплуатационный успех ключевого оборудования в различных отраслях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016758"/>
            <a:ext cx="3520440" cy="19050"/>
          </a:xfrm>
          <a:prstGeom prst="rect">
            <a:avLst/>
          </a:prstGeom>
          <a:solidFill>
            <a:srgbClr val="3A37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18488"/>
            <a:ext cx="3520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188 000+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50008"/>
            <a:ext cx="3520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4C4"/>
                </a:solidFill>
                <a:latin typeface="DM Sans"/>
              </a:rPr>
              <a:t>единиц оборудования, подключённых к платформе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3016758"/>
            <a:ext cx="3520440" cy="19050"/>
          </a:xfrm>
          <a:prstGeom prst="rect">
            <a:avLst/>
          </a:prstGeom>
          <a:solidFill>
            <a:srgbClr val="3A37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618488"/>
            <a:ext cx="3520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880 000+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50008"/>
            <a:ext cx="3520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4C4"/>
                </a:solidFill>
                <a:latin typeface="DM Sans"/>
              </a:rPr>
              <a:t>установленных датчиков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3016758"/>
            <a:ext cx="3520440" cy="19050"/>
          </a:xfrm>
          <a:prstGeom prst="rect">
            <a:avLst/>
          </a:prstGeom>
          <a:solidFill>
            <a:srgbClr val="3A37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618488"/>
            <a:ext cx="3520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3.0 ТБ+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350008"/>
            <a:ext cx="3520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4C4"/>
                </a:solidFill>
                <a:latin typeface="DM Sans"/>
              </a:rPr>
              <a:t>ежедневных данных телеметрии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16958"/>
            <a:ext cx="3520440" cy="19050"/>
          </a:xfrm>
          <a:prstGeom prst="rect">
            <a:avLst/>
          </a:prstGeom>
          <a:solidFill>
            <a:srgbClr val="3A37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18688"/>
            <a:ext cx="3520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35+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50208"/>
            <a:ext cx="3520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4C4"/>
                </a:solidFill>
                <a:latin typeface="DM Sans"/>
              </a:rPr>
              <a:t>стран внедрения технологии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616958"/>
            <a:ext cx="3520440" cy="19050"/>
          </a:xfrm>
          <a:prstGeom prst="rect">
            <a:avLst/>
          </a:prstGeom>
          <a:solidFill>
            <a:srgbClr val="3A37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3218688"/>
            <a:ext cx="3520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34 000+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950208"/>
            <a:ext cx="3520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4C4"/>
                </a:solidFill>
                <a:latin typeface="DM Sans"/>
              </a:rPr>
              <a:t>успешных случаев с замкнутым циклом обслуживания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4616958"/>
            <a:ext cx="3520440" cy="19050"/>
          </a:xfrm>
          <a:prstGeom prst="rect">
            <a:avLst/>
          </a:prstGeom>
          <a:solidFill>
            <a:srgbClr val="3A37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218688"/>
            <a:ext cx="3520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3 000+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950208"/>
            <a:ext cx="3520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4C4"/>
                </a:solidFill>
                <a:latin typeface="DM Sans"/>
              </a:rPr>
              <a:t>реализованных проектов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9C4C4"/>
                </a:solidFill>
                <a:latin typeface="DM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DM Sans"/>
              </a:rPr>
              <a:t>Типичные проекты за рубежом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44168"/>
            <a:ext cx="5440680" cy="4206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2491740" cy="14630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se_zijin_s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12754"/>
            <a:ext cx="2491740" cy="120018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314700" y="1481328"/>
            <a:ext cx="2491740" cy="14630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se_zijin_equi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1787695"/>
            <a:ext cx="2491740" cy="85030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312724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72E26"/>
                </a:solidFill>
                <a:latin typeface="DM Sans"/>
              </a:rPr>
              <a:t>Клиент: Zijin Julong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11296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Тип сырья: медная руда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Датчиков установлено: 387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344168"/>
            <a:ext cx="5440680" cy="4206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481328"/>
            <a:ext cx="2491740" cy="14630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se_cnh_sit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12754"/>
            <a:ext cx="2491740" cy="1200188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938260" y="1481328"/>
            <a:ext cx="2491740" cy="14630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se_cnh_equi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8260" y="1787695"/>
            <a:ext cx="2491740" cy="85030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55080" y="312724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72E26"/>
                </a:solidFill>
                <a:latin typeface="DM Sans"/>
              </a:rPr>
              <a:t>Клиент: CNH Energy Heidaigou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511296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Тип сырья: уголь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Датчиков установлено: 1184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DM Sans"/>
              </a:rPr>
              <a:t>Типичные проекты за рубежом — Латинская Америка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44168"/>
            <a:ext cx="5440680" cy="4206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5074920" cy="14630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se_brazil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81302"/>
            <a:ext cx="5074920" cy="12630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12724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72E26"/>
                </a:solidFill>
                <a:latin typeface="DM Sans"/>
              </a:rPr>
              <a:t>Расположение: Бразилия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11296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Промышленность: горнодобывающая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Датчиков установлено: 2000+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344168"/>
            <a:ext cx="5440680" cy="4206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481328"/>
            <a:ext cx="5074920" cy="14630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se_chile_phot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03858"/>
            <a:ext cx="5074920" cy="12179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312724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72E26"/>
                </a:solidFill>
                <a:latin typeface="DM Sans"/>
              </a:rPr>
              <a:t>Расположение: Чили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511296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Промышленность: горнодобывающая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Датчиков установлено: 2000+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1212"/>
                </a:solidFill>
                <a:latin typeface="DM Sans"/>
              </a:rPr>
              <a:t>Кейс: интеграция с корпоративной платформой промышленной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DM Sans"/>
              </a:rPr>
              <a:t>Разработка интеллектуальной системы и операционной модели для собственного центра удалённой диагностики заказчика; платформа объединяет 18 предприятий и 31 линию.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2258568"/>
            <a:ext cx="7772400" cy="338328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idc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417935"/>
            <a:ext cx="7772400" cy="306454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194560" y="5208161"/>
            <a:ext cx="777240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Единая платформа удалённой диагностики группы предприятий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0C3BF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DM Sans"/>
              </a:rPr>
              <a:t>Достижения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8988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M Sans"/>
              </a:rPr>
              <a:t>Общее снижение затрат на техническое обслуживание — примерно </a:t>
            </a:r>
            <a:r>
              <a:rPr sz="1600" b="1">
                <a:solidFill>
                  <a:srgbClr val="E8938C"/>
                </a:solidFill>
                <a:latin typeface="DM Sans"/>
              </a:rPr>
              <a:t>4 000 000 $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2574036" cy="27940"/>
          </a:xfrm>
          <a:prstGeom prst="rect">
            <a:avLst/>
          </a:prstGeom>
          <a:solidFill>
            <a:srgbClr val="3A37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58568"/>
            <a:ext cx="25740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DM Sans"/>
              </a:rPr>
              <a:t>57.29%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4056"/>
            <a:ext cx="257403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C4C4"/>
                </a:solidFill>
                <a:latin typeface="DM Sans"/>
              </a:rPr>
              <a:t>сокращение количества отказов механического оборудования (2022)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8708" y="2167128"/>
            <a:ext cx="2574036" cy="27940"/>
          </a:xfrm>
          <a:prstGeom prst="rect">
            <a:avLst/>
          </a:prstGeom>
          <a:solidFill>
            <a:srgbClr val="3A37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78708" y="2258568"/>
            <a:ext cx="25740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DM Sans"/>
              </a:rPr>
              <a:t>80.64%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8708" y="2734056"/>
            <a:ext cx="257403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C4C4"/>
                </a:solidFill>
                <a:latin typeface="DM Sans"/>
              </a:rPr>
              <a:t>сокращение времени простоя из-за механических отказов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8776" y="2167128"/>
            <a:ext cx="2574036" cy="27940"/>
          </a:xfrm>
          <a:prstGeom prst="rect">
            <a:avLst/>
          </a:prstGeom>
          <a:solidFill>
            <a:srgbClr val="3A37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08776" y="2258568"/>
            <a:ext cx="25740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DM Sans"/>
              </a:rPr>
              <a:t>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8776" y="2734056"/>
            <a:ext cx="257403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C4C4"/>
                </a:solidFill>
                <a:latin typeface="DM Sans"/>
              </a:rPr>
              <a:t>сокращение инспекционного персонала за счёт онлайн-мониторинга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38844" y="2167128"/>
            <a:ext cx="2574036" cy="27940"/>
          </a:xfrm>
          <a:prstGeom prst="rect">
            <a:avLst/>
          </a:prstGeom>
          <a:solidFill>
            <a:srgbClr val="3A37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38844" y="2258568"/>
            <a:ext cx="25740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DM Sans"/>
              </a:rPr>
              <a:t>37.17%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38844" y="2734056"/>
            <a:ext cx="257403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C4C4"/>
                </a:solidFill>
                <a:latin typeface="DM Sans"/>
              </a:rPr>
              <a:t>снижение доли затрат на аутсорсинг технического обслуживания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9C4C4"/>
                </a:solidFill>
                <a:latin typeface="DM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Проект, отмеченный международным признанием эффективности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DM Sans"/>
              </a:rPr>
              <a:t>Крупный проект по добыче гранита (500 млн тонн) включил интеллектуальную систему эксплуатации на базе этой платформы и вошёл в реестр Global Lighthouse Network, 2023.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12848"/>
            <a:ext cx="3611880" cy="35661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ghthouse_gro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52166"/>
            <a:ext cx="3611880" cy="22875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4865370"/>
            <a:ext cx="361188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01 — Обучение персонала диагностике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2212848"/>
            <a:ext cx="3611880" cy="35661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ghthouse_equi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782938"/>
            <a:ext cx="3611880" cy="242597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297680" y="4934597"/>
            <a:ext cx="361188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02 — Пусконаладка на объекте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212848"/>
            <a:ext cx="3611880" cy="35661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ghthouse_li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6833" y="2212848"/>
            <a:ext cx="3351654" cy="356616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176833" y="5504688"/>
            <a:ext cx="3351654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03 — Реестр Global Lighthouse Network, 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DM Sans"/>
              </a:rPr>
              <a:t>Типичные случаи неисправностей на объекте по добыче гранита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2651760" cy="17373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anyang_sit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62633"/>
            <a:ext cx="2651760" cy="14319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3538728"/>
            <a:ext cx="2651760" cy="17373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anyang_site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91433"/>
            <a:ext cx="2651760" cy="14319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29000" y="1709928"/>
            <a:ext cx="32004" cy="155448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75304" y="1709928"/>
            <a:ext cx="8037575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Случай 1 — износ муфты ударной дробилки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Диагностирована неисправность муфты высокоскоростного вала; через 3 дня муфта заменена по плану. На фото — явный износ нейлонового стержня.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3401568"/>
            <a:ext cx="32004" cy="155448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3401568"/>
            <a:ext cx="8037575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Случай 2 — ослабление болтов на вибрационном сите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Диагностирована недостаточная жёсткость основания; выявлено отсутствие 8 болтов. Через неделю проведено техническое обслуживание.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Кейс: горнодобывающая группа — четыре объекта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1064240" cy="155448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estern_mining_si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455" y="1389888"/>
            <a:ext cx="9660610" cy="1554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3127248"/>
            <a:ext cx="2683764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127248"/>
            <a:ext cx="27432" cy="91440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127248"/>
            <a:ext cx="24643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Объект 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121 ед. оборудования, 781 датчик, старт авг. 2021, 53 успешных кейса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2132" y="3127248"/>
            <a:ext cx="2683764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2132" y="3127248"/>
            <a:ext cx="27432" cy="91440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1004" y="3127248"/>
            <a:ext cx="24643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Объект 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24 ед. оборудования, 130 датчиков, старт авг. 2021, 11 успешных кейсов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35624" y="3127248"/>
            <a:ext cx="2683764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35624" y="3127248"/>
            <a:ext cx="27432" cy="91440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3127248"/>
            <a:ext cx="24643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Объект 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62 ед. оборудования, 417 датчиков, старт авг. 2021, 27 успешных кейсов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29116" y="3127248"/>
            <a:ext cx="2683764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29116" y="3127248"/>
            <a:ext cx="27432" cy="91440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47988" y="3127248"/>
            <a:ext cx="24643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Объект 4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91 ед. оборудования, 917 датчиков, старт ноя. 2022, 11 успешных кейсов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7880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С 2021 года платформа помогла выявить неисправность основного подъёмника, пройти национальную сертификацию «умного месторождения», внедрить мониторинг подземного ключевого оборудования и расширить мониторинг масла.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DM Sans"/>
              </a:rPr>
              <a:t>Технические решения для специального горного оборудования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32004" cy="141732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709928"/>
            <a:ext cx="524865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Проблема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При серьёзных перегрузках персонал не всегда в состоянии выявить скрытые неисправности — тяжёлые условия труда, сейсмическая опасность, сложность коммуникаций.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64408"/>
            <a:ext cx="32004" cy="141732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3264408"/>
            <a:ext cx="524865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72E26"/>
                </a:solidFill>
                <a:latin typeface="DM Sans"/>
              </a:rPr>
              <a:t>Решение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Взрывозащищённые беспроводные датчики решают проблему монтажа кабелей в шахте; мониторинг масла, тока и напряжения; поддержка Ethernet/ВОЛС/WiFi/4G/5G.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709928"/>
            <a:ext cx="5440680" cy="23774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ining_sensor_produ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2306" y="1709928"/>
            <a:ext cx="3620467" cy="2377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72200" y="4224528"/>
            <a:ext cx="2651760" cy="12801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ining_install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352818"/>
            <a:ext cx="2651760" cy="102357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961120" y="4224528"/>
            <a:ext cx="2651760" cy="12801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ng_install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0" y="4387291"/>
            <a:ext cx="2651760" cy="9546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Несколько типичных случаев неисправности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554480" cy="178308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ult_sp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9334"/>
            <a:ext cx="1554480" cy="13213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40280" y="1298448"/>
            <a:ext cx="37490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B72E26"/>
                </a:solidFill>
                <a:latin typeface="DM Sans"/>
              </a:rPr>
              <a:t>Исключение незапланированных простоев 24/7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DM Sans"/>
              </a:rPr>
              <a:t>В 3 часа ночи диагностирована сломанная пружина в соединении ремня. Пружина заменена своевременно, отключение исключено.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298448"/>
            <a:ext cx="1554480" cy="178308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ult_r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529334"/>
            <a:ext cx="1554480" cy="13213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1298448"/>
            <a:ext cx="37490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B72E26"/>
                </a:solidFill>
                <a:latin typeface="DM Sans"/>
              </a:rPr>
              <a:t>Техобслуживание по производственным планам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DM Sans"/>
              </a:rPr>
              <a:t>Диагностирован износ дорожки качения внутреннего кольца подшипника. Инженер провёл обслуживание раньше срока.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18688"/>
            <a:ext cx="1554480" cy="178308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ault_bea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49574"/>
            <a:ext cx="1554480" cy="13213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240280" y="3218688"/>
            <a:ext cx="37490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B72E26"/>
                </a:solidFill>
                <a:latin typeface="DM Sans"/>
              </a:rPr>
              <a:t>Долгосрочное отслеживание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DM Sans"/>
              </a:rPr>
              <a:t>Обнаружено отслоение внутреннего кольца подшипника ролика; своевременное напоминание позволило спланировать ремонт.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218688"/>
            <a:ext cx="1554480" cy="178308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ult_rolle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449574"/>
            <a:ext cx="1554480" cy="13213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863840" y="3218688"/>
            <a:ext cx="37490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B72E26"/>
                </a:solidFill>
                <a:latin typeface="DM Sans"/>
              </a:rPr>
              <a:t>Руководство по выбору запасных частей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DM Sans"/>
              </a:rPr>
              <a:t>Выявлен значительный износ ролика ремня. Причина — неправильный выбор модели подшипника.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67528" cy="685800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97480"/>
            <a:ext cx="1304378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703320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M Sans"/>
              </a:rPr>
              <a:t>ООО «Алгоритм»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5196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C4C4"/>
                </a:solidFill>
                <a:latin typeface="DM Sans"/>
              </a:rPr>
              <a:t>Комплексные решения для предиктивного обслуживания оборудования.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965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ТЕЛЕФОН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225856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+7 (988) 492-81-03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3017520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31546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E-MAIL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344728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info@algoritmkrsk.ru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4206240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43434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САЙТ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463600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https://algoritmkrsk.ru/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5394960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5532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АДРЕС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582472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660075, Красноярский край, г. Красноярск,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ул. Маерчака, д. 8, офис 318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