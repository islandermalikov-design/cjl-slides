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5272" y="0"/>
            <a:ext cx="6583680" cy="6858000"/>
          </a:xfrm>
          <a:prstGeom prst="rect">
            <a:avLst/>
          </a:prstGeom>
          <a:gradFill rotWithShape="1">
            <a:gsLst>
              <a:gs pos="0">
                <a:srgbClr val="93402B"/>
              </a:gs>
              <a:gs pos="100000">
                <a:srgbClr val="5A2417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457834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600200"/>
            <a:ext cx="777240" cy="4572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663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212"/>
                </a:solidFill>
                <a:latin typeface="DM Sans"/>
              </a:rPr>
              <a:t>Предиктивное обслуживание и решения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212"/>
                </a:solidFill>
                <a:latin typeface="DM Sans"/>
              </a:rPr>
              <a:t>для горнодобывающей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212"/>
                </a:solidFill>
                <a:latin typeface="DM Sans"/>
              </a:rPr>
              <a:t>промышленности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ООО «Алгоритм» · Красноярск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Комплексный подход к решению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754880"/>
            <a:ext cx="466344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DM Sans"/>
              </a:rPr>
              <a:t>Прогнозное техническое обслуживание оборудования на базе промышленного мониторинга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9893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4C4"/>
                </a:solidFill>
                <a:latin typeface="DM Sans"/>
              </a:rPr>
              <a:t>КОММЕРЧЕСКОЕ ПРЕДЛОЖЕНИЕ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C4C4"/>
                </a:solidFill>
                <a:latin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РЕЗУЛЬТАТЫ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Измеримые результаты предиктивного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612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5757"/>
                </a:solidFill>
                <a:latin typeface="DM Sans"/>
              </a:rPr>
              <a:t>Совокупный эффект от внедрения технологии на промышленных объектах — снижение затрат на техническое обслуживание оценивается в 4 000 000 $.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3520440" cy="3556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75688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93402B"/>
                </a:solidFill>
                <a:latin typeface="DM Sans"/>
              </a:rPr>
              <a:t>−57%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35808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212"/>
                </a:solidFill>
                <a:latin typeface="DM Sans"/>
              </a:rPr>
              <a:t>отказов механического оборудования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75887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685"/>
                </a:solidFill>
                <a:latin typeface="DM Sans"/>
              </a:rPr>
              <a:t>Данные подтверждены на основе анализа 34 000+ успешных кейсов в горнодобывающей отрасли.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38528"/>
            <a:ext cx="3520440" cy="3556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75688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93402B"/>
                </a:solidFill>
                <a:latin typeface="DM Sans"/>
              </a:rPr>
              <a:t>−80%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35808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212"/>
                </a:solidFill>
                <a:latin typeface="DM Sans"/>
              </a:rPr>
              <a:t>времени простоя из-за механических отказов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675887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685"/>
                </a:solidFill>
                <a:latin typeface="DM Sans"/>
              </a:rPr>
              <a:t>Данные подтверждены на основе анализа 34 000+ успешных кейсов в горнодобывающей отрасли.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38528"/>
            <a:ext cx="3520440" cy="3556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075688"/>
            <a:ext cx="3520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93402B"/>
                </a:solidFill>
                <a:latin typeface="DM Sans"/>
              </a:rPr>
              <a:t>−37%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35808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1212"/>
                </a:solidFill>
                <a:latin typeface="DM Sans"/>
              </a:rPr>
              <a:t>затрат на аутсорсинг технического обслуживания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675887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685"/>
                </a:solidFill>
                <a:latin typeface="DM Sans"/>
              </a:rPr>
              <a:t>Данные подтверждены на основе анализа 34 000+ успешных кейсов в горнодобывающей отрасли.</a:t>
            </a: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О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M Sans"/>
              </a:rPr>
              <a:t>ООО «Алгоритм» — ваш партнер в цифровизации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M Sans"/>
              </a:rPr>
              <a:t>промышленности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2606040" cy="3175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7063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41212"/>
                </a:solidFill>
                <a:latin typeface="DM Sans"/>
              </a:rPr>
              <a:t>Мы предлагаем полный цикл внедрения систем прогнозного технического обслуживания: от аудита оборудования и подбора аппаратных решений до развертывания программного обеспечения и обучения персонала.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606040"/>
            <a:ext cx="2606040" cy="3175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77063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3402B"/>
                </a:solidFill>
                <a:latin typeface="DM Sans"/>
              </a:rPr>
              <a:t>Индивидуальный подход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757"/>
                </a:solidFill>
                <a:latin typeface="DM Sans"/>
              </a:rPr>
              <a:t>Адаптируем решения под специфику конкретного предприятия и отрасли.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606040"/>
            <a:ext cx="2606040" cy="3175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77063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3402B"/>
                </a:solidFill>
                <a:latin typeface="DM Sans"/>
              </a:rPr>
              <a:t>Экспертная поддержка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757"/>
                </a:solidFill>
                <a:latin typeface="DM Sans"/>
              </a:rPr>
              <a:t>Обеспечиваем консалтинг и сопровождение на всех этапах жизненного цикла системы.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2606040"/>
            <a:ext cx="2606040" cy="3175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277063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3402B"/>
                </a:solidFill>
                <a:latin typeface="DM Sans"/>
              </a:rPr>
              <a:t>Мировые стандарты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757"/>
                </a:solidFill>
                <a:latin typeface="DM Sans"/>
              </a:rPr>
              <a:t>Опираемся на проверенную технологическую базу, успешно зарекомендовавшую себя на крупнейших промышленных объектах.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035040"/>
            <a:ext cx="767281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ТЕХНОЛОГИЧЕСКАЯ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Масштаб и технологическая база платформы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298448"/>
            <a:ext cx="0" cy="5102352"/>
          </a:xfrm>
          <a:prstGeom prst="line">
            <a:avLst/>
          </a:prstGeom>
          <a:ln w="9525">
            <a:solidFill>
              <a:srgbClr val="D8D4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298448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МАСШТАБ ВНЕДРЕНИЯ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64208"/>
            <a:ext cx="5120640" cy="25400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212"/>
                </a:solidFill>
                <a:latin typeface="DM Sans"/>
              </a:rPr>
              <a:t>882 000+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установленных датчиков на промышленных объектах по всему миру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07208"/>
            <a:ext cx="5120640" cy="25400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212"/>
                </a:solidFill>
                <a:latin typeface="DM Sans"/>
              </a:rPr>
              <a:t>188 000+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единиц оборудования на платформе онлайн-мониторинга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50208"/>
            <a:ext cx="5120640" cy="25400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4164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212"/>
                </a:solidFill>
                <a:latin typeface="DM Sans"/>
              </a:rPr>
              <a:t>3.0 ТБ+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данных телеметрии обрабатывается ежедневно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298448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НАУЧНЫЙ ПОТЕНЦИАЛ ПЛАТФОРМЫ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664208"/>
            <a:ext cx="5120640" cy="25400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5564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212"/>
                </a:solidFill>
                <a:latin typeface="DM Sans"/>
              </a:rPr>
              <a:t>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специалистов НИОКР в общей численности персонала платформы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807208"/>
            <a:ext cx="5120640" cy="25400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89864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212"/>
                </a:solidFill>
                <a:latin typeface="DM Sans"/>
              </a:rPr>
              <a:t>250+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204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патентов и зарегистрированных технологических решений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950208"/>
            <a:ext cx="5120640" cy="25400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4164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1212"/>
                </a:solidFill>
                <a:latin typeface="DM Sans"/>
              </a:rPr>
              <a:t>35+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стран внедрения технологии, 800+ сотрудников платформы</a:t>
            </a:r>
          </a:p>
        </p:txBody>
      </p:sp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ОБЛАСТЬ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212"/>
                </a:solidFill>
                <a:latin typeface="DM Sans"/>
              </a:rPr>
              <a:t>Диагностируемое вращающееся оборудование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612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5757"/>
                </a:solidFill>
                <a:latin typeface="DM Sans"/>
              </a:rPr>
              <a:t>Цель — обеспечить долгосрочную надёжную и безопасную эксплуатацию оборудования, избежать незапланированных простоев и вторичных аварий.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92808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92808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92808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Мельницы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Шаровые и полуавтоматические мельницы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3433" y="1892808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3433" y="1892808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2305" y="1892808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Компрессоры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Винтовые и воздушные компрессоры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8226" y="1892808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18226" y="1892808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7098" y="1892808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Насосы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Шламовые и центробежные насосы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3019" y="1892808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53019" y="1892808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1891" y="1892808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Конвейеры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Ленточные конвейеры и приводы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7812" y="1892808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7812" y="1892808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6684" y="1892808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Подъёмные машины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Шахтные подъёмные установки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10712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10712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410712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Вентиляторы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Вентиляторы главного проветривания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3433" y="3410712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83433" y="3410712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2305" y="3410712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Дробилки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Щековые, конусные, роторные дробилки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8226" y="3410712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18226" y="3410712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7098" y="3410712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Мостовые краны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Грузоподъёмное оборудование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3019" y="3410712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53019" y="3410712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1891" y="3410712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Прокатные станы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Металлургическое оборудование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87812" y="3410712"/>
            <a:ext cx="2125065" cy="140817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87812" y="3410712"/>
            <a:ext cx="27432" cy="140817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6684" y="3410712"/>
            <a:ext cx="1905609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Прочее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Ж/д транспорт, ЦБП, винодельческое и медицинское оборудование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212"/>
                </a:solidFill>
                <a:latin typeface="DM Sans"/>
              </a:rPr>
              <a:t>Архитектура сбора данных: гибкая интеграция в локальную сеть предприятия (LAN)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554480"/>
            <a:ext cx="210312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4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212"/>
                </a:solidFill>
                <a:latin typeface="DM Sans"/>
              </a:rPr>
              <a:t>Облачный сервер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54480"/>
            <a:ext cx="2103120" cy="566928"/>
          </a:xfrm>
          <a:prstGeom prst="roundRect">
            <a:avLst/>
          </a:prstGeom>
          <a:solidFill>
            <a:srgbClr val="93402B"/>
          </a:solidFill>
          <a:ln>
            <a:solidFill>
              <a:srgbClr val="934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DM Sans"/>
              </a:rPr>
              <a:t>Локальный сервер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554480"/>
            <a:ext cx="210312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34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1212"/>
                </a:solidFill>
                <a:latin typeface="DM Sans"/>
              </a:rPr>
              <a:t>Supercare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1837944"/>
            <a:ext cx="1965960" cy="0"/>
          </a:xfrm>
          <a:prstGeom prst="line">
            <a:avLst/>
          </a:prstGeom>
          <a:ln w="15240">
            <a:solidFill>
              <a:srgbClr val="8A86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60920" y="1837944"/>
            <a:ext cx="1965960" cy="0"/>
          </a:xfrm>
          <a:prstGeom prst="line">
            <a:avLst/>
          </a:prstGeom>
          <a:ln w="15240">
            <a:solidFill>
              <a:srgbClr val="8A86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606040"/>
            <a:ext cx="11064240" cy="384048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1212"/>
                </a:solidFill>
                <a:latin typeface="DM Sans"/>
              </a:rPr>
              <a:t>Локальная сеть предприятия (LAN)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0" y="2121408"/>
            <a:ext cx="0" cy="484632"/>
          </a:xfrm>
          <a:prstGeom prst="line">
            <a:avLst/>
          </a:prstGeom>
          <a:ln w="15240">
            <a:solidFill>
              <a:srgbClr val="8A86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08760" y="2990088"/>
            <a:ext cx="0" cy="256032"/>
          </a:xfrm>
          <a:prstGeom prst="line">
            <a:avLst/>
          </a:prstGeom>
          <a:ln w="15240">
            <a:solidFill>
              <a:srgbClr val="8A86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20140" y="3246120"/>
            <a:ext cx="77724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412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248156" y="3392424"/>
            <a:ext cx="393192" cy="0"/>
          </a:xfrm>
          <a:prstGeom prst="line">
            <a:avLst/>
          </a:prstGeom>
          <a:ln w="22860">
            <a:solidFill>
              <a:srgbClr val="141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48156" y="3520440"/>
            <a:ext cx="393192" cy="0"/>
          </a:xfrm>
          <a:prstGeom prst="line">
            <a:avLst/>
          </a:prstGeom>
          <a:ln w="22860">
            <a:solidFill>
              <a:srgbClr val="141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48156" y="3648456"/>
            <a:ext cx="274320" cy="0"/>
          </a:xfrm>
          <a:prstGeom prst="line">
            <a:avLst/>
          </a:prstGeom>
          <a:ln w="22860">
            <a:solidFill>
              <a:srgbClr val="141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05940" y="3099816"/>
            <a:ext cx="384048" cy="256032"/>
          </a:xfrm>
          <a:prstGeom prst="round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×N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1212"/>
                </a:solidFill>
                <a:latin typeface="DM Sans"/>
              </a:rPr>
              <a:t>Уровень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" y="4251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Кабель / оптика / Wi-Fi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" y="45628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Дробилка, масляный пресс…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2990088"/>
            <a:ext cx="0" cy="256032"/>
          </a:xfrm>
          <a:prstGeom prst="line">
            <a:avLst/>
          </a:prstGeom>
          <a:ln w="15240">
            <a:solidFill>
              <a:srgbClr val="8A86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43500" y="3246120"/>
            <a:ext cx="77724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9340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30952" y="3429000"/>
            <a:ext cx="118872" cy="118872"/>
          </a:xfrm>
          <a:prstGeom prst="ellipse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13832" y="3593592"/>
            <a:ext cx="73152" cy="109728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14416" y="3520440"/>
            <a:ext cx="73152" cy="1828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0" y="3447288"/>
            <a:ext cx="73152" cy="25603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29300" y="3099816"/>
            <a:ext cx="384048" cy="256032"/>
          </a:xfrm>
          <a:prstGeom prst="round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×N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1212"/>
                </a:solidFill>
                <a:latin typeface="DM Sans"/>
              </a:rPr>
              <a:t>Уровень 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251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ZigBee / беспроводной шлюз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5628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Подъёмник, скребок, сушилка…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55480" y="2990088"/>
            <a:ext cx="0" cy="256032"/>
          </a:xfrm>
          <a:prstGeom prst="line">
            <a:avLst/>
          </a:prstGeom>
          <a:ln w="15240">
            <a:solidFill>
              <a:srgbClr val="8A86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66860" y="3246120"/>
            <a:ext cx="777240" cy="566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9340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54312" y="3429000"/>
            <a:ext cx="118872" cy="118872"/>
          </a:xfrm>
          <a:prstGeom prst="ellipse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3593592"/>
            <a:ext cx="73152" cy="109728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37776" y="3520440"/>
            <a:ext cx="73152" cy="1828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3447288"/>
            <a:ext cx="73152" cy="25603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52660" y="3099816"/>
            <a:ext cx="384048" cy="256032"/>
          </a:xfrm>
          <a:prstGeom prst="round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×N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1212"/>
                </a:solidFill>
                <a:latin typeface="DM Sans"/>
              </a:rPr>
              <a:t>Уровень 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251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LoRa / 4G / 5G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56285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Воздуходувка, насос, компрессор…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СЦЕНАРИИ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Беспроводной вариант решения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89888"/>
          <a:ext cx="512064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14400"/>
                <a:gridCol w="1188720"/>
                <a:gridCol w="1280160"/>
              </a:tblGrid>
              <a:tr h="384048"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ОБОРУДОВАНИЕ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ДАТЧИКОВ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ТИП ДАТЧИКА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ТИП ШЛЮЗА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</a:tr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Консольный насос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Двухопорный насос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RH605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RH560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</a:tr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Вентилятор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9864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Одноосные и трёхосные беспроводные датчики вибрации (RH505/RH605, RW506/RW606) передают данные на шлюз по радиоканалу — без прокладки кабельных трасс.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389888"/>
            <a:ext cx="2743200" cy="18288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reless_compon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775647"/>
            <a:ext cx="2615184" cy="105728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23960" y="1389888"/>
            <a:ext cx="2788920" cy="18288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reless_softwa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844" y="1453896"/>
            <a:ext cx="2501152" cy="17007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89320" y="3310128"/>
            <a:ext cx="5623560" cy="16916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reless_inst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374136"/>
            <a:ext cx="2606040" cy="1563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98080" y="4663440"/>
            <a:ext cx="2606040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Монтаж беспроводных датчиков на промышленном объекте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СЦЕНАРИИ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Проводной вариант решения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89888"/>
          <a:ext cx="512064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14400"/>
                <a:gridCol w="1188720"/>
                <a:gridCol w="1280160"/>
              </a:tblGrid>
              <a:tr h="384048"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ОБОРУДОВАНИЕ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ДАТЧИКОВ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ТИП ДАТЧИКА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DM Sans"/>
                        </a:rPr>
                        <a:t>ТИП ШЛЮЗА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</a:tr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Гориз. дробилка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RH103T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Верт. дробилка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16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RH104T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RH2000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</a:tr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Зубч. дробилка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RH113T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100" b="0">
                          <a:solidFill>
                            <a:srgbClr val="141212"/>
                          </a:solidFill>
                          <a:latin typeface="DM Sans"/>
                        </a:rPr>
                        <a:t>RH2000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9864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757"/>
                </a:solidFill>
                <a:latin typeface="DM Sans"/>
              </a:rPr>
              <a:t>Проводные датчики с верхним или боковым (360°) выходом кабеля подключаются к шлюзу RH2000 — стационарная схема для ответственных агрегатов с постоянным питанием.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389888"/>
            <a:ext cx="2743200" cy="18288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red_sens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703" y="1453896"/>
            <a:ext cx="1564434" cy="1700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23960" y="1389888"/>
            <a:ext cx="2788920" cy="18288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red_gatew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131" y="1453896"/>
            <a:ext cx="1978578" cy="17007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89320" y="3310128"/>
            <a:ext cx="5623560" cy="16916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red_softw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748" y="3374136"/>
            <a:ext cx="2184704" cy="1563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08748" y="4663440"/>
            <a:ext cx="2184704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Программное обеспечение анализа вибрации в реальном времени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КЕЙС ИЗ ПРАКТИКИ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Типичный случай предиктивного обслуживания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3611880" cy="14173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_char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64" y="1362456"/>
            <a:ext cx="2631232" cy="1289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761488"/>
            <a:ext cx="3611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02:00, 2 июля. Вибрация на двигателе внезапно усилилась — данные передаются в реальном времени.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98448"/>
            <a:ext cx="3611880" cy="14173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_lo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362456"/>
            <a:ext cx="3008376" cy="1289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2761488"/>
            <a:ext cx="3611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Ключевое оборудование. Подземный резервный погрузчик с установленными беспроводными датчиками.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298448"/>
            <a:ext cx="3611880" cy="14173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se_work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860" y="1362456"/>
            <a:ext cx="2387600" cy="1289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2761488"/>
            <a:ext cx="3611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Результат. Предотвращено внезапное незапланированное отключение и нарушение техники безопасности.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93008"/>
            <a:ext cx="3611880" cy="14173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se_control_roo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597798"/>
            <a:ext cx="3483864" cy="12077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956048"/>
            <a:ext cx="3611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+15 минут. Эксперт диагностического центра дал заключение обслуживающему инженеру.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493008"/>
            <a:ext cx="3611880" cy="14173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se_bear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08" y="3557016"/>
            <a:ext cx="2726624" cy="12893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680" y="4956048"/>
            <a:ext cx="3611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06:43. Инженер на месте заменил повреждённый подшипник — сепаратор был разрушен.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493008"/>
            <a:ext cx="3611880" cy="14173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se_chart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1013" y="3557016"/>
            <a:ext cx="2823293" cy="12893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46720" y="4956048"/>
            <a:ext cx="3611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После обслуживания. Форма волны вернулась к норме — оборудование работает штатно.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6400800" y="-2743200"/>
            <a:ext cx="8686800" cy="8686800"/>
          </a:xfrm>
          <a:prstGeom prst="rect">
            <a:avLst/>
          </a:prstGeom>
          <a:gradFill rotWithShape="1">
            <a:gsLst>
              <a:gs pos="0">
                <a:srgbClr val="93402B"/>
              </a:gs>
              <a:gs pos="100000">
                <a:srgbClr val="141212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063240"/>
            <a:ext cx="914400" cy="406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772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Проекты внедрения технологии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(открытый карьер)</a:t>
            </a:r>
          </a:p>
        </p:txBody>
      </p:sp>
      <p:pic>
        <p:nvPicPr>
          <p:cNvPr id="6" name="Picture 5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9514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ОБЛАСТЬ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212"/>
                </a:solidFill>
                <a:latin typeface="DM Sans"/>
              </a:rPr>
              <a:t>Сценарии для добычи, переработки и плавки полезных ископаемых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5757"/>
                </a:solidFill>
                <a:latin typeface="DM Sans"/>
              </a:rPr>
              <a:t>Цель — обеспечить надёжную эксплуатацию оборудования, избежать экономических потерь и вторичных аварий из-за незапланированного простоя.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12848"/>
            <a:ext cx="3614928" cy="13716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12848"/>
            <a:ext cx="27432" cy="13716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12848"/>
            <a:ext cx="3395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Добыча полезных ископаемых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Подъёмные машины, конвейеры, буровые установки, вентиляторы главного проветривания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3296" y="2212848"/>
            <a:ext cx="3614928" cy="13716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3296" y="2212848"/>
            <a:ext cx="27432" cy="13716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2168" y="2212848"/>
            <a:ext cx="3395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Переработка полезных ископаемых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Дробилки, мельницы, флотационное и обогатительное оборудование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7952" y="2212848"/>
            <a:ext cx="3614928" cy="13716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7952" y="2212848"/>
            <a:ext cx="27432" cy="13716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6824" y="2212848"/>
            <a:ext cx="33954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Плавка и металлургия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Прокатные станы, компрессоры, насосные станции, мостовые краны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3048"/>
            <a:ext cx="877824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Мельница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36192" y="3813048"/>
            <a:ext cx="877824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Дробилка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3744" y="3813048"/>
            <a:ext cx="644652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Насос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8124" y="3813048"/>
            <a:ext cx="1033272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Вентилятор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1124" y="3813048"/>
            <a:ext cx="877824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Конвейер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8676" y="3813048"/>
            <a:ext cx="1499616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Подъёмная машина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8020" y="3813048"/>
            <a:ext cx="1033272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Компрессор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1020" y="3813048"/>
            <a:ext cx="1266444" cy="329184"/>
          </a:xfrm>
          <a:prstGeom prst="rect">
            <a:avLst/>
          </a:prstGeom>
          <a:noFill/>
          <a:ln w="9525">
            <a:solidFill>
              <a:srgbClr val="8A8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1212"/>
                </a:solidFill>
                <a:latin typeface="DM Sans"/>
              </a:rPr>
              <a:t>Мостовой кран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СЦЕНАРИИ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Для оборудования класса «C/D» — сокращение персонала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6263640" cy="22860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728216"/>
            <a:ext cx="594360" cy="804672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2532888"/>
            <a:ext cx="594360" cy="0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43000" y="2532888"/>
            <a:ext cx="594360" cy="804672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78992" y="1664208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468880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3273552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3814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Датчики RW161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39696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LoRa, до 1 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2322576"/>
            <a:ext cx="1051560" cy="420624"/>
          </a:xfrm>
          <a:prstGeom prst="roundRect">
            <a:avLst>
              <a:gd name="adj" fmla="val 18000"/>
            </a:avLst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DM Sans"/>
              </a:rPr>
              <a:t>Шлюз LoRa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2532888"/>
            <a:ext cx="2587752" cy="0"/>
          </a:xfrm>
          <a:prstGeom prst="line">
            <a:avLst/>
          </a:prstGeom>
          <a:ln w="13970">
            <a:solidFill>
              <a:srgbClr val="141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76672" y="2322576"/>
            <a:ext cx="1051560" cy="420624"/>
          </a:xfrm>
          <a:prstGeom prst="roundRect">
            <a:avLst>
              <a:gd name="adj" fmla="val 18000"/>
            </a:avLst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76148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Локальная сеть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58768"/>
            <a:ext cx="3063240" cy="13716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d_install_pho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150409"/>
            <a:ext cx="2935224" cy="78831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749040" y="3858768"/>
            <a:ext cx="3063240" cy="13716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3995928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RW161 — беспроводные датчики вибрации версии LoRa для оборудования уровня C/D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1389888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89888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Экономичность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Конкурентоспособные цены для всех решений класса.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286000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904" y="2286000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Удалённость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Радиус действия LoRa-канала — до 1 км без прокладки кабеля.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3182112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3182112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Замена инспекций персоналом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Сокращение ежедневных плановых и внеплановых проверок по сигналу тревоги.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4078224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4" y="4078224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Сбор формы волны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Дополнительная функция по сравнению с типовыми датчиками LoRa других производителей.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4974336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4974336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Интеллектуальный анализ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Автоматическая настройка порога и интеллектуальная сигнализация аварий.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5870448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5870448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Высокая степень защиты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IP68 / ATEX — взрывозащищённое исполнение.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СЦЕНАРИИ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Для оборудования класса «B» — анализ неисправностей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6263640" cy="22860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728216"/>
            <a:ext cx="594360" cy="804672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2264664"/>
            <a:ext cx="594360" cy="268224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43000" y="2532888"/>
            <a:ext cx="594360" cy="268224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3000" y="2532888"/>
            <a:ext cx="594360" cy="804672"/>
          </a:xfrm>
          <a:prstGeom prst="line">
            <a:avLst/>
          </a:prstGeom>
          <a:ln w="13970">
            <a:solidFill>
              <a:srgbClr val="93402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78992" y="1664208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200656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2737104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3273552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3814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RH505/605, RW625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39696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ZigBee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2322576"/>
            <a:ext cx="1051560" cy="420624"/>
          </a:xfrm>
          <a:prstGeom prst="roundRect">
            <a:avLst>
              <a:gd name="adj" fmla="val 18000"/>
            </a:avLst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DM Sans"/>
              </a:rPr>
              <a:t>RH570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2532888"/>
            <a:ext cx="2587752" cy="0"/>
          </a:xfrm>
          <a:prstGeom prst="line">
            <a:avLst/>
          </a:prstGeom>
          <a:ln w="13970">
            <a:solidFill>
              <a:srgbClr val="141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76672" y="2322576"/>
            <a:ext cx="1051560" cy="420624"/>
          </a:xfrm>
          <a:prstGeom prst="roundRect">
            <a:avLst>
              <a:gd name="adj" fmla="val 18000"/>
            </a:avLst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76148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Локальная сеть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58768"/>
            <a:ext cx="3063240" cy="13716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_fault_pho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150409"/>
            <a:ext cx="2935224" cy="78831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749040" y="3858768"/>
            <a:ext cx="3063240" cy="13716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995928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RH570 — беспроводная станция сбора данных, датчики по ZigBee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1389888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904" y="1389888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Высокая производительность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Вибрация, температура, скорость (опц.) 3 в 1; диапазон 2–20 кГц (±3 дБ).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286000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2286000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Расширенный анализ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Фильтр ложных сигналов, определение запуска, более 20 специальных индексов.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3182112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4" y="3182112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Длина сбора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До 2048 Кб (819 200 линий) на измерение.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4078224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4078224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Срок службы батареи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До 3 лет автономной работы.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4974336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4974336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Высокая степень защиты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IP68 / ATEX — взрывозащищённый сертификат.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СЦЕНАРИИ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Для оборудования класса «A» — анализ точности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6263640" cy="22860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728216"/>
            <a:ext cx="594360" cy="804672"/>
          </a:xfrm>
          <a:prstGeom prst="line">
            <a:avLst/>
          </a:prstGeom>
          <a:ln w="13970">
            <a:solidFill>
              <a:srgbClr val="6E6A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2264664"/>
            <a:ext cx="594360" cy="268224"/>
          </a:xfrm>
          <a:prstGeom prst="line">
            <a:avLst/>
          </a:prstGeom>
          <a:ln w="13970">
            <a:solidFill>
              <a:srgbClr val="6E6A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43000" y="2532888"/>
            <a:ext cx="594360" cy="268224"/>
          </a:xfrm>
          <a:prstGeom prst="line">
            <a:avLst/>
          </a:prstGeom>
          <a:ln w="13970">
            <a:solidFill>
              <a:srgbClr val="6E6A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3000" y="2532888"/>
            <a:ext cx="594360" cy="804672"/>
          </a:xfrm>
          <a:prstGeom prst="line">
            <a:avLst/>
          </a:prstGeom>
          <a:ln w="13970">
            <a:solidFill>
              <a:srgbClr val="6E6A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78992" y="1664208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200656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2737104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3273552"/>
            <a:ext cx="128016" cy="128016"/>
          </a:xfrm>
          <a:prstGeom prst="ellipse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3814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IEPE, обороты, частицы масла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39696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RS485 / WiFi / 4-20mA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2322576"/>
            <a:ext cx="1051560" cy="420624"/>
          </a:xfrm>
          <a:prstGeom prst="roundRect">
            <a:avLst>
              <a:gd name="adj" fmla="val 18000"/>
            </a:avLst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DM Sans"/>
              </a:rPr>
              <a:t>RH2000 / Exd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2532888"/>
            <a:ext cx="2587752" cy="0"/>
          </a:xfrm>
          <a:prstGeom prst="line">
            <a:avLst/>
          </a:prstGeom>
          <a:ln w="13970">
            <a:solidFill>
              <a:srgbClr val="9340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76672" y="2322576"/>
            <a:ext cx="1051560" cy="420624"/>
          </a:xfrm>
          <a:prstGeom prst="roundRect">
            <a:avLst>
              <a:gd name="adj" fmla="val 18000"/>
            </a:avLst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SuperCare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76148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A5757"/>
                </a:solidFill>
                <a:latin typeface="DM Sans"/>
              </a:rPr>
              <a:t>Система мониторинга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58768"/>
            <a:ext cx="3063240" cy="13716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_fault_pho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347256"/>
            <a:ext cx="2935224" cy="394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749040" y="3858768"/>
            <a:ext cx="3063240" cy="13716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995928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RH2000 / RH2000 Exd — взрывозащищённая станция сбора данных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1389888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904" y="1389888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Высокая совместимость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IEPE-датчики вибрации, датчики оборотов, частиц металла в масле.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286000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2286000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Характеристики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Постоянный сбор (индикация 30 с, форма волны 30 мин); 0,1–15 кГц (±3 дБ).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3182112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2904" y="3182112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Интеллектуальный анализ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Более 50 специальных индексов, диагностика с помощью ИИ.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4078224"/>
            <a:ext cx="32004" cy="758952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4078224"/>
            <a:ext cx="4379976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Высокая степень защиты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IP68 / ATEX.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Контроль неисправностей оборудования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89888"/>
          <a:ext cx="512064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383280"/>
              </a:tblGrid>
              <a:tr h="365760">
                <a:tc>
                  <a:txBody>
                    <a:bodyPr lIns="82296" rIns="45720" tIns="0" bIns="0" anchor="ctr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DM Sans"/>
                        </a:rPr>
                        <a:t>ТИП НЕИСПРАВНОСТИ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DM Sans"/>
                        </a:rPr>
                        <a:t>СПЕЦИФИЧЕСКИЕ НЕИСПРАВНОСТИ</a:t>
                      </a:r>
                    </a:p>
                  </a:txBody>
                  <a:tcPr>
                    <a:solidFill>
                      <a:srgbClr val="141212"/>
                    </a:solidFill>
                  </a:tcPr>
                </a:tc>
              </a:tr>
              <a:tr h="621792"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Дефект привода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Дисбаланс, несоосность, ослабление, эксцентриситет ротора, изгиб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Дефект подшипника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Сколы, износ, раковины, трещины, деформация сепаратора, недостаток смазки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</a:tr>
              <a:tr h="621792"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Неисправность редуктора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Недостаток смазки, плохое зацепление, износ и поломка зубьев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Неисправность смазки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  <a:tc>
                  <a:txBody>
                    <a:bodyPr lIns="82296" rIns="45720" tIns="0" bIns="0" anchor="ctr"/>
                    <a:lstStyle/>
                    <a:p>
                      <a:r>
                        <a:rPr sz="1050" b="0">
                          <a:solidFill>
                            <a:srgbClr val="141212"/>
                          </a:solidFill>
                          <a:latin typeface="DM Sans"/>
                        </a:rPr>
                        <a:t>Загрязнение масла, химический износ, посторонние предметы</a:t>
                      </a:r>
                    </a:p>
                  </a:txBody>
                  <a:tcPr>
                    <a:solidFill>
                      <a:srgbClr val="F3E9E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89320" y="1389888"/>
            <a:ext cx="5623560" cy="38404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fect_photo_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17" y="1453896"/>
            <a:ext cx="4559166" cy="3712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6400800" y="-2743200"/>
            <a:ext cx="8686800" cy="8686800"/>
          </a:xfrm>
          <a:prstGeom prst="rect">
            <a:avLst/>
          </a:prstGeom>
          <a:gradFill rotWithShape="1">
            <a:gsLst>
              <a:gs pos="0">
                <a:srgbClr val="93402B"/>
              </a:gs>
              <a:gs pos="100000">
                <a:srgbClr val="141212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063240"/>
            <a:ext cx="914400" cy="406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772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Программные решения для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предиктивного технического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обслуживания</a:t>
            </a:r>
          </a:p>
        </p:txBody>
      </p:sp>
      <p:pic>
        <p:nvPicPr>
          <p:cNvPr id="6" name="Picture 5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9514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ПРОГРАММНОЕ ОБЕСПЕЧЕНИЕ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SuperCare — платформа предиктивного обслуживания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394960" cy="22860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ercar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53896"/>
            <a:ext cx="3596640" cy="21579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72200" y="1389888"/>
            <a:ext cx="5440680" cy="228600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percare_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264" y="1453896"/>
            <a:ext cx="4052552" cy="2157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3813048"/>
            <a:ext cx="3614928" cy="65379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813048"/>
            <a:ext cx="27432" cy="65379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813048"/>
            <a:ext cx="339547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Архитектура больших данных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Удовлетворяет потребности для долгосрочного использования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3296" y="3813048"/>
            <a:ext cx="3614928" cy="65379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3296" y="3813048"/>
            <a:ext cx="27432" cy="65379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168" y="3813048"/>
            <a:ext cx="339547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B/S структура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Совместима с различными браузерами, не требует установки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7952" y="3813048"/>
            <a:ext cx="3614928" cy="65379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7952" y="3813048"/>
            <a:ext cx="27432" cy="65379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6824" y="3813048"/>
            <a:ext cx="339547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Самоопределяемое размещение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Быстрая настройка макета страницы под стилевые требования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6572"/>
            <a:ext cx="3614928" cy="65379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6572"/>
            <a:ext cx="27432" cy="65379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576572"/>
            <a:ext cx="339547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Профессиональная версия Pro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Унифицированный контроль верхней группы предприятий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3296" y="4576572"/>
            <a:ext cx="3614928" cy="65379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3296" y="4576572"/>
            <a:ext cx="27432" cy="65379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2168" y="4576572"/>
            <a:ext cx="339547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Статистические таблицы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Глубокая аналитика по всем предприятиям для руководителя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7952" y="4576572"/>
            <a:ext cx="3614928" cy="653796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7952" y="4576572"/>
            <a:ext cx="27432" cy="653796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6824" y="4576572"/>
            <a:ext cx="3395472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Совместимость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Интеграция с DCS/PLC/MES/SCADA и другими системами</a:t>
            </a:r>
          </a:p>
        </p:txBody>
      </p:sp>
      <p:pic>
        <p:nvPicPr>
          <p:cNvPr id="27" name="Picture 2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57200"/>
            <a:ext cx="844009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ПРОГРАММНОЕ ОБЕСПЕЧЕНИЕ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Профессиональная диагностика на основе 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394960" cy="28346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_panel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59" y="1453896"/>
            <a:ext cx="4365522" cy="2706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72200" y="1389888"/>
            <a:ext cx="5440680" cy="28346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panel_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779" y="1453896"/>
            <a:ext cx="4365522" cy="27066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361688"/>
            <a:ext cx="5477256" cy="9144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361688"/>
            <a:ext cx="27432" cy="9144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361688"/>
            <a:ext cx="5257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30+ инструментов профессиональной диагностики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Удовлетворяют потребности инженеров в поиске всех видов неисправностей вращающегося оборудования.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4361688"/>
            <a:ext cx="5477256" cy="9144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35624" y="4361688"/>
            <a:ext cx="27432" cy="9144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4361688"/>
            <a:ext cx="5257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AI-диагностика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Алгоритм автоматически даёт выводы по диагностике неисправностей и рекомендации по обслуживанию.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ПРОГРАММНОЕ ОБЕСПЕЧЕНИЕ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212"/>
                </a:solidFill>
                <a:latin typeface="DM Sans"/>
              </a:rPr>
              <a:t>Удобный доступ к оборудованию с мобильного устройства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612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5757"/>
                </a:solidFill>
                <a:latin typeface="DM Sans"/>
              </a:rPr>
              <a:t>Контроль статуса в режиме реального времени, просмотр статистики и управление тревогами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075688"/>
            <a:ext cx="1814732" cy="39319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on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666974"/>
            <a:ext cx="1686716" cy="27493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63440" y="2715768"/>
            <a:ext cx="2834640" cy="173736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2807208"/>
            <a:ext cx="2651760" cy="15544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one_ch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029224"/>
            <a:ext cx="2523744" cy="111044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78240" y="2075688"/>
            <a:ext cx="1814732" cy="393192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ne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2270596"/>
            <a:ext cx="1686716" cy="35421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ПРОГРАММНОЕ ОБЕСПЕЧЕНИЕ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EPM — простой мониторинг и диагностика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852160" cy="26517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pm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11" y="1453896"/>
            <a:ext cx="4495218" cy="25237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0" y="1389888"/>
            <a:ext cx="32004" cy="73152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9984" y="1389888"/>
            <a:ext cx="48828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B/S структура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Совместима с различным браузером, не требует установки на рабочем месте.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258568"/>
            <a:ext cx="32004" cy="73152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9984" y="2258568"/>
            <a:ext cx="48828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Статистика состояния оборудования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Помогает управляющим быстро понять долгосрочный статус оборудования.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127248"/>
            <a:ext cx="32004" cy="73152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3127248"/>
            <a:ext cx="48828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2.5D моделирование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Реализует наглядное моделирование оборудования и точек измерения в реальном времени.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24528"/>
            <a:ext cx="5623560" cy="17373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pm_machine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216" y="4288536"/>
            <a:ext cx="2134408" cy="160934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293216" y="5623560"/>
            <a:ext cx="2134408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Мониторинг состояния оборудования в реальном времени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224528"/>
            <a:ext cx="5349240" cy="17373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pm_wavefor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111" y="4288536"/>
            <a:ext cx="2136297" cy="16093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870111" y="5623560"/>
            <a:ext cx="2136297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Профессиональные инструменты диагностики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6400800" y="-2743200"/>
            <a:ext cx="8686800" cy="8686800"/>
          </a:xfrm>
          <a:prstGeom prst="rect">
            <a:avLst/>
          </a:prstGeom>
          <a:gradFill rotWithShape="1">
            <a:gsLst>
              <a:gs pos="0">
                <a:srgbClr val="93402B"/>
              </a:gs>
              <a:gs pos="100000">
                <a:srgbClr val="141212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063240"/>
            <a:ext cx="914400" cy="406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772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Сервисы для обеспечения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предиктивного технического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обслуживания</a:t>
            </a:r>
          </a:p>
        </p:txBody>
      </p:sp>
      <p:pic>
        <p:nvPicPr>
          <p:cNvPr id="6" name="Picture 5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9514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СЕРВИСЫ ПОДДЕРЖКИ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Шесть услуг обеспечивают эффективность диагностики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394960" cy="23774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rvices_control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25" y="1453896"/>
            <a:ext cx="3174590" cy="22494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8825" y="3429000"/>
            <a:ext cx="3174590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Круглосуточный мониторинг в реальном времени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89888"/>
            <a:ext cx="5440680" cy="23774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ices_campu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440" y="1453896"/>
            <a:ext cx="3124200" cy="22494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30440" y="3429000"/>
            <a:ext cx="3124200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Синхронизация данных в облачном диагностическом центре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4488"/>
            <a:ext cx="1752600" cy="777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04488"/>
            <a:ext cx="27432" cy="7772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904488"/>
            <a:ext cx="15331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24×7 экспертный мониторинг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0968" y="3904488"/>
            <a:ext cx="1752600" cy="777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10968" y="3904488"/>
            <a:ext cx="27432" cy="7772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9840" y="3904488"/>
            <a:ext cx="15331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Оценка после техобслуживания на месте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3296" y="3904488"/>
            <a:ext cx="1752600" cy="777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3296" y="3904488"/>
            <a:ext cx="27432" cy="7772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2168" y="3904488"/>
            <a:ext cx="15331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Экспертный консалтинг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3904488"/>
            <a:ext cx="1752600" cy="777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5624" y="3904488"/>
            <a:ext cx="27432" cy="7772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3904488"/>
            <a:ext cx="15331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Ежемесячный отчёт о состоянии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7952" y="3904488"/>
            <a:ext cx="1752600" cy="777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97952" y="3904488"/>
            <a:ext cx="27432" cy="7772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6824" y="3904488"/>
            <a:ext cx="15331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Постоянное обучение персонала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60280" y="3904488"/>
            <a:ext cx="1752600" cy="777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60280" y="3904488"/>
            <a:ext cx="27432" cy="7772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79152" y="3904488"/>
            <a:ext cx="153314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Консалтинг диагностического центра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СЕРВИСЫ ПОДДЕРЖКИ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Обучение персонала и авторизация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32004" cy="6400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44168"/>
            <a:ext cx="5248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Международный центр обучения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Обучение вибродиагностике и сертификация инженеров уровней II, III и IV.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21408"/>
            <a:ext cx="32004" cy="6400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121408"/>
            <a:ext cx="5248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Передача компетенций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Помощь клиентам в создании собственной системы O&amp;M с ИИ-алгоритмом.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44168"/>
            <a:ext cx="32004" cy="6400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344168"/>
            <a:ext cx="5294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Сертифицированная платформа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Международная GL-сертифицированная платформа технического обслуживания.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21408"/>
            <a:ext cx="32004" cy="6400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121408"/>
            <a:ext cx="5294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Сопровождение внедрения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Достижение интеллектуальной революции в перцепции и управлении оборудованием.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81528"/>
            <a:ext cx="5394960" cy="19659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aining_class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03" y="3145536"/>
            <a:ext cx="2625634" cy="183794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933303" y="4709160"/>
            <a:ext cx="2625634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Обучение инженеров вибродиагностике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081528"/>
            <a:ext cx="5440680" cy="19659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raining_server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072" y="3145536"/>
            <a:ext cx="2540936" cy="18379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622072" y="4709160"/>
            <a:ext cx="2540936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Инфраструктура диагностического центра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84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Сертификаты — справочно, в приложении к предложению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6400800" y="-2743200"/>
            <a:ext cx="8686800" cy="8686800"/>
          </a:xfrm>
          <a:prstGeom prst="rect">
            <a:avLst/>
          </a:prstGeom>
          <a:gradFill rotWithShape="1">
            <a:gsLst>
              <a:gs pos="0">
                <a:srgbClr val="93402B"/>
              </a:gs>
              <a:gs pos="100000">
                <a:srgbClr val="141212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063240"/>
            <a:ext cx="914400" cy="4064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772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Международный опыт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применения технологии</a:t>
            </a:r>
          </a:p>
        </p:txBody>
      </p:sp>
      <p:pic>
        <p:nvPicPr>
          <p:cNvPr id="6" name="Picture 5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9514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0C3BF"/>
                </a:solidFill>
                <a:latin typeface="DM Sans"/>
              </a:rPr>
              <a:t>МАСШТАБ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DM Sans"/>
              </a:rPr>
              <a:t>Продукты и услуги на базе технологии внедрены более чем в 35 странах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DM Sans"/>
              </a:rPr>
              <a:t>35+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C4C4"/>
                </a:solidFill>
                <a:latin typeface="DM Sans"/>
              </a:rPr>
              <a:t>стран, где решения на базе этой технологической платформы работают на промышленных объектах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834640"/>
            <a:ext cx="722376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Россия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952744" y="2834640"/>
            <a:ext cx="877824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Германия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0296" y="2834640"/>
            <a:ext cx="1344168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Великобритания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94192" y="2834640"/>
            <a:ext cx="722376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Швеция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26296" y="2834640"/>
            <a:ext cx="1033272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Нидерланды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69296" y="2834640"/>
            <a:ext cx="800100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Испания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273552"/>
            <a:ext cx="722376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Италия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52744" y="3273552"/>
            <a:ext cx="800100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Марокко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62572" y="3273552"/>
            <a:ext cx="877824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Пакистан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50124" y="3273552"/>
            <a:ext cx="644652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Индия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04504" y="3273552"/>
            <a:ext cx="1110996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Южная Корея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5228" y="3273552"/>
            <a:ext cx="800100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Таиланд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712464"/>
            <a:ext cx="877824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Малайзия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3712464"/>
            <a:ext cx="877824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Сингапур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95744" y="3712464"/>
            <a:ext cx="955547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Индонезия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61019" y="3712464"/>
            <a:ext cx="955547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Австралия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6294" y="3712464"/>
            <a:ext cx="489204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США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5226" y="3712464"/>
            <a:ext cx="800100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Мексика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4151376"/>
            <a:ext cx="877824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Бразилия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4151376"/>
            <a:ext cx="566928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Перу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4848" y="4151376"/>
            <a:ext cx="566928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Чили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61504" y="4151376"/>
            <a:ext cx="955547" cy="329184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DM Sans"/>
              </a:rPr>
              <a:t>Аргентина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C4C4"/>
                </a:solidFill>
                <a:latin typeface="DM Sans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Типичные проекты за рубежом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5440680" cy="4206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2491740" cy="14630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se_zijin_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643584"/>
            <a:ext cx="2363724" cy="11385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14700" y="1481328"/>
            <a:ext cx="2491740" cy="14630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_zijin_equ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1809538"/>
            <a:ext cx="2363724" cy="8066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1272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93402B"/>
                </a:solidFill>
                <a:latin typeface="DM Sans"/>
              </a:rPr>
              <a:t>Клиент: Zijin Julong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11296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Тип сырья: медная руда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Датчиков установлено: 387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44168"/>
            <a:ext cx="5440680" cy="4206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2491740" cy="14630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se_cnh_s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643584"/>
            <a:ext cx="2363724" cy="113852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938260" y="1481328"/>
            <a:ext cx="2491740" cy="14630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se_cnh_equi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68" y="1809538"/>
            <a:ext cx="2363724" cy="8066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31272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93402B"/>
                </a:solidFill>
                <a:latin typeface="DM Sans"/>
              </a:rPr>
              <a:t>Клиент: CNH Energy Heidaigou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11296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Тип сырья: уголь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Датчиков установлено: 1184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Типичные проекты за рубежом — Латинская Америка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44168"/>
            <a:ext cx="5440680" cy="4206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5074920" cy="14630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se_brazil_pho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597233"/>
            <a:ext cx="4946904" cy="1231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1272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93402B"/>
                </a:solidFill>
                <a:latin typeface="DM Sans"/>
              </a:rPr>
              <a:t>Расположение: Бразилия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11296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Промышленность: горнодобывающая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Датчиков установлено: 2000+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44168"/>
            <a:ext cx="5440680" cy="420624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81328"/>
            <a:ext cx="5074920" cy="14630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se_chile_pho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19220"/>
            <a:ext cx="4946904" cy="11872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31272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93402B"/>
                </a:solidFill>
                <a:latin typeface="DM Sans"/>
              </a:rPr>
              <a:t>Расположение: Чили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11296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Промышленность: горнодобывающая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Датчиков установлено: 2000+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1212"/>
                </a:solidFill>
                <a:latin typeface="DM Sans"/>
              </a:rPr>
              <a:t>Кейс: интеграция с корпоративной платформой промышленной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5757"/>
                </a:solidFill>
                <a:latin typeface="DM Sans"/>
              </a:rPr>
              <a:t>Разработка интеллектуальной системы и операционной модели для собственного центра удалённой диагностики заказчика; платформа объединяет 18 предприятий и 31 линию.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2258568"/>
            <a:ext cx="7772400" cy="33832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idc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2443172"/>
            <a:ext cx="7644384" cy="30140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58568" y="5182923"/>
            <a:ext cx="7644384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Единая платформа удалённой диагностики группы предприятий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Проект, отмеченный международным признанием эффективности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5757"/>
                </a:solidFill>
                <a:latin typeface="DM Sans"/>
              </a:rPr>
              <a:t>Крупный проект по добыче гранита (500 млн тонн) включил интеллектуальную систему эксплуатации на базе этой платформы и вошёл в реестр Global Lighthouse Network, 2023.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12848"/>
            <a:ext cx="3611880" cy="35661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ghthouse_gro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892704"/>
            <a:ext cx="3483864" cy="220644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4824831"/>
            <a:ext cx="3483864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01 — Обучение персонала диагностике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12848"/>
            <a:ext cx="3611880" cy="35661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house_equ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825930"/>
            <a:ext cx="3483864" cy="23399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61688" y="4891605"/>
            <a:ext cx="3483864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02 — Пусконаладка на объекте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212848"/>
            <a:ext cx="3611880" cy="35661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ghthouse_l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91" y="2276856"/>
            <a:ext cx="3231338" cy="343814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36991" y="5440680"/>
            <a:ext cx="3231338" cy="2743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DM Sans"/>
              </a:rPr>
              <a:t>03 — Реестр Global Lighthouse Network,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212"/>
                </a:solidFill>
                <a:latin typeface="DM Sans"/>
              </a:rPr>
              <a:t>Типичные случаи неисправностей на объекте по добыче гранита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2651760" cy="17373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anyang_sit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97197"/>
            <a:ext cx="2523744" cy="13628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3538728"/>
            <a:ext cx="2651760" cy="17373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anyang_sit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25997"/>
            <a:ext cx="2523744" cy="13628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29000" y="1709928"/>
            <a:ext cx="32004" cy="15544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709928"/>
            <a:ext cx="8037575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Случай 1 — износ муфты ударной дробилки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Диагностирована неисправность муфты высокоскоростного вала; через 3 дня муфта заменена по плану. На фото — явный износ нейлонового стержня.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401568"/>
            <a:ext cx="32004" cy="155448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3401568"/>
            <a:ext cx="8037575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Случай 2 — ослабление болтов на вибрационном сите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Диагностирована недостаточная жёсткость основания; выявлено отсутствие 8 болтов. Через неделю проведено техническое обслуживание.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Кейс: горнодобывающая группа — четыре объекта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15544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stern_mining_si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45" y="1453896"/>
            <a:ext cx="8865030" cy="14264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3127248"/>
            <a:ext cx="2683764" cy="9144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27248"/>
            <a:ext cx="27432" cy="9144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127248"/>
            <a:ext cx="24643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Объект 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121 ед. оборудования, 781 датчик, старт авг. 2021, 53 успешных кейса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2132" y="3127248"/>
            <a:ext cx="2683764" cy="9144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2132" y="3127248"/>
            <a:ext cx="27432" cy="9144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1004" y="3127248"/>
            <a:ext cx="24643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Объект 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24 ед. оборудования, 130 датчиков, старт авг. 2021, 11 успешных кейсов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3127248"/>
            <a:ext cx="2683764" cy="9144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5624" y="3127248"/>
            <a:ext cx="27432" cy="9144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3127248"/>
            <a:ext cx="24643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Объект 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62 ед. оборудования, 417 датчиков, старт авг. 2021, 27 успешных кейсов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9116" y="3127248"/>
            <a:ext cx="2683764" cy="9144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9116" y="3127248"/>
            <a:ext cx="27432" cy="91440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7988" y="3127248"/>
            <a:ext cx="24643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41212"/>
                </a:solidFill>
                <a:latin typeface="DM Sans"/>
              </a:rPr>
              <a:t>Объект 4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5757"/>
                </a:solidFill>
                <a:latin typeface="DM Sans"/>
              </a:rPr>
              <a:t>91 ед. оборудования, 917 датчиков, старт ноя. 2022, 11 успешных кейсов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788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С 2021 года платформа помогла выявить неисправность основного подъёмника, пройти национальную сертификацию «умного месторождения», внедрить мониторинг подземного ключевого оборудования и расширить мониторинг масла.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212"/>
                </a:solidFill>
                <a:latin typeface="DM Sans"/>
              </a:rPr>
              <a:t>Технические решения для специального горного оборудования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9928"/>
            <a:ext cx="32004" cy="141732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709928"/>
            <a:ext cx="52486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Проблема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При серьёзных перегрузках персонал не всегда в состоянии выявить скрытые неисправности — тяжёлые условия труда, сейсмическая опасность, сложность коммуникаций.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64408"/>
            <a:ext cx="32004" cy="1417320"/>
          </a:xfrm>
          <a:prstGeom prst="rect">
            <a:avLst/>
          </a:prstGeom>
          <a:solidFill>
            <a:srgbClr val="934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264408"/>
            <a:ext cx="52486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93402B"/>
                </a:solidFill>
                <a:latin typeface="DM Sans"/>
              </a:rPr>
              <a:t>Решение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757"/>
                </a:solidFill>
                <a:latin typeface="DM Sans"/>
              </a:rPr>
              <a:t>Взрывозащищённые беспроводные датчики решают проблему монтажа кабелей в шахте; мониторинг масла, тока и напряжения; поддержка Ethernet/ВОЛС/WiFi/4G/5G.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09928"/>
            <a:ext cx="5440680" cy="237744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ining_sensor_produ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1" y="1773936"/>
            <a:ext cx="3425518" cy="224942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72200" y="4224528"/>
            <a:ext cx="2651760" cy="12801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ining_install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377525"/>
            <a:ext cx="2523744" cy="97416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961120" y="4224528"/>
            <a:ext cx="2651760" cy="128016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ning_install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4410334"/>
            <a:ext cx="2523744" cy="9085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МЕЖДУНАРОДНЫЙ ОПЫТ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1212"/>
                </a:solidFill>
                <a:latin typeface="DM Sans"/>
              </a:rPr>
              <a:t>Несколько типичных случаев неисправности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554480" cy="17830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ult_sp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83741"/>
            <a:ext cx="1426464" cy="1212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1298448"/>
            <a:ext cx="37490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3402B"/>
                </a:solidFill>
                <a:latin typeface="DM Sans"/>
              </a:rPr>
              <a:t>Исключение незапланированных простоев 24/7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757"/>
                </a:solidFill>
                <a:latin typeface="DM Sans"/>
              </a:rPr>
              <a:t>В 3 часа ночи диагностирована сломанная пружина в соединении ремня. Пружина заменена своевременно, отключение исключено.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98448"/>
            <a:ext cx="1554480" cy="17830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ult_r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83741"/>
            <a:ext cx="1426464" cy="12124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298448"/>
            <a:ext cx="37490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3402B"/>
                </a:solidFill>
                <a:latin typeface="DM Sans"/>
              </a:rPr>
              <a:t>Техобслуживание по производственным планам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757"/>
                </a:solidFill>
                <a:latin typeface="DM Sans"/>
              </a:rPr>
              <a:t>Диагностирован износ дорожки качения внутреннего кольца подшипника. Инженер провёл обслуживание раньше срока.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18688"/>
            <a:ext cx="1554480" cy="17830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ult_bea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503981"/>
            <a:ext cx="1426464" cy="12124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40280" y="3218688"/>
            <a:ext cx="37490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3402B"/>
                </a:solidFill>
                <a:latin typeface="DM Sans"/>
              </a:rPr>
              <a:t>Долгосрочное отслеживание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757"/>
                </a:solidFill>
                <a:latin typeface="DM Sans"/>
              </a:rPr>
              <a:t>Обнаружено отслоение внутреннего кольца подшипника ролика; своевременное напоминание позволило спланировать ремонт.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18688"/>
            <a:ext cx="1554480" cy="1783080"/>
          </a:xfrm>
          <a:prstGeom prst="rect">
            <a:avLst/>
          </a:prstGeom>
          <a:solidFill>
            <a:srgbClr val="E7E9EA"/>
          </a:solidFill>
          <a:ln>
            <a:noFill/>
          </a:ln>
          <a:effectLst>
            <a:outerShdw blurRad="90000" dist="26000" dir="5400000" rotWithShape="0">
              <a:srgbClr val="1A181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ult_roll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503981"/>
            <a:ext cx="1426464" cy="12124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63840" y="3218688"/>
            <a:ext cx="37490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3402B"/>
                </a:solidFill>
                <a:latin typeface="DM Sans"/>
              </a:rPr>
              <a:t>Руководство по выбору запасных частей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757"/>
                </a:solidFill>
                <a:latin typeface="DM Sans"/>
              </a:rPr>
              <a:t>Выявлен значительный износ ролика ремня. Причина — неправильный выбор модели подшипника.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67528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1304378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033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M Sans"/>
              </a:rPr>
              <a:t>ООО «Алгоритм»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C4C4"/>
                </a:solidFill>
                <a:latin typeface="DM Sans"/>
              </a:rPr>
              <a:t>Комплексные решения для предиктивного обслуживания оборудования.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965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ТЕЛЕФОН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25856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+7 (988) 492-81-03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017520"/>
            <a:ext cx="548640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3154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44728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info@algoritmkrsk.ru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4206240"/>
            <a:ext cx="548640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343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САЙТ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3600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https://algoritmkrsk.ru/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5394960"/>
            <a:ext cx="548640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402B"/>
                </a:solidFill>
                <a:latin typeface="DM Sans"/>
              </a:rPr>
              <a:t>АДРЕС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82472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660075, Красноярский край, г. Красноярск,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ул. Маерчака, д. 8, офис 318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