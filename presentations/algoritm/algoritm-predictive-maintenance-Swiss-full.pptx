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Relationship Id="rId6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7.jpg"/><Relationship Id="rId4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2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image" Target="../media/image25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7E9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9048" y="0"/>
            <a:ext cx="6099048" cy="6858000"/>
          </a:xfrm>
          <a:prstGeom prst="rect">
            <a:avLst/>
          </a:prstGeom>
          <a:gradFill rotWithShape="1">
            <a:gsLst>
              <a:gs pos="0">
                <a:srgbClr val="93402B"/>
              </a:gs>
              <a:gs pos="100000">
                <a:srgbClr val="5A2417"/>
              </a:gs>
            </a:gsLst>
            <a:lin scaled="0" ang="147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644516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420624"/>
            <a:ext cx="1600200" cy="4572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>
                <a:solidFill>
                  <a:srgbClr val="5A5757"/>
                </a:solidFill>
                <a:latin typeface="Arial"/>
              </a:rPr>
              <a:t>Комплексный подход к решению задач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029200" cy="21031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41212"/>
                </a:solidFill>
                <a:latin typeface="Arial"/>
              </a:rPr>
              <a:t>Промышленный мониторинг и предиктивное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41212"/>
                </a:solidFill>
                <a:latin typeface="Arial"/>
              </a:rPr>
              <a:t>обслуживание оборудования ГОК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572000"/>
            <a:ext cx="2286000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5A5757"/>
                </a:solidFill>
                <a:latin typeface="Arial"/>
              </a:rPr>
              <a:t>Коммерческое предложение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4572000"/>
            <a:ext cx="658368" cy="384048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97480" y="4572000"/>
            <a:ext cx="658368" cy="38404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52360" y="1691640"/>
            <a:ext cx="4160520" cy="2569464"/>
          </a:xfrm>
          <a:prstGeom prst="rect">
            <a:avLst/>
          </a:prstGeom>
          <a:solidFill>
            <a:srgbClr val="1B1B1B"/>
          </a:solidFill>
          <a:ln>
            <a:noFill/>
          </a:ln>
          <a:effectLst>
            <a:outerShdw blurRad="110000" dist="30000" dir="5400000" rotWithShape="0">
              <a:srgbClr val="1A1815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supercare_lef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1783080"/>
            <a:ext cx="3977640" cy="238658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212580" y="4261104"/>
            <a:ext cx="640080" cy="201168"/>
          </a:xfrm>
          <a:prstGeom prst="rect">
            <a:avLst/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846820" y="4462272"/>
            <a:ext cx="1371600" cy="54864"/>
          </a:xfrm>
          <a:prstGeom prst="rect">
            <a:avLst/>
          </a:prstGeom>
          <a:solidFill>
            <a:srgbClr val="1B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Инженерно-сервисный центр: г. Красноярск, 2026.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РЕЗУЛЬТАТЫ ВНЕДРЕНИЯ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Arial"/>
              </a:rPr>
              <a:t>Измеримые результаты предиктивного обслуживания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128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Arial"/>
              </a:rPr>
              <a:t>Совокупный эффект от внедрения технологии на промышленных объектах — снижение затрат на техническое обслуживание оценивается в 4 000 000 $.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38528"/>
            <a:ext cx="3520440" cy="3556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075688"/>
            <a:ext cx="352044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93402B"/>
                </a:solidFill>
                <a:latin typeface="Arial"/>
              </a:rPr>
              <a:t>−57%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035808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41212"/>
                </a:solidFill>
                <a:latin typeface="Arial"/>
              </a:rPr>
              <a:t>отказов механического оборудования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75887"/>
            <a:ext cx="35204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8685"/>
                </a:solidFill>
                <a:latin typeface="Arial"/>
              </a:rPr>
              <a:t>Данные подтверждены на основе анализа 34 000+ успешных кейсов в горнодобывающей отрасли.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938528"/>
            <a:ext cx="3520440" cy="3556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075688"/>
            <a:ext cx="352044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93402B"/>
                </a:solidFill>
                <a:latin typeface="Arial"/>
              </a:rPr>
              <a:t>−80%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3035808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41212"/>
                </a:solidFill>
                <a:latin typeface="Arial"/>
              </a:rPr>
              <a:t>времени простоя из-за механических отказов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3675887"/>
            <a:ext cx="35204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8685"/>
                </a:solidFill>
                <a:latin typeface="Arial"/>
              </a:rPr>
              <a:t>Данные подтверждены на основе анализа 34 000+ успешных кейсов в горнодобывающей отрасли.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938528"/>
            <a:ext cx="3520440" cy="3556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38160" y="2075688"/>
            <a:ext cx="352044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93402B"/>
                </a:solidFill>
                <a:latin typeface="Arial"/>
              </a:rPr>
              <a:t>−37%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3035808"/>
            <a:ext cx="35204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41212"/>
                </a:solidFill>
                <a:latin typeface="Arial"/>
              </a:rPr>
              <a:t>затрат на аутсорсинг технического обслуживания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3675887"/>
            <a:ext cx="35204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A8685"/>
                </a:solidFill>
                <a:latin typeface="Arial"/>
              </a:rPr>
              <a:t>Данные подтверждены на основе анализа 34 000+ успешных кейсов в горнодобывающей отрасли.</a:t>
            </a:r>
          </a:p>
        </p:txBody>
      </p:sp>
      <p:pic>
        <p:nvPicPr>
          <p:cNvPr id="18" name="Picture 1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6382512"/>
            <a:ext cx="491059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194560"/>
          </a:xfrm>
          <a:prstGeom prst="rect">
            <a:avLst/>
          </a:prstGeom>
          <a:solidFill>
            <a:srgbClr val="E7E9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65760"/>
            <a:ext cx="45720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О КОМПАНИИ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94944"/>
            <a:ext cx="9601200" cy="12801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1212"/>
                </a:solidFill>
                <a:latin typeface="Arial"/>
              </a:rPr>
              <a:t>ООО «Алгоритм» — ваш партнер в цифровизации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1212"/>
                </a:solidFill>
                <a:latin typeface="Arial"/>
              </a:rPr>
              <a:t>промышленности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606040"/>
            <a:ext cx="2606040" cy="3175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770632"/>
            <a:ext cx="2606040" cy="2926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41212"/>
                </a:solidFill>
                <a:latin typeface="Arial"/>
              </a:rPr>
              <a:t>Мы предлагаем полный цикл внедрения систем прогнозного технического обслуживания: от аудита оборудования и подбора аппаратных решений до развертывания программного обеспечения и обучения персонала.</a:t>
            </a:r>
          </a:p>
        </p:txBody>
      </p:sp>
      <p:sp>
        <p:nvSpPr>
          <p:cNvPr id="8" name="Rectangle 7"/>
          <p:cNvSpPr/>
          <p:nvPr/>
        </p:nvSpPr>
        <p:spPr>
          <a:xfrm>
            <a:off x="3703320" y="2606040"/>
            <a:ext cx="2606040" cy="3175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3320" y="2770632"/>
            <a:ext cx="2606040" cy="2926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93402B"/>
                </a:solidFill>
                <a:latin typeface="Arial"/>
              </a:rPr>
              <a:t>Индивидуальный подход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5757"/>
                </a:solidFill>
                <a:latin typeface="Arial"/>
              </a:rPr>
              <a:t>Адаптируем решения под специфику конкретного предприятия и отрасли.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60" y="2606040"/>
            <a:ext cx="2606040" cy="3175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770632"/>
            <a:ext cx="2606040" cy="2926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93402B"/>
                </a:solidFill>
                <a:latin typeface="Arial"/>
              </a:rPr>
              <a:t>Экспертная поддержка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5757"/>
                </a:solidFill>
                <a:latin typeface="Arial"/>
              </a:rPr>
              <a:t>Обеспечиваем консалтинг и сопровождение на всех этапах жизненного цикла системы.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72600" y="2606040"/>
            <a:ext cx="2606040" cy="3175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770632"/>
            <a:ext cx="2606040" cy="2926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93402B"/>
                </a:solidFill>
                <a:latin typeface="Arial"/>
              </a:rPr>
              <a:t>Мировые стандарты</a:t>
            </a:r>
          </a:p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5757"/>
                </a:solidFill>
                <a:latin typeface="Arial"/>
              </a:rPr>
              <a:t>Опираемся на проверенную технологическую базу, успешно зарекомендовавшую себя на крупнейших промышленных объектах.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0800"/>
            <a:ext cx="491059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7E9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ТЕХНОЛОГИЧЕСКАЯ БАЗА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Arial"/>
              </a:rPr>
              <a:t>Масштаб и технологическая база платформы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9048" y="1298448"/>
            <a:ext cx="0" cy="5102352"/>
          </a:xfrm>
          <a:prstGeom prst="line">
            <a:avLst/>
          </a:prstGeom>
          <a:ln w="9525">
            <a:solidFill>
              <a:srgbClr val="D8D4D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298448"/>
            <a:ext cx="50292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МАСШТАБ ВНЕДРЕНИЯ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64208"/>
            <a:ext cx="5120640" cy="2540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75564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1212"/>
                </a:solidFill>
                <a:latin typeface="Arial"/>
              </a:rPr>
              <a:t>35+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31136"/>
            <a:ext cx="51206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Arial"/>
              </a:rPr>
              <a:t>стран — география работы технологической платформы на крупнейших промышленных объектах мира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715768"/>
            <a:ext cx="5120640" cy="2540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80720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1212"/>
                </a:solidFill>
                <a:latin typeface="Arial"/>
              </a:rPr>
              <a:t>188 000+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82696"/>
            <a:ext cx="51206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Arial"/>
              </a:rPr>
              <a:t>единиц оборудования находится под непрерывным онлайн-мониторингом платформы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767328"/>
            <a:ext cx="5120640" cy="2540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85876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1212"/>
                </a:solidFill>
                <a:latin typeface="Arial"/>
              </a:rPr>
              <a:t>882 000+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34256"/>
            <a:ext cx="51206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Arial"/>
              </a:rPr>
              <a:t>успешно установленных и работающих датчиков вибрации и температуры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818888"/>
            <a:ext cx="5120640" cy="2540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491032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1212"/>
                </a:solidFill>
                <a:latin typeface="Arial"/>
              </a:rPr>
              <a:t>3.0 ТБ+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85816"/>
            <a:ext cx="51206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Arial"/>
              </a:rPr>
              <a:t>данных телеметрии обрабатывается интеллектуальными ИИ-алгоритмами ежедневно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298448"/>
            <a:ext cx="50292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НАУЧНЫЙ ПОТЕНЦИАЛ ПЛАТФОРМЫ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55080" y="1664208"/>
            <a:ext cx="5120640" cy="2540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175564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1212"/>
                </a:solidFill>
                <a:latin typeface="Arial"/>
              </a:rPr>
              <a:t>42%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231136"/>
            <a:ext cx="51206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Arial"/>
              </a:rPr>
              <a:t>команды — доля специалистов НИОКР (R&amp;D) в общей численности персонала платформы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2715768"/>
            <a:ext cx="5120640" cy="2540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5080" y="280720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1212"/>
                </a:solidFill>
                <a:latin typeface="Arial"/>
              </a:rPr>
              <a:t>250+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282696"/>
            <a:ext cx="51206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Arial"/>
              </a:rPr>
              <a:t>патентов и зарегистрированных прав на собственное ПО и аппаратные решения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55080" y="3767328"/>
            <a:ext cx="5120640" cy="2540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385876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1212"/>
                </a:solidFill>
                <a:latin typeface="Arial"/>
              </a:rPr>
              <a:t>800+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334256"/>
            <a:ext cx="51206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Arial"/>
              </a:rPr>
              <a:t>сотрудников — общий штат экосистемы платформы, включая команду инженеров-диагностов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4818888"/>
            <a:ext cx="5120640" cy="2540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5080" y="4910328"/>
            <a:ext cx="51206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41212"/>
                </a:solidFill>
                <a:latin typeface="Arial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5385816"/>
            <a:ext cx="512064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Arial"/>
              </a:rPr>
              <a:t>национальных стандарта, разработанных на базе технологии техобслуживания оборудования</a:t>
            </a:r>
          </a:p>
        </p:txBody>
      </p:sp>
      <p:pic>
        <p:nvPicPr>
          <p:cNvPr id="32" name="Picture 3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6382512"/>
            <a:ext cx="491059" cy="29260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ОБЛАСТЬ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212"/>
                </a:solidFill>
                <a:latin typeface="Arial"/>
              </a:rPr>
              <a:t>Диагностируемое вращающееся оборудование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128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Arial"/>
              </a:rPr>
              <a:t>Цель — обеспечить долгосрочную надёжную и безопасную эксплуатацию оборудования, избежать незапланированных простоев и вторичных аварий.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92808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92808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892808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Мельницы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Шаровые и полуавтоматические мельницы</a:t>
            </a:r>
          </a:p>
        </p:txBody>
      </p:sp>
      <p:sp>
        <p:nvSpPr>
          <p:cNvPr id="9" name="Rectangle 8"/>
          <p:cNvSpPr/>
          <p:nvPr/>
        </p:nvSpPr>
        <p:spPr>
          <a:xfrm>
            <a:off x="2783433" y="1892808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83433" y="1892808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02305" y="1892808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Компрессоры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Винтовые и воздушные компрессоры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18226" y="1892808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18226" y="1892808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37098" y="1892808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Насосы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Шламовые и центробежные насосы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53019" y="1892808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53019" y="1892808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71891" y="1892808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Конвейеры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Ленточные конвейеры и приводы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87812" y="1892808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487812" y="1892808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6684" y="1892808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Подъёмные машины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Шахтные подъёмные установки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410712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410712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" y="3410712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Вентиляторы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Вентиляторы главного проветривания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83433" y="3410712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83433" y="3410712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02305" y="3410712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Дробилки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Щековые, конусные, роторные дробилки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18226" y="3410712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18226" y="3410712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37098" y="3410712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Мостовые краны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Грузоподъёмное оборудование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53019" y="3410712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53019" y="3410712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71891" y="3410712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Прокатные станы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Металлургическое оборудование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87812" y="3410712"/>
            <a:ext cx="2125065" cy="140817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487812" y="3410712"/>
            <a:ext cx="27432" cy="140817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606684" y="3410712"/>
            <a:ext cx="1905609" cy="140817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Прочее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Ж/д транспорт, ЦБП, винодельческое и медицинское оборудование</a:t>
            </a:r>
          </a:p>
        </p:txBody>
      </p:sp>
      <p:pic>
        <p:nvPicPr>
          <p:cNvPr id="36" name="Picture 3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6382512"/>
            <a:ext cx="491059" cy="29260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АРХИТЕКТУРА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212"/>
                </a:solidFill>
                <a:latin typeface="Arial"/>
              </a:rPr>
              <a:t>Архитектура системы: надёжная передача данных и гибкая интеграция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ВЕРХНИЙ УРОВЕНЬ — КУДА СОБИРАЮТСЯ ДАННЫЕ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74520"/>
            <a:ext cx="5449824" cy="896112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74520"/>
            <a:ext cx="32004" cy="89611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1965960"/>
            <a:ext cx="5175504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Локальный сервер предприятия (On-Premise) / облачный сервер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5A5757"/>
                </a:solidFill>
                <a:latin typeface="Arial"/>
              </a:rPr>
              <a:t>Обеспечивает 100% безопасность данных внутри закрытого периметра завода или гибкий доступ через облако.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63056" y="1874520"/>
            <a:ext cx="5449824" cy="896112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63056" y="1874520"/>
            <a:ext cx="32004" cy="89611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965960"/>
            <a:ext cx="5175504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Программный комплекс SuperCare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5A5757"/>
                </a:solidFill>
                <a:latin typeface="Arial"/>
              </a:rPr>
              <a:t>Интеллектуальный центр анализа больших данных и ИИ-диагностики.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23560" y="277063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AFABAA"/>
                </a:solidFill>
                <a:latin typeface="Arial"/>
              </a:rPr>
              <a:t>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06324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ЦЕНТРАЛЬНЫЙ УРОВЕНЬ — ИНФРАСТРУКТУРА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337560"/>
            <a:ext cx="11064240" cy="896112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337560"/>
            <a:ext cx="32004" cy="89611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3429000"/>
            <a:ext cx="10789920" cy="7132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Интеграция в локальную сеть предприятия (LAN / ВОЛС)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5A5757"/>
                </a:solidFill>
                <a:latin typeface="Arial"/>
              </a:rPr>
              <a:t>Передача данных на сервер по защищённым промышленным протоколам.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23560" y="423367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AFABAA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26280"/>
            <a:ext cx="10515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НИЖНИЙ УРОВЕНЬ — ТРИ ВАРИАНТА СБОРА ДАННЫХ С АГРЕГАТОВ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800600"/>
            <a:ext cx="3578352" cy="105156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800600"/>
            <a:ext cx="32004" cy="105156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94944" y="4892040"/>
            <a:ext cx="3304032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Вариант 1. Высокоскоростной проводной сбор (кабель / оптика / Wi-Fi)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5A5757"/>
                </a:solidFill>
                <a:latin typeface="Arial"/>
              </a:rPr>
              <a:t>Для оборудования: критически важные и энергонасыщенные агрегаты с постоянным питанием — дробилки, главные приводы, масляные прессы.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1584" y="4800600"/>
            <a:ext cx="3578352" cy="105156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1584" y="4800600"/>
            <a:ext cx="32004" cy="105156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7888" y="4892040"/>
            <a:ext cx="3304032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Вариант 2. Беспроводная сеть малой дальности (ZigBee)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5A5757"/>
                </a:solidFill>
                <a:latin typeface="Arial"/>
              </a:rPr>
              <a:t>Для оборудования: компактные узлы и конвейерные линии на средних дистанциях — шахтные подъёмники, скребки, сушильные барабаны.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34528" y="4800600"/>
            <a:ext cx="3578352" cy="105156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34528" y="4800600"/>
            <a:ext cx="32004" cy="105156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80832" y="4892040"/>
            <a:ext cx="3304032" cy="8686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Вариант 3. Дальнобойная беспроводная сеть (LoRa / 4G / 5G)</a:t>
            </a:r>
          </a:p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30" b="0">
                <a:solidFill>
                  <a:srgbClr val="5A5757"/>
                </a:solidFill>
                <a:latin typeface="Arial"/>
              </a:rPr>
              <a:t>Для оборудования: удалённые объекты в радиусе до 1 км без прокладки кабельных трасс — воздуходувки, насосные станции, компрессоры.</a:t>
            </a:r>
          </a:p>
        </p:txBody>
      </p:sp>
      <p:pic>
        <p:nvPicPr>
          <p:cNvPr id="28" name="Picture 27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6382512"/>
            <a:ext cx="491059" cy="2926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СЦЕНАРИИ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Arial"/>
              </a:rPr>
              <a:t>Беспроводной вариант решения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89888"/>
          <a:ext cx="5120640" cy="1481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914400"/>
                <a:gridCol w="1188720"/>
                <a:gridCol w="1280160"/>
              </a:tblGrid>
              <a:tr h="384048"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ОБОРУДОВАНИЕ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ДАТЧИКОВ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ТИП ДАТЧИКА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ТИП ШЛЮЗА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</a:tr>
              <a:tr h="365760"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Консольный насос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RH505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RH560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Двухопорный насос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RH605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RH560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</a:tr>
              <a:tr h="365760"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Вентилятор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RH506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RH570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2898648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5757"/>
                </a:solidFill>
                <a:latin typeface="Arial"/>
              </a:rPr>
              <a:t>Одноосные и трёхосные беспроводные датчики вибрации (RH505/RH605, RW506/RW606) передают данные на шлюз по радиоканалу — без прокладки кабельных трасс.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30168"/>
            <a:ext cx="32004" cy="704088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3630168"/>
            <a:ext cx="4974336" cy="8412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🛠️ Монтаж за 15 минут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Датчики фиксируются на оборудовании с помощью шпилек, магнитов или промышленного клея. Никаких кабельных трасс и штробления.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471416"/>
            <a:ext cx="32004" cy="704088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4471416"/>
            <a:ext cx="4974336" cy="8412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🔋 До 3 лет автономной работы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Датчики оснащены встроенными промышленными батареями повышенной ёмкости. Замена элементов питания не требует демонтажа самого датчика.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312664"/>
            <a:ext cx="32004" cy="704088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5312664"/>
            <a:ext cx="4974336" cy="8412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📡 Помехозащищённый радиоканал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Данные передаются на промышленный шлюз в автоматическом режиме. Система устойчива к электромагнитным помехам от мощных электродвигателей.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389888"/>
            <a:ext cx="2743200" cy="18288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ireless_componen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775647"/>
            <a:ext cx="2615184" cy="1057281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8823960" y="1389888"/>
            <a:ext cx="2788920" cy="18288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wireless_softwar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7844" y="1453896"/>
            <a:ext cx="2501152" cy="1700784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989320" y="3310128"/>
            <a:ext cx="5623560" cy="16916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wireless_install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3374136"/>
            <a:ext cx="2606040" cy="1563624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7498080" y="4663440"/>
            <a:ext cx="2606040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Монтаж беспроводных датчиков на промышленном объекте</a:t>
            </a:r>
          </a:p>
        </p:txBody>
      </p:sp>
      <p:pic>
        <p:nvPicPr>
          <p:cNvPr id="20" name="Picture 19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4120" y="6382512"/>
            <a:ext cx="491059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СЦЕНАРИИ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Arial"/>
              </a:rPr>
              <a:t>Проводной вариант решения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89888"/>
          <a:ext cx="5120640" cy="14813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914400"/>
                <a:gridCol w="1188720"/>
                <a:gridCol w="1280160"/>
              </a:tblGrid>
              <a:tr h="384048"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ОБОРУДОВАНИЕ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ДАТЧИКОВ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ТИП ДАТЧИКА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ТИП ШЛЮЗА</a:t>
                      </a:r>
                    </a:p>
                  </a:txBody>
                  <a:tcPr>
                    <a:solidFill>
                      <a:srgbClr val="141212"/>
                    </a:solidFill>
                  </a:tcPr>
                </a:tc>
              </a:tr>
              <a:tr h="365760"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Гориз. дробилка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RH103T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RH2000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Верт. дробилка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RH104T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RH2000</a:t>
                      </a:r>
                    </a:p>
                  </a:txBody>
                  <a:tcPr>
                    <a:solidFill>
                      <a:srgbClr val="F3E9E6"/>
                    </a:solidFill>
                  </a:tcPr>
                </a:tc>
              </a:tr>
              <a:tr h="365760"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Зубч. дробилка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RH113T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82296" rIns="45720" tIns="0" bIns="0" anchor="ctr">
                      <a:noAutofit/>
                    </a:bodyPr>
                    <a:lstStyle/>
                    <a:p>
                      <a:r>
                        <a:rPr sz="1100" b="0">
                          <a:solidFill>
                            <a:srgbClr val="141212"/>
                          </a:solidFill>
                          <a:latin typeface="Arial"/>
                        </a:rPr>
                        <a:t>RH2000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2898648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A5757"/>
                </a:solidFill>
                <a:latin typeface="Arial"/>
              </a:rPr>
              <a:t>Проводные датчики с верхним или боковым (360°) выходом кабеля подключаются к шлюзу RH2000 — стационарная схема для ответственных агрегатов с постоянным питанием.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630168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3630168"/>
            <a:ext cx="4974336" cy="8961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⚡ Постоянное питание и непрерывный сбор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Схема с подключением к шлюзу RH2000 обеспечивает ежесекундный мониторинг без задержек. Идеально для агрегатов класса «А», где секунда простоя стоит миллионы рублей.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526280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4526280"/>
            <a:ext cx="4974336" cy="8961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🛡️ Защита кабеля на 360°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Датчики поставляются с верхним или боковым выходом кабеля в металлической бронерукаве. Полная защита от механических повреждений, пыли, влаги и вибрации.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422392"/>
            <a:ext cx="32004" cy="75895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5422392"/>
            <a:ext cx="4974336" cy="8961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🎯 Анализ переходных процессов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Проводная схема позволяет ловить дефекты в моменты пуска и останова агрегата, когда нагрузка на подшипники и редукторы максимальна.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389888"/>
            <a:ext cx="2743200" cy="18288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wired_senso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8703" y="1453896"/>
            <a:ext cx="1564434" cy="1700784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8823960" y="1389888"/>
            <a:ext cx="2788920" cy="18288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wired_gatewa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9131" y="1453896"/>
            <a:ext cx="1978578" cy="1700784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989320" y="3310128"/>
            <a:ext cx="5623560" cy="132588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wired_softw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64269" y="3374136"/>
            <a:ext cx="1673662" cy="11978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989320" y="4681728"/>
            <a:ext cx="562356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A5757"/>
                </a:solidFill>
                <a:latin typeface="Arial"/>
              </a:rPr>
              <a:t>Программный комплекс обеспечивает глубокий спектральный анализ формы волны вибрации в реальном времени, выявляя скрытые трещины и микросколы задолго до их визуального проявления.</a:t>
            </a:r>
          </a:p>
        </p:txBody>
      </p:sp>
      <p:pic>
        <p:nvPicPr>
          <p:cNvPr id="20" name="Picture 19" descr="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04120" y="6382512"/>
            <a:ext cx="491059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КЕЙС ИЗ ПРАКТИКИ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41212"/>
                </a:solidFill>
                <a:latin typeface="Arial"/>
              </a:rPr>
              <a:t>От аномалии до устранения дефекта — за 5 часов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128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Arial"/>
              </a:rPr>
              <a:t>Объект: подземный резервный погрузчик (критически важное оборудование шахты)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801368"/>
            <a:ext cx="310896" cy="310896"/>
          </a:xfrm>
          <a:prstGeom prst="ellipse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1828800"/>
            <a:ext cx="220370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1212"/>
                </a:solidFill>
                <a:latin typeface="Arial"/>
              </a:rPr>
              <a:t>🛑 02:00 ночи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03704"/>
            <a:ext cx="2606040" cy="13716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ase_chart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282388"/>
            <a:ext cx="2478024" cy="121423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3666744"/>
            <a:ext cx="260604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212"/>
                </a:solidFill>
                <a:latin typeface="Arial"/>
              </a:rPr>
              <a:t>Внезапный скачок вибрации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59352"/>
            <a:ext cx="260604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Телеметрия в реальном времени зафиксировала резкое аномальное усиление вибрации на двигателе погрузчика. Система автоматически отправила сигнал тревоги.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63824" y="2752344"/>
            <a:ext cx="16459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FABAA"/>
                </a:solidFill>
                <a:latin typeface="Arial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3337560" y="1801368"/>
            <a:ext cx="310896" cy="310896"/>
          </a:xfrm>
          <a:prstGeom prst="ellipse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9896" y="1828800"/>
            <a:ext cx="220370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1212"/>
                </a:solidFill>
                <a:latin typeface="Arial"/>
              </a:rPr>
              <a:t>🧠 +15 минут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60" y="2203704"/>
            <a:ext cx="2606040" cy="13716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ase_control_r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1568" y="2459980"/>
            <a:ext cx="2478024" cy="859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337560" y="3666744"/>
            <a:ext cx="260604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212"/>
                </a:solidFill>
                <a:latin typeface="Arial"/>
              </a:rPr>
              <a:t>Мгновенный экспертный анализ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3959352"/>
            <a:ext cx="260604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Дежурный эксперт удалённого диагностического центра проанализировал спектр волны и выдал заключение: «Критический дефект подшипника. Риск заклинивания двигателя».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52744" y="2752344"/>
            <a:ext cx="16459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FABAA"/>
                </a:solidFill>
                <a:latin typeface="Arial"/>
              </a:rPr>
              <a:t>→</a:t>
            </a:r>
          </a:p>
        </p:txBody>
      </p:sp>
      <p:sp>
        <p:nvSpPr>
          <p:cNvPr id="20" name="Oval 19"/>
          <p:cNvSpPr/>
          <p:nvPr/>
        </p:nvSpPr>
        <p:spPr>
          <a:xfrm>
            <a:off x="6126480" y="1801368"/>
            <a:ext cx="310896" cy="310896"/>
          </a:xfrm>
          <a:prstGeom prst="ellipse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28816" y="1828800"/>
            <a:ext cx="220370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1212"/>
                </a:solidFill>
                <a:latin typeface="Arial"/>
              </a:rPr>
              <a:t>🛠️ 06:43 утра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2203704"/>
            <a:ext cx="2606040" cy="13716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ase_bearing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0488" y="2303628"/>
            <a:ext cx="2478024" cy="117175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126480" y="3666744"/>
            <a:ext cx="260604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212"/>
                </a:solidFill>
                <a:latin typeface="Arial"/>
              </a:rPr>
              <a:t>Точечный плановый ремонт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3959352"/>
            <a:ext cx="260604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Бригада заехала в шахту и оперативно заменила повреждённый узел. Сепаратор подшипника был полностью разрушен — до заклинивания и пожара оставались считанные часы.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41664" y="2752344"/>
            <a:ext cx="164592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AFABAA"/>
                </a:solidFill>
                <a:latin typeface="Arial"/>
              </a:rPr>
              <a:t>→</a:t>
            </a:r>
          </a:p>
        </p:txBody>
      </p:sp>
      <p:sp>
        <p:nvSpPr>
          <p:cNvPr id="27" name="Oval 26"/>
          <p:cNvSpPr/>
          <p:nvPr/>
        </p:nvSpPr>
        <p:spPr>
          <a:xfrm>
            <a:off x="8915400" y="1801368"/>
            <a:ext cx="310896" cy="310896"/>
          </a:xfrm>
          <a:prstGeom prst="ellipse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7736" y="1828800"/>
            <a:ext cx="2203704" cy="2743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41212"/>
                </a:solidFill>
                <a:latin typeface="Arial"/>
              </a:rPr>
              <a:t>✅ 07:00 утра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15400" y="2203704"/>
            <a:ext cx="2606040" cy="13716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ase_chart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9408" y="2323689"/>
            <a:ext cx="2478024" cy="113163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8915400" y="3666744"/>
            <a:ext cx="2606040" cy="2926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41212"/>
                </a:solidFill>
                <a:latin typeface="Arial"/>
              </a:rPr>
              <a:t>Возврат в штатный режим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400" y="3959352"/>
            <a:ext cx="2606040" cy="10058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После замены подшипника форма волны и графики вибрации мгновенно вернулись к норме. Погрузчик запущен в работу.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532120"/>
            <a:ext cx="11064240" cy="621792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532120"/>
            <a:ext cx="45720" cy="621792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559552"/>
            <a:ext cx="640080" cy="548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93402B"/>
                </a:solidFill>
                <a:latin typeface="Arial"/>
              </a:rPr>
              <a:t>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5586984"/>
            <a:ext cx="9875520" cy="53035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1">
                <a:solidFill>
                  <a:srgbClr val="93402B"/>
                </a:solidFill>
                <a:latin typeface="Arial"/>
              </a:rPr>
              <a:t>Главный вывод: результат для заказчика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41212"/>
                </a:solidFill>
                <a:latin typeface="Arial"/>
              </a:rPr>
              <a:t>Предотвращено внезапное аварийное отключение, исключены миллионные экономические потери от простоя линии и ликвидирована угроза нарушению техники безопасности (ТБ) под землёй.</a:t>
            </a:r>
          </a:p>
        </p:txBody>
      </p:sp>
      <p:pic>
        <p:nvPicPr>
          <p:cNvPr id="37" name="Picture 36" descr="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04120" y="6382512"/>
            <a:ext cx="491059" cy="29260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ОБЛАСТЬ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212"/>
                </a:solidFill>
                <a:latin typeface="Arial"/>
              </a:rPr>
              <a:t>Сценарии применения: контроль оборудования на всех этапах — от добычи до плавки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Arial"/>
              </a:rPr>
              <a:t>Сокращаем внеплановые простои на 30–40%, окупаемость — 11–14 месяцев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67128"/>
            <a:ext cx="3517392" cy="2794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258568"/>
            <a:ext cx="351739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93402B"/>
                </a:solidFill>
                <a:latin typeface="Arial"/>
              </a:rPr>
              <a:t>−30–40%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34056"/>
            <a:ext cx="351739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простоев оборудования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2064" y="2167128"/>
            <a:ext cx="3517392" cy="2794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2064" y="2258568"/>
            <a:ext cx="351739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93402B"/>
                </a:solidFill>
                <a:latin typeface="Arial"/>
              </a:rPr>
              <a:t>11 мес.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22064" y="2734056"/>
            <a:ext cx="351739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средняя окупаемость проекта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95488" y="2167128"/>
            <a:ext cx="3517392" cy="27940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95488" y="2258568"/>
            <a:ext cx="3517392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93402B"/>
                </a:solidFill>
                <a:latin typeface="Arial"/>
              </a:rPr>
              <a:t>до 50 ед.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5488" y="2734056"/>
            <a:ext cx="3517392" cy="5943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оборудования на участке под контролем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55848"/>
            <a:ext cx="3614928" cy="12344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355848"/>
            <a:ext cx="27432" cy="12344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3355848"/>
            <a:ext cx="3395472" cy="1234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Добыча полезных ископаемых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Шахтные подъёмные машины, ленточные конвейеры, буровые установки, вентиляторы главного проветривания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73296" y="3355848"/>
            <a:ext cx="3614928" cy="12344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73296" y="3355848"/>
            <a:ext cx="27432" cy="12344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92168" y="3355848"/>
            <a:ext cx="3395472" cy="1234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Переработка полезных ископаемых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Щёковые и конусные дробилки, шаровые мельницы, флотационное и обогатительное оборудование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97952" y="3355848"/>
            <a:ext cx="3614928" cy="12344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97952" y="3355848"/>
            <a:ext cx="27432" cy="12344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6824" y="3355848"/>
            <a:ext cx="3395472" cy="12344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Плавка и металлургия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Прокатные станы, винтовые компрессоры, насосные станции, мостовые краны</a:t>
            </a:r>
          </a:p>
        </p:txBody>
      </p:sp>
      <p:sp>
        <p:nvSpPr>
          <p:cNvPr id="24" name="Oval 23"/>
          <p:cNvSpPr/>
          <p:nvPr/>
        </p:nvSpPr>
        <p:spPr>
          <a:xfrm>
            <a:off x="816673" y="4773168"/>
            <a:ext cx="566928" cy="566928"/>
          </a:xfrm>
          <a:prstGeom prst="ellipse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3402B"/>
                </a:solidFill>
                <a:latin typeface="Arial"/>
              </a:rPr>
              <a:t>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449824"/>
            <a:ext cx="11029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41212"/>
                </a:solidFill>
                <a:latin typeface="Arial"/>
              </a:rPr>
              <a:t>Мельница</a:t>
            </a:r>
          </a:p>
        </p:txBody>
      </p:sp>
      <p:sp>
        <p:nvSpPr>
          <p:cNvPr id="26" name="Oval 25"/>
          <p:cNvSpPr/>
          <p:nvPr/>
        </p:nvSpPr>
        <p:spPr>
          <a:xfrm>
            <a:off x="2239708" y="4773168"/>
            <a:ext cx="566928" cy="566928"/>
          </a:xfrm>
          <a:prstGeom prst="ellipse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3402B"/>
                </a:solidFill>
                <a:latin typeface="Arial"/>
              </a:rPr>
              <a:t>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71675" y="5449824"/>
            <a:ext cx="11029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41212"/>
                </a:solidFill>
                <a:latin typeface="Arial"/>
              </a:rPr>
              <a:t>Дробилка</a:t>
            </a:r>
          </a:p>
        </p:txBody>
      </p:sp>
      <p:sp>
        <p:nvSpPr>
          <p:cNvPr id="28" name="Oval 27"/>
          <p:cNvSpPr/>
          <p:nvPr/>
        </p:nvSpPr>
        <p:spPr>
          <a:xfrm>
            <a:off x="3662743" y="4773168"/>
            <a:ext cx="566928" cy="566928"/>
          </a:xfrm>
          <a:prstGeom prst="ellipse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3402B"/>
                </a:solidFill>
                <a:latin typeface="Arial"/>
              </a:rPr>
              <a:t>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94710" y="5449824"/>
            <a:ext cx="11029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41212"/>
                </a:solidFill>
                <a:latin typeface="Arial"/>
              </a:rPr>
              <a:t>Насос</a:t>
            </a:r>
          </a:p>
        </p:txBody>
      </p:sp>
      <p:sp>
        <p:nvSpPr>
          <p:cNvPr id="30" name="Oval 29"/>
          <p:cNvSpPr/>
          <p:nvPr/>
        </p:nvSpPr>
        <p:spPr>
          <a:xfrm>
            <a:off x="5085778" y="4773168"/>
            <a:ext cx="566928" cy="566928"/>
          </a:xfrm>
          <a:prstGeom prst="ellipse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3402B"/>
                </a:solidFill>
                <a:latin typeface="Arial"/>
              </a:rPr>
              <a:t>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17745" y="5449824"/>
            <a:ext cx="11029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41212"/>
                </a:solidFill>
                <a:latin typeface="Arial"/>
              </a:rPr>
              <a:t>Вентилятор</a:t>
            </a:r>
          </a:p>
        </p:txBody>
      </p:sp>
      <p:sp>
        <p:nvSpPr>
          <p:cNvPr id="32" name="Oval 31"/>
          <p:cNvSpPr/>
          <p:nvPr/>
        </p:nvSpPr>
        <p:spPr>
          <a:xfrm>
            <a:off x="6508813" y="4773168"/>
            <a:ext cx="566928" cy="566928"/>
          </a:xfrm>
          <a:prstGeom prst="ellipse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3402B"/>
                </a:solidFill>
                <a:latin typeface="Arial"/>
              </a:rPr>
              <a:t>▭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0780" y="5449824"/>
            <a:ext cx="11029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41212"/>
                </a:solidFill>
                <a:latin typeface="Arial"/>
              </a:rPr>
              <a:t>Конвейер</a:t>
            </a:r>
          </a:p>
        </p:txBody>
      </p:sp>
      <p:sp>
        <p:nvSpPr>
          <p:cNvPr id="34" name="Oval 33"/>
          <p:cNvSpPr/>
          <p:nvPr/>
        </p:nvSpPr>
        <p:spPr>
          <a:xfrm>
            <a:off x="7931848" y="4773168"/>
            <a:ext cx="566928" cy="566928"/>
          </a:xfrm>
          <a:prstGeom prst="ellipse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3402B"/>
                </a:solidFill>
                <a:latin typeface="Arial"/>
              </a:rPr>
              <a:t>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63815" y="5449824"/>
            <a:ext cx="11029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41212"/>
                </a:solidFill>
                <a:latin typeface="Arial"/>
              </a:rPr>
              <a:t>Подъёмная машина</a:t>
            </a:r>
          </a:p>
        </p:txBody>
      </p:sp>
      <p:sp>
        <p:nvSpPr>
          <p:cNvPr id="36" name="Oval 35"/>
          <p:cNvSpPr/>
          <p:nvPr/>
        </p:nvSpPr>
        <p:spPr>
          <a:xfrm>
            <a:off x="9354883" y="4773168"/>
            <a:ext cx="566928" cy="566928"/>
          </a:xfrm>
          <a:prstGeom prst="ellipse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3402B"/>
                </a:solidFill>
                <a:latin typeface="Arial"/>
              </a:rPr>
              <a:t>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86850" y="5449824"/>
            <a:ext cx="11029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41212"/>
                </a:solidFill>
                <a:latin typeface="Arial"/>
              </a:rPr>
              <a:t>Компрессор</a:t>
            </a:r>
          </a:p>
        </p:txBody>
      </p:sp>
      <p:sp>
        <p:nvSpPr>
          <p:cNvPr id="38" name="Oval 37"/>
          <p:cNvSpPr/>
          <p:nvPr/>
        </p:nvSpPr>
        <p:spPr>
          <a:xfrm>
            <a:off x="10777918" y="4773168"/>
            <a:ext cx="566928" cy="566928"/>
          </a:xfrm>
          <a:prstGeom prst="ellipse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93402B"/>
                </a:solidFill>
                <a:latin typeface="Arial"/>
              </a:rPr>
              <a:t>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09885" y="5449824"/>
            <a:ext cx="11029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41212"/>
                </a:solidFill>
                <a:latin typeface="Arial"/>
              </a:rPr>
              <a:t>Мостовой кран</a:t>
            </a:r>
          </a:p>
        </p:txBody>
      </p:sp>
      <p:pic>
        <p:nvPicPr>
          <p:cNvPr id="40" name="Picture 3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4120" y="6382512"/>
            <a:ext cx="491059" cy="29260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СЦЕНАРИИ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41212"/>
                </a:solidFill>
                <a:latin typeface="Arial"/>
              </a:rPr>
              <a:t>Мониторинг вспомогательного оборудования (Класс C/D): автоматизация ручных инспекций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Arial"/>
              </a:rPr>
              <a:t>Беспроводные датчики вибрации RW161 разработаны специально для массового контроля вспомогательных узлов. Они позволяют перевести обслуживание сотен агрегатов в автоматический режим с минимальными затратами.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12848"/>
            <a:ext cx="6263640" cy="22860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143000" y="2551176"/>
            <a:ext cx="594360" cy="804672"/>
          </a:xfrm>
          <a:prstGeom prst="line">
            <a:avLst/>
          </a:prstGeom>
          <a:ln w="13970">
            <a:solidFill>
              <a:srgbClr val="9340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43000" y="3355848"/>
            <a:ext cx="594360" cy="0"/>
          </a:xfrm>
          <a:prstGeom prst="line">
            <a:avLst/>
          </a:prstGeom>
          <a:ln w="13970">
            <a:solidFill>
              <a:srgbClr val="9340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143000" y="3355848"/>
            <a:ext cx="594360" cy="804672"/>
          </a:xfrm>
          <a:prstGeom prst="line">
            <a:avLst/>
          </a:prstGeom>
          <a:ln w="13970">
            <a:solidFill>
              <a:srgbClr val="9340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078992" y="2487168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78992" y="3291840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78992" y="4096512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426110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Arial"/>
              </a:rPr>
              <a:t>Датчики RW161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962656"/>
            <a:ext cx="1508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Arial"/>
              </a:rPr>
              <a:t>LoRa, до 1 км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37360" y="3145536"/>
            <a:ext cx="1051560" cy="420624"/>
          </a:xfrm>
          <a:prstGeom prst="roundRect">
            <a:avLst>
              <a:gd name="adj" fmla="val 18000"/>
            </a:avLst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Шлюз LoRa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788920" y="3355848"/>
            <a:ext cx="2587752" cy="0"/>
          </a:xfrm>
          <a:prstGeom prst="line">
            <a:avLst/>
          </a:prstGeom>
          <a:ln w="13970">
            <a:solidFill>
              <a:srgbClr val="1412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376672" y="3145536"/>
            <a:ext cx="1051560" cy="420624"/>
          </a:xfrm>
          <a:prstGeom prst="roundRect">
            <a:avLst>
              <a:gd name="adj" fmla="val 18000"/>
            </a:avLst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02352" y="3584448"/>
            <a:ext cx="160020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Arial"/>
              </a:rPr>
              <a:t>Локальная сеть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681728"/>
            <a:ext cx="3063240" cy="13716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d_install_pho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4973369"/>
            <a:ext cx="2935224" cy="788317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3749040" y="4681728"/>
            <a:ext cx="3063240" cy="13716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86200" y="4818888"/>
            <a:ext cx="2788920" cy="1097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RW161 — беспроводные датчики вибрации версии LoRa для оборудования уровня C/D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86600" y="2212848"/>
            <a:ext cx="32004" cy="649224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32904" y="2212848"/>
            <a:ext cx="4379976" cy="7863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🛰 Дальнобойность до 1 км без кабеля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Радиус действия канала достигает 1 км в условиях промышленной застройки. Один шлюз собирает данные со всей фабрики без прокладки кабельных трасс.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2999232"/>
            <a:ext cx="32004" cy="649224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32904" y="2999232"/>
            <a:ext cx="4379976" cy="7863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👥 Сокращение ручного труда на 50%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Полная замена ежедневных плановых обходов персонала. Система сама непрерывно мониторит узлы и вызывает инженера только по сигналу тревоги.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86600" y="3785616"/>
            <a:ext cx="32004" cy="649224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32904" y="3785616"/>
            <a:ext cx="4379976" cy="7863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🤖 Умная сигнализация аварий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Интеллектуальный анализ автоматически настраивает базовый порог вибрации для каждого узла и мгновенно оповещает о зарождении дефекта.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86600" y="4572000"/>
            <a:ext cx="32004" cy="649224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32904" y="4572000"/>
            <a:ext cx="4379976" cy="7863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📊 Сбор формы волны (уникальная функция)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В отличие от стандартных датчиков других брендов, RW161 умеет собирать и передавать полную форму волны для детального экспертного анализа.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86600" y="5358384"/>
            <a:ext cx="32004" cy="649224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32904" y="5358384"/>
            <a:ext cx="4379976" cy="7863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🌋 Взрывозащита промышленного уровня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Корпус имеет максимальную степень защиты IP68 / ATEX. Датчики сертифицированы для работы в самых тяжёлых, влажных и взрывоопасных условиях.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СЦЕНАРИИ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41212"/>
                </a:solidFill>
                <a:latin typeface="Arial"/>
              </a:rPr>
              <a:t>Мониторинг основного оборудования (Класс «B»): глубокий анализ неисправностей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Arial"/>
              </a:rPr>
              <a:t>Высокопроизводительные беспроводные станции и датчики обеспечивают детальный спектральный анализ. Это идеальное решение для средних и крупных агрегатов, требующих точной локализации дефектов без прокладки кабеля.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12848"/>
            <a:ext cx="6263640" cy="22860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143000" y="2551176"/>
            <a:ext cx="594360" cy="804672"/>
          </a:xfrm>
          <a:prstGeom prst="line">
            <a:avLst/>
          </a:prstGeom>
          <a:ln w="13970">
            <a:solidFill>
              <a:srgbClr val="9340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43000" y="3087624"/>
            <a:ext cx="594360" cy="268224"/>
          </a:xfrm>
          <a:prstGeom prst="line">
            <a:avLst/>
          </a:prstGeom>
          <a:ln w="13970">
            <a:solidFill>
              <a:srgbClr val="9340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143000" y="3355848"/>
            <a:ext cx="594360" cy="268224"/>
          </a:xfrm>
          <a:prstGeom prst="line">
            <a:avLst/>
          </a:prstGeom>
          <a:ln w="13970">
            <a:solidFill>
              <a:srgbClr val="9340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43000" y="3355848"/>
            <a:ext cx="594360" cy="804672"/>
          </a:xfrm>
          <a:prstGeom prst="line">
            <a:avLst/>
          </a:prstGeom>
          <a:ln w="13970">
            <a:solidFill>
              <a:srgbClr val="93402B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078992" y="2487168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78992" y="3023616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8992" y="3560064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8992" y="4096512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26110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Arial"/>
              </a:rPr>
              <a:t>RH505/605, RW625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962656"/>
            <a:ext cx="1508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Arial"/>
              </a:rPr>
              <a:t>ZigBee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37360" y="3145536"/>
            <a:ext cx="1051560" cy="420624"/>
          </a:xfrm>
          <a:prstGeom prst="roundRect">
            <a:avLst>
              <a:gd name="adj" fmla="val 18000"/>
            </a:avLst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RH570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788920" y="3355848"/>
            <a:ext cx="2587752" cy="0"/>
          </a:xfrm>
          <a:prstGeom prst="line">
            <a:avLst/>
          </a:prstGeom>
          <a:ln w="13970">
            <a:solidFill>
              <a:srgbClr val="14121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376672" y="3145536"/>
            <a:ext cx="1051560" cy="420624"/>
          </a:xfrm>
          <a:prstGeom prst="roundRect">
            <a:avLst>
              <a:gd name="adj" fmla="val 18000"/>
            </a:avLst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02352" y="3584448"/>
            <a:ext cx="160020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Arial"/>
              </a:rPr>
              <a:t>Локальная сеть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681728"/>
            <a:ext cx="3063240" cy="13716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b_fault_pho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4973369"/>
            <a:ext cx="2935224" cy="788317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3749040" y="4681728"/>
            <a:ext cx="3063240" cy="13716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86200" y="4818888"/>
            <a:ext cx="2788920" cy="1097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RH570 — беспроводная станция сбора данных, датчики по ZigBee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2212848"/>
            <a:ext cx="32004" cy="649224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32904" y="2212848"/>
            <a:ext cx="4379976" cy="7863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🎯 Диагностика «3 в 1» (вибрация, температура, скорость)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Датчик одновременно измеряет три критических параметра в широком диапазоне частот (до 20 кГц). Это позволяет обнаружить малейшие зарождающиеся дефекты подшипников и шестерён.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86600" y="2999232"/>
            <a:ext cx="32004" cy="649224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32904" y="2999232"/>
            <a:ext cx="4379976" cy="7863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🔍 Сверхглубокий сбор данных (до 819 200 линий)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Длина записи сигнала до 2048 Кб даёт возможность инженерам-диагностам проводить расширенный спектральный анализ и безошибочно определять тип поломки.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86600" y="3785616"/>
            <a:ext cx="32004" cy="649224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32904" y="3785616"/>
            <a:ext cx="4379976" cy="7863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🛡 Фильтрация ложных сигналов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Интеллектуальные алгоритмы умеют автоматически определять моменты пуска/останова и отсекать фоновые шумы соседних машин, исключая ложные срабатывания тревоги.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86600" y="4572000"/>
            <a:ext cx="32004" cy="649224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32904" y="4572000"/>
            <a:ext cx="4379976" cy="7863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🔋 До 3 лет автономной работы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Несмотря на высокую плотность сбора данных, датчики оптимизированы по энергопотреблению и работают до 3 лет на одной батарее в режиме циклического мониторинга.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86600" y="5358384"/>
            <a:ext cx="32004" cy="649224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32904" y="5358384"/>
            <a:ext cx="4379976" cy="78638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🌋 Максимальная взрывозащита IP68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Оборудование сертифицировано для жёстких условий эксплуатации. Корпус полностью герметичен, защищён от агрессивной химии, пыли и влаги.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СЦЕНАРИИ ПРИМЕНЕНИЯ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41212"/>
                </a:solidFill>
                <a:latin typeface="Arial"/>
              </a:rPr>
              <a:t>Мониторинг критического оборудования (Класс «А»): непрерывный контроль высокой точности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Arial"/>
              </a:rPr>
              <a:t>Стационарные взрывозащищённые комплексы RH2000 обеспечивают непрерывный посекундный сбор данных. Это бескомпромиссное решение для ключевых агрегатов предприятия, где риски внезапного останова недопустимы.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12848"/>
            <a:ext cx="6263640" cy="22860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1143000" y="2551176"/>
            <a:ext cx="594360" cy="804672"/>
          </a:xfrm>
          <a:prstGeom prst="line">
            <a:avLst/>
          </a:prstGeom>
          <a:ln w="13970">
            <a:solidFill>
              <a:srgbClr val="6E6A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143000" y="3087624"/>
            <a:ext cx="594360" cy="268224"/>
          </a:xfrm>
          <a:prstGeom prst="line">
            <a:avLst/>
          </a:prstGeom>
          <a:ln w="13970">
            <a:solidFill>
              <a:srgbClr val="6E6A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143000" y="3355848"/>
            <a:ext cx="594360" cy="268224"/>
          </a:xfrm>
          <a:prstGeom prst="line">
            <a:avLst/>
          </a:prstGeom>
          <a:ln w="13970">
            <a:solidFill>
              <a:srgbClr val="6E6A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1143000" y="3355848"/>
            <a:ext cx="594360" cy="804672"/>
          </a:xfrm>
          <a:prstGeom prst="line">
            <a:avLst/>
          </a:prstGeom>
          <a:ln w="13970">
            <a:solidFill>
              <a:srgbClr val="6E6A6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1078992" y="2487168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78992" y="3023616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78992" y="3560064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78992" y="4096512"/>
            <a:ext cx="128016" cy="128016"/>
          </a:xfrm>
          <a:prstGeom prst="ellipse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" y="426110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Arial"/>
              </a:rPr>
              <a:t>IEPE, обороты, частицы масла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962656"/>
            <a:ext cx="150876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Arial"/>
              </a:rPr>
              <a:t>RS485 / WiFi / 4-20mA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37360" y="3145536"/>
            <a:ext cx="1051560" cy="420624"/>
          </a:xfrm>
          <a:prstGeom prst="roundRect">
            <a:avLst>
              <a:gd name="adj" fmla="val 18000"/>
            </a:avLst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Arial"/>
              </a:rPr>
              <a:t>RH2000 / Exd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788920" y="3355848"/>
            <a:ext cx="2587752" cy="0"/>
          </a:xfrm>
          <a:prstGeom prst="line">
            <a:avLst/>
          </a:prstGeom>
          <a:ln w="13970">
            <a:solidFill>
              <a:srgbClr val="9340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376672" y="3145536"/>
            <a:ext cx="1051560" cy="420624"/>
          </a:xfrm>
          <a:prstGeom prst="roundRect">
            <a:avLst>
              <a:gd name="adj" fmla="val 18000"/>
            </a:avLst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SuperCare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02352" y="3584448"/>
            <a:ext cx="1600200" cy="16459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>
                <a:solidFill>
                  <a:srgbClr val="5A5757"/>
                </a:solidFill>
                <a:latin typeface="Arial"/>
              </a:rPr>
              <a:t>Система мониторинга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681728"/>
            <a:ext cx="3063240" cy="13716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a_fault_photo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5170216"/>
            <a:ext cx="2935224" cy="394624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3749040" y="4681728"/>
            <a:ext cx="3063240" cy="13716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86200" y="4818888"/>
            <a:ext cx="2788920" cy="109728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RH2000 / RH2000 Exd — взрывозащищённая станция сбора данных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086600" y="2212848"/>
            <a:ext cx="32004" cy="7772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32904" y="2212848"/>
            <a:ext cx="4379976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⛓ Комплексный многофакторный мониторинг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Полная совместимость с датчиками любого типа: IEPE-датчики вибрации, лазерные датчики оборотов, а также системы контроля металлических частиц в масле.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86600" y="3127248"/>
            <a:ext cx="32004" cy="7772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32904" y="3127248"/>
            <a:ext cx="4379976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⏱ Непрерывный сбор данных без пауз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Запись параметров каждую секунду (индикация тренда — 30 с, детальная форма волны — каждые 30 мин). Система не пропустит дефект даже при мгновенных скачках нагрузки.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86600" y="4041648"/>
            <a:ext cx="32004" cy="7772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32904" y="4041648"/>
            <a:ext cx="4379976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🧠 Диагностика экспертного уровня с помощью ИИ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Анализ данных по более чем 50 специальным индексам. Искусственный интеллект автоматически сопоставляет вибрацию, обороты и качество масла для выявления скрытых угроз.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86600" y="4956048"/>
            <a:ext cx="32004" cy="7772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32904" y="4956048"/>
            <a:ext cx="4379976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💥 Взрывозащищённое исполнение корпуса (Exd)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Станция поставляется в специальном бронированном корпусе RH2000. Система полностью сертифицирована для работы во взрывоопасных зонах шахт и обогатительных фабрик.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ДИАГНОСТИКА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41212"/>
                </a:solidFill>
                <a:latin typeface="Arial"/>
              </a:rPr>
              <a:t>Матрица диагностики: автоматический контроль и классификация неисправностей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64208"/>
            <a:ext cx="32004" cy="7772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664208"/>
            <a:ext cx="4974336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🔩 Дефекты привода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Дисбаланс, несоосность, ослабление, структурный резонанс, эксцентриситет ротора, изгиб вала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78608"/>
            <a:ext cx="32004" cy="7772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578608"/>
            <a:ext cx="4974336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⚙ Дефекты подшипников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Сколы, износ, раковины, ржавчина, трещины, деформация и поломка сепаратора, недостаток смазки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93008"/>
            <a:ext cx="32004" cy="7772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3493008"/>
            <a:ext cx="4974336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🔄 Неисправности редуктора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Недостаток смазки, плохое зацепление, износ и поломка зубьев, усталостное разрушение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407408"/>
            <a:ext cx="32004" cy="7772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4407408"/>
            <a:ext cx="4974336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🛢 Проблемы со смазкой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Загрязнение масла, химический износ, попадание посторонних предметов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664208"/>
            <a:ext cx="5623560" cy="36576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efect_photo_gri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3812" y="1728216"/>
            <a:ext cx="4334576" cy="352958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ПРОГРАММНОЕ ОБЕСПЕЧЕНИЕ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41212"/>
                </a:solidFill>
                <a:latin typeface="Arial"/>
              </a:rPr>
              <a:t>Программный комплекс SuperCare: экосистема предиктивного анализа верхнего уровня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Arial"/>
              </a:rPr>
              <a:t>Единая цифровая платформа для централизованного мониторинга, глубокой ИИ-диагностики неисправностей и оперативного управления надёжностью всего парка оборудования холдинга.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12848"/>
            <a:ext cx="5394960" cy="1874519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upercare_lef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0701" y="2276856"/>
            <a:ext cx="2910838" cy="174650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172200" y="2212848"/>
            <a:ext cx="5440680" cy="1874519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upercare_righ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2631" y="2276856"/>
            <a:ext cx="3279817" cy="17465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4224528"/>
            <a:ext cx="3614928" cy="81381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4224528"/>
            <a:ext cx="27432" cy="81381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4224528"/>
            <a:ext cx="3395472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💻 Доступ из любого браузера (B/S архитектура)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Система не требует установки программ на рабочие места. Доступ к панели мониторинга защищён и возможен с любого компьютера в локальной сети завода.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73296" y="4224528"/>
            <a:ext cx="3614928" cy="81381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73296" y="4224528"/>
            <a:ext cx="27432" cy="81381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92168" y="4224528"/>
            <a:ext cx="3395472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🔌 Бесшовная совместимость с АСУ ТП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Лёгкая интеграция с существующими на предприятии системами автоматизации (DCS, PLC, MES, SCADA). Данные аналитики встраиваются в цифровой контур фабрики.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7952" y="4224528"/>
            <a:ext cx="3614928" cy="81381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7952" y="4224528"/>
            <a:ext cx="27432" cy="81381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16824" y="4224528"/>
            <a:ext cx="3395472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🤖 Обработка больших данных (Big Data)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Высокопроизводительное ядро системы спроектировано под долгосрочное хранение и непрерывный анализ терабайтов исторической телеметрии.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148072"/>
            <a:ext cx="3614928" cy="81381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5148072"/>
            <a:ext cx="27432" cy="81381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" y="5148072"/>
            <a:ext cx="3395472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📊 Аналитика для руководства (версия Pro)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Автоматическая генерация глубоких статистических отчётов по состоянию оборудования для оценки эффективности работы ремонтных служб всего холдинга.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73296" y="5148072"/>
            <a:ext cx="3614928" cy="81381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3296" y="5148072"/>
            <a:ext cx="27432" cy="81381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92168" y="5148072"/>
            <a:ext cx="3395472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⚙ Индивидуальный интерфейс (кастомизация)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Быстрая и гибкая настройка макета страниц под регламенты вашего предприятия и требования корпоративного стиля.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97952" y="5148072"/>
            <a:ext cx="3614928" cy="81381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7952" y="5148072"/>
            <a:ext cx="27432" cy="81381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16824" y="5148072"/>
            <a:ext cx="3395472" cy="81381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🏢 Унифицированный контроль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Объединение разрозненных фабрик и удалённых карьеров в единую сквозную сеть мониторинга для головной компании.</a:t>
            </a:r>
          </a:p>
        </p:txBody>
      </p:sp>
      <p:pic>
        <p:nvPicPr>
          <p:cNvPr id="28" name="Picture 27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04120" y="6382512"/>
            <a:ext cx="491059" cy="2926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ПРОГРАММНОЕ ОБЕСПЕЧЕНИЕ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141212"/>
                </a:solidFill>
                <a:latin typeface="Arial"/>
              </a:rPr>
              <a:t>Профессиональный анализ и автоматическая ИИ-диагностика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09928"/>
            <a:ext cx="5394960" cy="15087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i_panel_lef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2617" y="1773936"/>
            <a:ext cx="2227006" cy="1380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172200" y="1709928"/>
            <a:ext cx="5440680" cy="15087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i_panel_righ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9037" y="1773936"/>
            <a:ext cx="2227006" cy="138074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3310128"/>
            <a:ext cx="5394960" cy="734568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3310128"/>
            <a:ext cx="27432" cy="734568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" y="3310128"/>
            <a:ext cx="5175504" cy="7345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30+ инструментов профессиональной диагностики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Удовлетворяют потребности инженеров в поиске всех видов неисправностей вращающегося оборудования.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154424"/>
            <a:ext cx="5394960" cy="734568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4154424"/>
            <a:ext cx="27432" cy="734568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4154424"/>
            <a:ext cx="5175504" cy="7345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🛠 Полный набор аналитических методов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Система включает спектральный анализ, анализ временных сигналов (форма волны), каскад спектров, орбиты валов и оценку трендов.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998720"/>
            <a:ext cx="5394960" cy="734568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998720"/>
            <a:ext cx="27432" cy="734568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" y="4998720"/>
            <a:ext cx="5175504" cy="734568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🎯 Быстрый поиск первопричин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Возможность одновременного сравнения данных с нескольких измерительных точек для точного выявления несоосности, дисбаланса или ослабления опор.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3310128"/>
            <a:ext cx="5440680" cy="717804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3310128"/>
            <a:ext cx="27432" cy="717804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91072" y="3310128"/>
            <a:ext cx="5221224" cy="7178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AI-диагностика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Алгоритм автоматически даёт выводы по диагностике неисправностей и рекомендации по обслуживанию.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72200" y="4137660"/>
            <a:ext cx="5440680" cy="717804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4137660"/>
            <a:ext cx="27432" cy="717804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91072" y="4137660"/>
            <a:ext cx="5221224" cy="7178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🤖 Умный ИИ-диагност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Алгоритм автоматически сопоставляет признаки, определяет конкретный тип неисправности и выдаёт готовое ремонтное предписание.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4965192"/>
            <a:ext cx="5440680" cy="717804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4965192"/>
            <a:ext cx="27432" cy="717804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91072" y="4965192"/>
            <a:ext cx="5221224" cy="7178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🚨 Разделение уровней тревоги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Цветовая индикация опасности (жёлтый / оранжевый / красный) по направлениям дефектов позволяет мгновенно локализовать узел, требующий внимания.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5792724"/>
            <a:ext cx="5440680" cy="717804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5792724"/>
            <a:ext cx="27432" cy="717804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91072" y="5792724"/>
            <a:ext cx="5221224" cy="717804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📉 Автоматический перехват аномалий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Система мгновенно вырезает и сохраняет фрагмент формы волны в момент скачка вибрации для последующего детального разбора.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ПРОГРАММНОЕ ОБЕСПЕЧЕНИЕ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212"/>
                </a:solidFill>
                <a:latin typeface="Arial"/>
              </a:rPr>
              <a:t>Мобильное приложение SuperCare: оперативный контроль предприятия 24/7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Arial"/>
              </a:rPr>
              <a:t>Полный доступ к предиктивной аналитике, статусу оборудования холдинга и системе аварийных оповещений прямо со смартфона руководства и сервисных служб.</a:t>
            </a:r>
          </a:p>
        </p:txBody>
      </p:sp>
      <p:sp>
        <p:nvSpPr>
          <p:cNvPr id="6" name="Rectangle 5"/>
          <p:cNvSpPr/>
          <p:nvPr/>
        </p:nvSpPr>
        <p:spPr>
          <a:xfrm>
            <a:off x="1645920" y="2258568"/>
            <a:ext cx="1118381" cy="24231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hone_lef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9928" y="2440168"/>
            <a:ext cx="990365" cy="205995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663440" y="2670048"/>
            <a:ext cx="2834640" cy="16002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754880" y="2743200"/>
            <a:ext cx="2651760" cy="14630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hone_chart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888" y="2919496"/>
            <a:ext cx="2523744" cy="111044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78240" y="2258568"/>
            <a:ext cx="1118381" cy="242316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hone_righ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2248" y="2430265"/>
            <a:ext cx="990365" cy="207976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548640" y="4864608"/>
            <a:ext cx="3614928" cy="16916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864608"/>
            <a:ext cx="27432" cy="16916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" y="4864608"/>
            <a:ext cx="3395472" cy="1691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🟢 Контроль статуса в режиме реального времени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Мгновенная проверка состояния любого агрегата (работает / остановлен / авария). Базовая техническая информация по узлам, типу оборудования и уровню важности всегда под рукой.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73296" y="4864608"/>
            <a:ext cx="3614928" cy="16916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73296" y="4864608"/>
            <a:ext cx="27432" cy="16916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92168" y="4864608"/>
            <a:ext cx="3395472" cy="1691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📈 Просмотр детальной статистики и трендов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Быстрый вывод исторических графиков вибрации и трендов волновых спектров на экране телефона. Возможность оперативно оценить динамику развития дефекта без доступа к ПК.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97952" y="4864608"/>
            <a:ext cx="3614928" cy="169164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97952" y="4864608"/>
            <a:ext cx="27432" cy="169164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6824" y="4864608"/>
            <a:ext cx="3395472" cy="16916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🚨 Управление тревогами и сквозной аудит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Удобный журнал обработки инцидентов. Диспетчер или главный инженер видит список необработанных аварийных сигналов с точным указанием цеха, типа неисправности и времени её фиксации.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ПРОГРАММНОЕ ОБЕСПЕЧЕНИЕ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41212"/>
                </a:solidFill>
                <a:latin typeface="Arial"/>
              </a:rPr>
              <a:t>Система EPM: наглядный мониторинг и экспресс-диагностика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Arial"/>
              </a:rPr>
              <a:t>Упрощённый интерфейс платформы, созданный специально для диспетчеров и руководителей цехов. Позволяет мгновенно оценить общую ситуацию с надёжностью оборудования без необходимости работы со сложными спектральными графиками.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12848"/>
            <a:ext cx="5852160" cy="23774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epm_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1416" y="2276856"/>
            <a:ext cx="4006607" cy="224942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0" y="2212848"/>
            <a:ext cx="32004" cy="612648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9984" y="2212848"/>
            <a:ext cx="4882896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📐 Наглядное 2.5D-моделирование агрегатов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Реализация интуитивно понятных трёхмерных моделей оборудования и точек измерения прямо на экране.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962656"/>
            <a:ext cx="32004" cy="612648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9984" y="2962656"/>
            <a:ext cx="4882896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📊 Сквозная статистика состояния парка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Цветовая кодировка рисков помогает управляющему персоналу за 3 секунды понять статус надёжности цеха.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3712464"/>
            <a:ext cx="32004" cy="612648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9984" y="3712464"/>
            <a:ext cx="4882896" cy="74980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💻 Доступ без установки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Программа полностью совместима с любыми современными браузерами и не требует развёртывания софта.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27448"/>
            <a:ext cx="5623560" cy="155448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pm_machine3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4489" y="4791456"/>
            <a:ext cx="1891862" cy="142646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2414489" y="5943600"/>
            <a:ext cx="1891862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Мониторинг состояния оборудования в реальном времени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4727448"/>
            <a:ext cx="5349240" cy="155448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epm_waveform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1492" y="4791456"/>
            <a:ext cx="1893536" cy="1426464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7991492" y="5943600"/>
            <a:ext cx="1893536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Профессиональные инструменты диагностики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СЕРВИСЫ ПОДДЕРЖКИ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41212"/>
                </a:solidFill>
                <a:latin typeface="Arial"/>
              </a:rPr>
              <a:t>Сервисная поддержка холдинга: экспертное сопровождение системы 24/7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Arial"/>
              </a:rPr>
              <a:t>Мы не просто поставляем оборудование и софт — наша инженерная служба обеспечивает полный цикл экспертной поддержки для достижения максимальной эффективности и окупаемости проекта.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12848"/>
            <a:ext cx="5394960" cy="16002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ervices_control_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280" y="2276856"/>
            <a:ext cx="2077679" cy="147218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207280" y="3474720"/>
            <a:ext cx="2077679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Круглосуточный мониторинг в реальном времени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2212848"/>
            <a:ext cx="5440680" cy="160020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ervices_campu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0190" y="2276856"/>
            <a:ext cx="2044700" cy="147218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7870190" y="3474720"/>
            <a:ext cx="2044700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Синхронизация данных в облачном диагностическом центре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950208"/>
            <a:ext cx="3614928" cy="111099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3950208"/>
            <a:ext cx="27432" cy="111099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3950208"/>
            <a:ext cx="3395472" cy="11109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📡 Круглосуточный мониторинг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Экспертный контроль состояния ваших агрегатов в режиме 24/7/365. Мгновенная реакция удалённого диагностического центра на любые аварийные сигналы системы.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73296" y="3950208"/>
            <a:ext cx="3614928" cy="111099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73296" y="3950208"/>
            <a:ext cx="27432" cy="111099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92168" y="3950208"/>
            <a:ext cx="3395472" cy="11109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☁ Синхронизация данных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Непрерывное резервное копирование и синхронизация телеметрии в защищённом облачном диагностическом центре для исключения потери истории дефектов.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97952" y="3950208"/>
            <a:ext cx="3614928" cy="111099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97952" y="3950208"/>
            <a:ext cx="27432" cy="111099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16824" y="3950208"/>
            <a:ext cx="3395472" cy="11109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🧠 Экспертный консалтинг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Постоянный доступ вашей технической службы к ведущим инженерам-диагностам для решения сложных и нестандартных инцидентов на фабрике.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170932"/>
            <a:ext cx="3614928" cy="111099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5170932"/>
            <a:ext cx="27432" cy="111099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2" y="5170932"/>
            <a:ext cx="3395472" cy="11109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📝 Ежемесячный аудит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Предоставление детального отчёта о состоянии всего парка оборудования с анализом трендов развития дефектов и рекомендациями для планирования бюджетов ТОиР.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73296" y="5170932"/>
            <a:ext cx="3614928" cy="111099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73296" y="5170932"/>
            <a:ext cx="27432" cy="111099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92168" y="5170932"/>
            <a:ext cx="3395472" cy="11109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🛠 Оценка после техобслуживания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Экспертный контроль качества выполненных ремонтов на месте. Проверка геометрии узлов, качества балансировки и центровки агрегатов после запуска.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997952" y="5170932"/>
            <a:ext cx="3614928" cy="1110996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997952" y="5170932"/>
            <a:ext cx="27432" cy="1110996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6824" y="5170932"/>
            <a:ext cx="3395472" cy="1110996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41212"/>
                </a:solidFill>
                <a:latin typeface="Arial"/>
              </a:rPr>
              <a:t>👥 Постоянное обучение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5A5757"/>
                </a:solidFill>
                <a:latin typeface="Arial"/>
              </a:rPr>
              <a:t>Регулярное повышение квалификации сотрудников вашей ИТ- и ремонтной службы для эффективной самостоятельной работы с платформой.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СЕРВИСЫ ПОДДЕРЖКИ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49808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141212"/>
                </a:solidFill>
                <a:latin typeface="Arial"/>
              </a:rPr>
              <a:t>Центр обучения персонала и авторизация экосистемы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61288"/>
            <a:ext cx="105156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Arial"/>
              </a:rPr>
              <a:t>Мы помогаем заказчикам выстроить собственную независимую экосистему ТОиР на базе искусственного интеллекта и сертифицируем специалистов по высшим отраслевым стандартам.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92808"/>
            <a:ext cx="32004" cy="91440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892808"/>
            <a:ext cx="5248656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🤖 Передача ИИ-компетенций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Мы помогаем клиентам развернуть и настроить собственную внутреннюю систему O&amp;M (эксплуатации и обслуживания), обучая встроенные ИИ-алгоритмы под задачи предприятия.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944368"/>
            <a:ext cx="32004" cy="91440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2944368"/>
            <a:ext cx="5248656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🛡 Сертифицированная платформа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Внедрение решений на базе международной GL-сертифицированной платформы технического обслуживания, что гарантирует соответствие самым строгим промышленным аудитам.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995928"/>
            <a:ext cx="32004" cy="914400"/>
          </a:xfrm>
          <a:prstGeom prst="rect">
            <a:avLst/>
          </a:prstGeom>
          <a:solidFill>
            <a:srgbClr val="934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3995928"/>
            <a:ext cx="5248656" cy="10515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>
                <a:solidFill>
                  <a:srgbClr val="93402B"/>
                </a:solidFill>
                <a:latin typeface="Arial"/>
              </a:rPr>
              <a:t>📈 Сопровождение цифровой трансформации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A5757"/>
                </a:solidFill>
                <a:latin typeface="Arial"/>
              </a:rPr>
              <a:t>Полное управление рисками при переходе от устаревшего планового ремонта к интеллектуальному обслуживанию оборудования по его фактическому состоянию.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892808"/>
            <a:ext cx="5440680" cy="16916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raining_classroo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666" y="1956816"/>
            <a:ext cx="2233748" cy="156362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775666" y="3246120"/>
            <a:ext cx="2233748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Обучение инженеров вибродиагностике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3721608"/>
            <a:ext cx="5440680" cy="1691640"/>
          </a:xfrm>
          <a:prstGeom prst="rect">
            <a:avLst/>
          </a:prstGeom>
          <a:solidFill>
            <a:srgbClr val="E7E9EA"/>
          </a:solidFill>
          <a:ln>
            <a:noFill/>
          </a:ln>
          <a:effectLst>
            <a:outerShdw blurRad="90000" dist="26000" dir="5400000" rotWithShape="0">
              <a:srgbClr val="1A1815">
                <a:alpha val="2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raining_serverr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1694" y="3785616"/>
            <a:ext cx="2161692" cy="1563624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811694" y="5074920"/>
            <a:ext cx="2161692" cy="274320"/>
          </a:xfrm>
          <a:prstGeom prst="rect">
            <a:avLst/>
          </a:prstGeom>
          <a:solidFill>
            <a:srgbClr val="14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0" bIns="0" wrap="square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Arial"/>
              </a:rPr>
              <a:t>Инфраструктура диагностического центра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1EF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67528" cy="6858000"/>
          </a:xfrm>
          <a:prstGeom prst="rect">
            <a:avLst/>
          </a:prstGeom>
          <a:solidFill>
            <a:srgbClr val="383D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697480"/>
            <a:ext cx="1304378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703320"/>
            <a:ext cx="402336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Arial"/>
              </a:rPr>
              <a:t>ООО «Алгоритм»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5196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C9C4C4"/>
                </a:solidFill>
                <a:latin typeface="Arial"/>
              </a:rPr>
              <a:t>Комплексные решения для предиктивного обслуживания оборудования.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1005840"/>
            <a:ext cx="5577840" cy="1371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141212"/>
                </a:solidFill>
                <a:latin typeface="Arial"/>
              </a:rPr>
              <a:t>Сделайте первый шаг к оптимизации ТОиР вашего предприятия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89320" y="1691640"/>
            <a:ext cx="539496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A5757"/>
                </a:solidFill>
                <a:latin typeface="Arial"/>
              </a:rPr>
              <a:t>Свяжитесь с нами, чтобы согласовать проведение бесплатного экспресс-аудита критического оборудования холдинга.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89320" y="26060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📞 ТЕЛЕФОН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2880360"/>
            <a:ext cx="5486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1212"/>
                </a:solidFill>
                <a:latin typeface="Arial"/>
              </a:rPr>
              <a:t>+7 (988) 492-81-03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331927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Arial"/>
              </a:rPr>
              <a:t>Прямая линия с инженерно-сервисным центром.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3502152"/>
            <a:ext cx="5486400" cy="9525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36118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✉ E-MAIL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89320" y="3886200"/>
            <a:ext cx="5486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1212"/>
                </a:solidFill>
                <a:latin typeface="Arial"/>
              </a:rPr>
              <a:t>info@algoritmkrsk.ru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432511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Arial"/>
              </a:rPr>
              <a:t>Для направления технических заданий и опросных листов.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989320" y="4507992"/>
            <a:ext cx="5486400" cy="9525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89320" y="46177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🌐 САЙТ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4892040"/>
            <a:ext cx="5486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41212"/>
                </a:solidFill>
                <a:latin typeface="Arial"/>
              </a:rPr>
              <a:t>algoritmkrsk.ru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89320" y="5285232"/>
            <a:ext cx="5486400" cy="9525"/>
          </a:xfrm>
          <a:prstGeom prst="rect">
            <a:avLst/>
          </a:prstGeom>
          <a:solidFill>
            <a:srgbClr val="D8D4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9320" y="5394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93402B"/>
                </a:solidFill>
                <a:latin typeface="Arial"/>
              </a:rPr>
              <a:t>📍 АДРЕС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9320" y="5669280"/>
            <a:ext cx="5486400" cy="50292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41212"/>
                </a:solidFill>
                <a:latin typeface="Arial"/>
              </a:rPr>
              <a:t>660075, Красноярский край, г. Красноярск, ул. Маерчака, д. 8, офис 318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6108192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5757"/>
                </a:solidFill>
                <a:latin typeface="Arial"/>
              </a:rPr>
              <a:t>Собственная база поддержки и склад оборудования в СФО.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355080"/>
            <a:ext cx="1005840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5A5757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