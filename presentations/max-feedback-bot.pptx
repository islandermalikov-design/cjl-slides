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Средняя оценка</c:v>
                </c:pt>
              </c:strCache>
            </c:strRef>
          </c:tx>
          <c:spPr>
            <a:solidFill>
              <a:srgbClr val="FF6A1A"/>
            </a:solidFill>
            <a:ln w="31750" cap="flat">
              <a:solidFill>
                <a:srgbClr val="FF6A1A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B635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A1A"/>
              </a:solidFill>
              <a:ln w="9525" cap="flat">
                <a:solidFill>
                  <a:srgbClr val="FF6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Пн</c:v>
                  </c:pt>
                  <c:pt idx="1">
                    <c:v>Вт</c:v>
                  </c:pt>
                  <c:pt idx="2">
                    <c:v>Ср</c:v>
                  </c:pt>
                  <c:pt idx="3">
                    <c:v>Чт</c:v>
                  </c:pt>
                  <c:pt idx="4">
                    <c:v>Пт</c:v>
                  </c:pt>
                  <c:pt idx="5">
                    <c:v>Сб</c:v>
                  </c:pt>
                  <c:pt idx="6">
                    <c:v>Вс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4.5</c:v>
                </c:pt>
                <c:pt idx="1">
                  <c:v>4.6</c:v>
                </c:pt>
                <c:pt idx="2">
                  <c:v>4.4</c:v>
                </c:pt>
                <c:pt idx="3">
                  <c:v>4.7</c:v>
                </c:pt>
                <c:pt idx="4">
                  <c:v>4.3</c:v>
                </c:pt>
                <c:pt idx="5">
                  <c:v>4.6</c:v>
                </c:pt>
                <c:pt idx="6">
                  <c:v>4.8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700" u="none">
                  <a:solidFill>
                    <a:srgbClr val="6B635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3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4"/>
        </c:scaling>
        <c:delete val="0"/>
        <c:axPos val="l"/>
        <c:majorGridlines>
          <c:spPr>
            <a:ln w="9525" cap="flat">
              <a:solidFill>
                <a:srgbClr val="EDE6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3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Оценка</c:v>
                </c:pt>
              </c:strCache>
            </c:strRef>
          </c:tx>
          <c:spPr>
            <a:solidFill>
              <a:srgbClr val="FF6A1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2623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Центр</c:v>
                  </c:pt>
                  <c:pt idx="1">
                    <c:v>Север</c:v>
                  </c:pt>
                  <c:pt idx="2">
                    <c:v>Запад</c:v>
                  </c:pt>
                  <c:pt idx="3">
                    <c:v>Юг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4.7</c:v>
                </c:pt>
                <c:pt idx="1">
                  <c:v>4.6</c:v>
                </c:pt>
                <c:pt idx="2">
                  <c:v>4.4</c:v>
                </c:pt>
                <c:pt idx="3">
                  <c:v>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800" u="none">
                  <a:solidFill>
                    <a:srgbClr val="2623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3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spPr>
            <a:solidFill>
              <a:srgbClr val="FF6A1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2623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Время</c:v>
                  </c:pt>
                  <c:pt idx="1">
                    <c:v>Еда</c:v>
                  </c:pt>
                  <c:pt idx="2">
                    <c:v>Комплектация</c:v>
                  </c:pt>
                  <c:pt idx="3">
                    <c:v>Курьер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0.27</c:v>
                </c:pt>
                <c:pt idx="2">
                  <c:v>0.19</c:v>
                </c:pt>
                <c:pt idx="3">
                  <c:v>0.13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800" u="none">
                  <a:solidFill>
                    <a:srgbClr val="2623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3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Сегодня я предлагаю проект, который поможет нам узнавать мнение каждого клиента о заказе без ручной работы операторов. Речь о чат-боте в мессенджере MAX, который сам собирает оценки и сразу сигнализирует о проблемах.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Довольные клиенты почти никогда не пишут отзывы сами, а недовольные чаще идут не к нам, а в соцсети и на карты. В итоге о проблеме мы узнаём через несколько дней, когда рейтинг уже просел, а клиент ушёл. У нас нет системного канала, который ловит недовольство раньше, чем оно становится публичным.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простое: на следующий день после доставки бот сам пишет клиенту в MAX и просит оценить заказ. Клиенту не нужно ничего искать или печатать — достаточно нажать одну кнопку со звёздами. Пауза в один день выбрана специально: впечатление ещё свежее, но сообщение не мешает самому заказу.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 — национальный мессенджер, и его аудитория быстро растёт, в том числе среди наших клиентов. Писать можно по номеру телефона, который у нас уже есть в базе заказов, а сообщение обходится дешевле SMS. Главное отличие от SMS — кнопки и картинки: клиент ставит оценку одним нажатием, а не отвечает текстом.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утро система забирает из CRM вчерашние доставленные заказы и убирает тех, кто отказался от сообщений или уже получал опрос недавно. Остальным бот отправляет сообщение с кнопками оценки, а дальше сценарий расходится: довольных благодарим и приглашаем оставить отзыв на картах, недовольных расспрашиваем о причине. Все ответы возвращаются в CRM и попадают на дашборд.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выглядит диалог глазами клиента: бот обращается по имени и называет номер заказа, поэтому сообщение не похоже на спам. При оценке 5 бот благодарит и предлагает оставить отзыв на картах. При оценке 2 он уточняет причину кнопками и обещает связь с менеджером. Название бота и тексты здесь условные, их доработаем с маркетингом.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Самое ценное в проекте — работа с негативом. Если клиент ставит от 1 до 3 звёзд, бот уточняет причину, а менеджер филиала сразу получает уведомление с номером заказа и ответом. Дальше мы звоним клиенту или предлагаем компенсацию, пока он ещё не написал отзыв на картах.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 канал уже подключён, его можно использовать шире, чем для опросов. Бот может сообщать статус заказа, напоминать о бонусах и рассказывать об акциях. Рекламные сообщения отправляем только тем, кто дал на это отдельное согласие, чтобы не превратить канал в спам.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оценки собираются в дашборд, где видно среднюю оценку по дням, филиалам и курьерам, долю негатива и главные причины недовольства. Цифры на слайде демонстрационные, они показывают формат отчёта. На таком дашборде сразу видно, например, что в пятницу просели оценки, а основная претензия — время доставки.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ожидаем четыре эффекта: больше отзывов, быструю реакцию на негатив, удержание недовольных клиентов и рост рейтинга на картах. Цифры с пунктиром пока условные: реальные цели мы зафиксируем после пилота на одном филиале, когда увидим фактический отклик. Главная метрика для решения — время от плохой оценки до звонка клиенту.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запуска нужны четыре вещи: бизнес-аккаунт в MAX, интеграция с нашей CRM и корректно оформленное согласие клиентов на сообщения по 152-ФЗ. Четвёртый пункт, SMS, нужен как резерв для клиентов, у которых нет MAX. Справа указано, какой отдел отвечает за каждый пункт.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Внедрение займёт около двух месяцев до запуска на всю сеть: две недели на подготовку, две на настройку, месяц на пилот в одном филиале. Пилот нужен, чтобы проверить тексты, отклик и нагрузку на менеджеров до масштабирования. От вас сегодня нам нужно три решения: утвердить проект, выбрать пилотный филиал и дать старт заявке на бизнес-аккаунт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· ОБРАТНАЯ СВЯЗЬ ПО ЗАКАЗАМ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 в </a:t>
            </a:r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pPr indent="0" marL="0">
              <a:lnSpc>
                <a:spcPct val="95000"/>
              </a:lnSpc>
              <a:buNone/>
            </a:pP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оценки заказов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Слышим каждого клиента — автоматически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руководства компании  · 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1097280"/>
            <a:ext cx="31089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7A28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6692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Анна, как вам вчерашний заказ?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645920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FF1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0" y="164592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7064" y="1645920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FF1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27064" y="164592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84848" y="1645920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FF1E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84848" y="164592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42632" y="1645920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FF1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42632" y="164592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00416" y="1645920"/>
            <a:ext cx="493776" cy="347472"/>
          </a:xfrm>
          <a:prstGeom prst="roundRect">
            <a:avLst>
              <a:gd name="adj" fmla="val 21053"/>
            </a:avLst>
          </a:prstGeom>
          <a:solidFill>
            <a:srgbClr val="FF6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0416" y="1645920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331720"/>
            <a:ext cx="2606040" cy="475488"/>
          </a:xfrm>
          <a:prstGeom prst="roundRect">
            <a:avLst>
              <a:gd name="adj" fmla="val 34615"/>
            </a:avLst>
          </a:prstGeom>
          <a:solidFill>
            <a:srgbClr val="262321"/>
          </a:solidFill>
          <a:ln/>
          <a:effectLst>
            <a:outerShdw sx="100000" sy="100000" kx="0" ky="0" algn="bl" rotWithShape="0" blurRad="152400" dist="50800" dir="5400000">
              <a:srgbClr val="7A280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126480" y="2331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 Всё горячее, спасибо!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узнаём о проблемах последними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3017520" cy="1325880"/>
          </a:xfrm>
          <a:prstGeom prst="roundRect">
            <a:avLst>
              <a:gd name="adj" fmla="val 10345"/>
            </a:avLst>
          </a:prstGeom>
          <a:solidFill>
            <a:srgbClr val="3330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383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 НА КАРТАХ · ЧЕРЕЗ 3 ДНЯ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93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pPr indent="0" marL="0">
              <a:buNone/>
            </a:pPr>
            <a:r>
              <a:rPr lang="en-US" sz="2000" dirty="0">
                <a:solidFill>
                  <a:srgbClr val="5A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05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«Привезли холодное, курьер опоздал на 40 минут»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07492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 молчат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1408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 сами оставляют единицы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920240"/>
            <a:ext cx="4297680" cy="0"/>
          </a:xfrm>
          <a:prstGeom prst="line">
            <a:avLst/>
          </a:prstGeom>
          <a:noFill/>
          <a:ln w="9525">
            <a:solidFill>
              <a:srgbClr val="3E3A3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2121408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2585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74920" y="2139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 уходит наружу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074920" y="2432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Соцсети и карты вместо нас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297680" y="2944368"/>
            <a:ext cx="4297680" cy="0"/>
          </a:xfrm>
          <a:prstGeom prst="line">
            <a:avLst/>
          </a:prstGeom>
          <a:noFill/>
          <a:ln w="9525">
            <a:solidFill>
              <a:srgbClr val="3E3A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97680" y="3145536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28269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74920" y="3163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Реагируем поздно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507492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уже ушёл к конкуренту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D7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Д+1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пишет клиенту на следующий день после заказа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0515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спрашиваем первыми, клиенту остаётся нажать кнопку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206240" y="2880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1E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5112" y="2999232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06240" y="3520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получил заказ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01752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06440" y="2880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1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999232"/>
            <a:ext cx="265176" cy="265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06440" y="3520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5806440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в MAX пишет сам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017520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06640" y="2880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1E7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2999232"/>
            <a:ext cx="265176" cy="26517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06640" y="3520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КАСАНИЕ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7406640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от 1 до 5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60120" cy="960120"/>
          </a:xfrm>
          <a:prstGeom prst="roundRect">
            <a:avLst>
              <a:gd name="adj" fmla="val 23810"/>
            </a:avLst>
          </a:prstGeom>
          <a:solidFill>
            <a:srgbClr val="2623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именно MAX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0"/>
            <a:ext cx="2734056" cy="2560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023360" y="1097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Национальный мессенджер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 быстро растёт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9944" y="0"/>
            <a:ext cx="2734056" cy="2560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5486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75704" y="1097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номеру телефона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775704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Пишем по номерам из нашей базы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0" y="2583180"/>
            <a:ext cx="2734056" cy="2560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1318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023360" y="36804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Дешевле SMS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023360" y="43205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стоит меньше, чем SMS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9944" y="2583180"/>
            <a:ext cx="2734056" cy="2560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313182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75704" y="36804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 и картинки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775704" y="43205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в одно касание, фото блюд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РАБОТАЕТ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шагов, без ручной работы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Запускается автоматически каждое утро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7824" y="2478024"/>
            <a:ext cx="6583680" cy="0"/>
          </a:xfrm>
          <a:prstGeom prst="line">
            <a:avLst/>
          </a:prstGeom>
          <a:noFill/>
          <a:ln w="31750">
            <a:solidFill>
              <a:srgbClr val="FFD2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6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322576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4128" y="2093976"/>
            <a:ext cx="256032" cy="256032"/>
          </a:xfrm>
          <a:prstGeom prst="ellipse">
            <a:avLst/>
          </a:prstGeom>
          <a:solidFill>
            <a:srgbClr val="26232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2412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из CRM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4472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Вчерашние доставленные заказы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94560" y="21488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6A1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96" y="2322576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670048" y="2093976"/>
            <a:ext cx="256032" cy="256032"/>
          </a:xfrm>
          <a:prstGeom prst="ellipse">
            <a:avLst/>
          </a:prstGeom>
          <a:solidFill>
            <a:srgbClr val="26232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67004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1945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194560" y="34472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отказов от рассылок и повторов за неделю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840480" y="2148840"/>
            <a:ext cx="658368" cy="658368"/>
          </a:xfrm>
          <a:prstGeom prst="ellipse">
            <a:avLst/>
          </a:prstGeom>
          <a:solidFill>
            <a:srgbClr val="FF6A1A"/>
          </a:solidFill>
          <a:ln w="28575">
            <a:solidFill>
              <a:srgbClr val="FF6A1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6" y="2322576"/>
            <a:ext cx="310896" cy="31089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315968" y="2093976"/>
            <a:ext cx="256032" cy="256032"/>
          </a:xfrm>
          <a:prstGeom prst="ellipse">
            <a:avLst/>
          </a:prstGeom>
          <a:solidFill>
            <a:srgbClr val="26232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31596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384048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Сообщение в MAX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840480" y="34472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 ★1–5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0" y="21488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6A1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136" y="2322576"/>
            <a:ext cx="310896" cy="31089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961888" y="2093976"/>
            <a:ext cx="256032" cy="256032"/>
          </a:xfrm>
          <a:prstGeom prst="ellipse">
            <a:avLst/>
          </a:prstGeom>
          <a:solidFill>
            <a:srgbClr val="26232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96188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Развилка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132320" y="21488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6A1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2322576"/>
            <a:ext cx="310896" cy="31089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607808" y="2093976"/>
            <a:ext cx="256032" cy="256032"/>
          </a:xfrm>
          <a:prstGeom prst="ellipse">
            <a:avLst/>
          </a:prstGeom>
          <a:solidFill>
            <a:srgbClr val="262321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760780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713232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и дашборд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7132320" y="34472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в карточке клиента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0" y="3447288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E6F4EC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5559552" y="34472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 → «спасибо» и ссылка на карты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5486400" y="395935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CE7E4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5559552" y="3959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2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→ уточнить причину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ДИАЛОГА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Коротко, по имени, с номером заказа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2F9A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Благодарим и зовём на карты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D93B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Спрашиваем, что пошло не так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11" name="Shape 9"/>
          <p:cNvSpPr/>
          <p:nvPr/>
        </p:nvSpPr>
        <p:spPr>
          <a:xfrm>
            <a:off x="3977640" y="274320"/>
            <a:ext cx="2331720" cy="5120640"/>
          </a:xfrm>
          <a:prstGeom prst="roundRect">
            <a:avLst>
              <a:gd name="adj" fmla="val 11765"/>
            </a:avLst>
          </a:prstGeom>
          <a:solidFill>
            <a:srgbClr val="262321"/>
          </a:solidFill>
          <a:ln/>
          <a:effectLst>
            <a:outerShdw sx="100000" sy="100000" kx="0" ky="0" algn="bl" rotWithShape="0" blurRad="177800" dist="63500" dir="5400000">
              <a:srgbClr val="5019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59936" y="356616"/>
            <a:ext cx="2167128" cy="5029200"/>
          </a:xfrm>
          <a:prstGeom prst="roundRect">
            <a:avLst>
              <a:gd name="adj" fmla="val 10127"/>
            </a:avLst>
          </a:prstGeom>
          <a:solidFill>
            <a:srgbClr val="F6F2EE"/>
          </a:solidFill>
          <a:ln/>
        </p:spPr>
      </p:sp>
      <p:sp>
        <p:nvSpPr>
          <p:cNvPr id="13" name="Shape 11"/>
          <p:cNvSpPr/>
          <p:nvPr/>
        </p:nvSpPr>
        <p:spPr>
          <a:xfrm>
            <a:off x="4059936" y="594360"/>
            <a:ext cx="2167128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59936" y="356616"/>
            <a:ext cx="2167128" cy="4572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178808" y="457200"/>
            <a:ext cx="329184" cy="329184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78808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457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Еда рядом · бот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64008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F9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сети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60520" y="1143000"/>
            <a:ext cx="1808683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51960" y="1143000"/>
            <a:ext cx="16258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Здравствуйте, Анна! Вчера мы привезли ваш заказ </a:t>
            </a:r>
            <a:pPr algn="l" indent="0" marL="0">
              <a:buNone/>
            </a:pPr>
            <a:r>
              <a:rPr lang="en-US" sz="85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№48213</a:t>
            </a:r>
            <a:pPr algn="l" indent="0" marL="0">
              <a:buNone/>
            </a:pPr>
            <a:r>
              <a:rPr lang="en-US" sz="85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Оцените его, пожалуйста: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0520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0520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61027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61027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61534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61534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62042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62042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2549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6A1A"/>
          </a:solidFill>
          <a:ln w="9525">
            <a:solidFill>
              <a:srgbClr val="FF6A1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62549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40680" y="2221992"/>
            <a:ext cx="685800" cy="274320"/>
          </a:xfrm>
          <a:prstGeom prst="roundRect">
            <a:avLst>
              <a:gd name="adj" fmla="val 33333"/>
            </a:avLst>
          </a:prstGeom>
          <a:solidFill>
            <a:srgbClr val="FF6A1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532120" y="2221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60520" y="2587752"/>
            <a:ext cx="1808683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51960" y="2587752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Спасибо, Анна! Рады, что всё понравилось. Поделитесь впечатлением на картах?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60520" y="3246120"/>
            <a:ext cx="1965960" cy="274320"/>
          </a:xfrm>
          <a:prstGeom prst="roundRect">
            <a:avLst>
              <a:gd name="adj" fmla="val 20000"/>
            </a:avLst>
          </a:prstGeom>
          <a:solidFill>
            <a:srgbClr val="26232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160520" y="3246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Оставить отзыв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537960" y="274320"/>
            <a:ext cx="2331720" cy="5120640"/>
          </a:xfrm>
          <a:prstGeom prst="roundRect">
            <a:avLst>
              <a:gd name="adj" fmla="val 11765"/>
            </a:avLst>
          </a:prstGeom>
          <a:solidFill>
            <a:srgbClr val="262321"/>
          </a:solidFill>
          <a:ln/>
          <a:effectLst>
            <a:outerShdw sx="100000" sy="100000" kx="0" ky="0" algn="bl" rotWithShape="0" blurRad="177800" dist="63500" dir="5400000">
              <a:srgbClr val="5019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20256" y="356616"/>
            <a:ext cx="2167128" cy="5029200"/>
          </a:xfrm>
          <a:prstGeom prst="roundRect">
            <a:avLst>
              <a:gd name="adj" fmla="val 10127"/>
            </a:avLst>
          </a:prstGeom>
          <a:solidFill>
            <a:srgbClr val="F6F2EE"/>
          </a:solidFill>
          <a:ln/>
        </p:spPr>
      </p:sp>
      <p:sp>
        <p:nvSpPr>
          <p:cNvPr id="39" name="Shape 37"/>
          <p:cNvSpPr/>
          <p:nvPr/>
        </p:nvSpPr>
        <p:spPr>
          <a:xfrm>
            <a:off x="6620256" y="594360"/>
            <a:ext cx="2167128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620256" y="356616"/>
            <a:ext cx="2167128" cy="4572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739128" y="457200"/>
            <a:ext cx="329184" cy="329184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39128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141464" y="457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Еда рядом · бот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141464" y="64008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F9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сети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20840" y="1143000"/>
            <a:ext cx="1808683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12280" y="1143000"/>
            <a:ext cx="16258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Здравствуйте, Олег! Вчера мы привезли ваш заказ </a:t>
            </a:r>
            <a:pPr algn="l" indent="0" marL="0">
              <a:buNone/>
            </a:pPr>
            <a:r>
              <a:rPr lang="en-US" sz="85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№48377</a:t>
            </a:r>
            <a:pPr algn="l" indent="0" marL="0">
              <a:buNone/>
            </a:pPr>
            <a:r>
              <a:rPr lang="en-US" sz="85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Оцените его, пожалуйста: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20840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20840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121347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6A1A"/>
          </a:solidFill>
          <a:ln w="9525">
            <a:solidFill>
              <a:srgbClr val="FF6A1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121347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2★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521854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521854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922362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22362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322869" y="1892808"/>
            <a:ext cx="363931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322869" y="1892808"/>
            <a:ext cx="363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001000" y="2221992"/>
            <a:ext cx="685800" cy="274320"/>
          </a:xfrm>
          <a:prstGeom prst="roundRect">
            <a:avLst>
              <a:gd name="adj" fmla="val 33333"/>
            </a:avLst>
          </a:prstGeom>
          <a:solidFill>
            <a:srgbClr val="FF6A1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092440" y="2221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720840" y="2587752"/>
            <a:ext cx="1808683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812280" y="2587752"/>
            <a:ext cx="1625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Жаль, что так вышло. Что пошло не так?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720840" y="3063240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720840" y="306324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726680" y="3063240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726680" y="306324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720840" y="3346704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720840" y="33467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Курьер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726680" y="3346704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D2B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726680" y="33467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Комплектация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720840" y="3721608"/>
            <a:ext cx="1808683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6812280" y="3721608"/>
            <a:ext cx="16258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 Менеджер свяжется с вами сегодня.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НЕГАТИВОМ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</a:t>
            </a:r>
            <a:pPr indent="0" marL="0">
              <a:buNone/>
            </a:pPr>
            <a:r>
              <a:rPr lang="en-US" sz="44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плохая оценка сразу попадает к менеджеру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931920" y="822960"/>
            <a:ext cx="4663440" cy="1325880"/>
          </a:xfrm>
          <a:prstGeom prst="roundRect">
            <a:avLst>
              <a:gd name="adj" fmla="val 10345"/>
            </a:avLst>
          </a:prstGeom>
          <a:solidFill>
            <a:srgbClr val="33302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987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A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7096" y="10698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663440" y="987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УТОЧНЯЕТ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152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пошло не так?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0" y="1554480"/>
            <a:ext cx="731520" cy="384048"/>
          </a:xfrm>
          <a:prstGeom prst="roundRect">
            <a:avLst>
              <a:gd name="adj" fmla="val 19048"/>
            </a:avLst>
          </a:prstGeom>
          <a:solidFill>
            <a:srgbClr val="423E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3677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15544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Еда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19472" y="155448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423E3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63677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85232" y="1554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861304" y="15544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423E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163677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27064" y="1554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Курьер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848856" y="15544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423E3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1636776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14616" y="1554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Комплектация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3931920" y="2286000"/>
            <a:ext cx="4663440" cy="731520"/>
          </a:xfrm>
          <a:prstGeom prst="roundRect">
            <a:avLst>
              <a:gd name="adj" fmla="val 18750"/>
            </a:avLst>
          </a:prstGeom>
          <a:solidFill>
            <a:srgbClr val="FF6A1A"/>
          </a:solidFill>
          <a:ln/>
        </p:spPr>
      </p:sp>
      <p:sp>
        <p:nvSpPr>
          <p:cNvPr id="23" name="Shape 16"/>
          <p:cNvSpPr/>
          <p:nvPr/>
        </p:nvSpPr>
        <p:spPr>
          <a:xfrm>
            <a:off x="4114800" y="24597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096" y="254203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663440" y="2432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E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МГНОВЕННО</a:t>
            </a:r>
            <a:endParaRPr lang="en-US" sz="800" dirty="0"/>
          </a:p>
        </p:txBody>
      </p:sp>
      <p:sp>
        <p:nvSpPr>
          <p:cNvPr id="26" name="Text 18"/>
          <p:cNvSpPr txBox="1"/>
          <p:nvPr/>
        </p:nvSpPr>
        <p:spPr>
          <a:xfrm>
            <a:off x="4663440" y="2596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Уведомление менеджеру филиала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3931920" y="3154680"/>
            <a:ext cx="2263140" cy="868680"/>
          </a:xfrm>
          <a:prstGeom prst="roundRect">
            <a:avLst>
              <a:gd name="adj" fmla="val 15789"/>
            </a:avLst>
          </a:prstGeom>
          <a:solidFill>
            <a:srgbClr val="33302D"/>
          </a:solidFill>
          <a:ln/>
        </p:spPr>
      </p:sp>
      <p:sp>
        <p:nvSpPr>
          <p:cNvPr id="28" name="Shape 20"/>
          <p:cNvSpPr/>
          <p:nvPr/>
        </p:nvSpPr>
        <p:spPr>
          <a:xfrm>
            <a:off x="4114800" y="33924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A1A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7096" y="3474720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663440" y="33649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ТОТ ЖЕ ДЕНЬ</a:t>
            </a:r>
            <a:endParaRPr lang="en-US" sz="800" dirty="0"/>
          </a:p>
        </p:txBody>
      </p:sp>
      <p:sp>
        <p:nvSpPr>
          <p:cNvPr id="31" name="Text 22"/>
          <p:cNvSpPr txBox="1"/>
          <p:nvPr/>
        </p:nvSpPr>
        <p:spPr>
          <a:xfrm>
            <a:off x="4663440" y="3529584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 клиенту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332220" y="3154680"/>
            <a:ext cx="2263140" cy="868680"/>
          </a:xfrm>
          <a:prstGeom prst="roundRect">
            <a:avLst>
              <a:gd name="adj" fmla="val 15789"/>
            </a:avLst>
          </a:prstGeom>
          <a:solidFill>
            <a:srgbClr val="33302D"/>
          </a:solidFill>
          <a:ln/>
        </p:spPr>
      </p:sp>
      <p:sp>
        <p:nvSpPr>
          <p:cNvPr id="33" name="Shape 24"/>
          <p:cNvSpPr/>
          <p:nvPr/>
        </p:nvSpPr>
        <p:spPr>
          <a:xfrm>
            <a:off x="6515100" y="33924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A1A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7396" y="3474720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063740" y="33649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СИТУАЦИИ</a:t>
            </a:r>
            <a:endParaRPr lang="en-US" sz="800" dirty="0"/>
          </a:p>
        </p:txBody>
      </p:sp>
      <p:sp>
        <p:nvSpPr>
          <p:cNvPr id="36" name="Text 26"/>
          <p:cNvSpPr txBox="1"/>
          <p:nvPr/>
        </p:nvSpPr>
        <p:spPr>
          <a:xfrm>
            <a:off x="7063740" y="3529584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Компенсация</a:t>
            </a:r>
            <a:endParaRPr lang="en-US" sz="1400" dirty="0"/>
          </a:p>
        </p:txBody>
      </p:sp>
      <p:sp>
        <p:nvSpPr>
          <p:cNvPr id="37" name="Text 27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D7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822960"/>
            <a:ext cx="2560320" cy="2560320"/>
          </a:xfrm>
          <a:prstGeom prst="ellipse">
            <a:avLst/>
          </a:prstGeom>
          <a:solidFill>
            <a:srgbClr val="FFF1E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БОЛЬШЕ, ЧЕМ ОПРОС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бот держит клиента в курсе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0"/>
          </a:xfrm>
          <a:prstGeom prst="line">
            <a:avLst/>
          </a:prstGeom>
          <a:noFill/>
          <a:ln w="44450">
            <a:solidFill>
              <a:srgbClr val="FF6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1E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3591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07008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заказа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2514600" cy="731520"/>
          </a:xfrm>
          <a:prstGeom prst="roundRect">
            <a:avLst>
              <a:gd name="adj" fmla="val 17500"/>
            </a:avLst>
          </a:prstGeom>
          <a:solidFill>
            <a:srgbClr val="FFF1E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" y="292608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№48213 уже у курьера, будет через 25 минут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965960"/>
            <a:ext cx="2514600" cy="0"/>
          </a:xfrm>
          <a:prstGeom prst="line">
            <a:avLst/>
          </a:prstGeom>
          <a:noFill/>
          <a:ln w="44450">
            <a:solidFill>
              <a:srgbClr val="FF6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1E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35915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95928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Акции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3337560" y="2926080"/>
            <a:ext cx="2514600" cy="731520"/>
          </a:xfrm>
          <a:prstGeom prst="roundRect">
            <a:avLst>
              <a:gd name="adj" fmla="val 17500"/>
            </a:avLst>
          </a:prstGeom>
          <a:solidFill>
            <a:srgbClr val="FFF1E7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502152" y="292608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пятницу вторая пицца за полцены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1965960"/>
            <a:ext cx="2514600" cy="0"/>
          </a:xfrm>
          <a:prstGeom prst="line">
            <a:avLst/>
          </a:prstGeom>
          <a:noFill/>
          <a:ln w="44450">
            <a:solidFill>
              <a:srgbClr val="FF6A1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1E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35915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84848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Напоминания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6126480" y="2926080"/>
            <a:ext cx="2514600" cy="731520"/>
          </a:xfrm>
          <a:prstGeom prst="roundRect">
            <a:avLst>
              <a:gd name="adj" fmla="val 17500"/>
            </a:avLst>
          </a:prstGeom>
          <a:solidFill>
            <a:srgbClr val="FFF1E7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291072" y="292608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Ваши бонусы сгорают через 3 дня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337560" y="382219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6232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87705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703320" y="38221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с согласия клиента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качества за неделю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086600" y="65836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7F3EF"/>
          </a:solidFill>
          <a:ln w="9525">
            <a:solidFill>
              <a:srgbClr val="A59C95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086600" y="658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· ДЕМО-ДАННЫЕ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7510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03504" y="128016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оценка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14630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18288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F9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0,1 к прошлой неделе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1188720"/>
            <a:ext cx="197510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88336" y="128016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негатива (1–3★)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88336" y="14630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688336" y="18288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93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 п.п. к прошлой неделе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7510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73168" y="128016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Получено оценок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14630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1 240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18288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F9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12%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11696" y="1188720"/>
            <a:ext cx="197510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128016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Ответили на опрос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14630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8288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отправленных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212848"/>
            <a:ext cx="32004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3504" y="2340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оценка по дням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02920" y="2596896"/>
          <a:ext cx="3108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3767328" y="2212848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913632" y="2340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филиалам</a:t>
            </a:r>
            <a:endParaRPr lang="en-US" sz="10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3813048" y="2542032"/>
          <a:ext cx="22860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 24"/>
          <p:cNvSpPr txBox="1"/>
          <p:nvPr/>
        </p:nvSpPr>
        <p:spPr>
          <a:xfrm>
            <a:off x="3913632" y="37856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КУРЬЕРЫ</a:t>
            </a:r>
            <a:endParaRPr lang="en-US" sz="750" dirty="0"/>
          </a:p>
        </p:txBody>
      </p:sp>
      <p:sp>
        <p:nvSpPr>
          <p:cNvPr id="29" name="Text 25"/>
          <p:cNvSpPr txBox="1"/>
          <p:nvPr/>
        </p:nvSpPr>
        <p:spPr>
          <a:xfrm>
            <a:off x="3913632" y="39959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Иван К.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5541264" y="39959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913632" y="4242816"/>
            <a:ext cx="2084832" cy="0"/>
          </a:xfrm>
          <a:prstGeom prst="line">
            <a:avLst/>
          </a:prstGeom>
          <a:noFill/>
          <a:ln w="9525">
            <a:solidFill>
              <a:srgbClr val="EDE6E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913632" y="42519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Олег С.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5541264" y="42519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913632" y="4498848"/>
            <a:ext cx="2084832" cy="0"/>
          </a:xfrm>
          <a:prstGeom prst="line">
            <a:avLst/>
          </a:prstGeom>
          <a:noFill/>
          <a:ln w="9525">
            <a:solidFill>
              <a:srgbClr val="EDE6E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913632" y="45079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 П. · внимание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541264" y="45079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3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254496" y="2212848"/>
            <a:ext cx="2432304" cy="265176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400800" y="23408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 причин недовольства</a:t>
            </a:r>
            <a:endParaRPr lang="en-US" sz="1000" dirty="0"/>
          </a:p>
        </p:txBody>
      </p:sp>
      <p:graphicFrame>
        <p:nvGraphicFramePr>
          <p:cNvPr id="39" name="Chart 2" descr=""/>
          <p:cNvGraphicFramePr/>
          <p:nvPr/>
        </p:nvGraphicFramePr>
        <p:xfrm>
          <a:off x="6300216" y="2542032"/>
          <a:ext cx="2340864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0" name="Text 35"/>
          <p:cNvSpPr txBox="1"/>
          <p:nvPr/>
        </p:nvSpPr>
        <p:spPr>
          <a:xfrm>
            <a:off x="6400800" y="4480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от всех оценок 1–3★ за неделю</a:t>
            </a:r>
            <a:endParaRPr lang="en-US" sz="850" dirty="0"/>
          </a:p>
        </p:txBody>
      </p:sp>
      <p:sp>
        <p:nvSpPr>
          <p:cNvPr id="41" name="Text 36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ОЖИДАЕМЫЕ РЕЗУЛЬТАТЫ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получим через 3 месяца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51561" cy="2651760"/>
          </a:xfrm>
          <a:prstGeom prst="roundRect">
            <a:avLst>
              <a:gd name="adj" fmla="val 8434"/>
            </a:avLst>
          </a:prstGeom>
          <a:solidFill>
            <a:srgbClr val="FF6A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15858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77240" y="3090672"/>
            <a:ext cx="82296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15858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отзывов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85032"/>
            <a:ext cx="15858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E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текущему числу отзывов в месяц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9929" y="1554480"/>
            <a:ext cx="2217683" cy="2651760"/>
          </a:xfrm>
          <a:prstGeom prst="roundRect">
            <a:avLst>
              <a:gd name="adj" fmla="val 7422"/>
            </a:avLst>
          </a:prstGeom>
          <a:solidFill>
            <a:srgbClr val="2623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529" y="18105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38529" y="2331720"/>
            <a:ext cx="18519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 мин</a:t>
            </a:r>
            <a:endParaRPr lang="en-US" sz="3600" dirty="0"/>
          </a:p>
        </p:txBody>
      </p:sp>
      <p:sp>
        <p:nvSpPr>
          <p:cNvPr id="13" name="Shape 9"/>
          <p:cNvSpPr/>
          <p:nvPr/>
        </p:nvSpPr>
        <p:spPr>
          <a:xfrm>
            <a:off x="2838529" y="3090672"/>
            <a:ext cx="82296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dash"/>
          </a:ln>
        </p:spPr>
      </p:sp>
      <p:sp>
        <p:nvSpPr>
          <p:cNvPr id="14" name="Text 10"/>
          <p:cNvSpPr txBox="1"/>
          <p:nvPr/>
        </p:nvSpPr>
        <p:spPr>
          <a:xfrm>
            <a:off x="2838529" y="3246120"/>
            <a:ext cx="18519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Реакция на негатив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838529" y="3685032"/>
            <a:ext cx="18519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оценки до звонка клиенту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37340" y="1554480"/>
            <a:ext cx="1774146" cy="2651760"/>
          </a:xfrm>
          <a:prstGeom prst="roundRect">
            <a:avLst>
              <a:gd name="adj" fmla="val 9277"/>
            </a:avLst>
          </a:prstGeom>
          <a:solidFill>
            <a:srgbClr val="FFF1E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940" y="18105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65940" y="2331720"/>
            <a:ext cx="14083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</a:t>
            </a:r>
            <a:endParaRPr lang="en-US" sz="3600" dirty="0"/>
          </a:p>
        </p:txBody>
      </p:sp>
      <p:sp>
        <p:nvSpPr>
          <p:cNvPr id="19" name="Shape 14"/>
          <p:cNvSpPr/>
          <p:nvPr/>
        </p:nvSpPr>
        <p:spPr>
          <a:xfrm>
            <a:off x="5165940" y="3090672"/>
            <a:ext cx="822960" cy="0"/>
          </a:xfrm>
          <a:prstGeom prst="line">
            <a:avLst/>
          </a:prstGeom>
          <a:noFill/>
          <a:ln w="15875">
            <a:solidFill>
              <a:srgbClr val="262321"/>
            </a:solidFill>
            <a:prstDash val="dash"/>
          </a:ln>
        </p:spPr>
      </p:sp>
      <p:sp>
        <p:nvSpPr>
          <p:cNvPr id="20" name="Text 15"/>
          <p:cNvSpPr txBox="1"/>
          <p:nvPr/>
        </p:nvSpPr>
        <p:spPr>
          <a:xfrm>
            <a:off x="5165940" y="3246120"/>
            <a:ext cx="1408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165940" y="3685032"/>
            <a:ext cx="1408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повторные заказы после компенсации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21214" y="1554480"/>
            <a:ext cx="1774146" cy="2651760"/>
          </a:xfrm>
          <a:prstGeom prst="roundRect">
            <a:avLst>
              <a:gd name="adj" fmla="val 9277"/>
            </a:avLst>
          </a:prstGeom>
          <a:solidFill>
            <a:srgbClr val="FFF1E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814" y="181051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9814" y="2331720"/>
            <a:ext cx="14083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4,7★</a:t>
            </a:r>
            <a:endParaRPr lang="en-US" sz="3600" dirty="0"/>
          </a:p>
        </p:txBody>
      </p:sp>
      <p:sp>
        <p:nvSpPr>
          <p:cNvPr id="25" name="Shape 19"/>
          <p:cNvSpPr/>
          <p:nvPr/>
        </p:nvSpPr>
        <p:spPr>
          <a:xfrm>
            <a:off x="7049814" y="3090672"/>
            <a:ext cx="822960" cy="0"/>
          </a:xfrm>
          <a:prstGeom prst="line">
            <a:avLst/>
          </a:prstGeom>
          <a:noFill/>
          <a:ln w="15875">
            <a:solidFill>
              <a:srgbClr val="262321"/>
            </a:solidFill>
            <a:prstDash val="dash"/>
          </a:ln>
        </p:spPr>
      </p:sp>
      <p:sp>
        <p:nvSpPr>
          <p:cNvPr id="26" name="Text 20"/>
          <p:cNvSpPr txBox="1"/>
          <p:nvPr/>
        </p:nvSpPr>
        <p:spPr>
          <a:xfrm>
            <a:off x="7049814" y="3246120"/>
            <a:ext cx="1408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Рейтинг на картах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049814" y="3685032"/>
            <a:ext cx="1408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по всем филиалам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34840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2960" y="44165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Значения с пунктиром — заглушки. Точные цели зафиксируем по итогам пилота.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для запуска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условия: три обязательных и одно резервное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77724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6232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914400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297680" y="795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Бизнес-аккаунт MAX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078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компании и бота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21524" y="905256"/>
            <a:ext cx="973836" cy="27432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21524" y="905256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66160" y="1545336"/>
            <a:ext cx="5029200" cy="0"/>
          </a:xfrm>
          <a:prstGeom prst="line">
            <a:avLst/>
          </a:prstGeom>
          <a:noFill/>
          <a:ln w="9525">
            <a:solidFill>
              <a:srgbClr val="EDE6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70992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6232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4708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297680" y="1728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CRM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2011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заказов и запись оценок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65592" y="1837944"/>
            <a:ext cx="429768" cy="27432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165592" y="1837944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566160" y="2478024"/>
            <a:ext cx="5029200" cy="0"/>
          </a:xfrm>
          <a:prstGeom prst="line">
            <a:avLst/>
          </a:prstGeom>
          <a:noFill/>
          <a:ln w="9525">
            <a:solidFill>
              <a:srgbClr val="EDE6E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566160" y="2642616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6232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77977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97680" y="2660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Согласие клиентов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4297680" y="2944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152-ФЗ: галочка при заказе, отказ в один клик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854696" y="2770632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854696" y="277063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Юристы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566160" y="3410712"/>
            <a:ext cx="5029200" cy="0"/>
          </a:xfrm>
          <a:prstGeom prst="line">
            <a:avLst/>
          </a:prstGeom>
          <a:noFill/>
          <a:ln w="9525">
            <a:solidFill>
              <a:srgbClr val="EDE6E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566160" y="3575304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875">
            <a:solidFill>
              <a:srgbClr val="A59C95"/>
            </a:solidFill>
            <a:prstDash val="dash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71246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297680" y="3593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как резервный канал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4297680" y="3877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тех, у кого нет MAX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165592" y="3703320"/>
            <a:ext cx="429768" cy="274320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165592" y="3703320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046720" y="48234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59C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ВНЕДРЕНИЯ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договора до всей сети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7512" y="1810512"/>
            <a:ext cx="7927848" cy="0"/>
          </a:xfrm>
          <a:prstGeom prst="line">
            <a:avLst/>
          </a:prstGeom>
          <a:noFill/>
          <a:ln w="31750">
            <a:solidFill>
              <a:srgbClr val="FFD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37744" cy="237744"/>
          </a:xfrm>
          <a:prstGeom prst="ellipse">
            <a:avLst/>
          </a:prstGeom>
          <a:solidFill>
            <a:srgbClr val="FF6A1A"/>
          </a:solidFill>
          <a:ln w="31750">
            <a:solidFill>
              <a:srgbClr val="FF6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1–2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00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и договор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Аккаунт MAX, юристы, ТЗ для 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3–4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3500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сценария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Тексты, CRM, уведомления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5–8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3500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на одном филиале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Замеряем отклик и скорость реакции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1691640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6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НЕДЕЛИ 9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3500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на всю сеть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Поэтапно, по филиалам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6232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840480"/>
            <a:ext cx="20116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шаги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743200" y="4224528"/>
            <a:ext cx="274320" cy="274320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74320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127248" y="41879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Утвердить проект и бюджет пилота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4224528"/>
            <a:ext cx="274320" cy="274320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5488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38928" y="41879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пилотный филиал и ответственных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66560" y="4224528"/>
            <a:ext cx="274320" cy="274320"/>
          </a:xfrm>
          <a:prstGeom prst="ellipse">
            <a:avLst/>
          </a:prstGeom>
          <a:solidFill>
            <a:srgbClr val="FF6A1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6656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150608" y="41879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Подать заявку на бизнес-аккаунт MAX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Чат-бот в MAX для сбора обратной связи по заказам</dc:title>
  <dc:subject>PptxGenJS Presentation</dc:subject>
  <dc:creator>PptxGenJS</dc:creator>
  <cp:lastModifiedBy>PptxGenJS</cp:lastModifiedBy>
  <cp:revision>1</cp:revision>
  <dcterms:created xsi:type="dcterms:W3CDTF">2026-09-26T07:05:12Z</dcterms:created>
  <dcterms:modified xsi:type="dcterms:W3CDTF">2026-09-26T07:05:12Z</dcterms:modified>
</cp:coreProperties>
</file>