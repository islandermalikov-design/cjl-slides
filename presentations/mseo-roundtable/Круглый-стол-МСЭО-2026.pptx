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cbr.ru/statistics/bank_sector/sors/credit/" TargetMode="External"/><Relationship Id="rId4" Type="http://schemas.openxmlformats.org/officeDocument/2006/relationships/hyperlink" Target="https://cbr.ru/analytics/finstab/ofs/4q_2025_1q_2026/" TargetMode="External"/><Relationship Id="rId5" Type="http://schemas.openxmlformats.org/officeDocument/2006/relationships/hyperlink" Target="https://cbr.ru/Collection/Collection/File/62231/BankReg_2026q2.pdf" TargetMode="External"/><Relationship Id="rId6" Type="http://schemas.openxmlformats.org/officeDocument/2006/relationships/hyperlink" Target="https://reuters.com/world/europe/ukrainian-attacks-wildberries-strike-heart-russia-inc-2026-08-07/" TargetMode="External"/><Relationship Id="rId7" Type="http://schemas.openxmlformats.org/officeDocument/2006/relationships/hyperlink" Target="https://reuters.com/world/europe/drone-sets-wildberries-warehouse-ablaze-russias-tambov-region-governor-says-2026-08-26/" TargetMode="External"/><Relationship Id="rId8" Type="http://schemas.openxmlformats.org/officeDocument/2006/relationships/hyperlink" Target="https://rbc.ru/society/08/09/2026/6a9ec9899a7947e23bc9dc89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forbes.ru/biznes/565834-ugol-siki-polucili-peredysku-ubytki-otrasli-snizilis-po-sravneniu-so-proshlym-godom" TargetMode="External"/><Relationship Id="rId4" Type="http://schemas.openxmlformats.org/officeDocument/2006/relationships/hyperlink" Target="https://finam.ru/publications/item/dobycha-uglya-raspadskoy-v-1-polugodii-snililas-na-12-20260814-1100/" TargetMode="External"/><Relationship Id="rId5" Type="http://schemas.openxmlformats.org/officeDocument/2006/relationships/hyperlink" Target="https://forbes.ru/biznes/559594-severstal-soobsila-o-padenii-metallopotreblenia-v-rossii-na-15" TargetMode="External"/><Relationship Id="rId6" Type="http://schemas.openxmlformats.org/officeDocument/2006/relationships/hyperlink" Target="https://fomag.ru/news/nlmk-otchetnost-vyglyadit-sopostavimoy-s-mmk-i-severstalyu/" TargetMode="External"/><Relationship Id="rId7" Type="http://schemas.openxmlformats.org/officeDocument/2006/relationships/hyperlink" Target="https://finam.ru/publications/item/rusal-alyuminiy-dorozhaet-a-dolg-tyanet-vniz-20260908-1015/" TargetMode="External"/><Relationship Id="rId8" Type="http://schemas.openxmlformats.org/officeDocument/2006/relationships/hyperlink" Target="https://interfax.ru/business/1033964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240D4E"/>
              </a:gs>
              <a:gs pos="100000">
                <a:srgbClr val="5B21A8"/>
              </a:gs>
            </a:gsLst>
            <a:lin scaled="0" ang="198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1005840"/>
            <a:ext cx="6309360" cy="6309360"/>
          </a:xfrm>
          <a:prstGeom prst="ellipse">
            <a:avLst/>
          </a:prstGeom>
          <a:noFill/>
          <a:ln w="20320">
            <a:solidFill>
              <a:srgbClr val="FF5CD2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92440" y="-320040"/>
            <a:ext cx="4937760" cy="4937760"/>
          </a:xfrm>
          <a:prstGeom prst="ellipse">
            <a:avLst/>
          </a:prstGeom>
          <a:noFill/>
          <a:ln w="20320">
            <a:solidFill>
              <a:srgbClr val="FF5CD2">
                <a:alpha val="264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32520" y="320040"/>
            <a:ext cx="3657600" cy="3657600"/>
          </a:xfrm>
          <a:prstGeom prst="ellipse">
            <a:avLst/>
          </a:prstGeom>
          <a:noFill/>
          <a:ln w="20320">
            <a:solidFill>
              <a:srgbClr val="FF5CD2">
                <a:alpha val="22799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0" y="914400"/>
            <a:ext cx="2468880" cy="2468880"/>
          </a:xfrm>
          <a:prstGeom prst="ellipse">
            <a:avLst/>
          </a:prstGeom>
          <a:noFill/>
          <a:ln w="20320">
            <a:solidFill>
              <a:srgbClr val="FF5CD2">
                <a:alpha val="19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720840" y="-1691640"/>
            <a:ext cx="7680960" cy="7680960"/>
          </a:xfrm>
          <a:prstGeom prst="ellipse">
            <a:avLst/>
          </a:prstGeom>
          <a:noFill/>
          <a:ln w="15240">
            <a:solidFill>
              <a:srgbClr val="4A22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21792" y="566928"/>
            <a:ext cx="109483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60">
                <a:solidFill>
                  <a:srgbClr val="FF5CD2"/>
                </a:solidFill>
                <a:latin typeface="Segoe UI"/>
                <a:ea typeface="Segoe UI"/>
                <a:cs typeface="Segoe UI"/>
              </a:rPr>
              <a:t>КРУГЛЫЙ СТОЛ · ФОРУМ РИСК-МЕНЕДЖЕРОВ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170432"/>
            <a:ext cx="86868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Залог — не начало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5CD2"/>
                </a:solidFill>
                <a:latin typeface="Segoe UI Semibold"/>
                <a:ea typeface="Segoe UI Semibold"/>
                <a:cs typeface="Segoe UI Semibold"/>
              </a:rPr>
              <a:t>разговора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3310128"/>
            <a:ext cx="1920240" cy="45720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792" y="3611880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90 минут о том, где на самом деле накапливается кредитный риск — и сколько банк из него вернёт.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421124"/>
            <a:ext cx="100584" cy="100584"/>
          </a:xfrm>
          <a:prstGeom prst="ellipse">
            <a:avLst/>
          </a:prstGeom>
          <a:solidFill>
            <a:srgbClr val="FF5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315968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Сначала: где реально накапливается кредитный риск?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823460"/>
            <a:ext cx="100584" cy="100584"/>
          </a:xfrm>
          <a:prstGeom prst="ellipse">
            <a:avLst/>
          </a:prstGeom>
          <a:solidFill>
            <a:srgbClr val="4A2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718304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ACDEE"/>
                </a:solidFill>
                <a:latin typeface="Segoe UI"/>
                <a:ea typeface="Segoe UI"/>
                <a:cs typeface="Segoe UI"/>
              </a:rPr>
              <a:t>Затем: что происходит с конкретными отраслями и заемщиками?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225796"/>
            <a:ext cx="100584" cy="100584"/>
          </a:xfrm>
          <a:prstGeom prst="ellipse">
            <a:avLst/>
          </a:prstGeom>
          <a:solidFill>
            <a:srgbClr val="4A2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12064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ACDEE"/>
                </a:solidFill>
                <a:latin typeface="Segoe UI"/>
                <a:ea typeface="Segoe UI"/>
                <a:cs typeface="Segoe UI"/>
              </a:rPr>
              <a:t>И только после этого: сколько банк реально получит из обеспечения?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5632704"/>
            <a:ext cx="918056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5CD2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1792" y="5710428"/>
            <a:ext cx="9180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AE1F7"/>
                </a:solidFill>
                <a:latin typeface="Segoe UI"/>
                <a:ea typeface="Segoe UI"/>
                <a:cs typeface="Segoe UI"/>
              </a:rPr>
              <a:t>90 минут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86152" y="5632704"/>
            <a:ext cx="156179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5CD2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686152" y="5710428"/>
            <a:ext cx="156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AE1F7"/>
                </a:solidFill>
                <a:latin typeface="Segoe UI"/>
                <a:ea typeface="Segoe UI"/>
                <a:cs typeface="Segoe UI"/>
              </a:rPr>
              <a:t>22 сентября 2026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94248" y="5632704"/>
            <a:ext cx="196412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5CD2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394248" y="5710428"/>
            <a:ext cx="1964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AE1F7"/>
                </a:solidFill>
                <a:latin typeface="Segoe UI"/>
                <a:ea typeface="Segoe UI"/>
                <a:cs typeface="Segoe UI"/>
              </a:rPr>
              <a:t>QUATTRO SPACE, Москва</a:t>
            </a:r>
          </a:p>
        </p:txBody>
      </p:sp>
      <p:pic>
        <p:nvPicPr>
          <p:cNvPr id="25" name="Picture 2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4449" y="4224528"/>
            <a:ext cx="2395728" cy="177793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004017" y="380390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0">
                <a:solidFill>
                  <a:srgbClr val="FF5CD2"/>
                </a:solidFill>
                <a:latin typeface="Segoe UI"/>
                <a:ea typeface="Segoe UI"/>
                <a:cs typeface="Segoe UI"/>
              </a:rPr>
              <a:t>ПАРТНЁР КРУГЛОГО СТОЛА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" y="6272784"/>
            <a:ext cx="10948385" cy="9525"/>
          </a:xfrm>
          <a:prstGeom prst="rect">
            <a:avLst/>
          </a:prstGeom>
          <a:solidFill>
            <a:srgbClr val="4A2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21792" y="6391656"/>
            <a:ext cx="94853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8CC4"/>
                </a:solidFill>
                <a:latin typeface="Segoe UI"/>
                <a:ea typeface="Segoe UI"/>
                <a:cs typeface="Segoe UI"/>
              </a:rPr>
              <a:t>Сценарий обновлён на 8 сентября 2026 г. Ключевые источники — Банк России, Reuters, РБК, Росстат и публичная отчётность компаний.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240D4E"/>
              </a:gs>
              <a:gs pos="100000">
                <a:srgbClr val="3A1474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1280160"/>
            <a:ext cx="5669280" cy="5669280"/>
          </a:xfrm>
          <a:prstGeom prst="ellipse">
            <a:avLst/>
          </a:prstGeom>
          <a:noFill/>
          <a:ln w="20320">
            <a:solidFill>
              <a:srgbClr val="FF5CD2">
                <a:alpha val="2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92440" y="1965960"/>
            <a:ext cx="4297680" cy="4297680"/>
          </a:xfrm>
          <a:prstGeom prst="ellipse">
            <a:avLst/>
          </a:prstGeom>
          <a:noFill/>
          <a:ln w="20320">
            <a:solidFill>
              <a:srgbClr val="FF5CD2">
                <a:alpha val="2288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32520" y="2606040"/>
            <a:ext cx="3017520" cy="3017520"/>
          </a:xfrm>
          <a:prstGeom prst="ellipse">
            <a:avLst/>
          </a:prstGeom>
          <a:noFill/>
          <a:ln w="20320">
            <a:solidFill>
              <a:srgbClr val="FF5CD2">
                <a:alpha val="1976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3657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800" b="1" i="0">
                <a:solidFill>
                  <a:srgbClr val="4A228C"/>
                </a:solidFill>
                <a:latin typeface="Segoe UI Semibold"/>
                <a:ea typeface="Segoe UI Semibold"/>
                <a:cs typeface="Segoe UI Semi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054096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40">
                <a:solidFill>
                  <a:srgbClr val="FF5CD2"/>
                </a:solidFill>
                <a:latin typeface="Segoe UI"/>
                <a:ea typeface="Segoe UI"/>
                <a:cs typeface="Segoe UI"/>
              </a:rPr>
              <a:t>БЛОК I · 0–15 МИНУТ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419856"/>
            <a:ext cx="7863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Где накапливается риск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4828032"/>
            <a:ext cx="1554480" cy="45720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1792" y="5138928"/>
            <a:ext cx="74980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DACDEE"/>
                </a:solidFill>
                <a:latin typeface="Segoe UI"/>
                <a:ea typeface="Segoe UI"/>
                <a:cs typeface="Segoe UI"/>
              </a:rPr>
              <a:t>Портфель растёт, просрочка выглядит спокойно — а риск уже перенесён во времени через реструктуризацию.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2577" y="5669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200">
                <a:solidFill>
                  <a:srgbClr val="4A228C"/>
                </a:solidFill>
                <a:latin typeface="Segoe UI"/>
                <a:ea typeface="Segoe UI"/>
                <a:cs typeface="Segoe UI"/>
              </a:rPr>
              <a:t>КРУГЛЫЙ СТОЛ МСЭО ·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6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21792" y="608076"/>
            <a:ext cx="201168" cy="105156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50976" y="566928"/>
            <a:ext cx="1094838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70">
                <a:solidFill>
                  <a:srgbClr val="E21CA8"/>
                </a:solidFill>
                <a:latin typeface="Segoe UI"/>
                <a:ea typeface="Segoe UI"/>
                <a:cs typeface="Segoe UI"/>
              </a:rPr>
              <a:t>ГЛАВНЫЙ ТЕЗИС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94838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Не «кризис залогов», а изменение качества корпоративного риска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6272784"/>
            <a:ext cx="10948385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21792" y="6391656"/>
            <a:ext cx="94853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Банк России: cbr.ru/statistics/bank_sector/sors/credit/ ; аналитический обзор банковского сектора, I кв. 2026.</a:t>
            </a:r>
          </a:p>
        </p:txBody>
      </p:sp>
      <p:pic>
        <p:nvPicPr>
          <p:cNvPr id="8" name="Picture 7" descr="mark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489" y="6400800"/>
            <a:ext cx="255804" cy="256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021537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029968"/>
            <a:ext cx="2240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88,45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560320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E21CA8"/>
                </a:solidFill>
                <a:latin typeface="Segoe UI"/>
                <a:ea typeface="Segoe UI"/>
                <a:cs typeface="Segoe UI"/>
              </a:rPr>
              <a:t>ТРЛН 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1828800"/>
            <a:ext cx="2971800" cy="908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корпоративный портфель банков на 01.08.2026; +12,7% г/г.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2737104"/>
            <a:ext cx="5349240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1792" y="2938272"/>
            <a:ext cx="2240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17,4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468624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A8DB6"/>
                </a:solidFill>
                <a:latin typeface="Segoe UI"/>
                <a:ea typeface="Segoe UI"/>
                <a:cs typeface="Segoe UI"/>
              </a:rPr>
              <a:t>ТРЛН 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2737104"/>
            <a:ext cx="2971800" cy="908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реструктурированных кредитов ЮЛ на 31.03.2026 — 18,2% портфеля на эту дату.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3645408"/>
            <a:ext cx="5349240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792" y="3846576"/>
            <a:ext cx="2240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4,4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4376928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5B21A8"/>
                </a:solidFill>
                <a:latin typeface="Segoe UI"/>
                <a:ea typeface="Segoe UI"/>
                <a:cs typeface="Segoe UI"/>
              </a:rPr>
              <a:t>ТРЛН 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9232" y="3645408"/>
            <a:ext cx="2971800" cy="908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из них ЦБ относил к рискованным реструктуризациям.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36792" y="1828800"/>
            <a:ext cx="5233385" cy="2724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rotWithShape="0">
              <a:srgbClr val="1B104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Block Arc 21"/>
          <p:cNvSpPr/>
          <p:nvPr/>
        </p:nvSpPr>
        <p:spPr>
          <a:xfrm>
            <a:off x="6743700" y="2116836"/>
            <a:ext cx="2148840" cy="2148840"/>
          </a:xfrm>
          <a:prstGeom prst="blockArc">
            <a:avLst>
              <a:gd name="adj1" fmla="val 16236000"/>
              <a:gd name="adj2" fmla="val 20413180"/>
              <a:gd name="adj3" fmla="val 26000"/>
            </a:avLst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lock Arc 22"/>
          <p:cNvSpPr/>
          <p:nvPr/>
        </p:nvSpPr>
        <p:spPr>
          <a:xfrm>
            <a:off x="6743700" y="2116836"/>
            <a:ext cx="2148840" cy="2148840"/>
          </a:xfrm>
          <a:prstGeom prst="blockArc">
            <a:avLst>
              <a:gd name="adj1" fmla="val 20485180"/>
              <a:gd name="adj2" fmla="val 16163999"/>
              <a:gd name="adj3" fmla="val 26000"/>
            </a:avLst>
          </a:prstGeom>
          <a:solidFill>
            <a:srgbClr val="2A8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280720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88,45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246120"/>
            <a:ext cx="13167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8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ТРЛН ₽</a:t>
            </a:r>
          </a:p>
        </p:txBody>
      </p:sp>
      <p:sp>
        <p:nvSpPr>
          <p:cNvPr id="26" name="Oval 25"/>
          <p:cNvSpPr/>
          <p:nvPr/>
        </p:nvSpPr>
        <p:spPr>
          <a:xfrm>
            <a:off x="9336024" y="2875788"/>
            <a:ext cx="146304" cy="146304"/>
          </a:xfrm>
          <a:prstGeom prst="ellipse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10344" y="2825496"/>
            <a:ext cx="170380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17,4 трлн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10344" y="3044952"/>
            <a:ext cx="170380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реструктурировано, 18,2% портфеля</a:t>
            </a:r>
          </a:p>
        </p:txBody>
      </p:sp>
      <p:sp>
        <p:nvSpPr>
          <p:cNvPr id="29" name="Oval 28"/>
          <p:cNvSpPr/>
          <p:nvPr/>
        </p:nvSpPr>
        <p:spPr>
          <a:xfrm>
            <a:off x="9336024" y="3662172"/>
            <a:ext cx="146304" cy="146304"/>
          </a:xfrm>
          <a:prstGeom prst="ellipse">
            <a:avLst/>
          </a:prstGeom>
          <a:solidFill>
            <a:srgbClr val="2A8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610344" y="3611880"/>
            <a:ext cx="170380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71,05 трлн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0344" y="3831336"/>
            <a:ext cx="170380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обслуживается в обычном режиме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" y="4791456"/>
            <a:ext cx="10948385" cy="1225296"/>
          </a:xfrm>
          <a:prstGeom prst="roundRect">
            <a:avLst>
              <a:gd name="adj" fmla="val 9000"/>
            </a:avLst>
          </a:prstGeom>
          <a:solidFill>
            <a:srgbClr val="240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21792" y="5047488"/>
            <a:ext cx="68580" cy="713232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24128" y="5029200"/>
            <a:ext cx="100339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FF5CD2"/>
                </a:solidFill>
                <a:latin typeface="Segoe UI"/>
                <a:ea typeface="Segoe UI"/>
                <a:cs typeface="Segoe UI"/>
              </a:rPr>
              <a:t>КЛЮЧЕВОЙ ВОПРОС СТОЛА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" y="5340096"/>
            <a:ext cx="1003398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«Сколько риска уже перенесено во времени, но ещё не стало просрочкой?»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6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21792" y="608076"/>
            <a:ext cx="201168" cy="105156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50976" y="566928"/>
            <a:ext cx="1094838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70">
                <a:solidFill>
                  <a:srgbClr val="E21CA8"/>
                </a:solidFill>
                <a:latin typeface="Segoe UI"/>
                <a:ea typeface="Segoe UI"/>
                <a:cs typeface="Segoe UI"/>
              </a:rPr>
              <a:t>МАКРОКАРТИНА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94838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Корпоративное кредитование: рост продолжается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6272784"/>
            <a:ext cx="10948385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21792" y="6391656"/>
            <a:ext cx="94853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Банк России, статистика кредитования ЮЛ и ИП: cbr.ru/statistics/bank_sector/sors/credit/</a:t>
            </a:r>
          </a:p>
        </p:txBody>
      </p:sp>
      <p:pic>
        <p:nvPicPr>
          <p:cNvPr id="8" name="Picture 7" descr="mark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489" y="6400800"/>
            <a:ext cx="255804" cy="256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021537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47088"/>
            <a:ext cx="2599936" cy="41696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rotWithShape="0">
              <a:srgbClr val="1B104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859536" y="2121408"/>
            <a:ext cx="384048" cy="50292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59536" y="2395728"/>
            <a:ext cx="212444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88,45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035808"/>
            <a:ext cx="2124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E21CA8"/>
                </a:solidFill>
                <a:latin typeface="Segoe UI"/>
                <a:ea typeface="Segoe UI"/>
                <a:cs typeface="Segoe UI"/>
              </a:rPr>
              <a:t>ТРЛН 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456432"/>
            <a:ext cx="2124448" cy="2286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портфель ЮЛ и ИП на 01.08.2026.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4608" y="1847088"/>
            <a:ext cx="2599936" cy="41696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rotWithShape="0">
              <a:srgbClr val="1B104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642352" y="2121408"/>
            <a:ext cx="384048" cy="50292"/>
          </a:xfrm>
          <a:prstGeom prst="rect">
            <a:avLst/>
          </a:prstGeom>
          <a:solidFill>
            <a:srgbClr val="2A8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42352" y="2395728"/>
            <a:ext cx="212444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+12,7%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2352" y="3035808"/>
            <a:ext cx="2124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2A8DB6"/>
                </a:solidFill>
                <a:latin typeface="Segoe UI"/>
                <a:ea typeface="Segoe UI"/>
                <a:cs typeface="Segoe UI"/>
              </a:rPr>
              <a:t>Г/Г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2352" y="3456432"/>
            <a:ext cx="2124448" cy="2286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темп роста портфеля.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7424" y="1847088"/>
            <a:ext cx="2599936" cy="41696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rotWithShape="0">
              <a:srgbClr val="1B104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425168" y="2121408"/>
            <a:ext cx="384048" cy="50292"/>
          </a:xfrm>
          <a:prstGeom prst="rect">
            <a:avLst/>
          </a:prstGeom>
          <a:solidFill>
            <a:srgbClr val="5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25168" y="2395728"/>
            <a:ext cx="212444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8,14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5168" y="3035808"/>
            <a:ext cx="2124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5B21A8"/>
                </a:solidFill>
                <a:latin typeface="Segoe UI"/>
                <a:ea typeface="Segoe UI"/>
                <a:cs typeface="Segoe UI"/>
              </a:rPr>
              <a:t>ТРЛН 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5168" y="3456432"/>
            <a:ext cx="2124448" cy="2286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выдано корпоративных кредитов в июле 2026 г.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0240" y="1847088"/>
            <a:ext cx="2599936" cy="41696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rotWithShape="0">
              <a:srgbClr val="1B104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9207984" y="2121408"/>
            <a:ext cx="384048" cy="50292"/>
          </a:xfrm>
          <a:prstGeom prst="rect">
            <a:avLst/>
          </a:prstGeom>
          <a:solidFill>
            <a:srgbClr val="FF5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207984" y="2395728"/>
            <a:ext cx="212444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3,19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7984" y="3035808"/>
            <a:ext cx="2124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FF5CD2"/>
                </a:solidFill>
                <a:latin typeface="Segoe UI"/>
                <a:ea typeface="Segoe UI"/>
                <a:cs typeface="Segoe UI"/>
              </a:rPr>
              <a:t>ТРЛН 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7984" y="3456432"/>
            <a:ext cx="2124448" cy="2286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просроченная задолженность ЮЛ/ИП на 01.08.2026; около 3,6% портфеля.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6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21792" y="608076"/>
            <a:ext cx="201168" cy="105156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50976" y="566928"/>
            <a:ext cx="1094838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70">
                <a:solidFill>
                  <a:srgbClr val="E21CA8"/>
                </a:solidFill>
                <a:latin typeface="Segoe UI"/>
                <a:ea typeface="Segoe UI"/>
                <a:cs typeface="Segoe UI"/>
              </a:rPr>
              <a:t>КАЧЕСТВО РИСКА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94838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Но просрочка — запаздывающий индикатор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6272784"/>
            <a:ext cx="10948385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21792" y="6391656"/>
            <a:ext cx="94853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Банк России, Analytical Review of the Banking Sector, Q1 2026.</a:t>
            </a:r>
          </a:p>
        </p:txBody>
      </p:sp>
      <p:pic>
        <p:nvPicPr>
          <p:cNvPr id="8" name="Picture 7" descr="mark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489" y="6400800"/>
            <a:ext cx="255804" cy="256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021537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28800"/>
            <a:ext cx="4892040" cy="41879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rotWithShape="0">
              <a:srgbClr val="1B104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Block Arc 10"/>
          <p:cNvSpPr/>
          <p:nvPr/>
        </p:nvSpPr>
        <p:spPr>
          <a:xfrm>
            <a:off x="1901952" y="2235708"/>
            <a:ext cx="2331720" cy="2331720"/>
          </a:xfrm>
          <a:prstGeom prst="blockArc">
            <a:avLst>
              <a:gd name="adj1" fmla="val 16236000"/>
              <a:gd name="adj2" fmla="val 26068"/>
              <a:gd name="adj3" fmla="val 28000"/>
            </a:avLst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lock Arc 11"/>
          <p:cNvSpPr/>
          <p:nvPr/>
        </p:nvSpPr>
        <p:spPr>
          <a:xfrm>
            <a:off x="1901952" y="2235708"/>
            <a:ext cx="2331720" cy="2331720"/>
          </a:xfrm>
          <a:prstGeom prst="blockArc">
            <a:avLst>
              <a:gd name="adj1" fmla="val 98068"/>
              <a:gd name="adj2" fmla="val 16163999"/>
              <a:gd name="adj3" fmla="val 28000"/>
            </a:avLst>
          </a:prstGeom>
          <a:solidFill>
            <a:srgbClr val="2A8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70532" y="299923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17,4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6292" y="34747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8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ТРЛН ₽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5010912"/>
            <a:ext cx="146304" cy="146304"/>
          </a:xfrm>
          <a:prstGeom prst="ellipse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80160" y="495604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4,4 трлн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2032" y="4974336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рискованные реструктуризации — оценка ЦБ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5522976"/>
            <a:ext cx="146304" cy="146304"/>
          </a:xfrm>
          <a:prstGeom prst="ellipse">
            <a:avLst/>
          </a:prstGeom>
          <a:solidFill>
            <a:srgbClr val="2A8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80160" y="5468112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13,0 трлн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2032" y="548640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прочие реструктуризации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9864" y="1828800"/>
            <a:ext cx="5800313" cy="11338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769864" y="2103120"/>
            <a:ext cx="68580" cy="585216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153912" y="201168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18,2%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3912" y="252374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E21CA8"/>
                </a:solidFill>
                <a:latin typeface="Segoe UI"/>
                <a:ea typeface="Segoe UI"/>
                <a:cs typeface="Segoe UI"/>
              </a:rPr>
              <a:t>ПОРТФЕЛЯ ЮЛ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1828800"/>
            <a:ext cx="2874233" cy="11338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доля реструктурированных кредитов в корпоративном портфеле на 31.03.2026.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9864" y="3127248"/>
            <a:ext cx="5800313" cy="11338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769864" y="3401568"/>
            <a:ext cx="68580" cy="585216"/>
          </a:xfrm>
          <a:prstGeom prst="rect">
            <a:avLst/>
          </a:prstGeom>
          <a:solidFill>
            <a:srgbClr val="2A8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53912" y="3310128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3,6%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53912" y="38221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2A8DB6"/>
                </a:solidFill>
                <a:latin typeface="Segoe UI"/>
                <a:ea typeface="Segoe UI"/>
                <a:cs typeface="Segoe UI"/>
              </a:rPr>
              <a:t>ПОРТФЕЛЯ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3127248"/>
            <a:ext cx="2874233" cy="11338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формальная просрочка ЮЛ/ИП — 3,19 трлн ₽ на 01.08.2026.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9864" y="4425696"/>
            <a:ext cx="5800313" cy="1591056"/>
          </a:xfrm>
          <a:prstGeom prst="roundRect">
            <a:avLst>
              <a:gd name="adj" fmla="val 8000"/>
            </a:avLst>
          </a:prstGeom>
          <a:solidFill>
            <a:srgbClr val="240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153912" y="4681728"/>
            <a:ext cx="503221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FF5CD2"/>
                </a:solidFill>
                <a:latin typeface="Segoe UI"/>
                <a:ea typeface="Segoe UI"/>
                <a:cs typeface="Segoe UI"/>
              </a:rPr>
              <a:t>ВОПРОС МОДЕРАТОРА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3912" y="4992624"/>
            <a:ext cx="5032217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«Не смотрим ли мы слишком долго на NPL, когда проблема уже находится в реструктурированном портфеле?»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6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21792" y="608076"/>
            <a:ext cx="201168" cy="105156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50976" y="566928"/>
            <a:ext cx="1094838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70">
                <a:solidFill>
                  <a:srgbClr val="E21CA8"/>
                </a:solidFill>
                <a:latin typeface="Segoe UI"/>
                <a:ea typeface="Segoe UI"/>
                <a:cs typeface="Segoe UI"/>
              </a:rPr>
              <a:t>КОНЦЕНТРАЦИЯ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94838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Где именно растёт реструктуризация?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6272784"/>
            <a:ext cx="10948385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21792" y="6391656"/>
            <a:ext cx="94853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Банк России, Analytical Review of the Banking Sector, Q1 2026.</a:t>
            </a:r>
          </a:p>
        </p:txBody>
      </p:sp>
      <p:pic>
        <p:nvPicPr>
          <p:cNvPr id="8" name="Picture 7" descr="mark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489" y="6400800"/>
            <a:ext cx="255804" cy="256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021537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7190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Объём реструктурированной задолженности по отраслям и темп её прироста за квартал, I кв.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084831"/>
            <a:ext cx="10948385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rotWithShape="0">
              <a:srgbClr val="1B104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124712" y="4572000"/>
            <a:ext cx="7519385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2065522" y="3438144"/>
            <a:ext cx="1005840" cy="1133856"/>
          </a:xfrm>
          <a:prstGeom prst="roundRect">
            <a:avLst>
              <a:gd name="adj" fmla="val 6000"/>
            </a:avLst>
          </a:prstGeom>
          <a:solidFill>
            <a:srgbClr val="2A8DB6"/>
          </a:solidFill>
          <a:ln>
            <a:noFill/>
          </a:ln>
          <a:effectLst>
            <a:outerShdw blurRad="152400" dist="38100" dir="5400000" rotWithShape="0">
              <a:srgbClr val="1B104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065522" y="3621024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4,0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9762" y="473659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Недвижимость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4343" y="3579876"/>
            <a:ext cx="1005840" cy="992124"/>
          </a:xfrm>
          <a:prstGeom prst="roundRect">
            <a:avLst>
              <a:gd name="adj" fmla="val 6000"/>
            </a:avLst>
          </a:prstGeom>
          <a:solidFill>
            <a:srgbClr val="2A8DB6"/>
          </a:solidFill>
          <a:ln>
            <a:noFill/>
          </a:ln>
          <a:effectLst>
            <a:outerShdw blurRad="152400" dist="38100" dir="5400000" rotWithShape="0">
              <a:srgbClr val="1B104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04343" y="3762756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3,5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8583" y="473659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Нефть и газ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43164" y="3834994"/>
            <a:ext cx="1005840" cy="737006"/>
          </a:xfrm>
          <a:prstGeom prst="roundRect">
            <a:avLst>
              <a:gd name="adj" fmla="val 6000"/>
            </a:avLst>
          </a:prstGeom>
          <a:solidFill>
            <a:srgbClr val="2A8DB6"/>
          </a:solidFill>
          <a:ln>
            <a:noFill/>
          </a:ln>
          <a:effectLst>
            <a:outerShdw blurRad="152400" dist="38100" dir="5400000" rotWithShape="0">
              <a:srgbClr val="1B104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743164" y="4017874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2,6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7404" y="473659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Металлы и уголь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2568442" y="2899352"/>
            <a:ext cx="2338821" cy="246184"/>
          </a:xfrm>
          <a:prstGeom prst="line">
            <a:avLst/>
          </a:prstGeom>
          <a:ln w="28575">
            <a:solidFill>
              <a:srgbClr val="E21C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907263" y="2761488"/>
            <a:ext cx="2338821" cy="137864"/>
          </a:xfrm>
          <a:prstGeom prst="line">
            <a:avLst/>
          </a:prstGeom>
          <a:ln w="28575">
            <a:solidFill>
              <a:srgbClr val="E21C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2490718" y="3067812"/>
            <a:ext cx="155448" cy="155448"/>
          </a:xfrm>
          <a:prstGeom prst="ellipse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836922" y="276148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21CA8"/>
                </a:solidFill>
                <a:latin typeface="Segoe UI Semibold"/>
                <a:ea typeface="Segoe UI Semibold"/>
                <a:cs typeface="Segoe UI Semibold"/>
              </a:rPr>
              <a:t>+14%</a:t>
            </a:r>
          </a:p>
        </p:txBody>
      </p:sp>
      <p:sp>
        <p:nvSpPr>
          <p:cNvPr id="26" name="Oval 25"/>
          <p:cNvSpPr/>
          <p:nvPr/>
        </p:nvSpPr>
        <p:spPr>
          <a:xfrm>
            <a:off x="4829539" y="2821628"/>
            <a:ext cx="155448" cy="155448"/>
          </a:xfrm>
          <a:prstGeom prst="ellipse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175743" y="251530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21CA8"/>
                </a:solidFill>
                <a:latin typeface="Segoe UI Semibold"/>
                <a:ea typeface="Segoe UI Semibold"/>
                <a:cs typeface="Segoe UI Semibold"/>
              </a:rPr>
              <a:t>+21,5%</a:t>
            </a:r>
          </a:p>
        </p:txBody>
      </p:sp>
      <p:sp>
        <p:nvSpPr>
          <p:cNvPr id="28" name="Oval 27"/>
          <p:cNvSpPr/>
          <p:nvPr/>
        </p:nvSpPr>
        <p:spPr>
          <a:xfrm>
            <a:off x="7168360" y="2683764"/>
            <a:ext cx="155448" cy="155448"/>
          </a:xfrm>
          <a:prstGeom prst="ellipse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14564" y="23774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21CA8"/>
                </a:solidFill>
                <a:latin typeface="Segoe UI Semibold"/>
                <a:ea typeface="Segoe UI Semibold"/>
                <a:cs typeface="Segoe UI Semibold"/>
              </a:rPr>
              <a:t>+25,7%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35537" y="2697480"/>
            <a:ext cx="182880" cy="182880"/>
          </a:xfrm>
          <a:prstGeom prst="rect">
            <a:avLst/>
          </a:prstGeom>
          <a:solidFill>
            <a:srgbClr val="2A8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046433" y="267004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Объём реструктурированной</a:t>
            </a:r>
            <a:br/>
            <a:r>
              <a:rPr sz="11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задолженности, трлн 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35537" y="3419856"/>
            <a:ext cx="182880" cy="50292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8785829" y="3387852"/>
            <a:ext cx="82296" cy="82296"/>
          </a:xfrm>
          <a:prstGeom prst="ellipse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046433" y="3328416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Прирост за квартал, 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" y="5248656"/>
            <a:ext cx="5364464" cy="768096"/>
          </a:xfrm>
          <a:prstGeom prst="roundRect">
            <a:avLst>
              <a:gd name="adj" fmla="val 12000"/>
            </a:avLst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2688" y="5376672"/>
            <a:ext cx="4742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ГДЕ ОБЪЁМ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5632704"/>
            <a:ext cx="47426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Недвижимость — крупнейший портфель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05712" y="5248656"/>
            <a:ext cx="5364464" cy="768096"/>
          </a:xfrm>
          <a:prstGeom prst="roundRect">
            <a:avLst>
              <a:gd name="adj" fmla="val 12000"/>
            </a:avLst>
          </a:prstGeom>
          <a:solidFill>
            <a:srgbClr val="1B6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516608" y="5376672"/>
            <a:ext cx="4742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ГДЕ СКОРОСТЬ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6608" y="5632704"/>
            <a:ext cx="47426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Металлы и уголь — быстрее всех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6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21792" y="608076"/>
            <a:ext cx="201168" cy="105156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50976" y="566928"/>
            <a:ext cx="1094838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70">
                <a:solidFill>
                  <a:srgbClr val="E21CA8"/>
                </a:solidFill>
                <a:latin typeface="Segoe UI"/>
                <a:ea typeface="Segoe UI"/>
                <a:cs typeface="Segoe UI"/>
              </a:rPr>
              <a:t>СЕГМЕНТ МСП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94838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МСП: спрос есть, кредитный риск тоже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6272784"/>
            <a:ext cx="10948385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21792" y="6391656"/>
            <a:ext cx="94853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Банк России; региональный обзор кредитования бизнеса.</a:t>
            </a:r>
          </a:p>
        </p:txBody>
      </p:sp>
      <p:pic>
        <p:nvPicPr>
          <p:cNvPr id="8" name="Picture 7" descr="mark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489" y="6400800"/>
            <a:ext cx="255804" cy="256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021537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47088"/>
            <a:ext cx="2599936" cy="25786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rotWithShape="0">
              <a:srgbClr val="1B104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859536" y="2121408"/>
            <a:ext cx="384048" cy="50292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59536" y="2395728"/>
            <a:ext cx="212444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14,43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035808"/>
            <a:ext cx="2124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E21CA8"/>
                </a:solidFill>
                <a:latin typeface="Segoe UI"/>
                <a:ea typeface="Segoe UI"/>
                <a:cs typeface="Segoe UI"/>
              </a:rPr>
              <a:t>ТРЛН 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456432"/>
            <a:ext cx="2124448" cy="6949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кредитный портфель МСП на 01.08.2026 по данным ЦБ.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4608" y="1847088"/>
            <a:ext cx="2599936" cy="25786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rotWithShape="0">
              <a:srgbClr val="1B104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642352" y="2121408"/>
            <a:ext cx="384048" cy="50292"/>
          </a:xfrm>
          <a:prstGeom prst="rect">
            <a:avLst/>
          </a:prstGeom>
          <a:solidFill>
            <a:srgbClr val="2A8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42352" y="2395728"/>
            <a:ext cx="212444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+5,8%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2352" y="3035808"/>
            <a:ext cx="2124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2A8DB6"/>
                </a:solidFill>
                <a:latin typeface="Segoe UI"/>
                <a:ea typeface="Segoe UI"/>
                <a:cs typeface="Segoe UI"/>
              </a:rPr>
              <a:t>Г/Г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2352" y="3456432"/>
            <a:ext cx="2124448" cy="6949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рост портфеля.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7424" y="1847088"/>
            <a:ext cx="2599936" cy="25786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rotWithShape="0">
              <a:srgbClr val="1B104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425168" y="2121408"/>
            <a:ext cx="384048" cy="50292"/>
          </a:xfrm>
          <a:prstGeom prst="rect">
            <a:avLst/>
          </a:prstGeom>
          <a:solidFill>
            <a:srgbClr val="5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25168" y="2395728"/>
            <a:ext cx="212444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1,313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5168" y="3035808"/>
            <a:ext cx="2124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5B21A8"/>
                </a:solidFill>
                <a:latin typeface="Segoe UI"/>
                <a:ea typeface="Segoe UI"/>
                <a:cs typeface="Segoe UI"/>
              </a:rPr>
              <a:t>ТРЛН 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5168" y="3456432"/>
            <a:ext cx="2124448" cy="6949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выдачи МСП в июле; +18,4% г/г.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0240" y="1847088"/>
            <a:ext cx="2599936" cy="25786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rotWithShape="0">
              <a:srgbClr val="1B104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9207984" y="2121408"/>
            <a:ext cx="384048" cy="50292"/>
          </a:xfrm>
          <a:prstGeom prst="rect">
            <a:avLst/>
          </a:prstGeom>
          <a:solidFill>
            <a:srgbClr val="FF5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207984" y="2395728"/>
            <a:ext cx="212444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−30,2%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7984" y="3035808"/>
            <a:ext cx="2124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FF5CD2"/>
                </a:solidFill>
                <a:latin typeface="Segoe UI"/>
                <a:ea typeface="Segoe UI"/>
                <a:cs typeface="Segoe UI"/>
              </a:rPr>
              <a:t>Г/Г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7984" y="3456432"/>
            <a:ext cx="2124448" cy="6949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выдачи МСП в Москве в I кв. 2026 — при росте выдач крупному бизнесу.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" y="4681728"/>
            <a:ext cx="10948385" cy="1335024"/>
          </a:xfrm>
          <a:prstGeom prst="roundRect">
            <a:avLst>
              <a:gd name="adj" fmla="val 9000"/>
            </a:avLst>
          </a:prstGeom>
          <a:solidFill>
            <a:srgbClr val="240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21792" y="4956048"/>
            <a:ext cx="68580" cy="786384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24128" y="4956048"/>
            <a:ext cx="100339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FF5CD2"/>
                </a:solidFill>
                <a:latin typeface="Segoe UI"/>
                <a:ea typeface="Segoe UI"/>
                <a:cs typeface="Segoe UI"/>
              </a:rPr>
              <a:t>ВОПРОС СТОЛА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5285232"/>
            <a:ext cx="1003398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«Банки сокращают риск МСП — или просто переносят его в более крупных заемщиков?»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6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21792" y="608076"/>
            <a:ext cx="201168" cy="105156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50976" y="566928"/>
            <a:ext cx="1094838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70">
                <a:solidFill>
                  <a:srgbClr val="E21CA8"/>
                </a:solidFill>
                <a:latin typeface="Segoe UI"/>
                <a:ea typeface="Segoe UI"/>
                <a:cs typeface="Segoe UI"/>
              </a:rPr>
              <a:t>ОСТОРОЖНО С ЦИФРОЙ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94838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Тезис «залог покрывает не более 50% корп. и МСП портфеля» — не ставим как факт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6272784"/>
            <a:ext cx="10948385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21792" y="6391656"/>
            <a:ext cx="94853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Проверка по открытым материалам ЦБ и «Эксперт РА»; агрегированной цифры &lt;50% не подтверждено.</a:t>
            </a:r>
          </a:p>
        </p:txBody>
      </p:sp>
      <p:pic>
        <p:nvPicPr>
          <p:cNvPr id="8" name="Picture 7" descr="mark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489" y="6400800"/>
            <a:ext cx="255804" cy="256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021537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28800"/>
            <a:ext cx="10948385" cy="1316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1792" y="2092147"/>
            <a:ext cx="68580" cy="790041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87552" y="1828800"/>
            <a:ext cx="3063240" cy="1316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В открытых данных ЦБ нет единой актуальной цифры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0792" y="1828800"/>
            <a:ext cx="7098761" cy="1316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которая позволяла бы честно сказать: «не более 50% корпоративного и МСП-портфеля обеспечено залогом».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73552"/>
            <a:ext cx="10948385" cy="1316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21792" y="3536899"/>
            <a:ext cx="68580" cy="790041"/>
          </a:xfrm>
          <a:prstGeom prst="rect">
            <a:avLst/>
          </a:prstGeom>
          <a:solidFill>
            <a:srgbClr val="2A8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87552" y="3273552"/>
            <a:ext cx="3063240" cy="1316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Бизнес-модели банков различаются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0792" y="3273552"/>
            <a:ext cx="7098761" cy="1316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часть корпоративных кредитов — бланковые; часть обеспечена залогом, гарантиями, поручительствами, денежными потоками или иными формами.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4718304"/>
            <a:ext cx="10948385" cy="1316736"/>
          </a:xfrm>
          <a:prstGeom prst="roundRect">
            <a:avLst>
              <a:gd name="adj" fmla="val 10000"/>
            </a:avLst>
          </a:prstGeom>
          <a:solidFill>
            <a:srgbClr val="240D4E"/>
          </a:solidFill>
          <a:ln>
            <a:noFill/>
          </a:ln>
          <a:effectLst>
            <a:outerShdw blurRad="177800" dist="38100" dir="5400000" rotWithShape="0">
              <a:srgbClr val="1B10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1792" y="4981651"/>
            <a:ext cx="68580" cy="790041"/>
          </a:xfrm>
          <a:prstGeom prst="rect">
            <a:avLst/>
          </a:prstGeom>
          <a:solidFill>
            <a:srgbClr val="FF5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87552" y="4718304"/>
            <a:ext cx="3063240" cy="1316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Лучший вопрос для круглого стола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2" y="4718304"/>
            <a:ext cx="7098761" cy="1316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EAE1F7"/>
                </a:solidFill>
                <a:latin typeface="Georgia"/>
                <a:ea typeface="Georgia"/>
                <a:cs typeface="Georgia"/>
              </a:rPr>
              <a:t>«Какова фактическая доля кредитного портфеля, где банк при дефолте реально рассчитывает именно на реализацию материального обеспечения — а не на cash flow, поручительство или гарантию?»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6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21792" y="608076"/>
            <a:ext cx="201168" cy="105156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50976" y="566928"/>
            <a:ext cx="1094838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70">
                <a:solidFill>
                  <a:srgbClr val="E21CA8"/>
                </a:solidFill>
                <a:latin typeface="Segoe UI"/>
                <a:ea typeface="Segoe UI"/>
                <a:cs typeface="Segoe UI"/>
              </a:rPr>
              <a:t>ПРАКТИКА РЫНКА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94838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Что говорит практика банков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6272784"/>
            <a:ext cx="10948385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21792" y="6391656"/>
            <a:ext cx="94853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«Эксперт РА»: рейтинговые сообщения Альфа-Банка, Газпромбанка и Совкомбанка, 2026.</a:t>
            </a:r>
          </a:p>
        </p:txBody>
      </p:sp>
      <p:pic>
        <p:nvPicPr>
          <p:cNvPr id="8" name="Picture 7" descr="mark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489" y="6400800"/>
            <a:ext cx="255804" cy="256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021537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28800"/>
            <a:ext cx="10948385" cy="9555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1792" y="2019909"/>
            <a:ext cx="68580" cy="573328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87552" y="1828800"/>
            <a:ext cx="3063240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Альфа-Банк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0792" y="1828800"/>
            <a:ext cx="7098761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«Эксперт РА»: имущественная обеспеченность портфеля невысокая; в корпоративном сегменте есть бланковые кредиты высоконадёжным заемщикам.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912364"/>
            <a:ext cx="10948385" cy="9555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21792" y="3103473"/>
            <a:ext cx="68580" cy="573328"/>
          </a:xfrm>
          <a:prstGeom prst="rect">
            <a:avLst/>
          </a:prstGeom>
          <a:solidFill>
            <a:srgbClr val="2A8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87552" y="2912364"/>
            <a:ext cx="3063240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Газпромбанк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0792" y="2912364"/>
            <a:ext cx="7098761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обеспеченность корпоративного портфеля оценивается как адекватная с учётом бизнес-модели и качества крупнейших заемщиков.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995928"/>
            <a:ext cx="10948385" cy="9555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1792" y="4187037"/>
            <a:ext cx="68580" cy="573328"/>
          </a:xfrm>
          <a:prstGeom prst="rect">
            <a:avLst/>
          </a:prstGeom>
          <a:solidFill>
            <a:srgbClr val="5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87552" y="3995928"/>
            <a:ext cx="3063240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Совкомбанк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2" y="3995928"/>
            <a:ext cx="7098761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«Эксперт РА» отдельно отмечает преобладание бланковых кредитов в части корпоративного портфеля.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5079492"/>
            <a:ext cx="10948385" cy="955548"/>
          </a:xfrm>
          <a:prstGeom prst="roundRect">
            <a:avLst>
              <a:gd name="adj" fmla="val 10000"/>
            </a:avLst>
          </a:prstGeom>
          <a:solidFill>
            <a:srgbClr val="240D4E"/>
          </a:solidFill>
          <a:ln>
            <a:noFill/>
          </a:ln>
          <a:effectLst>
            <a:outerShdw blurRad="177800" dist="38100" dir="5400000" rotWithShape="0">
              <a:srgbClr val="1B10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1792" y="5270601"/>
            <a:ext cx="68580" cy="573328"/>
          </a:xfrm>
          <a:prstGeom prst="rect">
            <a:avLst/>
          </a:prstGeom>
          <a:solidFill>
            <a:srgbClr val="FF5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87552" y="5079492"/>
            <a:ext cx="3063240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Вывод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50792" y="5079492"/>
            <a:ext cx="7098761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EAE1F7"/>
                </a:solidFill>
                <a:latin typeface="Georgia"/>
                <a:ea typeface="Georgia"/>
                <a:cs typeface="Georgia"/>
              </a:rPr>
              <a:t>«50%» нельзя выдавать за общерыночную цифру — обсуждать нужно структуру обеспечения.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240D4E"/>
              </a:gs>
              <a:gs pos="100000">
                <a:srgbClr val="3A1474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industries.jpg"/>
          <p:cNvPicPr>
            <a:picLocks noChangeAspect="1"/>
          </p:cNvPicPr>
          <p:nvPr/>
        </p:nvPicPr>
        <p:blipFill>
          <a:blip r:embed="rId2"/>
          <a:srcRect t="26" b="26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240D4E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8412480" cy="6858000"/>
          </a:xfrm>
          <a:prstGeom prst="rect">
            <a:avLst/>
          </a:prstGeom>
          <a:gradFill rotWithShape="1">
            <a:gsLst>
              <a:gs pos="0">
                <a:srgbClr val="240D4E">
                  <a:alpha val="90000"/>
                </a:srgbClr>
              </a:gs>
              <a:gs pos="100000">
                <a:srgbClr val="240D4E">
                  <a:alpha val="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937760"/>
            <a:ext cx="12191969" cy="1920240"/>
          </a:xfrm>
          <a:prstGeom prst="rect">
            <a:avLst/>
          </a:prstGeom>
          <a:gradFill rotWithShape="1">
            <a:gsLst>
              <a:gs pos="0">
                <a:srgbClr val="240D4E">
                  <a:alpha val="0"/>
                </a:srgbClr>
              </a:gs>
              <a:gs pos="100000">
                <a:srgbClr val="240D4E">
                  <a:alpha val="75000"/>
                </a:srgbClr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1792" y="1572768"/>
            <a:ext cx="3657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800" b="1" i="0">
                <a:solidFill>
                  <a:srgbClr val="4A228C"/>
                </a:solidFill>
                <a:latin typeface="Segoe UI Semibold"/>
                <a:ea typeface="Segoe UI Semibold"/>
                <a:cs typeface="Segoe UI Semibold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054096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40">
                <a:solidFill>
                  <a:srgbClr val="FF5CD2"/>
                </a:solidFill>
                <a:latin typeface="Segoe UI"/>
                <a:ea typeface="Segoe UI"/>
                <a:cs typeface="Segoe UI"/>
              </a:rPr>
              <a:t>БЛОК II · 15–35 МИНУТ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419856"/>
            <a:ext cx="7863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Отраслевые кейсы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4828032"/>
            <a:ext cx="1554480" cy="45720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792" y="5138928"/>
            <a:ext cx="74980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DACDEE"/>
                </a:solidFill>
                <a:latin typeface="Segoe UI"/>
                <a:ea typeface="Segoe UI"/>
                <a:cs typeface="Segoe UI"/>
              </a:rPr>
              <a:t>Wildberries → «Трасса» → уголь → металлургия: четыре разных механизма стресса в одном портфеле.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12577" y="5669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200">
                <a:solidFill>
                  <a:srgbClr val="4A228C"/>
                </a:solidFill>
                <a:latin typeface="Segoe UI"/>
                <a:ea typeface="Segoe UI"/>
                <a:cs typeface="Segoe UI"/>
              </a:rPr>
              <a:t>КРУГЛЫЙ СТОЛ МСЭО ·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6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21792" y="608076"/>
            <a:ext cx="201168" cy="105156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50976" y="566928"/>
            <a:ext cx="1094838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70">
                <a:solidFill>
                  <a:srgbClr val="E21CA8"/>
                </a:solidFill>
                <a:latin typeface="Segoe UI"/>
                <a:ea typeface="Segoe UI"/>
                <a:cs typeface="Segoe UI"/>
              </a:rPr>
              <a:t>КЕЙС №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94838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Wildberries: риск уже вышел за пределы одного заемщика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6272784"/>
            <a:ext cx="10948385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21792" y="6391656"/>
            <a:ext cx="94853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Reuters, 28.07 и 07.08.2026; Reuters/источники рынка по долгу WB; Meduza/Riddle — контекст.</a:t>
            </a:r>
          </a:p>
        </p:txBody>
      </p:sp>
      <p:pic>
        <p:nvPicPr>
          <p:cNvPr id="8" name="Picture 7" descr="mark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489" y="6400800"/>
            <a:ext cx="255804" cy="256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021537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47088"/>
            <a:ext cx="2599936" cy="41696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rotWithShape="0">
              <a:srgbClr val="1B104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859536" y="2121408"/>
            <a:ext cx="384048" cy="50292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59536" y="2395728"/>
            <a:ext cx="212444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≈ 1,3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035808"/>
            <a:ext cx="2124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E21CA8"/>
                </a:solidFill>
                <a:latin typeface="Segoe UI"/>
                <a:ea typeface="Segoe UI"/>
                <a:cs typeface="Segoe UI"/>
              </a:rPr>
              <a:t>ТРЛН 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456432"/>
            <a:ext cx="2124448" cy="2286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оценка общей долговой нагрузки Wildberries на конец 2025 г. по данным источников рынка.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4608" y="1847088"/>
            <a:ext cx="2599936" cy="41696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rotWithShape="0">
              <a:srgbClr val="1B104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642352" y="2121408"/>
            <a:ext cx="384048" cy="50292"/>
          </a:xfrm>
          <a:prstGeom prst="rect">
            <a:avLst/>
          </a:prstGeom>
          <a:solidFill>
            <a:srgbClr val="2A8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42352" y="2395728"/>
            <a:ext cx="212444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&gt; 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2352" y="3035808"/>
            <a:ext cx="2124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2A8DB6"/>
                </a:solidFill>
                <a:latin typeface="Segoe UI"/>
                <a:ea typeface="Segoe UI"/>
                <a:cs typeface="Segoe UI"/>
              </a:rPr>
              <a:t>МЛРД 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2352" y="3456432"/>
            <a:ext cx="2124448" cy="2286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оценка долга перед ВТБ.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7424" y="1847088"/>
            <a:ext cx="2599936" cy="41696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rotWithShape="0">
              <a:srgbClr val="1B104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425168" y="2121408"/>
            <a:ext cx="384048" cy="50292"/>
          </a:xfrm>
          <a:prstGeom prst="rect">
            <a:avLst/>
          </a:prstGeom>
          <a:solidFill>
            <a:srgbClr val="5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25168" y="2395728"/>
            <a:ext cx="212444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&gt; 1,18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5168" y="3035808"/>
            <a:ext cx="2124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5B21A8"/>
                </a:solidFill>
                <a:latin typeface="Segoe UI"/>
                <a:ea typeface="Segoe UI"/>
                <a:cs typeface="Segoe UI"/>
              </a:rPr>
              <a:t>МЛН М²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5168" y="3456432"/>
            <a:ext cx="2124448" cy="2286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повреждено или уничтожено складских площадей — свыше пятой части мощности (оценка Reuters).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0240" y="1847088"/>
            <a:ext cx="2599936" cy="41696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rotWithShape="0">
              <a:srgbClr val="1B104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9207984" y="2121408"/>
            <a:ext cx="384048" cy="50292"/>
          </a:xfrm>
          <a:prstGeom prst="rect">
            <a:avLst/>
          </a:prstGeom>
          <a:solidFill>
            <a:srgbClr val="FF5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207984" y="2395728"/>
            <a:ext cx="212444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≈ 300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7984" y="3035808"/>
            <a:ext cx="2124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FF5CD2"/>
                </a:solidFill>
                <a:latin typeface="Segoe UI"/>
                <a:ea typeface="Segoe UI"/>
                <a:cs typeface="Segoe UI"/>
              </a:rPr>
              <a:t>КОМПАНИЙ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7984" y="3456432"/>
            <a:ext cx="2124448" cy="2286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обратились в Сбер за реструктуризацией; банк рассматривал рост резервов.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6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21792" y="608076"/>
            <a:ext cx="201168" cy="105156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50976" y="566928"/>
            <a:ext cx="1094838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70">
                <a:solidFill>
                  <a:srgbClr val="E21CA8"/>
                </a:solidFill>
                <a:latin typeface="Segoe UI"/>
                <a:ea typeface="Segoe UI"/>
                <a:cs typeface="Segoe UI"/>
              </a:rPr>
              <a:t>КЕЙС № 1 · 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94838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Wildberries: решение проблемы — не только кредит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6272784"/>
            <a:ext cx="10948385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21792" y="6391656"/>
            <a:ext cx="94853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Reuters 24.07, 29.07, 07.08, 26.08.2026; Право.ru 23.07.2026.</a:t>
            </a:r>
          </a:p>
        </p:txBody>
      </p:sp>
      <p:pic>
        <p:nvPicPr>
          <p:cNvPr id="8" name="Picture 7" descr="mark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489" y="6400800"/>
            <a:ext cx="255804" cy="256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021537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28800"/>
            <a:ext cx="10948385" cy="1316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1792" y="2092147"/>
            <a:ext cx="68580" cy="790041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87552" y="1828800"/>
            <a:ext cx="3063240" cy="1316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Что уже делается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0792" y="1828800"/>
            <a:ext cx="7098761" cy="1316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компенсации пострадавшим селлерам; отсрочки по кредитам; программы реструктуризации; обсуждение господдержки и восстановления складов.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73552"/>
            <a:ext cx="10948385" cy="1316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21792" y="3536899"/>
            <a:ext cx="68580" cy="790041"/>
          </a:xfrm>
          <a:prstGeom prst="rect">
            <a:avLst/>
          </a:prstGeom>
          <a:solidFill>
            <a:srgbClr val="2A8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87552" y="3273552"/>
            <a:ext cx="3063240" cy="1316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Что происходит с банком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0792" y="3273552"/>
            <a:ext cx="7098761" cy="1316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ухудшается качество кредитов у селлеров, растёт вероятность резервирования; риск распространяется через тысячи МСП.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4718304"/>
            <a:ext cx="10948385" cy="1316736"/>
          </a:xfrm>
          <a:prstGeom prst="roundRect">
            <a:avLst>
              <a:gd name="adj" fmla="val 10000"/>
            </a:avLst>
          </a:prstGeom>
          <a:solidFill>
            <a:srgbClr val="240D4E"/>
          </a:solidFill>
          <a:ln>
            <a:noFill/>
          </a:ln>
          <a:effectLst>
            <a:outerShdw blurRad="177800" dist="38100" dir="5400000" rotWithShape="0">
              <a:srgbClr val="1B10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1792" y="4981651"/>
            <a:ext cx="68580" cy="790041"/>
          </a:xfrm>
          <a:prstGeom prst="rect">
            <a:avLst/>
          </a:prstGeom>
          <a:solidFill>
            <a:srgbClr val="FF5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87552" y="4718304"/>
            <a:ext cx="3063240" cy="1316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Ключевой вопрос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2" y="4718304"/>
            <a:ext cx="7098761" cy="1316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EAE1F7"/>
                </a:solidFill>
                <a:latin typeface="Georgia"/>
                <a:ea typeface="Georgia"/>
                <a:cs typeface="Georgia"/>
              </a:rPr>
              <a:t>«Если физический актив разрушен, но бизнес-модель сохраняет будущий cash flow, что банк должен считать обеспечением — склад, товар, денежный поток или инфраструктурную поддержку?»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6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21792" y="608076"/>
            <a:ext cx="201168" cy="105156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50976" y="566928"/>
            <a:ext cx="1094838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70">
                <a:solidFill>
                  <a:srgbClr val="E21CA8"/>
                </a:solidFill>
                <a:latin typeface="Segoe UI"/>
                <a:ea typeface="Segoe UI"/>
                <a:cs typeface="Segoe UI"/>
              </a:rPr>
              <a:t>КЕЙС №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94838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«ТРАССА» / ЕвроТранс: когда кредитный риск становится корпоративным кризисом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6272784"/>
            <a:ext cx="10948385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21792" y="6391656"/>
            <a:ext cx="94853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РБК, 08.09.2026: «Дело генерала и иски на миллиарды: что происходит с сетью АЗС “Трасса”».</a:t>
            </a:r>
          </a:p>
        </p:txBody>
      </p:sp>
      <p:pic>
        <p:nvPicPr>
          <p:cNvPr id="8" name="Picture 7" descr="mark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489" y="6400800"/>
            <a:ext cx="255804" cy="256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021537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47088"/>
            <a:ext cx="2599936" cy="25786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rotWithShape="0">
              <a:srgbClr val="1B104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859536" y="2121408"/>
            <a:ext cx="384048" cy="50292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59536" y="2395728"/>
            <a:ext cx="212444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035808"/>
            <a:ext cx="2124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E21CA8"/>
                </a:solidFill>
                <a:latin typeface="Segoe UI"/>
                <a:ea typeface="Segoe UI"/>
                <a:cs typeface="Segoe UI"/>
              </a:rPr>
              <a:t>АЗС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456432"/>
            <a:ext cx="2124448" cy="6949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сеть в Москве и Московской области; оператор — ЕвроТранс.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4608" y="1847088"/>
            <a:ext cx="2599936" cy="25786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rotWithShape="0">
              <a:srgbClr val="1B104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642352" y="2121408"/>
            <a:ext cx="384048" cy="50292"/>
          </a:xfrm>
          <a:prstGeom prst="rect">
            <a:avLst/>
          </a:prstGeom>
          <a:solidFill>
            <a:srgbClr val="2A8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42352" y="2395728"/>
            <a:ext cx="212444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36,1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2352" y="3035808"/>
            <a:ext cx="2124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2A8DB6"/>
                </a:solidFill>
                <a:latin typeface="Segoe UI"/>
                <a:ea typeface="Segoe UI"/>
                <a:cs typeface="Segoe UI"/>
              </a:rPr>
              <a:t>МЛРД 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2352" y="3456432"/>
            <a:ext cx="2124448" cy="6949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публичный долг, включая ЦФА, по данным Cbonds, цитируемым РБК.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7424" y="1847088"/>
            <a:ext cx="2599936" cy="25786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rotWithShape="0">
              <a:srgbClr val="1B104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425168" y="2121408"/>
            <a:ext cx="384048" cy="50292"/>
          </a:xfrm>
          <a:prstGeom prst="rect">
            <a:avLst/>
          </a:prstGeom>
          <a:solidFill>
            <a:srgbClr val="5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25168" y="2395728"/>
            <a:ext cx="212444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27,1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5168" y="3035808"/>
            <a:ext cx="2124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5B21A8"/>
                </a:solidFill>
                <a:latin typeface="Segoe UI"/>
                <a:ea typeface="Segoe UI"/>
                <a:cs typeface="Segoe UI"/>
              </a:rPr>
              <a:t>МЛРД 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5168" y="3456432"/>
            <a:ext cx="2124448" cy="6949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10 облигационных выпусков по данным Московской биржи / РБК.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0240" y="1847088"/>
            <a:ext cx="2599936" cy="25786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rotWithShape="0">
              <a:srgbClr val="1B104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9207984" y="2121408"/>
            <a:ext cx="384048" cy="50292"/>
          </a:xfrm>
          <a:prstGeom prst="rect">
            <a:avLst/>
          </a:prstGeom>
          <a:solidFill>
            <a:srgbClr val="FF5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207984" y="2395728"/>
            <a:ext cx="212444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&gt; 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7984" y="3035808"/>
            <a:ext cx="2124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FF5CD2"/>
                </a:solidFill>
                <a:latin typeface="Segoe UI"/>
                <a:ea typeface="Segoe UI"/>
                <a:cs typeface="Segoe UI"/>
              </a:rPr>
              <a:t>МЛРД 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7984" y="3456432"/>
            <a:ext cx="2124448" cy="6949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совокупный объём исков к компании по данным РБК на начало сентября.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" y="4681728"/>
            <a:ext cx="10948385" cy="1335024"/>
          </a:xfrm>
          <a:prstGeom prst="roundRect">
            <a:avLst>
              <a:gd name="adj" fmla="val 9000"/>
            </a:avLst>
          </a:prstGeom>
          <a:solidFill>
            <a:srgbClr val="240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21792" y="4956048"/>
            <a:ext cx="68580" cy="786384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24128" y="4956048"/>
            <a:ext cx="100339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FF5CD2"/>
                </a:solidFill>
                <a:latin typeface="Segoe UI"/>
                <a:ea typeface="Segoe UI"/>
                <a:cs typeface="Segoe UI"/>
              </a:rPr>
              <a:t>07.09.2026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5285232"/>
            <a:ext cx="1003398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Московская биржа зафиксировала дефолт по биржевым облигациям.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6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21792" y="608076"/>
            <a:ext cx="201168" cy="105156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50976" y="566928"/>
            <a:ext cx="1094838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70">
                <a:solidFill>
                  <a:srgbClr val="E21CA8"/>
                </a:solidFill>
                <a:latin typeface="Segoe UI"/>
                <a:ea typeface="Segoe UI"/>
                <a:cs typeface="Segoe UI"/>
              </a:rPr>
              <a:t>КЕЙС № 2 · РАЗБОР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94838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ТРАССА: почему это идеальный кейс для risk + collateral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6272784"/>
            <a:ext cx="10948385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21792" y="6391656"/>
            <a:ext cx="94853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РБК 08.09.2026; Право.ru 08.09.2026.</a:t>
            </a:r>
          </a:p>
        </p:txBody>
      </p:sp>
      <p:pic>
        <p:nvPicPr>
          <p:cNvPr id="8" name="Picture 7" descr="mark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489" y="6400800"/>
            <a:ext cx="255804" cy="256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021537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28800"/>
            <a:ext cx="10948385" cy="9555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1792" y="2019909"/>
            <a:ext cx="68580" cy="573328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87552" y="1828800"/>
            <a:ext cx="3063240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Операционный актив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0792" y="1828800"/>
            <a:ext cx="7098761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АЗС, нефтебаза, бензовозный парк, лаборатория, фабрика-кухня.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912364"/>
            <a:ext cx="10948385" cy="9555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21792" y="3103473"/>
            <a:ext cx="68580" cy="573328"/>
          </a:xfrm>
          <a:prstGeom prst="rect">
            <a:avLst/>
          </a:prstGeom>
          <a:solidFill>
            <a:srgbClr val="2A8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87552" y="2912364"/>
            <a:ext cx="3063240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Финансовая проблема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0792" y="2912364"/>
            <a:ext cx="7098761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дефолты по облигациям, иски, налоговая задолженность, заявления банков о намерении банкротства.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995928"/>
            <a:ext cx="10948385" cy="9555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1792" y="4187037"/>
            <a:ext cx="68580" cy="573328"/>
          </a:xfrm>
          <a:prstGeom prst="rect">
            <a:avLst/>
          </a:prstGeom>
          <a:solidFill>
            <a:srgbClr val="5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87552" y="3995928"/>
            <a:ext cx="3063240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Юридический и репутационный шок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2" y="3995928"/>
            <a:ext cx="7098761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8 сентября 2026 г. — задержание основного акционера и топ-менеджеров по уголовному делу; отдельный риск управления и контроля.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5079492"/>
            <a:ext cx="10948385" cy="955548"/>
          </a:xfrm>
          <a:prstGeom prst="roundRect">
            <a:avLst>
              <a:gd name="adj" fmla="val 10000"/>
            </a:avLst>
          </a:prstGeom>
          <a:solidFill>
            <a:srgbClr val="240D4E"/>
          </a:solidFill>
          <a:ln>
            <a:noFill/>
          </a:ln>
          <a:effectLst>
            <a:outerShdw blurRad="177800" dist="38100" dir="5400000" rotWithShape="0">
              <a:srgbClr val="1B10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1792" y="5270601"/>
            <a:ext cx="68580" cy="573328"/>
          </a:xfrm>
          <a:prstGeom prst="rect">
            <a:avLst/>
          </a:prstGeom>
          <a:solidFill>
            <a:srgbClr val="FF5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87552" y="5079492"/>
            <a:ext cx="3063240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Вопрос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50792" y="5079492"/>
            <a:ext cx="7098761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EAE1F7"/>
                </a:solidFill>
                <a:latin typeface="Georgia"/>
                <a:ea typeface="Georgia"/>
                <a:cs typeface="Georgia"/>
              </a:rPr>
              <a:t>«Сколько стоит сеть АЗС как работающий бизнес — и сколько она стоит, если кредитор вынужден продавать её по частям?»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6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21792" y="608076"/>
            <a:ext cx="201168" cy="105156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50976" y="566928"/>
            <a:ext cx="1094838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70">
                <a:solidFill>
                  <a:srgbClr val="E21CA8"/>
                </a:solidFill>
                <a:latin typeface="Segoe UI"/>
                <a:ea typeface="Segoe UI"/>
                <a:cs typeface="Segoe UI"/>
              </a:rPr>
              <a:t>КЕЙС №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94838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Уголь: проблема уже системная для отдельных заемщиков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6272784"/>
            <a:ext cx="10948385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21792" y="6391656"/>
            <a:ext cx="94853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Росстат/Forbes 03.08.2026; Finam 14.08.2026; данные Минэнерго, цитируемые отраслевыми источниками.</a:t>
            </a:r>
          </a:p>
        </p:txBody>
      </p:sp>
      <p:pic>
        <p:nvPicPr>
          <p:cNvPr id="8" name="Picture 7" descr="mark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489" y="6400800"/>
            <a:ext cx="255804" cy="256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021537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28800"/>
            <a:ext cx="10948385" cy="9555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1792" y="2019909"/>
            <a:ext cx="68580" cy="573328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87552" y="1828800"/>
            <a:ext cx="3063240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123,1 млрд ₽ убытка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0792" y="1828800"/>
            <a:ext cx="7098761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сальдированный убыток угольной отрасли за январь–май 2026 г.; снижение убытка лишь на 9,6% г/г.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912364"/>
            <a:ext cx="10948385" cy="9555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21792" y="3103473"/>
            <a:ext cx="68580" cy="573328"/>
          </a:xfrm>
          <a:prstGeom prst="rect">
            <a:avLst/>
          </a:prstGeom>
          <a:solidFill>
            <a:srgbClr val="2A8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87552" y="2912364"/>
            <a:ext cx="3063240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23 компании закрылись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0792" y="2912364"/>
            <a:ext cx="7098761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к декабрю 2025 г.; ещё 53 находились под угрозой закрытия — данные, цитируемые из Минэнерго.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995928"/>
            <a:ext cx="10948385" cy="9555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1792" y="4187037"/>
            <a:ext cx="68580" cy="573328"/>
          </a:xfrm>
          <a:prstGeom prst="rect">
            <a:avLst/>
          </a:prstGeom>
          <a:solidFill>
            <a:srgbClr val="5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87552" y="3995928"/>
            <a:ext cx="3063240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Распадская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2" y="3995928"/>
            <a:ext cx="7098761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добыча в I полугодии 2026 г. снизилась на 12% до 7,9 млн т; выручка ≈ 57,9 млрд ₽, чистый убыток — 8,3 млрд ₽.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5079492"/>
            <a:ext cx="10948385" cy="955548"/>
          </a:xfrm>
          <a:prstGeom prst="roundRect">
            <a:avLst>
              <a:gd name="adj" fmla="val 10000"/>
            </a:avLst>
          </a:prstGeom>
          <a:solidFill>
            <a:srgbClr val="240D4E"/>
          </a:solidFill>
          <a:ln>
            <a:noFill/>
          </a:ln>
          <a:effectLst>
            <a:outerShdw blurRad="177800" dist="38100" dir="5400000" rotWithShape="0">
              <a:srgbClr val="1B10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1792" y="5270601"/>
            <a:ext cx="68580" cy="573328"/>
          </a:xfrm>
          <a:prstGeom prst="rect">
            <a:avLst/>
          </a:prstGeom>
          <a:solidFill>
            <a:srgbClr val="FF5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87552" y="5079492"/>
            <a:ext cx="3063240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Главный риск банка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50792" y="5079492"/>
            <a:ext cx="7098761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EAE1F7"/>
                </a:solidFill>
                <a:latin typeface="Georgia"/>
                <a:ea typeface="Georgia"/>
                <a:cs typeface="Georgia"/>
              </a:rPr>
              <a:t>не только цена угля, но и логистика, экспортные дисконты, валютный курс, CAPEX и ликвидность угольных активов.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6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21792" y="608076"/>
            <a:ext cx="201168" cy="105156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50976" y="566928"/>
            <a:ext cx="1094838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70">
                <a:solidFill>
                  <a:srgbClr val="E21CA8"/>
                </a:solidFill>
                <a:latin typeface="Segoe UI"/>
                <a:ea typeface="Segoe UI"/>
                <a:cs typeface="Segoe UI"/>
              </a:rPr>
              <a:t>КЕЙС № 3 · 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94838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Уголь: консолидация, реструктуризация, закрытие слабых мощностей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6272784"/>
            <a:ext cx="10948385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21792" y="6391656"/>
            <a:ext cx="94853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Интерфакс 01.07.2025; отраслевые материалы 2026.</a:t>
            </a:r>
          </a:p>
        </p:txBody>
      </p:sp>
      <p:pic>
        <p:nvPicPr>
          <p:cNvPr id="8" name="Picture 7" descr="mark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489" y="6400800"/>
            <a:ext cx="255804" cy="256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021537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28800"/>
            <a:ext cx="10948385" cy="9555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1792" y="2019909"/>
            <a:ext cx="68580" cy="573328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87552" y="1828800"/>
            <a:ext cx="3063240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Мечел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0792" y="1828800"/>
            <a:ext cx="7098761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банки перенесли часть погашений основного долга с 2025–2026 на 2027–2030 гг.; цель — разгрузить денежный поток.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912364"/>
            <a:ext cx="10948385" cy="9555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21792" y="3103473"/>
            <a:ext cx="68580" cy="573328"/>
          </a:xfrm>
          <a:prstGeom prst="rect">
            <a:avLst/>
          </a:prstGeom>
          <a:solidFill>
            <a:srgbClr val="2A8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87552" y="2912364"/>
            <a:ext cx="3063240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Отрасль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0792" y="2912364"/>
            <a:ext cx="7098761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закрытие нерентабельных предприятий и перераспределение нагрузки на более эффективные активы.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995928"/>
            <a:ext cx="10948385" cy="9555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1792" y="4187037"/>
            <a:ext cx="68580" cy="573328"/>
          </a:xfrm>
          <a:prstGeom prst="rect">
            <a:avLst/>
          </a:prstGeom>
          <a:solidFill>
            <a:srgbClr val="5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87552" y="3995928"/>
            <a:ext cx="3063240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Для залога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2" y="3995928"/>
            <a:ext cx="7098761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шахта или разрез ≠ универсальный ликвидный актив; recovery зависит от запасов, инфраструктуры, лицензий, железнодорожной логистики и цены угля.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5079492"/>
            <a:ext cx="10948385" cy="955548"/>
          </a:xfrm>
          <a:prstGeom prst="roundRect">
            <a:avLst>
              <a:gd name="adj" fmla="val 10000"/>
            </a:avLst>
          </a:prstGeom>
          <a:solidFill>
            <a:srgbClr val="240D4E"/>
          </a:solidFill>
          <a:ln>
            <a:noFill/>
          </a:ln>
          <a:effectLst>
            <a:outerShdw blurRad="177800" dist="38100" dir="5400000" rotWithShape="0">
              <a:srgbClr val="1B10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1792" y="5270601"/>
            <a:ext cx="68580" cy="573328"/>
          </a:xfrm>
          <a:prstGeom prst="rect">
            <a:avLst/>
          </a:prstGeom>
          <a:solidFill>
            <a:srgbClr val="FF5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87552" y="5079492"/>
            <a:ext cx="3063240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Вопрос кредитору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50792" y="5079492"/>
            <a:ext cx="7098761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EAE1F7"/>
                </a:solidFill>
                <a:latin typeface="Georgia"/>
                <a:ea typeface="Georgia"/>
                <a:cs typeface="Georgia"/>
              </a:rPr>
              <a:t>«Если предприятие живёт только после переноса тела долга, что является источником возврата: операционный cash flow или ожидание улучшения рынка?»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6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21792" y="608076"/>
            <a:ext cx="201168" cy="105156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50976" y="566928"/>
            <a:ext cx="1094838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70">
                <a:solidFill>
                  <a:srgbClr val="E21CA8"/>
                </a:solidFill>
                <a:latin typeface="Segoe UI"/>
                <a:ea typeface="Segoe UI"/>
                <a:cs typeface="Segoe UI"/>
              </a:rPr>
              <a:t>КЕЙС №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94838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Металлургия: не все одинаковы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6272784"/>
            <a:ext cx="10948385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21792" y="6391656"/>
            <a:ext cx="94853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Forbes 21.04.2026; Fomag 27.03.2026; Finam/Fomag 08.09.2026.</a:t>
            </a:r>
          </a:p>
        </p:txBody>
      </p:sp>
      <p:pic>
        <p:nvPicPr>
          <p:cNvPr id="8" name="Picture 7" descr="mark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489" y="6400800"/>
            <a:ext cx="255804" cy="256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021537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011680"/>
            <a:ext cx="3527541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rotWithShape="0">
              <a:srgbClr val="1B104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877824" y="2322576"/>
            <a:ext cx="384048" cy="50292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77824" y="2578608"/>
            <a:ext cx="301547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Северсталь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328416"/>
            <a:ext cx="3015477" cy="1444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металлопотребление в РФ в I квартале 2026 г. снизилось на 15%; выручка Северстали в I квартале — 145,3 млрд ₽, −19% г/г.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2213" y="2011680"/>
            <a:ext cx="3527541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rotWithShape="0">
              <a:srgbClr val="1B104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588245" y="2322576"/>
            <a:ext cx="384048" cy="50292"/>
          </a:xfrm>
          <a:prstGeom prst="rect">
            <a:avLst/>
          </a:prstGeom>
          <a:solidFill>
            <a:srgbClr val="2A8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88245" y="2578608"/>
            <a:ext cx="301547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НЛМК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8245" y="3328416"/>
            <a:ext cx="3015477" cy="1444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чистый долг / EBITDA около −0,3x на 2025 год — совсем иной баланс риска, чем у высокозакредитованных компаний.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2634" y="2011680"/>
            <a:ext cx="3527541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rotWithShape="0">
              <a:srgbClr val="1B104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298666" y="2322576"/>
            <a:ext cx="384048" cy="50292"/>
          </a:xfrm>
          <a:prstGeom prst="rect">
            <a:avLst/>
          </a:prstGeom>
          <a:solidFill>
            <a:srgbClr val="5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98666" y="2578608"/>
            <a:ext cx="301547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РУСАЛ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8666" y="3328416"/>
            <a:ext cx="3015477" cy="1444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I полугодие 2026: выручка $8,3 млрд, EBITDA $1,2 млрд; чистый долг $8,9 млрд, ND/EBITDA 5,8x.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5431536"/>
            <a:ext cx="10948385" cy="603504"/>
          </a:xfrm>
          <a:prstGeom prst="roundRect">
            <a:avLst>
              <a:gd name="adj" fmla="val 20000"/>
            </a:avLst>
          </a:prstGeom>
          <a:solidFill>
            <a:srgbClr val="240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1792" y="5550408"/>
            <a:ext cx="68580" cy="365760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05840" y="5431536"/>
            <a:ext cx="1012542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«Металлурги» — не один кредитный риск. Нужно различать cash-rich, cyclical и leveraged borrowers.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6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21792" y="608076"/>
            <a:ext cx="201168" cy="105156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50976" y="566928"/>
            <a:ext cx="1094838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70">
                <a:solidFill>
                  <a:srgbClr val="E21CA8"/>
                </a:solidFill>
                <a:latin typeface="Segoe UI"/>
                <a:ea typeface="Segoe UI"/>
                <a:cs typeface="Segoe UI"/>
              </a:rPr>
              <a:t>КЕЙС № 4 · РАЗБОР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94838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РУСАЛ — хороший пример, почему EBITDA может обмануть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6272784"/>
            <a:ext cx="10948385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21792" y="6391656"/>
            <a:ext cx="94853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Finam, 08.09.2026; Fomag, 08.09.2026.</a:t>
            </a:r>
          </a:p>
        </p:txBody>
      </p:sp>
      <p:pic>
        <p:nvPicPr>
          <p:cNvPr id="8" name="Picture 7" descr="mark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489" y="6400800"/>
            <a:ext cx="255804" cy="256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021537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47088"/>
            <a:ext cx="3527541" cy="25786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rotWithShape="0">
              <a:srgbClr val="1B104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859536" y="2121408"/>
            <a:ext cx="384048" cy="50292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59536" y="2395728"/>
            <a:ext cx="3052053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+64,4%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035808"/>
            <a:ext cx="30520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E21CA8"/>
                </a:solidFill>
                <a:latin typeface="Segoe UI"/>
                <a:ea typeface="Segoe UI"/>
                <a:cs typeface="Segoe UI"/>
              </a:rPr>
              <a:t>РОСТ EBITDA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456432"/>
            <a:ext cx="3052053" cy="6949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до $1,2 млрд в I полугодии 2026 г.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2213" y="1847088"/>
            <a:ext cx="3527541" cy="25786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rotWithShape="0">
              <a:srgbClr val="1B104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569957" y="2121408"/>
            <a:ext cx="384048" cy="50292"/>
          </a:xfrm>
          <a:prstGeom prst="rect">
            <a:avLst/>
          </a:prstGeom>
          <a:solidFill>
            <a:srgbClr val="2A8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69957" y="2395728"/>
            <a:ext cx="3052053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$8,9 млрд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9957" y="3035808"/>
            <a:ext cx="30520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2A8DB6"/>
                </a:solidFill>
                <a:latin typeface="Segoe UI"/>
                <a:ea typeface="Segoe UI"/>
                <a:cs typeface="Segoe UI"/>
              </a:rPr>
              <a:t>ЧИСТЫЙ ДОЛГ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9957" y="3456432"/>
            <a:ext cx="3052053" cy="6949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рост долга на 20,6% г/г и на 10,5% с начала 2026 г.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2634" y="1847088"/>
            <a:ext cx="3527541" cy="25786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rotWithShape="0">
              <a:srgbClr val="1B104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280378" y="2121408"/>
            <a:ext cx="384048" cy="50292"/>
          </a:xfrm>
          <a:prstGeom prst="rect">
            <a:avLst/>
          </a:prstGeom>
          <a:solidFill>
            <a:srgbClr val="5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80378" y="2395728"/>
            <a:ext cx="3052053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5,8x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0378" y="3035808"/>
            <a:ext cx="30520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5B21A8"/>
                </a:solidFill>
                <a:latin typeface="Segoe UI"/>
                <a:ea typeface="Segoe UI"/>
                <a:cs typeface="Segoe UI"/>
              </a:rPr>
              <a:t>ND / EBITDA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378" y="3456432"/>
            <a:ext cx="3052053" cy="6949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коэффициент улучшился благодаря росту EBITDA, но абсолютный долг продолжил увеличиваться.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4681728"/>
            <a:ext cx="10948385" cy="1335024"/>
          </a:xfrm>
          <a:prstGeom prst="roundRect">
            <a:avLst>
              <a:gd name="adj" fmla="val 9000"/>
            </a:avLst>
          </a:prstGeom>
          <a:solidFill>
            <a:srgbClr val="240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21792" y="4956048"/>
            <a:ext cx="68580" cy="786384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24128" y="4956048"/>
            <a:ext cx="100339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FF5CD2"/>
                </a:solidFill>
                <a:latin typeface="Segoe UI"/>
                <a:ea typeface="Segoe UI"/>
                <a:cs typeface="Segoe UI"/>
              </a:rPr>
              <a:t>ВОПРОС СТОЛА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5285232"/>
            <a:ext cx="1003398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«Если EBITDA растёт быстрее долга, но абсолютный долг растёт — должен ли банк снижать риск или ждать?»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6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21792" y="608076"/>
            <a:ext cx="201168" cy="105156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50976" y="566928"/>
            <a:ext cx="1094838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70">
                <a:solidFill>
                  <a:srgbClr val="E21CA8"/>
                </a:solidFill>
                <a:latin typeface="Segoe UI"/>
                <a:ea typeface="Segoe UI"/>
                <a:cs typeface="Segoe UI"/>
              </a:rPr>
              <a:t>СИНТЕЗ БЛОКА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94838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Общая картина: четыре разных механизма стресса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6272784"/>
            <a:ext cx="10948385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mark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489" y="6400800"/>
            <a:ext cx="255804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21537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2139696"/>
            <a:ext cx="2599936" cy="36027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rotWithShape="0">
              <a:srgbClr val="1B104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877824" y="2450592"/>
            <a:ext cx="384048" cy="50292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7824" y="2706624"/>
            <a:ext cx="20878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Wildberries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456432"/>
            <a:ext cx="20878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физическое уничтожение инфраструктуры → шок селлеров → реструктуризация МСП → риск банкам.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" y="5010912"/>
            <a:ext cx="612647" cy="2148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21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5036515"/>
            <a:ext cx="612647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40">
                <a:solidFill>
                  <a:srgbClr val="E21CA8"/>
                </a:solidFill>
                <a:latin typeface="Segoe UI"/>
                <a:ea typeface="Segoe UI"/>
                <a:cs typeface="Segoe UI"/>
              </a:rPr>
              <a:t>АКТИВ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54479" y="5010912"/>
            <a:ext cx="1040585" cy="2148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21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79" y="5036515"/>
            <a:ext cx="1040585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40">
                <a:solidFill>
                  <a:srgbClr val="E21CA8"/>
                </a:solidFill>
                <a:latin typeface="Segoe UI"/>
                <a:ea typeface="Segoe UI"/>
                <a:cs typeface="Segoe UI"/>
              </a:rPr>
              <a:t>ЦЕПОЧКА МСП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" y="5285232"/>
            <a:ext cx="755293" cy="2148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21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5310835"/>
            <a:ext cx="755293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40">
                <a:solidFill>
                  <a:srgbClr val="E21CA8"/>
                </a:solidFill>
                <a:latin typeface="Segoe UI"/>
                <a:ea typeface="Segoe UI"/>
                <a:cs typeface="Segoe UI"/>
              </a:rPr>
              <a:t>РЕЗЕРВЫ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04608" y="2139696"/>
            <a:ext cx="2599936" cy="36027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rotWithShape="0">
              <a:srgbClr val="1B104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660640" y="2450592"/>
            <a:ext cx="384048" cy="50292"/>
          </a:xfrm>
          <a:prstGeom prst="rect">
            <a:avLst/>
          </a:prstGeom>
          <a:solidFill>
            <a:srgbClr val="2A8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660640" y="2706624"/>
            <a:ext cx="20878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Трасса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60640" y="3456432"/>
            <a:ext cx="20878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ликвидность + публичный долг + корпоративный и юридический шок → дефолт и банкротный риск.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60640" y="5010912"/>
            <a:ext cx="1040585" cy="2148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A8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60640" y="5036515"/>
            <a:ext cx="1040585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40">
                <a:solidFill>
                  <a:srgbClr val="2A8DB6"/>
                </a:solidFill>
                <a:latin typeface="Segoe UI"/>
                <a:ea typeface="Segoe UI"/>
                <a:cs typeface="Segoe UI"/>
              </a:rPr>
              <a:t>ЛИКВИДНОСТЬ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65233" y="5010912"/>
            <a:ext cx="541324" cy="2148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A8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65233" y="5036515"/>
            <a:ext cx="541324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40">
                <a:solidFill>
                  <a:srgbClr val="2A8DB6"/>
                </a:solidFill>
                <a:latin typeface="Segoe UI"/>
                <a:ea typeface="Segoe UI"/>
                <a:cs typeface="Segoe UI"/>
              </a:rPr>
              <a:t>ДОЛГ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60640" y="5285232"/>
            <a:ext cx="826616" cy="2148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A8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60640" y="5310835"/>
            <a:ext cx="826616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40">
                <a:solidFill>
                  <a:srgbClr val="2A8DB6"/>
                </a:solidFill>
                <a:latin typeface="Segoe UI"/>
                <a:ea typeface="Segoe UI"/>
                <a:cs typeface="Segoe UI"/>
              </a:rPr>
              <a:t>КОНТРОЛЬ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7424" y="2139696"/>
            <a:ext cx="2599936" cy="36027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rotWithShape="0">
              <a:srgbClr val="1B104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443456" y="2450592"/>
            <a:ext cx="384048" cy="50292"/>
          </a:xfrm>
          <a:prstGeom prst="rect">
            <a:avLst/>
          </a:prstGeom>
          <a:solidFill>
            <a:srgbClr val="5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43456" y="2706624"/>
            <a:ext cx="20878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Уголь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3456" y="3456432"/>
            <a:ext cx="20878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цена + логистика + экспортные дисконты → отрицательный cash flow → перенос долга и закрытие мощностей.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43456" y="5010912"/>
            <a:ext cx="541324" cy="2148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B2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3456" y="5036515"/>
            <a:ext cx="541324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40">
                <a:solidFill>
                  <a:srgbClr val="5B21A8"/>
                </a:solidFill>
                <a:latin typeface="Segoe UI"/>
                <a:ea typeface="Segoe UI"/>
                <a:cs typeface="Segoe UI"/>
              </a:rPr>
              <a:t>ЦЕНА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48788" y="5010912"/>
            <a:ext cx="897939" cy="2148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B2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8788" y="5036515"/>
            <a:ext cx="897939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40">
                <a:solidFill>
                  <a:srgbClr val="5B21A8"/>
                </a:solidFill>
                <a:latin typeface="Segoe UI"/>
                <a:ea typeface="Segoe UI"/>
                <a:cs typeface="Segoe UI"/>
              </a:rPr>
              <a:t>ЛОГИСТИКА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43456" y="5285232"/>
            <a:ext cx="1040585" cy="2148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B2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3456" y="5310835"/>
            <a:ext cx="1040585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40">
                <a:solidFill>
                  <a:srgbClr val="5B21A8"/>
                </a:solidFill>
                <a:latin typeface="Segoe UI"/>
                <a:ea typeface="Segoe UI"/>
                <a:cs typeface="Segoe UI"/>
              </a:rPr>
              <a:t>ЛИКВИДНОСТЬ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70240" y="2139696"/>
            <a:ext cx="2599936" cy="36027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rotWithShape="0">
              <a:srgbClr val="1B104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9226272" y="2450592"/>
            <a:ext cx="384048" cy="50292"/>
          </a:xfrm>
          <a:prstGeom prst="rect">
            <a:avLst/>
          </a:prstGeom>
          <a:solidFill>
            <a:srgbClr val="FF5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226272" y="2706624"/>
            <a:ext cx="20878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Металлургия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26272" y="3456432"/>
            <a:ext cx="20878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падение спроса и цен + высокая ставка → сжатие EBITDA → разные траектории риска у разных компаний.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26272" y="5010912"/>
            <a:ext cx="612647" cy="2148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5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26272" y="5036515"/>
            <a:ext cx="612647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40">
                <a:solidFill>
                  <a:srgbClr val="FF5CD2"/>
                </a:solidFill>
                <a:latin typeface="Segoe UI"/>
                <a:ea typeface="Segoe UI"/>
                <a:cs typeface="Segoe UI"/>
              </a:rPr>
              <a:t>СПРОС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02927" y="5010912"/>
            <a:ext cx="683970" cy="2148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5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2927" y="5036515"/>
            <a:ext cx="683970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40">
                <a:solidFill>
                  <a:srgbClr val="FF5CD2"/>
                </a:solidFill>
                <a:latin typeface="Segoe UI"/>
                <a:ea typeface="Segoe UI"/>
                <a:cs typeface="Segoe UI"/>
              </a:rPr>
              <a:t>СТАВКА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26272" y="5285232"/>
            <a:ext cx="826616" cy="2148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5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26272" y="5310835"/>
            <a:ext cx="826616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40">
                <a:solidFill>
                  <a:srgbClr val="FF5CD2"/>
                </a:solidFill>
                <a:latin typeface="Segoe UI"/>
                <a:ea typeface="Segoe UI"/>
                <a:cs typeface="Segoe UI"/>
              </a:rPr>
              <a:t>ЛЕВЕРИДЖ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240D4E"/>
              </a:gs>
              <a:gs pos="100000">
                <a:srgbClr val="3A1474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1280160"/>
            <a:ext cx="5669280" cy="5669280"/>
          </a:xfrm>
          <a:prstGeom prst="ellipse">
            <a:avLst/>
          </a:prstGeom>
          <a:noFill/>
          <a:ln w="20320">
            <a:solidFill>
              <a:srgbClr val="FF5CD2">
                <a:alpha val="2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92440" y="1965960"/>
            <a:ext cx="4297680" cy="4297680"/>
          </a:xfrm>
          <a:prstGeom prst="ellipse">
            <a:avLst/>
          </a:prstGeom>
          <a:noFill/>
          <a:ln w="20320">
            <a:solidFill>
              <a:srgbClr val="FF5CD2">
                <a:alpha val="2288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32520" y="2606040"/>
            <a:ext cx="3017520" cy="3017520"/>
          </a:xfrm>
          <a:prstGeom prst="ellipse">
            <a:avLst/>
          </a:prstGeom>
          <a:noFill/>
          <a:ln w="20320">
            <a:solidFill>
              <a:srgbClr val="FF5CD2">
                <a:alpha val="1976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3657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800" b="1" i="0">
                <a:solidFill>
                  <a:srgbClr val="4A228C"/>
                </a:solidFill>
                <a:latin typeface="Segoe UI Semibold"/>
                <a:ea typeface="Segoe UI Semibold"/>
                <a:cs typeface="Segoe UI Semibold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054096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40">
                <a:solidFill>
                  <a:srgbClr val="FF5CD2"/>
                </a:solidFill>
                <a:latin typeface="Segoe UI"/>
                <a:ea typeface="Segoe UI"/>
                <a:cs typeface="Segoe UI"/>
              </a:rPr>
              <a:t>БЛОК III · 35–70 МИНУТ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419856"/>
            <a:ext cx="7863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От портфеля к обеспечению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4828032"/>
            <a:ext cx="1554480" cy="45720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1792" y="5138928"/>
            <a:ext cx="74980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DACDEE"/>
                </a:solidFill>
                <a:latin typeface="Segoe UI"/>
                <a:ea typeface="Segoe UI"/>
                <a:cs typeface="Segoe UI"/>
              </a:rPr>
              <a:t>Четыре слоя риска вместо одного NPL — и только после них разговор о залоге.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2577" y="5669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200">
                <a:solidFill>
                  <a:srgbClr val="4A228C"/>
                </a:solidFill>
                <a:latin typeface="Segoe UI"/>
                <a:ea typeface="Segoe UI"/>
                <a:cs typeface="Segoe UI"/>
              </a:rPr>
              <a:t>КРУГЛЫЙ СТОЛ МСЭО ·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6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21792" y="608076"/>
            <a:ext cx="201168" cy="105156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50976" y="566928"/>
            <a:ext cx="1094838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70">
                <a:solidFill>
                  <a:srgbClr val="E21CA8"/>
                </a:solidFill>
                <a:latin typeface="Segoe UI"/>
                <a:ea typeface="Segoe UI"/>
                <a:cs typeface="Segoe UI"/>
              </a:rPr>
              <a:t>ОПТИКА РИСКА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687930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Что это означает для банковского портфеля?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6272784"/>
            <a:ext cx="6879305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mark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409" y="6400800"/>
            <a:ext cx="255804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52457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  <p:pic>
        <p:nvPicPr>
          <p:cNvPr id="9" name="Picture 8" descr="img_layers.jpg"/>
          <p:cNvPicPr>
            <a:picLocks noChangeAspect="1"/>
          </p:cNvPicPr>
          <p:nvPr/>
        </p:nvPicPr>
        <p:blipFill>
          <a:blip r:embed="rId3"/>
          <a:srcRect l="32928" r="32928"/>
          <a:stretch>
            <a:fillRect/>
          </a:stretch>
        </p:blipFill>
        <p:spPr>
          <a:xfrm>
            <a:off x="8031449" y="0"/>
            <a:ext cx="4160520" cy="685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031449" y="0"/>
            <a:ext cx="1325880" cy="6858000"/>
          </a:xfrm>
          <a:prstGeom prst="rect">
            <a:avLst/>
          </a:prstGeom>
          <a:gradFill rotWithShape="1">
            <a:gsLst>
              <a:gs pos="0">
                <a:srgbClr val="F6F2FC">
                  <a:alpha val="98000"/>
                </a:srgbClr>
              </a:gs>
              <a:gs pos="100000">
                <a:srgbClr val="F6F2FC">
                  <a:alpha val="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755648"/>
            <a:ext cx="687930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Риск нельзя смотреть только через NPL — нужны четыре слоя: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2084831"/>
            <a:ext cx="6879305" cy="6766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04672" y="2217419"/>
            <a:ext cx="338328" cy="338328"/>
          </a:xfrm>
          <a:prstGeom prst="ellipse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" y="2217419"/>
            <a:ext cx="33832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2084831"/>
            <a:ext cx="26060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Performing / overdue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9664" y="2084831"/>
            <a:ext cx="3057113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формальное состояние обслуживания долга — то, что видно быстрее всего и позже всего меняется.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2857499"/>
            <a:ext cx="6879305" cy="6766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04672" y="2990087"/>
            <a:ext cx="338328" cy="338328"/>
          </a:xfrm>
          <a:prstGeom prst="ellipse">
            <a:avLst/>
          </a:prstGeom>
          <a:solidFill>
            <a:srgbClr val="2A8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04672" y="2990087"/>
            <a:ext cx="33832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2857499"/>
            <a:ext cx="26060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Restructured / repeated restructuring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9664" y="2857499"/>
            <a:ext cx="3057113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перенос риска во времени; повторная реструктуризация — отдельный сигнал.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3630167"/>
            <a:ext cx="6879305" cy="6766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804672" y="3762755"/>
            <a:ext cx="338328" cy="338328"/>
          </a:xfrm>
          <a:prstGeom prst="ellipse">
            <a:avLst/>
          </a:prstGeom>
          <a:solidFill>
            <a:srgbClr val="5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04672" y="3762755"/>
            <a:ext cx="33832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5024" y="3630167"/>
            <a:ext cx="26060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Cash flow / debt service / leverage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9664" y="3630167"/>
            <a:ext cx="3057113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способен ли бизнес обслуживать долг из операционного потока, а не из рефинансирования.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4402835"/>
            <a:ext cx="6879305" cy="6766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804672" y="4535423"/>
            <a:ext cx="338328" cy="338328"/>
          </a:xfrm>
          <a:prstGeom prst="ellipse">
            <a:avLst/>
          </a:prstGeom>
          <a:solidFill>
            <a:srgbClr val="FF5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04672" y="4535423"/>
            <a:ext cx="33832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5024" y="4402835"/>
            <a:ext cx="26060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Recovery value of collateral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9664" y="4402835"/>
            <a:ext cx="3057113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сколько денег даёт обеспечение и другие источники погашения — и в какой срок.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" y="5321807"/>
            <a:ext cx="6879305" cy="676656"/>
          </a:xfrm>
          <a:prstGeom prst="roundRect">
            <a:avLst>
              <a:gd name="adj" fmla="val 18000"/>
            </a:avLst>
          </a:prstGeom>
          <a:solidFill>
            <a:srgbClr val="240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21792" y="5468111"/>
            <a:ext cx="68580" cy="384048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05840" y="5321807"/>
            <a:ext cx="6056345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«На каком из этих четырёх уровней ваш банк реально ловит проблему первым?»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chain.jpg"/>
          <p:cNvPicPr>
            <a:picLocks noChangeAspect="1"/>
          </p:cNvPicPr>
          <p:nvPr/>
        </p:nvPicPr>
        <p:blipFill>
          <a:blip r:embed="rId2"/>
          <a:srcRect t="26" b="26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240D4E">
              <a:alpha val="3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7863840" cy="6858000"/>
          </a:xfrm>
          <a:prstGeom prst="rect">
            <a:avLst/>
          </a:prstGeom>
          <a:gradFill rotWithShape="1">
            <a:gsLst>
              <a:gs pos="0">
                <a:srgbClr val="240D4E">
                  <a:alpha val="86000"/>
                </a:srgbClr>
              </a:gs>
              <a:gs pos="100000">
                <a:srgbClr val="240D4E">
                  <a:alpha val="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31920"/>
            <a:ext cx="12191969" cy="2926080"/>
          </a:xfrm>
          <a:prstGeom prst="rect">
            <a:avLst/>
          </a:prstGeom>
          <a:gradFill rotWithShape="1">
            <a:gsLst>
              <a:gs pos="0">
                <a:srgbClr val="240D4E">
                  <a:alpha val="0"/>
                </a:srgbClr>
              </a:gs>
              <a:gs pos="100000">
                <a:srgbClr val="240D4E">
                  <a:alpha val="94000"/>
                </a:srgbClr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21792" y="608076"/>
            <a:ext cx="201168" cy="105156"/>
          </a:xfrm>
          <a:prstGeom prst="rect">
            <a:avLst/>
          </a:prstGeom>
          <a:solidFill>
            <a:srgbClr val="FF5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50976" y="566928"/>
            <a:ext cx="1094838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70">
                <a:solidFill>
                  <a:srgbClr val="FF5CD2"/>
                </a:solidFill>
                <a:latin typeface="Segoe UI"/>
                <a:ea typeface="Segoe UI"/>
                <a:cs typeface="Segoe UI"/>
              </a:rPr>
              <a:t>СМЕНА ВОПРОСА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896112"/>
            <a:ext cx="1094838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И только теперь — залог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847088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EAE1F7"/>
                </a:solidFill>
                <a:latin typeface="Georgia"/>
                <a:ea typeface="Georgia"/>
                <a:cs typeface="Georgia"/>
              </a:rPr>
              <a:t>Не «сколько стоит залог?», а «сколько денег банк получит из него при дефолте — и когда?»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4626864"/>
            <a:ext cx="2572504" cy="1408176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859536" y="4864608"/>
            <a:ext cx="384048" cy="50292"/>
          </a:xfrm>
          <a:prstGeom prst="rect">
            <a:avLst/>
          </a:prstGeom>
          <a:solidFill>
            <a:srgbClr val="2A8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59536" y="5065776"/>
            <a:ext cx="20970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Market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5486400"/>
            <a:ext cx="20970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ACDEE"/>
                </a:solidFill>
                <a:latin typeface="Segoe UI"/>
                <a:ea typeface="Segoe UI"/>
                <a:cs typeface="Segoe UI"/>
              </a:rPr>
              <a:t>рыночная стоимость в обычных условиях экспозиции</a:t>
            </a:r>
          </a:p>
        </p:txBody>
      </p:sp>
      <p:sp>
        <p:nvSpPr>
          <p:cNvPr id="15" name="Isosceles Triangle 14"/>
          <p:cNvSpPr/>
          <p:nvPr/>
        </p:nvSpPr>
        <p:spPr>
          <a:xfrm rot="5400000">
            <a:off x="3244588" y="5230368"/>
            <a:ext cx="128016" cy="155448"/>
          </a:xfrm>
          <a:prstGeom prst="triangle">
            <a:avLst/>
          </a:prstGeom>
          <a:solidFill>
            <a:srgbClr val="FF5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3413752" y="4626864"/>
            <a:ext cx="2572504" cy="1408176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651496" y="4864608"/>
            <a:ext cx="384048" cy="50292"/>
          </a:xfrm>
          <a:prstGeom prst="rect">
            <a:avLst/>
          </a:prstGeom>
          <a:solidFill>
            <a:srgbClr val="1B6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651496" y="5065776"/>
            <a:ext cx="20970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Liquidation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1496" y="5486400"/>
            <a:ext cx="20970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ACDEE"/>
                </a:solidFill>
                <a:latin typeface="Segoe UI"/>
                <a:ea typeface="Segoe UI"/>
                <a:cs typeface="Segoe UI"/>
              </a:rPr>
              <a:t>стоимость при сокращённом сроке экспозиции</a:t>
            </a:r>
          </a:p>
        </p:txBody>
      </p:sp>
      <p:sp>
        <p:nvSpPr>
          <p:cNvPr id="20" name="Isosceles Triangle 19"/>
          <p:cNvSpPr/>
          <p:nvPr/>
        </p:nvSpPr>
        <p:spPr>
          <a:xfrm rot="5400000">
            <a:off x="6036548" y="5230368"/>
            <a:ext cx="128016" cy="155448"/>
          </a:xfrm>
          <a:prstGeom prst="triangle">
            <a:avLst/>
          </a:prstGeom>
          <a:solidFill>
            <a:srgbClr val="FF5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205712" y="4626864"/>
            <a:ext cx="2572504" cy="1408176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443456" y="4864608"/>
            <a:ext cx="384048" cy="50292"/>
          </a:xfrm>
          <a:prstGeom prst="rect">
            <a:avLst/>
          </a:prstGeom>
          <a:solidFill>
            <a:srgbClr val="5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43456" y="5065776"/>
            <a:ext cx="20970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Recovery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3456" y="5486400"/>
            <a:ext cx="20970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ACDEE"/>
                </a:solidFill>
                <a:latin typeface="Segoe UI"/>
                <a:ea typeface="Segoe UI"/>
                <a:cs typeface="Segoe UI"/>
              </a:rPr>
              <a:t>поступления за вычетом расходов реализации и правовых рисков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8828508" y="5230368"/>
            <a:ext cx="128016" cy="155448"/>
          </a:xfrm>
          <a:prstGeom prst="triangle">
            <a:avLst/>
          </a:prstGeom>
          <a:solidFill>
            <a:srgbClr val="FF5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997672" y="4626864"/>
            <a:ext cx="2572504" cy="1408176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9235416" y="4864608"/>
            <a:ext cx="384048" cy="50292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235416" y="5065776"/>
            <a:ext cx="20970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NPV Recovery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16" y="5486400"/>
            <a:ext cx="20970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ACDEE"/>
                </a:solidFill>
                <a:latin typeface="Segoe UI"/>
                <a:ea typeface="Segoe UI"/>
                <a:cs typeface="Segoe UI"/>
              </a:rPr>
              <a:t>те же поступления, приведённые ко времени получения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" y="6272784"/>
            <a:ext cx="10948385" cy="9525"/>
          </a:xfrm>
          <a:prstGeom prst="rect">
            <a:avLst/>
          </a:prstGeom>
          <a:solidFill>
            <a:srgbClr val="4A2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489" y="6400800"/>
            <a:ext cx="255804" cy="25603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021537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09ED8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6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21792" y="608076"/>
            <a:ext cx="201168" cy="105156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50976" y="566928"/>
            <a:ext cx="1094838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70">
                <a:solidFill>
                  <a:srgbClr val="E21CA8"/>
                </a:solidFill>
                <a:latin typeface="Segoe UI"/>
                <a:ea typeface="Segoe UI"/>
                <a:cs typeface="Segoe UI"/>
              </a:rPr>
              <a:t>МЕХАНИКА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94838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Кейс: 1 млрд руб. залога не означает 1 млрд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6272784"/>
            <a:ext cx="10948385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21792" y="6391656"/>
            <a:ext cx="94853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Иллюстративная модель NPV. Не является рыночной оценкой конкретного объекта.</a:t>
            </a:r>
          </a:p>
        </p:txBody>
      </p:sp>
      <p:pic>
        <p:nvPicPr>
          <p:cNvPr id="8" name="Picture 7" descr="mark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489" y="6400800"/>
            <a:ext cx="255804" cy="256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021537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73736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Иллюстративная модель. Показывает механику, а не оценку конкретного объекта.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395728"/>
            <a:ext cx="1188720" cy="3108960"/>
          </a:xfrm>
          <a:prstGeom prst="roundRect">
            <a:avLst>
              <a:gd name="adj" fmla="val 10000"/>
            </a:avLst>
          </a:prstGeom>
          <a:solidFill>
            <a:srgbClr val="2A8DB6"/>
          </a:solidFill>
          <a:ln>
            <a:noFill/>
          </a:ln>
          <a:effectLst>
            <a:outerShdw blurRad="177800" dist="50800" dir="5400000" rotWithShape="0">
              <a:srgbClr val="1B10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792" y="202996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1 000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50992"/>
            <a:ext cx="15179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MV залога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39696" y="2395728"/>
            <a:ext cx="1188720" cy="777240"/>
          </a:xfrm>
          <a:prstGeom prst="roundRect">
            <a:avLst>
              <a:gd name="adj" fmla="val 10000"/>
            </a:avLst>
          </a:prstGeom>
          <a:solidFill>
            <a:srgbClr val="E21CA8"/>
          </a:solidFill>
          <a:ln>
            <a:noFill/>
          </a:ln>
          <a:effectLst>
            <a:outerShdw blurRad="177800" dist="50800" dir="5400000" rotWithShape="0">
              <a:srgbClr val="1B10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901952" y="2390965"/>
            <a:ext cx="237744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048256" y="202996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−250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75104" y="5650992"/>
            <a:ext cx="15179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− дисконт 25%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3172968"/>
            <a:ext cx="1188720" cy="116586"/>
          </a:xfrm>
          <a:prstGeom prst="roundRect">
            <a:avLst>
              <a:gd name="adj" fmla="val 10000"/>
            </a:avLst>
          </a:prstGeom>
          <a:solidFill>
            <a:srgbClr val="E21CA8"/>
          </a:solidFill>
          <a:ln>
            <a:noFill/>
          </a:ln>
          <a:effectLst>
            <a:outerShdw blurRad="177800" dist="50800" dir="5400000" rotWithShape="0">
              <a:srgbClr val="1B10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328416" y="3168205"/>
            <a:ext cx="237744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474720" y="280720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−37,5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5650992"/>
            <a:ext cx="15179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− расходы 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92624" y="3289554"/>
            <a:ext cx="1188720" cy="676198"/>
          </a:xfrm>
          <a:prstGeom prst="roundRect">
            <a:avLst>
              <a:gd name="adj" fmla="val 10000"/>
            </a:avLst>
          </a:prstGeom>
          <a:solidFill>
            <a:srgbClr val="FF5CD2"/>
          </a:solidFill>
          <a:ln>
            <a:noFill/>
          </a:ln>
          <a:effectLst>
            <a:outerShdw blurRad="177800" dist="50800" dir="5400000" rotWithShape="0">
              <a:srgbClr val="1B10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754880" y="3284791"/>
            <a:ext cx="237744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901184" y="2923794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−217,5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8032" y="5650992"/>
            <a:ext cx="15179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− время: 2 г., 20%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19088" y="3965752"/>
            <a:ext cx="1188720" cy="1538935"/>
          </a:xfrm>
          <a:prstGeom prst="roundRect">
            <a:avLst>
              <a:gd name="adj" fmla="val 10000"/>
            </a:avLst>
          </a:prstGeom>
          <a:solidFill>
            <a:srgbClr val="5B21A8"/>
          </a:solidFill>
          <a:ln>
            <a:noFill/>
          </a:ln>
          <a:effectLst>
            <a:outerShdw blurRad="177800" dist="50800" dir="5400000" rotWithShape="0">
              <a:srgbClr val="1B10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181344" y="3960989"/>
            <a:ext cx="237744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327648" y="359999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495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4496" y="5650992"/>
            <a:ext cx="15179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Recovery, NPV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" y="5504688"/>
            <a:ext cx="7086600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21792" y="3431011"/>
            <a:ext cx="155448" cy="12700"/>
          </a:xfrm>
          <a:prstGeom prst="rect">
            <a:avLst/>
          </a:prstGeom>
          <a:solidFill>
            <a:srgbClr val="262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896112" y="3431011"/>
            <a:ext cx="155448" cy="12700"/>
          </a:xfrm>
          <a:prstGeom prst="rect">
            <a:avLst/>
          </a:prstGeom>
          <a:solidFill>
            <a:srgbClr val="262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1170432" y="3431011"/>
            <a:ext cx="155448" cy="12700"/>
          </a:xfrm>
          <a:prstGeom prst="rect">
            <a:avLst/>
          </a:prstGeom>
          <a:solidFill>
            <a:srgbClr val="262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1444752" y="3431011"/>
            <a:ext cx="155448" cy="12700"/>
          </a:xfrm>
          <a:prstGeom prst="rect">
            <a:avLst/>
          </a:prstGeom>
          <a:solidFill>
            <a:srgbClr val="262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1719072" y="3431011"/>
            <a:ext cx="155448" cy="12700"/>
          </a:xfrm>
          <a:prstGeom prst="rect">
            <a:avLst/>
          </a:prstGeom>
          <a:solidFill>
            <a:srgbClr val="262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1993392" y="3431011"/>
            <a:ext cx="155448" cy="12700"/>
          </a:xfrm>
          <a:prstGeom prst="rect">
            <a:avLst/>
          </a:prstGeom>
          <a:solidFill>
            <a:srgbClr val="262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2267712" y="3431011"/>
            <a:ext cx="155448" cy="12700"/>
          </a:xfrm>
          <a:prstGeom prst="rect">
            <a:avLst/>
          </a:prstGeom>
          <a:solidFill>
            <a:srgbClr val="262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2542032" y="3431011"/>
            <a:ext cx="155448" cy="12700"/>
          </a:xfrm>
          <a:prstGeom prst="rect">
            <a:avLst/>
          </a:prstGeom>
          <a:solidFill>
            <a:srgbClr val="262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2816352" y="3431011"/>
            <a:ext cx="155448" cy="12700"/>
          </a:xfrm>
          <a:prstGeom prst="rect">
            <a:avLst/>
          </a:prstGeom>
          <a:solidFill>
            <a:srgbClr val="262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3090672" y="3431011"/>
            <a:ext cx="155448" cy="12700"/>
          </a:xfrm>
          <a:prstGeom prst="rect">
            <a:avLst/>
          </a:prstGeom>
          <a:solidFill>
            <a:srgbClr val="262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3364992" y="3431011"/>
            <a:ext cx="155448" cy="12700"/>
          </a:xfrm>
          <a:prstGeom prst="rect">
            <a:avLst/>
          </a:prstGeom>
          <a:solidFill>
            <a:srgbClr val="262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639312" y="3431011"/>
            <a:ext cx="155448" cy="12700"/>
          </a:xfrm>
          <a:prstGeom prst="rect">
            <a:avLst/>
          </a:prstGeom>
          <a:solidFill>
            <a:srgbClr val="262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3913632" y="3431011"/>
            <a:ext cx="155448" cy="12700"/>
          </a:xfrm>
          <a:prstGeom prst="rect">
            <a:avLst/>
          </a:prstGeom>
          <a:solidFill>
            <a:srgbClr val="262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4187952" y="3431011"/>
            <a:ext cx="155448" cy="12700"/>
          </a:xfrm>
          <a:prstGeom prst="rect">
            <a:avLst/>
          </a:prstGeom>
          <a:solidFill>
            <a:srgbClr val="262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4462272" y="3431011"/>
            <a:ext cx="155448" cy="12700"/>
          </a:xfrm>
          <a:prstGeom prst="rect">
            <a:avLst/>
          </a:prstGeom>
          <a:solidFill>
            <a:srgbClr val="262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4736592" y="3431011"/>
            <a:ext cx="155448" cy="12700"/>
          </a:xfrm>
          <a:prstGeom prst="rect">
            <a:avLst/>
          </a:prstGeom>
          <a:solidFill>
            <a:srgbClr val="262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5010912" y="3431011"/>
            <a:ext cx="155448" cy="12700"/>
          </a:xfrm>
          <a:prstGeom prst="rect">
            <a:avLst/>
          </a:prstGeom>
          <a:solidFill>
            <a:srgbClr val="262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285232" y="3431011"/>
            <a:ext cx="155448" cy="12700"/>
          </a:xfrm>
          <a:prstGeom prst="rect">
            <a:avLst/>
          </a:prstGeom>
          <a:solidFill>
            <a:srgbClr val="262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5559552" y="3431011"/>
            <a:ext cx="155448" cy="12700"/>
          </a:xfrm>
          <a:prstGeom prst="rect">
            <a:avLst/>
          </a:prstGeom>
          <a:solidFill>
            <a:srgbClr val="262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5833872" y="3431011"/>
            <a:ext cx="155448" cy="12700"/>
          </a:xfrm>
          <a:prstGeom prst="rect">
            <a:avLst/>
          </a:prstGeom>
          <a:solidFill>
            <a:srgbClr val="262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6108192" y="3431011"/>
            <a:ext cx="155448" cy="12700"/>
          </a:xfrm>
          <a:prstGeom prst="rect">
            <a:avLst/>
          </a:prstGeom>
          <a:solidFill>
            <a:srgbClr val="262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6382512" y="3431011"/>
            <a:ext cx="155448" cy="12700"/>
          </a:xfrm>
          <a:prstGeom prst="rect">
            <a:avLst/>
          </a:prstGeom>
          <a:solidFill>
            <a:srgbClr val="262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6656832" y="3431011"/>
            <a:ext cx="155448" cy="12700"/>
          </a:xfrm>
          <a:prstGeom prst="rect">
            <a:avLst/>
          </a:prstGeom>
          <a:solidFill>
            <a:srgbClr val="262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6931152" y="3431011"/>
            <a:ext cx="155448" cy="12700"/>
          </a:xfrm>
          <a:prstGeom prst="rect">
            <a:avLst/>
          </a:prstGeom>
          <a:solidFill>
            <a:srgbClr val="262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7205472" y="3431011"/>
            <a:ext cx="155448" cy="12700"/>
          </a:xfrm>
          <a:prstGeom prst="rect">
            <a:avLst/>
          </a:prstGeom>
          <a:solidFill>
            <a:srgbClr val="262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7479792" y="3431011"/>
            <a:ext cx="155448" cy="12700"/>
          </a:xfrm>
          <a:prstGeom prst="rect">
            <a:avLst/>
          </a:prstGeom>
          <a:solidFill>
            <a:srgbClr val="262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2039112" y="3531595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62E41"/>
                </a:solidFill>
                <a:latin typeface="Segoe UI"/>
                <a:ea typeface="Segoe UI"/>
                <a:cs typeface="Segoe UI"/>
              </a:rPr>
              <a:t>долг 667 млн  ·  LTV 66,7% «на бумаге»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11312" y="2121408"/>
            <a:ext cx="3358865" cy="3950208"/>
          </a:xfrm>
          <a:prstGeom prst="roundRect">
            <a:avLst>
              <a:gd name="adj" fmla="val 6000"/>
            </a:avLst>
          </a:prstGeom>
          <a:solidFill>
            <a:srgbClr val="240D4E"/>
          </a:solidFill>
          <a:ln>
            <a:noFill/>
          </a:ln>
          <a:effectLst>
            <a:outerShdw blurRad="254000" dist="76200" dir="5400000" rotWithShape="0">
              <a:srgbClr val="1B10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8211312" y="2121408"/>
            <a:ext cx="3358865" cy="77724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8522208" y="2432304"/>
            <a:ext cx="27370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FF5CD2"/>
                </a:solidFill>
                <a:latin typeface="Segoe UI"/>
                <a:ea typeface="Segoe UI"/>
                <a:cs typeface="Segoe UI"/>
              </a:rPr>
              <a:t>ПАРАМЕТРЫ МОДЕЛИ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22208" y="2761488"/>
            <a:ext cx="273707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E1F7"/>
                </a:solidFill>
                <a:latin typeface="Segoe UI"/>
                <a:ea typeface="Segoe UI"/>
                <a:cs typeface="Segoe UI"/>
              </a:rPr>
              <a:t>·  дисконт к рынку — 25%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E1F7"/>
                </a:solidFill>
                <a:latin typeface="Segoe UI"/>
                <a:ea typeface="Segoe UI"/>
                <a:cs typeface="Segoe UI"/>
              </a:rPr>
              <a:t>·  расходы реализации — 5%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E1F7"/>
                </a:solidFill>
                <a:latin typeface="Segoe UI"/>
                <a:ea typeface="Segoe UI"/>
                <a:cs typeface="Segoe UI"/>
              </a:rPr>
              <a:t>·  срок реализации — 2 года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E1F7"/>
                </a:solidFill>
                <a:latin typeface="Segoe UI"/>
                <a:ea typeface="Segoe UI"/>
                <a:cs typeface="Segoe UI"/>
              </a:rPr>
              <a:t>·  ставка дисконта — 20%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22208" y="3968496"/>
            <a:ext cx="2737073" cy="9525"/>
          </a:xfrm>
          <a:prstGeom prst="rect">
            <a:avLst/>
          </a:prstGeom>
          <a:solidFill>
            <a:srgbClr val="4A2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8522208" y="4169663"/>
            <a:ext cx="273707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5CD2"/>
                </a:solidFill>
                <a:latin typeface="Segoe UI Semibold"/>
                <a:ea typeface="Segoe UI Semibold"/>
                <a:cs typeface="Segoe UI Semibold"/>
              </a:rPr>
              <a:t>74%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22208" y="4809744"/>
            <a:ext cx="273707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долга покрывает recovery экономически — при формальном покрытии 150%.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6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21792" y="608076"/>
            <a:ext cx="201168" cy="105156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50976" y="566928"/>
            <a:ext cx="1094838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70">
                <a:solidFill>
                  <a:srgbClr val="E21CA8"/>
                </a:solidFill>
                <a:latin typeface="Segoe UI"/>
                <a:ea typeface="Segoe UI"/>
                <a:cs typeface="Segoe UI"/>
              </a:rPr>
              <a:t>ФОРМАЛЬНО И ЭКОНОМИЧЕСКИ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94838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Один и тот же залог в двух системах координат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6272784"/>
            <a:ext cx="10948385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21792" y="6391656"/>
            <a:ext cx="94853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Иллюстративная модель NPV. Не является рыночной оценкой конкретного объекта.</a:t>
            </a:r>
          </a:p>
        </p:txBody>
      </p:sp>
      <p:pic>
        <p:nvPicPr>
          <p:cNvPr id="8" name="Picture 7" descr="mark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489" y="6400800"/>
            <a:ext cx="255804" cy="256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021537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719072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Кредит 667 млн ₽ под залог рыночной стоимостью 1 млрд ₽ — модель предыдущего слайда.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194560"/>
            <a:ext cx="10948385" cy="566928"/>
          </a:xfrm>
          <a:prstGeom prst="roundRect">
            <a:avLst>
              <a:gd name="adj" fmla="val 14000"/>
            </a:avLst>
          </a:prstGeom>
          <a:solidFill>
            <a:srgbClr val="262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194560"/>
            <a:ext cx="5212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ПОКАЗАТЕЛЬ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6752" y="2194560"/>
            <a:ext cx="187451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НА БУМАГЕ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2712" y="2194560"/>
            <a:ext cx="1737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ЭКОНОМИЧЕСКИ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1512" y="2194560"/>
            <a:ext cx="1737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ИЗМЕНЕНИЕ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2761488"/>
            <a:ext cx="10948385" cy="57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21792" y="2761488"/>
            <a:ext cx="10948385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2761488"/>
            <a:ext cx="475488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Стоимость обеспечения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6752" y="2761488"/>
            <a:ext cx="18745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5E677D"/>
                </a:solidFill>
                <a:latin typeface="Segoe UI Semibold"/>
                <a:ea typeface="Segoe UI Semibold"/>
                <a:cs typeface="Segoe UI Semibold"/>
              </a:rPr>
              <a:t>1 000 млн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2712" y="2761488"/>
            <a:ext cx="173736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B6A8C"/>
                </a:solidFill>
                <a:latin typeface="Segoe UI Semibold"/>
                <a:ea typeface="Segoe UI Semibold"/>
                <a:cs typeface="Segoe UI Semibold"/>
              </a:rPr>
              <a:t>495 млн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1512" y="2761488"/>
            <a:ext cx="173736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21CA8"/>
                </a:solidFill>
                <a:latin typeface="Segoe UI Semibold"/>
                <a:ea typeface="Segoe UI Semibold"/>
                <a:cs typeface="Segoe UI Semibold"/>
              </a:rPr>
              <a:t>▼ 51%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" y="3332988"/>
            <a:ext cx="10948385" cy="571500"/>
          </a:xfrm>
          <a:prstGeom prst="rect">
            <a:avLst/>
          </a:prstGeom>
          <a:solidFill>
            <a:srgbClr val="EAE1F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1792" y="3332988"/>
            <a:ext cx="10948385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50976" y="3332988"/>
            <a:ext cx="475488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Покрытие долга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16752" y="3332988"/>
            <a:ext cx="18745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5E677D"/>
                </a:solidFill>
                <a:latin typeface="Segoe UI Semibold"/>
                <a:ea typeface="Segoe UI Semibold"/>
                <a:cs typeface="Segoe UI Semibold"/>
              </a:rPr>
              <a:t>150%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82712" y="3332988"/>
            <a:ext cx="173736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B6A8C"/>
                </a:solidFill>
                <a:latin typeface="Segoe UI Semibold"/>
                <a:ea typeface="Segoe UI Semibold"/>
                <a:cs typeface="Segoe UI Semibold"/>
              </a:rPr>
              <a:t>74%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1512" y="3332988"/>
            <a:ext cx="173736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21CA8"/>
                </a:solidFill>
                <a:latin typeface="Segoe UI Semibold"/>
                <a:ea typeface="Segoe UI Semibold"/>
                <a:cs typeface="Segoe UI Semibold"/>
              </a:rPr>
              <a:t>▼ 76 п.п.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" y="3904488"/>
            <a:ext cx="10948385" cy="57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21792" y="3904488"/>
            <a:ext cx="10948385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50976" y="3904488"/>
            <a:ext cx="475488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LTV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16752" y="3904488"/>
            <a:ext cx="18745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5E677D"/>
                </a:solidFill>
                <a:latin typeface="Segoe UI Semibold"/>
                <a:ea typeface="Segoe UI Semibold"/>
                <a:cs typeface="Segoe UI Semibold"/>
              </a:rPr>
              <a:t>66,7%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82712" y="3904488"/>
            <a:ext cx="173736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B6A8C"/>
                </a:solidFill>
                <a:latin typeface="Segoe UI Semibold"/>
                <a:ea typeface="Segoe UI Semibold"/>
                <a:cs typeface="Segoe UI Semibold"/>
              </a:rPr>
              <a:t>135%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1512" y="3904488"/>
            <a:ext cx="173736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21CA8"/>
                </a:solidFill>
                <a:latin typeface="Segoe UI Semibold"/>
                <a:ea typeface="Segoe UI Semibold"/>
                <a:cs typeface="Segoe UI Semibold"/>
              </a:rPr>
              <a:t>▲ 68 п.п.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4475988"/>
            <a:ext cx="10948385" cy="571500"/>
          </a:xfrm>
          <a:prstGeom prst="rect">
            <a:avLst/>
          </a:prstGeom>
          <a:solidFill>
            <a:srgbClr val="EAE1F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21792" y="4475988"/>
            <a:ext cx="10948385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50976" y="4475988"/>
            <a:ext cx="475488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Срок до получения денег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16752" y="4475988"/>
            <a:ext cx="18745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5E677D"/>
                </a:solidFill>
                <a:latin typeface="Segoe UI Semibold"/>
                <a:ea typeface="Segoe UI Semibold"/>
                <a:cs typeface="Segoe UI Semibold"/>
              </a:rPr>
              <a:t>«сегодня»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82712" y="4475988"/>
            <a:ext cx="173736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B6A8C"/>
                </a:solidFill>
                <a:latin typeface="Segoe UI Semibold"/>
                <a:ea typeface="Segoe UI Semibold"/>
                <a:cs typeface="Segoe UI Semibold"/>
              </a:rPr>
              <a:t>2 года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11512" y="4475988"/>
            <a:ext cx="173736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E677D"/>
                </a:solidFill>
                <a:latin typeface="Segoe UI Semibold"/>
                <a:ea typeface="Segoe UI Semibold"/>
                <a:cs typeface="Segoe UI Semibold"/>
              </a:rPr>
              <a:t>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" y="5303520"/>
            <a:ext cx="10948385" cy="713232"/>
          </a:xfrm>
          <a:prstGeom prst="roundRect">
            <a:avLst>
              <a:gd name="adj" fmla="val 20000"/>
            </a:avLst>
          </a:prstGeom>
          <a:solidFill>
            <a:srgbClr val="240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621792" y="5458968"/>
            <a:ext cx="68580" cy="402336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005840" y="5303520"/>
            <a:ext cx="10125425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Разрыв возникает не из-за ошибки в оценке рыночной стоимости, а из-за срока, дисконта и расходов реализации.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6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21792" y="608076"/>
            <a:ext cx="201168" cy="105156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50976" y="566928"/>
            <a:ext cx="1094838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70">
                <a:solidFill>
                  <a:srgbClr val="E21CA8"/>
                </a:solidFill>
                <a:latin typeface="Segoe UI"/>
                <a:ea typeface="Segoe UI"/>
                <a:cs typeface="Segoe UI"/>
              </a:rPr>
              <a:t>ПРАКТИКА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94838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Что должна делать залоговая функция в 2026–2027?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6272784"/>
            <a:ext cx="10948385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mark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489" y="6400800"/>
            <a:ext cx="255804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21537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719072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Шесть точек, в которых оценка обеспечения перестаёт быть формальностью.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139696"/>
            <a:ext cx="3503157" cy="18470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3503157" y="2359152"/>
            <a:ext cx="365760" cy="365760"/>
          </a:xfrm>
          <a:prstGeom prst="ellipse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503157" y="23957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395728"/>
            <a:ext cx="2405877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До выдачи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08960"/>
            <a:ext cx="284478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оценивать не только MV, но и ликвидность, альтернативный сценарий реализации и юридическую чистоту.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4405" y="2139696"/>
            <a:ext cx="3503157" cy="18470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7225770" y="2359152"/>
            <a:ext cx="365760" cy="365760"/>
          </a:xfrm>
          <a:prstGeom prst="ellipse">
            <a:avLst/>
          </a:prstGeom>
          <a:solidFill>
            <a:srgbClr val="2A8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225770" y="23957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3589" y="2395728"/>
            <a:ext cx="2405877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При ухудшении заемщика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3589" y="3108960"/>
            <a:ext cx="284478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не ждать очередной плановой оценки; запускать early revaluation.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7018" y="2139696"/>
            <a:ext cx="3503157" cy="18470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0948383" y="2359152"/>
            <a:ext cx="365760" cy="365760"/>
          </a:xfrm>
          <a:prstGeom prst="ellipse">
            <a:avLst/>
          </a:prstGeom>
          <a:solidFill>
            <a:srgbClr val="5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948383" y="23957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6202" y="2395728"/>
            <a:ext cx="2405877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При реструктуризации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6202" y="3108960"/>
            <a:ext cx="284478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считать sustainable cash flow + debt service + recovery collateral.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4169664"/>
            <a:ext cx="3503157" cy="18470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3503157" y="4389120"/>
            <a:ext cx="365760" cy="365760"/>
          </a:xfrm>
          <a:prstGeom prst="ellipse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503157" y="442569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" y="4425696"/>
            <a:ext cx="2405877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В workout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" y="5138928"/>
            <a:ext cx="284478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сравнивать NPV взыскания, реструктуризации и продажи требования.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4405" y="4169664"/>
            <a:ext cx="3503157" cy="18470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7225770" y="4389120"/>
            <a:ext cx="365760" cy="365760"/>
          </a:xfrm>
          <a:prstGeom prst="ellipse">
            <a:avLst/>
          </a:prstGeom>
          <a:solidFill>
            <a:srgbClr val="2A8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225770" y="442569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73589" y="4425696"/>
            <a:ext cx="2405877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Для банка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73589" y="5138928"/>
            <a:ext cx="284478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иметь независимый второй контур проверки наиболее крупных и проблемных обеспечений.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67018" y="4169664"/>
            <a:ext cx="3503157" cy="18470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10948383" y="4389120"/>
            <a:ext cx="365760" cy="365760"/>
          </a:xfrm>
          <a:prstGeom prst="ellipse">
            <a:avLst/>
          </a:prstGeom>
          <a:solidFill>
            <a:srgbClr val="5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0948383" y="442569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6202" y="4425696"/>
            <a:ext cx="2405877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Для кредитного комитета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6202" y="5138928"/>
            <a:ext cx="284478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фиксировать допущения recovery — срок, дисконт, расходы реализации, — а не только итоговую сумму.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240D4E"/>
              </a:gs>
              <a:gs pos="100000">
                <a:srgbClr val="3A1474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1280160"/>
            <a:ext cx="5669280" cy="5669280"/>
          </a:xfrm>
          <a:prstGeom prst="ellipse">
            <a:avLst/>
          </a:prstGeom>
          <a:noFill/>
          <a:ln w="20320">
            <a:solidFill>
              <a:srgbClr val="FF5CD2">
                <a:alpha val="2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92440" y="1965960"/>
            <a:ext cx="4297680" cy="4297680"/>
          </a:xfrm>
          <a:prstGeom prst="ellipse">
            <a:avLst/>
          </a:prstGeom>
          <a:noFill/>
          <a:ln w="20320">
            <a:solidFill>
              <a:srgbClr val="FF5CD2">
                <a:alpha val="2288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32520" y="2606040"/>
            <a:ext cx="3017520" cy="3017520"/>
          </a:xfrm>
          <a:prstGeom prst="ellipse">
            <a:avLst/>
          </a:prstGeom>
          <a:noFill/>
          <a:ln w="20320">
            <a:solidFill>
              <a:srgbClr val="FF5CD2">
                <a:alpha val="1976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21792" y="1572768"/>
            <a:ext cx="3657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800" b="1" i="0">
                <a:solidFill>
                  <a:srgbClr val="4A228C"/>
                </a:solidFill>
                <a:latin typeface="Segoe UI Semibold"/>
                <a:ea typeface="Segoe UI Semibold"/>
                <a:cs typeface="Segoe UI Semibold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054096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40">
                <a:solidFill>
                  <a:srgbClr val="FF5CD2"/>
                </a:solidFill>
                <a:latin typeface="Segoe UI"/>
                <a:ea typeface="Segoe UI"/>
                <a:cs typeface="Segoe UI"/>
              </a:rPr>
              <a:t>БЛОК IV · 70–90 МИНУТ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419856"/>
            <a:ext cx="7863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Дискуссия и выводы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4828032"/>
            <a:ext cx="1554480" cy="45720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1792" y="5138928"/>
            <a:ext cx="74980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DACDEE"/>
                </a:solidFill>
                <a:latin typeface="Segoe UI"/>
                <a:ea typeface="Segoe UI"/>
                <a:cs typeface="Segoe UI"/>
              </a:rPr>
              <a:t>Пять вопросов залу, тайминг обсуждения и финальный тезис МСЭО.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2577" y="5669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200">
                <a:solidFill>
                  <a:srgbClr val="4A228C"/>
                </a:solidFill>
                <a:latin typeface="Segoe UI"/>
                <a:ea typeface="Segoe UI"/>
                <a:cs typeface="Segoe UI"/>
              </a:rPr>
              <a:t>КРУГЛЫЙ СТОЛ МСЭО ·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6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21792" y="608076"/>
            <a:ext cx="201168" cy="105156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50976" y="566928"/>
            <a:ext cx="1094838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70">
                <a:solidFill>
                  <a:srgbClr val="E21CA8"/>
                </a:solidFill>
                <a:latin typeface="Segoe UI"/>
                <a:ea typeface="Segoe UI"/>
                <a:cs typeface="Segoe UI"/>
              </a:rPr>
              <a:t>МОДЕРАТОРУ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94838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Вопросы, которые модератор бросает залу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6272784"/>
            <a:ext cx="10948385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mark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489" y="6400800"/>
            <a:ext cx="255804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21537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700784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Пять вопросов, на которые в зале есть ответ только у самих банков.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103120"/>
            <a:ext cx="1188720" cy="7827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21CA8"/>
                </a:solidFill>
                <a:latin typeface="Segoe UI Semibold"/>
                <a:ea typeface="Segoe UI Semibold"/>
                <a:cs typeface="Segoe UI Semibol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2" y="2103120"/>
            <a:ext cx="9485345" cy="7827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1">
                <a:solidFill>
                  <a:srgbClr val="262E41"/>
                </a:solidFill>
                <a:latin typeface="Georgia"/>
                <a:ea typeface="Georgia"/>
                <a:cs typeface="Georgia"/>
              </a:rPr>
              <a:t>«Какова фактическая доля корпоративного портфеля, где банк рассчитывает именно на материальный залог?»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2885846"/>
            <a:ext cx="10948385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1792" y="2885846"/>
            <a:ext cx="1188720" cy="7827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A8DB6"/>
                </a:solidFill>
                <a:latin typeface="Segoe UI Semibold"/>
                <a:ea typeface="Segoe UI Semibold"/>
                <a:cs typeface="Segoe UI Semi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1952" y="2885846"/>
            <a:ext cx="9485345" cy="7827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1">
                <a:solidFill>
                  <a:srgbClr val="262E41"/>
                </a:solidFill>
                <a:latin typeface="Georgia"/>
                <a:ea typeface="Georgia"/>
                <a:cs typeface="Georgia"/>
              </a:rPr>
              <a:t>«Сколько из реструктурированных кредитов вернутся в нормальное обслуживание без новой реструктуризации?»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3668572"/>
            <a:ext cx="10948385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1792" y="3668572"/>
            <a:ext cx="1188720" cy="7827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5B21A8"/>
                </a:solidFill>
                <a:latin typeface="Segoe UI Semibold"/>
                <a:ea typeface="Segoe UI Semibold"/>
                <a:cs typeface="Segoe UI Semibol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1952" y="3668572"/>
            <a:ext cx="9485345" cy="7827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1">
                <a:solidFill>
                  <a:srgbClr val="262E41"/>
                </a:solidFill>
                <a:latin typeface="Georgia"/>
                <a:ea typeface="Georgia"/>
                <a:cs typeface="Georgia"/>
              </a:rPr>
              <a:t>«Какая часть новых выдач — new money, а какая — refinancing и rescue money?»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4451298"/>
            <a:ext cx="10948385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1792" y="4451298"/>
            <a:ext cx="1188720" cy="7827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21CA8"/>
                </a:solidFill>
                <a:latin typeface="Segoe UI Semibold"/>
                <a:ea typeface="Segoe UI Semibold"/>
                <a:cs typeface="Segoe UI Semibol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1952" y="4451298"/>
            <a:ext cx="9485345" cy="7827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1">
                <a:solidFill>
                  <a:srgbClr val="262E41"/>
                </a:solidFill>
                <a:latin typeface="Georgia"/>
                <a:ea typeface="Georgia"/>
                <a:cs typeface="Georgia"/>
              </a:rPr>
              <a:t>«Когда вы в последний раз пересчитывали recovery крупнейших залогов, а не просто их рыночную стоимость?»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" y="5234024"/>
            <a:ext cx="10948385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1792" y="5234024"/>
            <a:ext cx="1188720" cy="7827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A8DB6"/>
                </a:solidFill>
                <a:latin typeface="Segoe UI Semibold"/>
                <a:ea typeface="Segoe UI Semibold"/>
                <a:cs typeface="Segoe UI Semibold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01952" y="5234024"/>
            <a:ext cx="9485345" cy="7827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1">
                <a:solidFill>
                  <a:srgbClr val="262E41"/>
                </a:solidFill>
                <a:latin typeface="Georgia"/>
                <a:ea typeface="Georgia"/>
                <a:cs typeface="Georgia"/>
              </a:rPr>
              <a:t>«Кто персонально отвечает за ошибку в recovery через два года?»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6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21792" y="608076"/>
            <a:ext cx="201168" cy="105156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50976" y="566928"/>
            <a:ext cx="1094838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70">
                <a:solidFill>
                  <a:srgbClr val="E21CA8"/>
                </a:solidFill>
                <a:latin typeface="Segoe UI"/>
                <a:ea typeface="Segoe UI"/>
                <a:cs typeface="Segoe UI"/>
              </a:rPr>
              <a:t>РЕГЛАМЕНТ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94838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90 минут: новая драматургия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6272784"/>
            <a:ext cx="10948385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mark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489" y="6400800"/>
            <a:ext cx="255804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21537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75564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Разговор идёт от макрориска к отраслям и только затем — к обеспечению и recovery.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340864"/>
            <a:ext cx="1824730" cy="658368"/>
          </a:xfrm>
          <a:prstGeom prst="rect">
            <a:avLst/>
          </a:prstGeom>
          <a:solidFill>
            <a:srgbClr val="2A8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1792" y="2340864"/>
            <a:ext cx="182473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15 мин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46522" y="2340864"/>
            <a:ext cx="2432974" cy="658368"/>
          </a:xfrm>
          <a:prstGeom prst="rect">
            <a:avLst/>
          </a:prstGeom>
          <a:solidFill>
            <a:srgbClr val="1B6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446522" y="2340864"/>
            <a:ext cx="243297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20 мин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46522" y="2340864"/>
            <a:ext cx="952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879496" y="2340864"/>
            <a:ext cx="1824730" cy="658368"/>
          </a:xfrm>
          <a:prstGeom prst="rect">
            <a:avLst/>
          </a:prstGeom>
          <a:solidFill>
            <a:srgbClr val="5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879496" y="2340864"/>
            <a:ext cx="182473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15 мин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79496" y="2340864"/>
            <a:ext cx="952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704226" y="2340864"/>
            <a:ext cx="2432974" cy="658368"/>
          </a:xfrm>
          <a:prstGeom prst="rect">
            <a:avLst/>
          </a:prstGeom>
          <a:solidFill>
            <a:srgbClr val="3A1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704226" y="2340864"/>
            <a:ext cx="243297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20 мин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04226" y="2340864"/>
            <a:ext cx="952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9137200" y="2340864"/>
            <a:ext cx="1581433" cy="658368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37200" y="2340864"/>
            <a:ext cx="1581433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13 мин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37200" y="2340864"/>
            <a:ext cx="952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0718633" y="2340864"/>
            <a:ext cx="851544" cy="658368"/>
          </a:xfrm>
          <a:prstGeom prst="rect">
            <a:avLst/>
          </a:prstGeom>
          <a:solidFill>
            <a:srgbClr val="FF5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718633" y="2340864"/>
            <a:ext cx="85154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7 мин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718633" y="2340864"/>
            <a:ext cx="952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621792" y="3346704"/>
            <a:ext cx="1702810" cy="2615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804672" y="3602736"/>
            <a:ext cx="310896" cy="45720"/>
          </a:xfrm>
          <a:prstGeom prst="rect">
            <a:avLst/>
          </a:prstGeom>
          <a:solidFill>
            <a:srgbClr val="2A8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04672" y="3803904"/>
            <a:ext cx="13370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0–15 мин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4224528"/>
            <a:ext cx="133705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макроцифры, портфель, реструктуризация.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70906" y="3346704"/>
            <a:ext cx="1702810" cy="2615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2653786" y="3602736"/>
            <a:ext cx="310896" cy="45720"/>
          </a:xfrm>
          <a:prstGeom prst="rect">
            <a:avLst/>
          </a:prstGeom>
          <a:solidFill>
            <a:srgbClr val="1B6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2653786" y="3803904"/>
            <a:ext cx="13370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15–35 мин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3786" y="4224528"/>
            <a:ext cx="133705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отраслевые кейсы: Wildberries → Трасса → уголь → металлургия.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20020" y="3346704"/>
            <a:ext cx="1702810" cy="2615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4502900" y="3602736"/>
            <a:ext cx="310896" cy="45720"/>
          </a:xfrm>
          <a:prstGeom prst="rect">
            <a:avLst/>
          </a:prstGeom>
          <a:solidFill>
            <a:srgbClr val="5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502900" y="3803904"/>
            <a:ext cx="13370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35–50 мин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02900" y="4224528"/>
            <a:ext cx="133705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cash flow, долг и решения банков.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69134" y="3346704"/>
            <a:ext cx="1702810" cy="2615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6352014" y="3602736"/>
            <a:ext cx="310896" cy="45720"/>
          </a:xfrm>
          <a:prstGeom prst="rect">
            <a:avLst/>
          </a:prstGeom>
          <a:solidFill>
            <a:srgbClr val="3A1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352014" y="3803904"/>
            <a:ext cx="13370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50–70 мин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2014" y="4224528"/>
            <a:ext cx="133705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обеспечение: структура, collateral coverage, early warning.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18248" y="3346704"/>
            <a:ext cx="1702810" cy="2615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8201128" y="3602736"/>
            <a:ext cx="310896" cy="45720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201128" y="3803904"/>
            <a:ext cx="13370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70–83 мин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01128" y="4224528"/>
            <a:ext cx="133705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recovery, LGD, взыскание, цессия.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867362" y="3346704"/>
            <a:ext cx="1702810" cy="2615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10050242" y="3602736"/>
            <a:ext cx="310896" cy="45720"/>
          </a:xfrm>
          <a:prstGeom prst="rect">
            <a:avLst/>
          </a:prstGeom>
          <a:solidFill>
            <a:srgbClr val="FF5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10050242" y="3803904"/>
            <a:ext cx="13370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83–90 мин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0242" y="4224528"/>
            <a:ext cx="133705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голосование зала и финальный вывод.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240D4E"/>
              </a:gs>
              <a:gs pos="100000">
                <a:srgbClr val="5B21A8"/>
              </a:gs>
            </a:gsLst>
            <a:lin scaled="0" ang="198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38160" y="-1371600"/>
            <a:ext cx="5486400" cy="5486400"/>
          </a:xfrm>
          <a:prstGeom prst="ellipse">
            <a:avLst/>
          </a:prstGeom>
          <a:noFill/>
          <a:ln w="20320">
            <a:solidFill>
              <a:srgbClr val="FF5CD2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23960" y="-685800"/>
            <a:ext cx="4114800" cy="4114800"/>
          </a:xfrm>
          <a:prstGeom prst="ellipse">
            <a:avLst/>
          </a:prstGeom>
          <a:noFill/>
          <a:ln w="20320">
            <a:solidFill>
              <a:srgbClr val="FF5CD2">
                <a:alpha val="2112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-45720"/>
            <a:ext cx="2834640" cy="2834640"/>
          </a:xfrm>
          <a:prstGeom prst="ellipse">
            <a:avLst/>
          </a:prstGeom>
          <a:noFill/>
          <a:ln w="20320">
            <a:solidFill>
              <a:srgbClr val="FF5CD2">
                <a:alpha val="1824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21792" y="608076"/>
            <a:ext cx="201168" cy="105156"/>
          </a:xfrm>
          <a:prstGeom prst="rect">
            <a:avLst/>
          </a:prstGeom>
          <a:solidFill>
            <a:srgbClr val="FF5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50976" y="566928"/>
            <a:ext cx="1094838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70">
                <a:solidFill>
                  <a:srgbClr val="FF5CD2"/>
                </a:solidFill>
                <a:latin typeface="Segoe UI"/>
                <a:ea typeface="Segoe UI"/>
                <a:cs typeface="Segoe UI"/>
              </a:rPr>
              <a:t>ФИНАЛЬНЫЙ ТЕЗИС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896112"/>
            <a:ext cx="1094838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Банк должен знать не только PD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6272784"/>
            <a:ext cx="10948385" cy="9525"/>
          </a:xfrm>
          <a:prstGeom prst="rect">
            <a:avLst/>
          </a:prstGeom>
          <a:solidFill>
            <a:srgbClr val="4A2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021537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09ED8"/>
                </a:solidFill>
                <a:latin typeface="Segoe UI"/>
                <a:ea typeface="Segoe UI"/>
                <a:cs typeface="Segoe UI"/>
              </a:rPr>
              <a:t>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2066543"/>
            <a:ext cx="3430005" cy="210312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896112" y="2359151"/>
            <a:ext cx="384048" cy="50292"/>
          </a:xfrm>
          <a:prstGeom prst="rect">
            <a:avLst/>
          </a:prstGeom>
          <a:solidFill>
            <a:srgbClr val="2A8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96112" y="2578607"/>
            <a:ext cx="288136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PD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145535"/>
            <a:ext cx="288136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20">
                <a:solidFill>
                  <a:srgbClr val="FF5CD2"/>
                </a:solidFill>
                <a:latin typeface="Segoe UI"/>
                <a:ea typeface="Segoe UI"/>
                <a:cs typeface="Segoe UI"/>
              </a:rPr>
              <a:t>PROBABILITY OF DEFAULT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511295"/>
            <a:ext cx="288136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ACDEE"/>
                </a:solidFill>
                <a:latin typeface="Segoe UI"/>
                <a:ea typeface="Segoe UI"/>
                <a:cs typeface="Segoe UI"/>
              </a:rPr>
              <a:t>вероятность дефолта заемщика.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4106661" y="2980943"/>
            <a:ext cx="219456" cy="237744"/>
          </a:xfrm>
          <a:prstGeom prst="triangle">
            <a:avLst/>
          </a:prstGeom>
          <a:solidFill>
            <a:srgbClr val="FF5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4380981" y="2066543"/>
            <a:ext cx="3430005" cy="210312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655301" y="2359151"/>
            <a:ext cx="384048" cy="50292"/>
          </a:xfrm>
          <a:prstGeom prst="rect">
            <a:avLst/>
          </a:prstGeom>
          <a:solidFill>
            <a:srgbClr val="5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655301" y="2578607"/>
            <a:ext cx="288136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LGD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5301" y="3145535"/>
            <a:ext cx="288136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20">
                <a:solidFill>
                  <a:srgbClr val="FF5CD2"/>
                </a:solidFill>
                <a:latin typeface="Segoe UI"/>
                <a:ea typeface="Segoe UI"/>
                <a:cs typeface="Segoe UI"/>
              </a:rPr>
              <a:t>LOSS GIVEN DEFAULT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5301" y="3511295"/>
            <a:ext cx="288136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ACDEE"/>
                </a:solidFill>
                <a:latin typeface="Segoe UI"/>
                <a:ea typeface="Segoe UI"/>
                <a:cs typeface="Segoe UI"/>
              </a:rPr>
              <a:t>сколько будет потеряно после дефолта.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7865850" y="2980943"/>
            <a:ext cx="219456" cy="237744"/>
          </a:xfrm>
          <a:prstGeom prst="triangle">
            <a:avLst/>
          </a:prstGeom>
          <a:solidFill>
            <a:srgbClr val="FF5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8140170" y="2066543"/>
            <a:ext cx="3430005" cy="210312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414490" y="2359151"/>
            <a:ext cx="384048" cy="50292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4490" y="2578607"/>
            <a:ext cx="288136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Recovery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4490" y="3145535"/>
            <a:ext cx="288136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20">
                <a:solidFill>
                  <a:srgbClr val="FF5CD2"/>
                </a:solidFill>
                <a:latin typeface="Segoe UI"/>
                <a:ea typeface="Segoe UI"/>
                <a:cs typeface="Segoe UI"/>
              </a:rPr>
              <a:t>RECOVERY 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4490" y="3511295"/>
            <a:ext cx="288136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ACDEE"/>
                </a:solidFill>
                <a:latin typeface="Segoe UI"/>
                <a:ea typeface="Segoe UI"/>
                <a:cs typeface="Segoe UI"/>
              </a:rPr>
              <a:t>сколько денег реально можно получить из бизнеса, залога и других источников погашения.</a:t>
            </a:r>
          </a:p>
        </p:txBody>
      </p:sp>
      <p:pic>
        <p:nvPicPr>
          <p:cNvPr id="29" name="Picture 28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4700016"/>
            <a:ext cx="1429279" cy="1060704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2542032" y="4718304"/>
            <a:ext cx="9525" cy="1115568"/>
          </a:xfrm>
          <a:prstGeom prst="rect">
            <a:avLst/>
          </a:prstGeom>
          <a:solidFill>
            <a:srgbClr val="4A2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871216" y="4809744"/>
            <a:ext cx="857094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МСЭО — независимая экспертиза актива и сценария его реализации: до того, как банк вынужден будет продавать его в кризис.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6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21792" y="608076"/>
            <a:ext cx="201168" cy="105156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50976" y="566928"/>
            <a:ext cx="1094838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70">
                <a:solidFill>
                  <a:srgbClr val="E21CA8"/>
                </a:solidFill>
                <a:latin typeface="Segoe UI"/>
                <a:ea typeface="Segoe UI"/>
                <a:cs typeface="Segoe UI"/>
              </a:rPr>
              <a:t>ДИСЦИПЛИНА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94838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Что в презентации является фактом, а что — вопросом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6272784"/>
            <a:ext cx="10948385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mark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489" y="6400800"/>
            <a:ext cx="255804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21537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828800"/>
            <a:ext cx="10948385" cy="9555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21792" y="2019909"/>
            <a:ext cx="68580" cy="573328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87552" y="1828800"/>
            <a:ext cx="3063240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Факт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0792" y="1828800"/>
            <a:ext cx="7098761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цифры ЦБ, опубликованные показатели компаний, сообщения Reuters / РБК / Forbes и официально раскрытые события.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2912364"/>
            <a:ext cx="10948385" cy="9555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21792" y="3103473"/>
            <a:ext cx="68580" cy="573328"/>
          </a:xfrm>
          <a:prstGeom prst="rect">
            <a:avLst/>
          </a:prstGeom>
          <a:solidFill>
            <a:srgbClr val="2A8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87552" y="2912364"/>
            <a:ext cx="3063240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Оценка и рыночная информация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0792" y="2912364"/>
            <a:ext cx="7098761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например, оценки общей долговой нагрузки Wildberries и долга перед отдельным банком.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995928"/>
            <a:ext cx="10948385" cy="9555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rotWithShape="0">
              <a:srgbClr val="1B104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21792" y="4187037"/>
            <a:ext cx="68580" cy="573328"/>
          </a:xfrm>
          <a:prstGeom prst="rect">
            <a:avLst/>
          </a:prstGeom>
          <a:solidFill>
            <a:srgbClr val="5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87552" y="3995928"/>
            <a:ext cx="3063240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Иллюстративная модель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50792" y="3995928"/>
            <a:ext cx="7098761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77D"/>
                </a:solidFill>
                <a:latin typeface="Segoe UI"/>
                <a:ea typeface="Segoe UI"/>
                <a:cs typeface="Segoe UI"/>
              </a:rPr>
              <a:t>расчёт recovery: демонстрация механики, а не оценка конкретного объекта.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5079492"/>
            <a:ext cx="10948385" cy="955548"/>
          </a:xfrm>
          <a:prstGeom prst="roundRect">
            <a:avLst>
              <a:gd name="adj" fmla="val 10000"/>
            </a:avLst>
          </a:prstGeom>
          <a:solidFill>
            <a:srgbClr val="240D4E"/>
          </a:solidFill>
          <a:ln>
            <a:noFill/>
          </a:ln>
          <a:effectLst>
            <a:outerShdw blurRad="177800" dist="38100" dir="5400000" rotWithShape="0">
              <a:srgbClr val="1B104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21792" y="5270601"/>
            <a:ext cx="68580" cy="573328"/>
          </a:xfrm>
          <a:prstGeom prst="rect">
            <a:avLst/>
          </a:prstGeom>
          <a:solidFill>
            <a:srgbClr val="FF5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87552" y="5079492"/>
            <a:ext cx="3063240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Гипотеза для дискуссии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50792" y="5079492"/>
            <a:ext cx="7098761" cy="9555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EAE1F7"/>
                </a:solidFill>
                <a:latin typeface="Georgia"/>
                <a:ea typeface="Georgia"/>
                <a:cs typeface="Georgia"/>
              </a:rPr>
              <a:t>«обеспечено залогом не более 50% корп. и МСП портфеля» — не выдавать за установленный факт без внутренней банковской выборки.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6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21792" y="608076"/>
            <a:ext cx="201168" cy="105156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50976" y="566928"/>
            <a:ext cx="1094838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70">
                <a:solidFill>
                  <a:srgbClr val="E21CA8"/>
                </a:solidFill>
                <a:latin typeface="Segoe UI"/>
                <a:ea typeface="Segoe UI"/>
                <a:cs typeface="Segoe UI"/>
              </a:rPr>
              <a:t>ПРИЛОЖЕНИЕ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94838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Источники — основные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6272784"/>
            <a:ext cx="10948385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mark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489" y="6400800"/>
            <a:ext cx="255804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21537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883664"/>
            <a:ext cx="5364464" cy="1237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B104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21792" y="2180661"/>
            <a:ext cx="54864" cy="643493"/>
          </a:xfrm>
          <a:prstGeom prst="rect">
            <a:avLst/>
          </a:prstGeom>
          <a:solidFill>
            <a:srgbClr val="2A8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121408"/>
            <a:ext cx="48158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Банк России — кредитование ЮЛ и ИП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706624"/>
            <a:ext cx="481582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6A8C"/>
                </a:solidFill>
                <a:latin typeface="Segoe UI"/>
                <a:ea typeface="Segoe UI"/>
                <a:cs typeface="Segoe UI"/>
                <a:hlinkClick r:id="rId3"/>
              </a:rPr>
              <a:t>cbr.ru/statistics/bank_sector/sors/credit/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5712" y="1883664"/>
            <a:ext cx="5364464" cy="1237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B104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205712" y="2180661"/>
            <a:ext cx="54864" cy="643493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16608" y="2121408"/>
            <a:ext cx="48158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Банк России — обзор финансовой стабильности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6608" y="2706624"/>
            <a:ext cx="481582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6A8C"/>
                </a:solidFill>
                <a:latin typeface="Segoe UI"/>
                <a:ea typeface="Segoe UI"/>
                <a:cs typeface="Segoe UI"/>
                <a:hlinkClick r:id="rId4"/>
              </a:rPr>
              <a:t>cbr.ru/analytics/finstab/ofs/4q_2025_1q_2026/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304032"/>
            <a:ext cx="5364464" cy="1237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B104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21792" y="3601029"/>
            <a:ext cx="54864" cy="643493"/>
          </a:xfrm>
          <a:prstGeom prst="rect">
            <a:avLst/>
          </a:prstGeom>
          <a:solidFill>
            <a:srgbClr val="2A8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541776"/>
            <a:ext cx="48158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Банк России — банковское регулирование, II кв.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126992"/>
            <a:ext cx="481582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6A8C"/>
                </a:solidFill>
                <a:latin typeface="Segoe UI"/>
                <a:ea typeface="Segoe UI"/>
                <a:cs typeface="Segoe UI"/>
                <a:hlinkClick r:id="rId5"/>
              </a:rPr>
              <a:t>cbr.ru/Collection/Collection/File/62231/BankReg_2026q2.pdf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5712" y="3304032"/>
            <a:ext cx="5364464" cy="1237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B104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205712" y="3601029"/>
            <a:ext cx="54864" cy="643493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16608" y="3541776"/>
            <a:ext cx="48158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Reuters — Wildberries, 07.08.2026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6608" y="4126992"/>
            <a:ext cx="481582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6A8C"/>
                </a:solidFill>
                <a:latin typeface="Segoe UI"/>
                <a:ea typeface="Segoe UI"/>
                <a:cs typeface="Segoe UI"/>
                <a:hlinkClick r:id="rId6"/>
              </a:rPr>
              <a:t>reuters.com/world/europe/ukrainian-attacks-wildberries-strike-heart-russia-inc-2026-08-07/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4724400"/>
            <a:ext cx="5364464" cy="1237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B104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21792" y="5021397"/>
            <a:ext cx="54864" cy="643493"/>
          </a:xfrm>
          <a:prstGeom prst="rect">
            <a:avLst/>
          </a:prstGeom>
          <a:solidFill>
            <a:srgbClr val="2A8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4962144"/>
            <a:ext cx="48158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Reuters — Wildberries, 26.08.2026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5547360"/>
            <a:ext cx="481582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6A8C"/>
                </a:solidFill>
                <a:latin typeface="Segoe UI"/>
                <a:ea typeface="Segoe UI"/>
                <a:cs typeface="Segoe UI"/>
                <a:hlinkClick r:id="rId7"/>
              </a:rPr>
              <a:t>reuters.com/world/europe/drone-sets-wildberries-warehouse-ablaze-russias-tambov-region-governor-says-2026-08-26/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05712" y="4724400"/>
            <a:ext cx="5364464" cy="1237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B104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205712" y="5021397"/>
            <a:ext cx="54864" cy="643493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16608" y="4962144"/>
            <a:ext cx="48158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РБК — ЕвроТранс / «Трасса», 08.09.2026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6608" y="5547360"/>
            <a:ext cx="481582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6A8C"/>
                </a:solidFill>
                <a:latin typeface="Segoe UI"/>
                <a:ea typeface="Segoe UI"/>
                <a:cs typeface="Segoe UI"/>
                <a:hlinkClick r:id="rId8"/>
              </a:rPr>
              <a:t>rbc.ru/society/08/09/2026/6a9ec9899a7947e23bc9dc89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6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21792" y="608076"/>
            <a:ext cx="201168" cy="105156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50976" y="566928"/>
            <a:ext cx="1094838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70">
                <a:solidFill>
                  <a:srgbClr val="E21CA8"/>
                </a:solidFill>
                <a:latin typeface="Segoe UI"/>
                <a:ea typeface="Segoe UI"/>
                <a:cs typeface="Segoe UI"/>
              </a:rPr>
              <a:t>ПРИЛОЖЕНИЕ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94838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Источники — отрасли и компании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6272784"/>
            <a:ext cx="10948385" cy="9525"/>
          </a:xfrm>
          <a:prstGeom prst="rect">
            <a:avLst/>
          </a:prstGeom>
          <a:solidFill>
            <a:srgbClr val="DAC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mark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489" y="6400800"/>
            <a:ext cx="255804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21537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2A6"/>
                </a:solidFill>
                <a:latin typeface="Segoe UI"/>
                <a:ea typeface="Segoe UI"/>
                <a:cs typeface="Segoe UI"/>
              </a:rP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883664"/>
            <a:ext cx="5364464" cy="1237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B104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21792" y="2180661"/>
            <a:ext cx="54864" cy="643493"/>
          </a:xfrm>
          <a:prstGeom prst="rect">
            <a:avLst/>
          </a:prstGeom>
          <a:solidFill>
            <a:srgbClr val="2A8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121408"/>
            <a:ext cx="48158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Forbes — угольщики, 03.08.2026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706624"/>
            <a:ext cx="481582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6A8C"/>
                </a:solidFill>
                <a:latin typeface="Segoe UI"/>
                <a:ea typeface="Segoe UI"/>
                <a:cs typeface="Segoe UI"/>
                <a:hlinkClick r:id="rId3"/>
              </a:rPr>
              <a:t>forbes.ru/biznes/565834-ugol-siki-polucili-peredysku-ubytki-otrasli-snizilis-po-sravneniu-so-proshlym-godom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5712" y="1883664"/>
            <a:ext cx="5364464" cy="1237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B104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205712" y="2180661"/>
            <a:ext cx="54864" cy="643493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16608" y="2121408"/>
            <a:ext cx="48158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Finam — Распадская, 14.08.2026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6608" y="2706624"/>
            <a:ext cx="481582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6A8C"/>
                </a:solidFill>
                <a:latin typeface="Segoe UI"/>
                <a:ea typeface="Segoe UI"/>
                <a:cs typeface="Segoe UI"/>
                <a:hlinkClick r:id="rId4"/>
              </a:rPr>
              <a:t>finam.ru/publications/item/dobycha-uglya-raspadskoy-v-1-polugodii-snililas-na-12-20260814-1100/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304032"/>
            <a:ext cx="5364464" cy="1237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B104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21792" y="3601029"/>
            <a:ext cx="54864" cy="643493"/>
          </a:xfrm>
          <a:prstGeom prst="rect">
            <a:avLst/>
          </a:prstGeom>
          <a:solidFill>
            <a:srgbClr val="2A8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541776"/>
            <a:ext cx="48158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Forbes — Северсталь, 21.04.2026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126992"/>
            <a:ext cx="481582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6A8C"/>
                </a:solidFill>
                <a:latin typeface="Segoe UI"/>
                <a:ea typeface="Segoe UI"/>
                <a:cs typeface="Segoe UI"/>
                <a:hlinkClick r:id="rId5"/>
              </a:rPr>
              <a:t>forbes.ru/biznes/559594-severstal-soobsila-o-padenii-metallopotreblenia-v-rossii-na-15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5712" y="3304032"/>
            <a:ext cx="5364464" cy="1237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B104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205712" y="3601029"/>
            <a:ext cx="54864" cy="643493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16608" y="3541776"/>
            <a:ext cx="48158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Fomag — НЛМК, 27.03.2026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6608" y="4126992"/>
            <a:ext cx="481582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6A8C"/>
                </a:solidFill>
                <a:latin typeface="Segoe UI"/>
                <a:ea typeface="Segoe UI"/>
                <a:cs typeface="Segoe UI"/>
                <a:hlinkClick r:id="rId6"/>
              </a:rPr>
              <a:t>fomag.ru/news/nlmk-otchetnost-vyglyadit-sopostavimoy-s-mmk-i-severstalyu/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4724400"/>
            <a:ext cx="5364464" cy="1237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B104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21792" y="5021397"/>
            <a:ext cx="54864" cy="643493"/>
          </a:xfrm>
          <a:prstGeom prst="rect">
            <a:avLst/>
          </a:prstGeom>
          <a:solidFill>
            <a:srgbClr val="2A8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4962144"/>
            <a:ext cx="48158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Finam — РУСАЛ, 08.09.2026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5547360"/>
            <a:ext cx="481582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6A8C"/>
                </a:solidFill>
                <a:latin typeface="Segoe UI"/>
                <a:ea typeface="Segoe UI"/>
                <a:cs typeface="Segoe UI"/>
                <a:hlinkClick r:id="rId7"/>
              </a:rPr>
              <a:t>finam.ru/publications/item/rusal-alyuminiy-dorozhaet-a-dolg-tyanet-vniz-20260908-1015/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05712" y="4724400"/>
            <a:ext cx="5364464" cy="1237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B104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205712" y="5021397"/>
            <a:ext cx="54864" cy="643493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16608" y="4962144"/>
            <a:ext cx="48158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62E41"/>
                </a:solidFill>
                <a:latin typeface="Segoe UI Semibold"/>
                <a:ea typeface="Segoe UI Semibold"/>
                <a:cs typeface="Segoe UI Semibold"/>
              </a:rPr>
              <a:t>Интерфакс — Мечел, перенос платежей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6608" y="5547360"/>
            <a:ext cx="481582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B6A8C"/>
                </a:solidFill>
                <a:latin typeface="Segoe UI"/>
                <a:ea typeface="Segoe UI"/>
                <a:cs typeface="Segoe UI"/>
                <a:hlinkClick r:id="rId8"/>
              </a:rPr>
              <a:t>interfax.ru/business/1033964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240D4E"/>
              </a:gs>
              <a:gs pos="100000">
                <a:srgbClr val="5B21A8"/>
              </a:gs>
            </a:gsLst>
            <a:lin scaled="0" ang="198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3291840"/>
            <a:ext cx="5120640" cy="5120640"/>
          </a:xfrm>
          <a:prstGeom prst="ellipse">
            <a:avLst/>
          </a:prstGeom>
          <a:noFill/>
          <a:ln w="20320">
            <a:solidFill>
              <a:srgbClr val="FF5CD2">
                <a:alpha val="2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" y="3931920"/>
            <a:ext cx="3840480" cy="3840480"/>
          </a:xfrm>
          <a:prstGeom prst="ellipse">
            <a:avLst/>
          </a:prstGeom>
          <a:noFill/>
          <a:ln w="20320">
            <a:solidFill>
              <a:srgbClr val="FF5CD2">
                <a:alpha val="176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" y="4526280"/>
            <a:ext cx="2651760" cy="2651760"/>
          </a:xfrm>
          <a:prstGeom prst="ellipse">
            <a:avLst/>
          </a:prstGeom>
          <a:noFill/>
          <a:ln w="20320">
            <a:solidFill>
              <a:srgbClr val="FF5CD2">
                <a:alpha val="15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21792" y="658368"/>
            <a:ext cx="109483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40">
                <a:solidFill>
                  <a:srgbClr val="FF5CD2"/>
                </a:solidFill>
                <a:latin typeface="Segoe UI"/>
                <a:ea typeface="Segoe UI"/>
                <a:cs typeface="Segoe UI"/>
              </a:rPr>
              <a:t>ПАРТНЁР КРУГЛОГО СТОЛА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060704"/>
            <a:ext cx="6949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Независимая экспертиза</a:t>
            </a:r>
            <a:br/>
            <a:r>
              <a:rPr sz="34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актива и recovery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304288"/>
            <a:ext cx="1554480" cy="45720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1337" y="786384"/>
            <a:ext cx="2148840" cy="159470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1792" y="2798064"/>
            <a:ext cx="5337032" cy="1920240"/>
          </a:xfrm>
          <a:prstGeom prst="roundRect">
            <a:avLst>
              <a:gd name="adj" fmla="val 6000"/>
            </a:avLst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932688" y="3072384"/>
            <a:ext cx="384048" cy="50292"/>
          </a:xfrm>
          <a:prstGeom prst="rect">
            <a:avLst/>
          </a:prstGeom>
          <a:solidFill>
            <a:srgbClr val="E21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73552"/>
            <a:ext cx="4715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Павел Русаков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694176"/>
            <a:ext cx="4715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00">
                <a:solidFill>
                  <a:srgbClr val="FF5CD2"/>
                </a:solidFill>
                <a:latin typeface="Segoe UI"/>
                <a:ea typeface="Segoe UI"/>
                <a:cs typeface="Segoe UI"/>
              </a:rPr>
              <a:t>ГЕНЕРАЛЬНЫЙ ДИРЕКТОР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041648"/>
            <a:ext cx="4715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AE1F7"/>
                </a:solidFill>
                <a:latin typeface="Segoe UI"/>
                <a:ea typeface="Segoe UI"/>
                <a:cs typeface="Segoe UI"/>
              </a:rPr>
              <a:t>rusakov@sudebnaya-expertiza.com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AE1F7"/>
                </a:solidFill>
                <a:latin typeface="Segoe UI"/>
                <a:ea typeface="Segoe UI"/>
                <a:cs typeface="Segoe UI"/>
              </a:rPr>
              <a:t>+7 (965) 128-53-13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144" y="2798064"/>
            <a:ext cx="5337032" cy="1920240"/>
          </a:xfrm>
          <a:prstGeom prst="roundRect">
            <a:avLst>
              <a:gd name="adj" fmla="val 6000"/>
            </a:avLst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544040" y="3072384"/>
            <a:ext cx="384048" cy="50292"/>
          </a:xfrm>
          <a:prstGeom prst="rect">
            <a:avLst/>
          </a:prstGeom>
          <a:solidFill>
            <a:srgbClr val="2A8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44040" y="3273552"/>
            <a:ext cx="4715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Кристина Ерохина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4040" y="3694176"/>
            <a:ext cx="4715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00">
                <a:solidFill>
                  <a:srgbClr val="FF5CD2"/>
                </a:solidFill>
                <a:latin typeface="Segoe UI"/>
                <a:ea typeface="Segoe UI"/>
                <a:cs typeface="Segoe UI"/>
              </a:rPr>
              <a:t>НАЧАЛЬНИК ОТДЕЛА ОЦЕНКИ БИЗНЕСА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4040" y="4041648"/>
            <a:ext cx="4715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AE1F7"/>
                </a:solidFill>
                <a:latin typeface="Segoe UI"/>
                <a:ea typeface="Segoe UI"/>
                <a:cs typeface="Segoe UI"/>
              </a:rPr>
              <a:t>erohina@sudebnaya-expertiza.com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AE1F7"/>
                </a:solidFill>
                <a:latin typeface="Segoe UI"/>
                <a:ea typeface="Segoe UI"/>
                <a:cs typeface="Segoe UI"/>
              </a:rPr>
              <a:t>+7 (962) 171-45-58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" y="4956048"/>
            <a:ext cx="10948385" cy="9525"/>
          </a:xfrm>
          <a:prstGeom prst="rect">
            <a:avLst/>
          </a:prstGeom>
          <a:solidFill>
            <a:srgbClr val="4A2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1792" y="5230368"/>
            <a:ext cx="32837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FF5CD2"/>
                </a:solidFill>
                <a:latin typeface="Segoe UI"/>
                <a:ea typeface="Segoe UI"/>
                <a:cs typeface="Segoe UI"/>
              </a:rPr>
              <a:t>ОФИС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5522976"/>
            <a:ext cx="328370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БЦ «Волгоградский»: г. Москва, Волгоградский просп., д. 46Б, корп.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1253" y="5230368"/>
            <a:ext cx="32837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FF5CD2"/>
                </a:solidFill>
                <a:latin typeface="Segoe UI"/>
                <a:ea typeface="Segoe UI"/>
                <a:cs typeface="Segoe UI"/>
              </a:rPr>
              <a:t>САЙТ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1253" y="5522976"/>
            <a:ext cx="328370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sudebnaya-expertiza.com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0714" y="5230368"/>
            <a:ext cx="32837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FF5CD2"/>
                </a:solidFill>
                <a:latin typeface="Segoe UI"/>
                <a:ea typeface="Segoe UI"/>
                <a:cs typeface="Segoe UI"/>
              </a:rPr>
              <a:t>ТЕЛЕФОН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0714" y="5522976"/>
            <a:ext cx="328370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+7 (495) 212-05-77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