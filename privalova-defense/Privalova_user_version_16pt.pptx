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.xml" ContentType="application/vnd.openxmlformats-officedocument.drawingml.chart+xml"/>
  <Override PartName="/ppt/charts/chart40.xml" ContentType="application/vnd.openxmlformats-officedocument.drawingml.chart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charts/chart46.xml" ContentType="application/vnd.openxmlformats-officedocument.drawingml.chart+xml"/>
  <Override PartName="/ppt/charts/chart47.xml" ContentType="application/vnd.openxmlformats-officedocument.drawingml.chart+xml"/>
  <Override PartName="/ppt/charts/chart48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300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4" r:id="rId17"/>
    <p:sldId id="275" r:id="rId18"/>
    <p:sldId id="276" r:id="rId19"/>
    <p:sldId id="277" r:id="rId20"/>
    <p:sldId id="278" r:id="rId21"/>
    <p:sldId id="279" r:id="rId22"/>
    <p:sldId id="281" r:id="rId23"/>
    <p:sldId id="282" r:id="rId24"/>
    <p:sldId id="283" r:id="rId25"/>
    <p:sldId id="285" r:id="rId26"/>
    <p:sldId id="288" r:id="rId27"/>
    <p:sldId id="286" r:id="rId28"/>
    <p:sldId id="287" r:id="rId29"/>
    <p:sldId id="290" r:id="rId30"/>
    <p:sldId id="289" r:id="rId31"/>
    <p:sldId id="291" r:id="rId32"/>
    <p:sldId id="292" r:id="rId33"/>
    <p:sldId id="293" r:id="rId34"/>
    <p:sldId id="295" r:id="rId35"/>
    <p:sldId id="294" r:id="rId36"/>
    <p:sldId id="297" r:id="rId37"/>
    <p:sldId id="298" r:id="rId38"/>
    <p:sldId id="299" r:id="rId3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8AD7B7A4-6EE3-DC06-49E6-8AE41D38F6D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300"/>
          </p14:sldIdLst>
        </p14:section>
        <p14:section name="Положение 1" id="{D7BDB2E0-8C3A-8665-5124-7E3BBCE21AB4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4"/>
            <p14:sldId id="275"/>
            <p14:sldId id="276"/>
            <p14:sldId id="277"/>
            <p14:sldId id="278"/>
            <p14:sldId id="279"/>
            <p14:sldId id="281"/>
            <p14:sldId id="282"/>
            <p14:sldId id="283"/>
          </p14:sldIdLst>
        </p14:section>
        <p14:section name="Положение 2" id="{D8B9108F-ACA8-B1DB-1B86-F1A93C806F45}">
          <p14:sldIdLst>
            <p14:sldId id="285"/>
            <p14:sldId id="288"/>
            <p14:sldId id="286"/>
            <p14:sldId id="287"/>
            <p14:sldId id="290"/>
            <p14:sldId id="289"/>
          </p14:sldIdLst>
        </p14:section>
        <p14:section name="Положение 3" id="{116D1A40-325B-70A9-34C7-AED350EECE6A}">
          <p14:sldIdLst>
            <p14:sldId id="291"/>
            <p14:sldId id="292"/>
            <p14:sldId id="293"/>
            <p14:sldId id="295"/>
            <p14:sldId id="294"/>
          </p14:sldIdLst>
        </p14:section>
        <p14:section name="Выводы" id="{7D23BC20-AEEB-57A7-B119-7466026992ED}">
          <p14:sldIdLst>
            <p14:sldId id="297"/>
            <p14:sldId id="298"/>
            <p14:sldId id="29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4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2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3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_rels/chart3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0.xlsx"/></Relationships>
</file>

<file path=ppt/charts/_rels/chart3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1.xlsx"/></Relationships>
</file>

<file path=ppt/charts/_rels/chart3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2.xlsx"/></Relationships>
</file>

<file path=ppt/charts/_rels/chart3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3.xlsx"/></Relationships>
</file>

<file path=ppt/charts/_rels/chart3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4.xlsx"/></Relationships>
</file>

<file path=ppt/charts/_rels/chart3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5.xlsx"/></Relationships>
</file>

<file path=ppt/charts/_rels/chart3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6.xlsx"/></Relationships>
</file>

<file path=ppt/charts/_rels/chart3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7.xlsx"/></Relationships>
</file>

<file path=ppt/charts/_rels/chart3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8.xlsx"/></Relationships>
</file>

<file path=ppt/charts/_rels/chart4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9.xlsx"/></Relationships>
</file>

<file path=ppt/charts/_rels/chart4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0.xlsx"/></Relationships>
</file>

<file path=ppt/charts/_rels/chart4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1.xlsx"/></Relationships>
</file>

<file path=ppt/charts/_rels/chart4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2.xlsx"/></Relationships>
</file>

<file path=ppt/charts/_rels/chart4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3.xlsx"/></Relationships>
</file>

<file path=ppt/charts/_rels/chart4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4.xlsx"/></Relationships>
</file>

<file path=ppt/charts/_rels/chart4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5.xlsx"/></Relationships>
</file>

<file path=ppt/charts/_rels/chart4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6.xlsx"/></Relationships>
</file>

<file path=ppt/charts/_rels/chart4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6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600" b="1" i="0" u="none" strike="noStrike">
                <a:solidFill>
                  <a:srgbClr val="2F3E55"/>
                </a:solidFill>
                <a:latin typeface="+mn-lt"/>
              </a:rPr>
              <a:t>Интенсивность абдоминалгии — СРК-З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7355"/>
          <c:y val="0.21154"/>
          <c:w val="0.79339"/>
          <c:h val="0.3692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2.29</c:v>
                </c:pt>
                <c:pt idx="1">
                  <c:v>2.36</c:v>
                </c:pt>
                <c:pt idx="2">
                  <c:v>2.11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4F-436A-852E-BBA860204D4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2F3E55"/>
                        </a:solidFill>
                        <a:latin typeface="+mn-lt"/>
                      </a:rPr>
                      <a:t>1,35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824F-436A-852E-BBA860204D4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2F3E55"/>
                        </a:solidFill>
                        <a:latin typeface="+mn-lt"/>
                      </a:rPr>
                      <a:t>1,73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824F-436A-852E-BBA860204D4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2F3E55"/>
                        </a:solidFill>
                        <a:latin typeface="+mn-lt"/>
                      </a:rPr>
                      <a:t>0,33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824F-436A-852E-BBA860204D4C}"/>
                </c:ext>
              </c:extLst>
            </c:dLbl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1.35</c:v>
                </c:pt>
                <c:pt idx="1">
                  <c:v>1.73</c:v>
                </c:pt>
                <c:pt idx="2">
                  <c:v>0.33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24F-436A-852E-BBA860204D4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Баллы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6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600" b="1" i="0" u="none" strike="noStrike">
                <a:solidFill>
                  <a:srgbClr val="2F3E55"/>
                </a:solidFill>
                <a:latin typeface="+mn-lt"/>
              </a:rPr>
              <a:t>Интенсивность абдоминалгии — СРК-Д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7355"/>
          <c:y val="0.21154"/>
          <c:w val="0.79339"/>
          <c:h val="0.3692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2.41</c:v>
                </c:pt>
                <c:pt idx="1">
                  <c:v>2.41</c:v>
                </c:pt>
                <c:pt idx="2">
                  <c:v>2.46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B3-4A2F-B30D-3C739FA94D0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2F3E55"/>
                        </a:solidFill>
                        <a:latin typeface="+mn-lt"/>
                      </a:rPr>
                      <a:t>1,73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90B3-4A2F-B30D-3C739FA94D0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2F3E55"/>
                        </a:solidFill>
                        <a:latin typeface="+mn-lt"/>
                      </a:rPr>
                      <a:t>1,29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90B3-4A2F-B30D-3C739FA94D0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2F3E55"/>
                        </a:solidFill>
                        <a:latin typeface="+mn-lt"/>
                      </a:rPr>
                      <a:t>0,20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90B3-4A2F-B30D-3C739FA94D02}"/>
                </c:ext>
              </c:extLst>
            </c:dLbl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1.73</c:v>
                </c:pt>
                <c:pt idx="1">
                  <c:v>1.29</c:v>
                </c:pt>
                <c:pt idx="2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0B3-4A2F-B30D-3C739FA94D0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Баллы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6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600" b="1" i="0" u="none" strike="noStrike">
                <a:solidFill>
                  <a:srgbClr val="2F3E55"/>
                </a:solidFill>
                <a:latin typeface="+mn-lt"/>
              </a:rPr>
              <a:t>Частота абдоминалгии — СРК-З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7355"/>
          <c:y val="0.21154"/>
          <c:w val="0.79339"/>
          <c:h val="0.3692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E5-4537-AB71-D6DE919DABD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2F3E55"/>
                        </a:solidFill>
                        <a:latin typeface="+mn-lt"/>
                      </a:rPr>
                      <a:t>50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59E5-4537-AB71-D6DE919DABD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2F3E55"/>
                        </a:solidFill>
                        <a:latin typeface="+mn-lt"/>
                      </a:rPr>
                      <a:t>38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59E5-4537-AB71-D6DE919DABD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2F3E55"/>
                        </a:solidFill>
                        <a:latin typeface="+mn-lt"/>
                      </a:rPr>
                      <a:t>25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59E5-4537-AB71-D6DE919DABD8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50</c:v>
                </c:pt>
                <c:pt idx="1">
                  <c:v>38</c:v>
                </c:pt>
                <c:pt idx="2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9E5-4537-AB71-D6DE919DABD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% пациентов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6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600" b="1" i="0" u="none" strike="noStrike">
                <a:solidFill>
                  <a:srgbClr val="2F3E55"/>
                </a:solidFill>
                <a:latin typeface="+mn-lt"/>
              </a:rPr>
              <a:t>Частота абдоминалгии — СРК-Д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7355"/>
          <c:y val="0.21154"/>
          <c:w val="0.79339"/>
          <c:h val="0.3692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65-4CC2-B1B0-CF2E72A74A7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2F3E55"/>
                        </a:solidFill>
                        <a:latin typeface="+mn-lt"/>
                      </a:rPr>
                      <a:t>53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8165-4CC2-B1B0-CF2E72A74A7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2F3E55"/>
                        </a:solidFill>
                        <a:latin typeface="+mn-lt"/>
                      </a:rPr>
                      <a:t>43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8165-4CC2-B1B0-CF2E72A74A7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2F3E55"/>
                        </a:solidFill>
                        <a:latin typeface="+mn-lt"/>
                      </a:rPr>
                      <a:t>28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8165-4CC2-B1B0-CF2E72A74A7A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53</c:v>
                </c:pt>
                <c:pt idx="1">
                  <c:v>43</c:v>
                </c:pt>
                <c:pt idx="2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165-4CC2-B1B0-CF2E72A74A7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% пациентов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400" b="1" i="0" u="none" strike="noStrike">
                <a:solidFill>
                  <a:srgbClr val="2F3E55"/>
                </a:solidFill>
                <a:latin typeface="+mn-lt"/>
              </a:rPr>
              <a:t>Нормализация стула после лечения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9091"/>
          <c:y val="0.11111"/>
          <c:w val="0.77273"/>
          <c:h val="0.676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СРК-З (запор)</c:v>
                </c:pt>
              </c:strCache>
            </c:strRef>
          </c:tx>
          <c:spPr>
            <a:solidFill>
              <a:srgbClr val="8DB5A5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76,5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0A3D-4C86-BD60-17729B5114E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57,9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0A3D-4C86-BD60-17729B5114E7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64,7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0A3D-4C86-BD60-17729B5114E7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76.5</c:v>
                </c:pt>
                <c:pt idx="1">
                  <c:v>57.9</c:v>
                </c:pt>
                <c:pt idx="2">
                  <c:v>64.7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A3D-4C86-BD60-17729B5114E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СРК-Д (диарея)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1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52,9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0A3D-4C86-BD60-17729B5114E7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66,7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0A3D-4C86-BD60-17729B5114E7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53.3</c:v>
                </c:pt>
                <c:pt idx="1">
                  <c:v>52.9</c:v>
                </c:pt>
                <c:pt idx="2">
                  <c:v>66.7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A3D-4C86-BD60-17729B5114E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% пациентов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6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600" b="1" i="0" u="none" strike="noStrike">
                <a:solidFill>
                  <a:srgbClr val="2F3E55"/>
                </a:solidFill>
                <a:latin typeface="+mn-lt"/>
              </a:rPr>
              <a:t>Реакция стресса (РС)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7355"/>
          <c:y val="0.21154"/>
          <c:w val="0.79339"/>
          <c:h val="0.3692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17.399999999999999</c:v>
                </c:pt>
                <c:pt idx="1">
                  <c:v>20</c:v>
                </c:pt>
                <c:pt idx="2">
                  <c:v>16</c:v>
                </c:pt>
                <c:pt idx="3">
                  <c:v>22.8</c:v>
                </c:pt>
                <c:pt idx="4">
                  <c:v>20.9</c:v>
                </c:pt>
                <c:pt idx="5">
                  <c:v>19.04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A67-460A-B069-BAE76156BB9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2"/>
              <c:tx>
                <c:rich>
                  <a:bodyPr/>
                  <a:lstStyle/>
                  <a:p>
                    <a:r>
                      <a:rPr lang="ru-RU" sz="1200" b="0">
                        <a:solidFill>
                          <a:srgbClr val="2F3E55"/>
                        </a:solidFill>
                        <a:latin typeface="+mn-lt"/>
                      </a:rPr>
                      <a:t>12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AA67-460A-B069-BAE76156BB9F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ru-RU" sz="1200" b="0">
                        <a:solidFill>
                          <a:srgbClr val="2F3E55"/>
                        </a:solidFill>
                        <a:latin typeface="+mn-lt"/>
                      </a:rPr>
                      <a:t>13,6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AA67-460A-B069-BAE76156BB9F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ru-RU" sz="1200" b="0">
                        <a:solidFill>
                          <a:srgbClr val="2F3E55"/>
                        </a:solidFill>
                        <a:latin typeface="+mn-lt"/>
                      </a:rPr>
                      <a:t>0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AA67-460A-B069-BAE76156BB9F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ru-RU" sz="1200" b="0">
                        <a:solidFill>
                          <a:srgbClr val="2F3E55"/>
                        </a:solidFill>
                        <a:latin typeface="+mn-lt"/>
                      </a:rPr>
                      <a:t>4,7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AA67-460A-B069-BAE76156BB9F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13.04</c:v>
                </c:pt>
                <c:pt idx="1">
                  <c:v>15</c:v>
                </c:pt>
                <c:pt idx="2">
                  <c:v>12</c:v>
                </c:pt>
                <c:pt idx="3">
                  <c:v>13.6</c:v>
                </c:pt>
                <c:pt idx="4">
                  <c:v>0</c:v>
                </c:pt>
                <c:pt idx="5">
                  <c:v>4.7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AA67-460A-B069-BAE76156BB9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5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% пациентов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6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600" b="1" i="0" u="none" strike="noStrike">
                <a:solidFill>
                  <a:srgbClr val="2F3E55"/>
                </a:solidFill>
                <a:latin typeface="+mn-lt"/>
              </a:rPr>
              <a:t>Реакция переактивации (РПеА)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7355"/>
          <c:y val="0.21154"/>
          <c:w val="0.79339"/>
          <c:h val="0.3692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17.399999999999999</c:v>
                </c:pt>
                <c:pt idx="1">
                  <c:v>20</c:v>
                </c:pt>
                <c:pt idx="2">
                  <c:v>24</c:v>
                </c:pt>
                <c:pt idx="3">
                  <c:v>13.6</c:v>
                </c:pt>
                <c:pt idx="4">
                  <c:v>20.8</c:v>
                </c:pt>
                <c:pt idx="5">
                  <c:v>23.8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15-4608-BF53-83BBCBFD91E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4"/>
              <c:tx>
                <c:rich>
                  <a:bodyPr/>
                  <a:lstStyle/>
                  <a:p>
                    <a:r>
                      <a:rPr lang="ru-RU" sz="1200" b="0">
                        <a:solidFill>
                          <a:srgbClr val="2F3E55"/>
                        </a:solidFill>
                        <a:latin typeface="+mn-lt"/>
                      </a:rPr>
                      <a:t>8,3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CB15-4608-BF53-83BBCBFD91E0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ru-RU" sz="1200" b="0">
                        <a:solidFill>
                          <a:srgbClr val="2F3E55"/>
                        </a:solidFill>
                        <a:latin typeface="+mn-lt"/>
                      </a:rPr>
                      <a:t>9,5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CB15-4608-BF53-83BBCBFD91E0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13.04</c:v>
                </c:pt>
                <c:pt idx="1">
                  <c:v>15</c:v>
                </c:pt>
                <c:pt idx="2">
                  <c:v>20</c:v>
                </c:pt>
                <c:pt idx="3">
                  <c:v>18.100000000000001</c:v>
                </c:pt>
                <c:pt idx="4">
                  <c:v>8.3000000000000007</c:v>
                </c:pt>
                <c:pt idx="5">
                  <c:v>9.5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B15-4608-BF53-83BBCBFD91E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5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% пациентов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6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600" b="1" i="0" u="none" strike="noStrike">
                <a:solidFill>
                  <a:srgbClr val="2F3E55"/>
                </a:solidFill>
                <a:latin typeface="+mn-lt"/>
              </a:rPr>
              <a:t>Прирост числа пациентов с РСА + РПА (Δ)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7355"/>
          <c:y val="0.22266"/>
          <c:w val="0.79339"/>
          <c:h val="0.5101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Прирост РСА + РПА, Δ %</c:v>
                </c:pt>
              </c:strCache>
            </c:strRef>
          </c:tx>
          <c:spPr>
            <a:solidFill>
              <a:srgbClr val="B9C4D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398-4F44-9250-AB382983F4E1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B398-4F44-9250-AB382983F4E1}"/>
              </c:ext>
            </c:extLst>
          </c:dPt>
          <c:dPt>
            <c:idx val="2"/>
            <c:invertIfNegative val="0"/>
            <c:bubble3D val="0"/>
            <c:spPr>
              <a:solidFill>
                <a:srgbClr val="E0C2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398-4F44-9250-AB382983F4E1}"/>
              </c:ext>
            </c:extLst>
          </c:dPt>
          <c:dPt>
            <c:idx val="3"/>
            <c:invertIfNegative val="0"/>
            <c:bubble3D val="0"/>
            <c:spPr>
              <a:solidFill>
                <a:srgbClr val="E0C2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398-4F44-9250-AB382983F4E1}"/>
              </c:ext>
            </c:extLst>
          </c:dPt>
          <c:dPt>
            <c:idx val="4"/>
            <c:invertIfNegative val="0"/>
            <c:bubble3D val="0"/>
            <c:spPr>
              <a:solidFill>
                <a:srgbClr val="5A9A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398-4F44-9250-AB382983F4E1}"/>
              </c:ext>
            </c:extLst>
          </c:dPt>
          <c:dPt>
            <c:idx val="5"/>
            <c:invertIfNegative val="0"/>
            <c:bubble3D val="0"/>
            <c:spPr>
              <a:solidFill>
                <a:srgbClr val="5A9A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398-4F44-9250-AB382983F4E1}"/>
              </c:ext>
            </c:extLst>
          </c:dPt>
          <c:dLbls>
            <c:dLbl>
              <c:idx val="4"/>
              <c:tx>
                <c:rich>
                  <a:bodyPr/>
                  <a:lstStyle/>
                  <a:p>
                    <a:r>
                      <a:rPr lang="ru-RU" sz="1200" b="0">
                        <a:solidFill>
                          <a:srgbClr val="2F3E55"/>
                        </a:solidFill>
                        <a:latin typeface="+mn-lt"/>
                      </a:rPr>
                      <a:t>50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B398-4F44-9250-AB382983F4E1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ru-RU" sz="1200" b="0">
                        <a:solidFill>
                          <a:srgbClr val="2F3E55"/>
                        </a:solidFill>
                        <a:latin typeface="+mn-lt"/>
                      </a:rPr>
                      <a:t>42,8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B398-4F44-9250-AB382983F4E1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8.8000000000000007</c:v>
                </c:pt>
                <c:pt idx="1">
                  <c:v>15</c:v>
                </c:pt>
                <c:pt idx="2">
                  <c:v>12</c:v>
                </c:pt>
                <c:pt idx="3">
                  <c:v>9.1</c:v>
                </c:pt>
                <c:pt idx="4">
                  <c:v>50</c:v>
                </c:pt>
                <c:pt idx="5">
                  <c:v>42.8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B398-4F44-9250-AB382983F4E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5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el-GR" sz="1400" b="0" i="0" u="none" strike="noStrike">
                    <a:solidFill>
                      <a:srgbClr val="2F3E55"/>
                    </a:solidFill>
                    <a:latin typeface="Arial"/>
                  </a:rPr>
                  <a:t>Δ, %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6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600" b="1" i="0" u="none" strike="noStrike">
                <a:solidFill>
                  <a:srgbClr val="2F3E55"/>
                </a:solidFill>
                <a:latin typeface="+mn-lt"/>
              </a:rPr>
              <a:t>Частота пневматоза кишечника по данным УЗИ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2500"/>
          <c:y val="0.11111"/>
          <c:w val="0.85119"/>
          <c:h val="0.6686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82.3</c:v>
                </c:pt>
                <c:pt idx="1">
                  <c:v>93.3</c:v>
                </c:pt>
                <c:pt idx="2">
                  <c:v>84.2</c:v>
                </c:pt>
                <c:pt idx="3">
                  <c:v>88.9</c:v>
                </c:pt>
                <c:pt idx="4">
                  <c:v>94.4</c:v>
                </c:pt>
                <c:pt idx="5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97C-4F99-B000-DA36AAC0266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ru-RU" sz="1200" b="0">
                        <a:solidFill>
                          <a:srgbClr val="2F3E55"/>
                        </a:solidFill>
                        <a:latin typeface="+mn-lt"/>
                      </a:rPr>
                      <a:t>17,6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297C-4F99-B000-DA36AAC0266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ru-RU" sz="1200" b="0">
                        <a:solidFill>
                          <a:srgbClr val="2F3E55"/>
                        </a:solidFill>
                        <a:latin typeface="+mn-lt"/>
                      </a:rPr>
                      <a:t>33,3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297C-4F99-B000-DA36AAC02667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ru-RU" sz="1200" b="0">
                        <a:solidFill>
                          <a:srgbClr val="2F3E55"/>
                        </a:solidFill>
                        <a:latin typeface="+mn-lt"/>
                      </a:rPr>
                      <a:t>26,3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297C-4F99-B000-DA36AAC02667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ru-RU" sz="1200" b="0">
                        <a:solidFill>
                          <a:srgbClr val="2F3E55"/>
                        </a:solidFill>
                        <a:latin typeface="+mn-lt"/>
                      </a:rPr>
                      <a:t>29,4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297C-4F99-B000-DA36AAC02667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ru-RU" sz="1200" b="0">
                        <a:solidFill>
                          <a:srgbClr val="2F3E55"/>
                        </a:solidFill>
                        <a:latin typeface="+mn-lt"/>
                      </a:rPr>
                      <a:t>22,2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297C-4F99-B000-DA36AAC02667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ru-RU" sz="1200" b="0">
                        <a:solidFill>
                          <a:srgbClr val="2F3E55"/>
                        </a:solidFill>
                        <a:latin typeface="+mn-lt"/>
                      </a:rPr>
                      <a:t>20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297C-4F99-B000-DA36AAC02667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17.600000000000001</c:v>
                </c:pt>
                <c:pt idx="1">
                  <c:v>33.299999999999997</c:v>
                </c:pt>
                <c:pt idx="2">
                  <c:v>26.3</c:v>
                </c:pt>
                <c:pt idx="3">
                  <c:v>29.4</c:v>
                </c:pt>
                <c:pt idx="4">
                  <c:v>22.2</c:v>
                </c:pt>
                <c:pt idx="5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297C-4F99-B000-DA36AAC0266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% пациентов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400" b="1" i="0" u="none" strike="noStrike">
                <a:solidFill>
                  <a:srgbClr val="2F3E55"/>
                </a:solidFill>
                <a:latin typeface="+mn-lt"/>
              </a:rPr>
              <a:t>Результат лечения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2162"/>
          <c:y val="0.11111"/>
          <c:w val="0.82432"/>
          <c:h val="0.53737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Нормализация показателей</c:v>
                </c:pt>
              </c:strCache>
            </c:strRef>
          </c:tx>
          <c:spPr>
            <a:solidFill>
              <a:srgbClr val="5A9AA0"/>
            </a:solidFill>
            <a:effectLst/>
          </c:spPr>
          <c:invertIfNegative val="0"/>
          <c:dLbls>
            <c:numFmt formatCode="0.0;\-0.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Основная группа</c:v>
                </c:pt>
                <c:pt idx="1">
                  <c:v>Контрольная и сравнения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61.5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CF-4E6F-A3A0-A62CA2B80A0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Значительное улучшение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0.0;\-0.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Основная группа</c:v>
                </c:pt>
                <c:pt idx="1">
                  <c:v>Контрольная и сравнения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38.5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ACF-4E6F-A3A0-A62CA2B80A0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4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400" b="1" i="0" u="none" strike="noStrike">
                <a:solidFill>
                  <a:srgbClr val="2F3E55"/>
                </a:solidFill>
                <a:latin typeface="+mn-lt"/>
              </a:rPr>
              <a:t>Бифидобактерии (норма 8–10)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25000"/>
          <c:y val="0.11111"/>
          <c:w val="0.70238"/>
          <c:h val="0.6686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</c:v>
                </c:pt>
                <c:pt idx="1">
                  <c:v>7</c:v>
                </c:pt>
                <c:pt idx="2">
                  <c:v>6</c:v>
                </c:pt>
                <c:pt idx="3">
                  <c:v>6</c:v>
                </c:pt>
                <c:pt idx="4">
                  <c:v>6</c:v>
                </c:pt>
                <c:pt idx="5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D6F-4901-B398-811A8A6BE72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4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9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7D6F-4901-B398-811A8A6BE729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10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7D6F-4901-B398-811A8A6BE729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</c:v>
                </c:pt>
                <c:pt idx="1">
                  <c:v>7</c:v>
                </c:pt>
                <c:pt idx="2">
                  <c:v>6</c:v>
                </c:pt>
                <c:pt idx="3">
                  <c:v>7</c:v>
                </c:pt>
                <c:pt idx="4">
                  <c:v>9</c:v>
                </c:pt>
                <c:pt idx="5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D6F-4901-B398-811A8A6BE72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en-US" sz="1400" b="0" i="0" u="none" strike="noStrike">
                    <a:solidFill>
                      <a:srgbClr val="2F3E55"/>
                    </a:solidFill>
                    <a:latin typeface="Arial"/>
                  </a:rPr>
                  <a:t>lg </a:t>
                </a: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КОЕ/г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400" b="1" i="0" u="none" strike="noStrike">
                <a:solidFill>
                  <a:srgbClr val="2F3E55"/>
                </a:solidFill>
                <a:latin typeface="+mn-lt"/>
              </a:rPr>
              <a:t>Лактобактерии (норма 6–10)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25424"/>
          <c:y val="0.11111"/>
          <c:w val="0.69734"/>
          <c:h val="0.6686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</c:v>
                </c:pt>
                <c:pt idx="1">
                  <c:v>7</c:v>
                </c:pt>
                <c:pt idx="2">
                  <c:v>7</c:v>
                </c:pt>
                <c:pt idx="3">
                  <c:v>6</c:v>
                </c:pt>
                <c:pt idx="4">
                  <c:v>6</c:v>
                </c:pt>
                <c:pt idx="5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23A-40DF-B45A-A49D786E181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4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223A-40DF-B45A-A49D786E181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4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223A-40DF-B45A-A49D786E181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4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223A-40DF-B45A-A49D786E181F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8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223A-40DF-B45A-A49D786E181F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7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223A-40DF-B45A-A49D786E181F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23A-40DF-B45A-A49D786E181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en-US" sz="1400" b="0" i="0" u="none" strike="noStrike">
                    <a:solidFill>
                      <a:srgbClr val="2F3E55"/>
                    </a:solidFill>
                    <a:latin typeface="Arial"/>
                  </a:rPr>
                  <a:t>lg </a:t>
                </a: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КОЕ/г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400" b="1" i="0" u="none" strike="noStrike">
                <a:solidFill>
                  <a:srgbClr val="2F3E55"/>
                </a:solidFill>
                <a:latin typeface="+mn-lt"/>
              </a:rPr>
              <a:t>Симпатикотония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26582"/>
          <c:y val="0.11111"/>
          <c:w val="0.68354"/>
          <c:h val="0.6686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</c:v>
                </c:pt>
                <c:pt idx="1">
                  <c:v>6</c:v>
                </c:pt>
                <c:pt idx="2">
                  <c:v>11</c:v>
                </c:pt>
                <c:pt idx="3">
                  <c:v>8</c:v>
                </c:pt>
                <c:pt idx="4">
                  <c:v>12</c:v>
                </c:pt>
                <c:pt idx="5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F9-4AD4-BA1F-5C5DF491D05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5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4FF9-4AD4-BA1F-5C5DF491D050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5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4FF9-4AD4-BA1F-5C5DF491D050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3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4FF9-4AD4-BA1F-5C5DF491D050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3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4FF9-4AD4-BA1F-5C5DF491D050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</c:v>
                </c:pt>
                <c:pt idx="1">
                  <c:v>4</c:v>
                </c:pt>
                <c:pt idx="2">
                  <c:v>4</c:v>
                </c:pt>
                <c:pt idx="3">
                  <c:v>5</c:v>
                </c:pt>
                <c:pt idx="4">
                  <c:v>3</c:v>
                </c:pt>
                <c:pt idx="5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FF9-4AD4-BA1F-5C5DF491D05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6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Число пациентов, </a:t>
                </a:r>
                <a:r>
                  <a:rPr lang="en-US" sz="1400" b="0" i="0" u="none" strike="noStrike">
                    <a:solidFill>
                      <a:srgbClr val="2F3E55"/>
                    </a:solidFill>
                    <a:latin typeface="Arial"/>
                  </a:rPr>
                  <a:t>n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4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400" b="1" i="0" u="none" strike="noStrike">
                <a:solidFill>
                  <a:srgbClr val="2F3E55"/>
                </a:solidFill>
                <a:latin typeface="+mn-lt"/>
              </a:rPr>
              <a:t>Парасимпатикотония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26582"/>
          <c:y val="0.11111"/>
          <c:w val="0.68354"/>
          <c:h val="0.6686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</c:v>
                </c:pt>
                <c:pt idx="1">
                  <c:v>8</c:v>
                </c:pt>
                <c:pt idx="2">
                  <c:v>8</c:v>
                </c:pt>
                <c:pt idx="3">
                  <c:v>9</c:v>
                </c:pt>
                <c:pt idx="4">
                  <c:v>6</c:v>
                </c:pt>
                <c:pt idx="5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1B-4F49-8473-7BDBEBBD6C8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4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0E1B-4F49-8473-7BDBEBBD6C8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4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0E1B-4F49-8473-7BDBEBBD6C88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4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0E1B-4F49-8473-7BDBEBBD6C88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3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0E1B-4F49-8473-7BDBEBBD6C88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E1B-4F49-8473-7BDBEBBD6C8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6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Число пациентов, </a:t>
                </a:r>
                <a:r>
                  <a:rPr lang="en-US" sz="1400" b="0" i="0" u="none" strike="noStrike">
                    <a:solidFill>
                      <a:srgbClr val="2F3E55"/>
                    </a:solidFill>
                    <a:latin typeface="Arial"/>
                  </a:rPr>
                  <a:t>n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4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400" b="1" i="0" u="none" strike="noStrike">
                <a:solidFill>
                  <a:srgbClr val="2F3E55"/>
                </a:solidFill>
                <a:latin typeface="+mn-lt"/>
              </a:rPr>
              <a:t>Нормотония (эйтония)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26582"/>
          <c:y val="0.11111"/>
          <c:w val="0.68354"/>
          <c:h val="0.6686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6</c:v>
                </c:pt>
                <c:pt idx="2">
                  <c:v>6</c:v>
                </c:pt>
                <c:pt idx="3">
                  <c:v>5</c:v>
                </c:pt>
                <c:pt idx="4">
                  <c:v>6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46-48F6-8BC6-48F85E41AE7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3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13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6046-48F6-8BC6-48F85E41AE7E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17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6046-48F6-8BC6-48F85E41AE7E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15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6046-48F6-8BC6-48F85E41AE7E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14</c:v>
                </c:pt>
                <c:pt idx="1">
                  <c:v>12</c:v>
                </c:pt>
                <c:pt idx="2">
                  <c:v>17</c:v>
                </c:pt>
                <c:pt idx="3">
                  <c:v>13</c:v>
                </c:pt>
                <c:pt idx="4">
                  <c:v>17</c:v>
                </c:pt>
                <c:pt idx="5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046-48F6-8BC6-48F85E41AE7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Число пациентов, </a:t>
                </a:r>
                <a:r>
                  <a:rPr lang="en-US" sz="1400" b="0" i="0" u="none" strike="noStrike">
                    <a:solidFill>
                      <a:srgbClr val="2F3E55"/>
                    </a:solidFill>
                    <a:latin typeface="Arial"/>
                  </a:rPr>
                  <a:t>n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4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400" b="1" i="0" u="none" strike="noStrike">
                <a:solidFill>
                  <a:srgbClr val="2F3E55"/>
                </a:solidFill>
                <a:latin typeface="+mn-lt"/>
              </a:rPr>
              <a:t>Нормальное (НВО)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26582"/>
          <c:y val="0.11111"/>
          <c:w val="0.68354"/>
          <c:h val="0.6686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21.7</c:v>
                </c:pt>
                <c:pt idx="1">
                  <c:v>15</c:v>
                </c:pt>
                <c:pt idx="2">
                  <c:v>20</c:v>
                </c:pt>
                <c:pt idx="3">
                  <c:v>18.2</c:v>
                </c:pt>
                <c:pt idx="4">
                  <c:v>16.7</c:v>
                </c:pt>
                <c:pt idx="5">
                  <c:v>9.5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20-46FD-9D1B-E77BF77328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1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45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3820-46FD-9D1B-E77BF773285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40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3820-46FD-9D1B-E77BF7732854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54,5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3820-46FD-9D1B-E77BF7732854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75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3820-46FD-9D1B-E77BF7732854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71,5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3820-46FD-9D1B-E77BF7732854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30.4</c:v>
                </c:pt>
                <c:pt idx="1">
                  <c:v>45</c:v>
                </c:pt>
                <c:pt idx="2">
                  <c:v>40</c:v>
                </c:pt>
                <c:pt idx="3">
                  <c:v>54.5</c:v>
                </c:pt>
                <c:pt idx="4">
                  <c:v>75</c:v>
                </c:pt>
                <c:pt idx="5">
                  <c:v>71.5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820-46FD-9D1B-E77BF773285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% пациентов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400" b="1" i="0" u="none" strike="noStrike">
                <a:solidFill>
                  <a:srgbClr val="2F3E55"/>
                </a:solidFill>
                <a:latin typeface="+mn-lt"/>
              </a:rPr>
              <a:t>Недостаточное (НедВО)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26582"/>
          <c:y val="0.11111"/>
          <c:w val="0.68354"/>
          <c:h val="0.6686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30.4</c:v>
                </c:pt>
                <c:pt idx="1">
                  <c:v>65</c:v>
                </c:pt>
                <c:pt idx="2">
                  <c:v>28</c:v>
                </c:pt>
                <c:pt idx="3">
                  <c:v>59.1</c:v>
                </c:pt>
                <c:pt idx="4">
                  <c:v>33.299999999999997</c:v>
                </c:pt>
                <c:pt idx="5">
                  <c:v>57.2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9B-4FFE-AD58-5BBB65B6E76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39,2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729B-4FFE-AD58-5BBB65B6E76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45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729B-4FFE-AD58-5BBB65B6E767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36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729B-4FFE-AD58-5BBB65B6E767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31,9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729B-4FFE-AD58-5BBB65B6E767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16,7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729B-4FFE-AD58-5BBB65B6E767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19,04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729B-4FFE-AD58-5BBB65B6E767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39.200000000000003</c:v>
                </c:pt>
                <c:pt idx="1">
                  <c:v>45</c:v>
                </c:pt>
                <c:pt idx="2">
                  <c:v>36</c:v>
                </c:pt>
                <c:pt idx="3">
                  <c:v>31.9</c:v>
                </c:pt>
                <c:pt idx="4">
                  <c:v>16.7</c:v>
                </c:pt>
                <c:pt idx="5">
                  <c:v>19.04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729B-4FFE-AD58-5BBB65B6E76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% пациентов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400" b="1" i="0" u="none" strike="noStrike">
                <a:solidFill>
                  <a:srgbClr val="2F3E55"/>
                </a:solidFill>
                <a:latin typeface="+mn-lt"/>
              </a:rPr>
              <a:t>Избыточное (ИВО)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26582"/>
          <c:y val="0.11111"/>
          <c:w val="0.68354"/>
          <c:h val="0.6686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47.9</c:v>
                </c:pt>
                <c:pt idx="1">
                  <c:v>20</c:v>
                </c:pt>
                <c:pt idx="2">
                  <c:v>52</c:v>
                </c:pt>
                <c:pt idx="3">
                  <c:v>22.7</c:v>
                </c:pt>
                <c:pt idx="4">
                  <c:v>50</c:v>
                </c:pt>
                <c:pt idx="5">
                  <c:v>33.299999999999997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78-4452-9963-09A188129E4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30,4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4F78-4452-9963-09A188129E47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24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4F78-4452-9963-09A188129E47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13,6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4F78-4452-9963-09A188129E47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12,5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4F78-4452-9963-09A188129E47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9,5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4F78-4452-9963-09A188129E47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30.4</c:v>
                </c:pt>
                <c:pt idx="1">
                  <c:v>10</c:v>
                </c:pt>
                <c:pt idx="2">
                  <c:v>24</c:v>
                </c:pt>
                <c:pt idx="3">
                  <c:v>13.6</c:v>
                </c:pt>
                <c:pt idx="4">
                  <c:v>12.5</c:v>
                </c:pt>
                <c:pt idx="5">
                  <c:v>9.5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F78-4452-9963-09A188129E4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% пациентов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400" b="1" i="0" u="none" strike="noStrike">
                <a:solidFill>
                  <a:srgbClr val="2F3E55"/>
                </a:solidFill>
                <a:latin typeface="+mn-lt"/>
              </a:rPr>
              <a:t>Нормальный тип реактивности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26582"/>
          <c:y val="0.11111"/>
          <c:w val="0.68354"/>
          <c:h val="0.6686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21.8</c:v>
                </c:pt>
                <c:pt idx="1">
                  <c:v>20</c:v>
                </c:pt>
                <c:pt idx="2">
                  <c:v>20</c:v>
                </c:pt>
                <c:pt idx="3">
                  <c:v>18.100000000000001</c:v>
                </c:pt>
                <c:pt idx="4">
                  <c:v>20.9</c:v>
                </c:pt>
                <c:pt idx="5">
                  <c:v>14.3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6E-4891-87E5-A9B29C9D087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52,1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C66E-4891-87E5-A9B29C9D087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50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C66E-4891-87E5-A9B29C9D087E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44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C66E-4891-87E5-A9B29C9D087E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50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C66E-4891-87E5-A9B29C9D087E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79,1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C66E-4891-87E5-A9B29C9D087E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66,6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C66E-4891-87E5-A9B29C9D087E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52.1</c:v>
                </c:pt>
                <c:pt idx="1">
                  <c:v>50</c:v>
                </c:pt>
                <c:pt idx="2">
                  <c:v>44</c:v>
                </c:pt>
                <c:pt idx="3">
                  <c:v>50</c:v>
                </c:pt>
                <c:pt idx="4">
                  <c:v>79.099999999999994</c:v>
                </c:pt>
                <c:pt idx="5">
                  <c:v>66.599999999999994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C66E-4891-87E5-A9B29C9D087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% пациентов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400" b="1" i="0" u="none" strike="noStrike">
                <a:solidFill>
                  <a:srgbClr val="2F3E55"/>
                </a:solidFill>
                <a:latin typeface="+mn-lt"/>
              </a:rPr>
              <a:t>Парасимпатический тип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26582"/>
          <c:y val="0.11111"/>
          <c:w val="0.68354"/>
          <c:h val="0.6686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30.4</c:v>
                </c:pt>
                <c:pt idx="1">
                  <c:v>50</c:v>
                </c:pt>
                <c:pt idx="2">
                  <c:v>28</c:v>
                </c:pt>
                <c:pt idx="3">
                  <c:v>50</c:v>
                </c:pt>
                <c:pt idx="4">
                  <c:v>25</c:v>
                </c:pt>
                <c:pt idx="5">
                  <c:v>52.4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5D-460E-8D8A-6D900FF9068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1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25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B35D-460E-8D8A-6D900FF9068B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36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B35D-460E-8D8A-6D900FF9068B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22,7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B35D-460E-8D8A-6D900FF9068B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12,5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B35D-460E-8D8A-6D900FF9068B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19,04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B35D-460E-8D8A-6D900FF9068B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26.08</c:v>
                </c:pt>
                <c:pt idx="1">
                  <c:v>25</c:v>
                </c:pt>
                <c:pt idx="2">
                  <c:v>36</c:v>
                </c:pt>
                <c:pt idx="3">
                  <c:v>22.7</c:v>
                </c:pt>
                <c:pt idx="4">
                  <c:v>12.5</c:v>
                </c:pt>
                <c:pt idx="5">
                  <c:v>19.04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35D-460E-8D8A-6D900FF9068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% пациентов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400" b="1" i="0" u="none" strike="noStrike">
                <a:solidFill>
                  <a:srgbClr val="2F3E55"/>
                </a:solidFill>
                <a:latin typeface="+mn-lt"/>
              </a:rPr>
              <a:t>Симпатический тип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26582"/>
          <c:y val="0.11111"/>
          <c:w val="0.68354"/>
          <c:h val="0.6686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47.8</c:v>
                </c:pt>
                <c:pt idx="1">
                  <c:v>30</c:v>
                </c:pt>
                <c:pt idx="2">
                  <c:v>52</c:v>
                </c:pt>
                <c:pt idx="3">
                  <c:v>31.8</c:v>
                </c:pt>
                <c:pt idx="4">
                  <c:v>54.2</c:v>
                </c:pt>
                <c:pt idx="5">
                  <c:v>33.299999999999997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1B-4285-AE9C-DA91B1DE339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21,8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D81B-4285-AE9C-DA91B1DE3391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20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D81B-4285-AE9C-DA91B1DE3391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8,3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D81B-4285-AE9C-DA91B1DE3391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14,2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D81B-4285-AE9C-DA91B1DE3391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21.8</c:v>
                </c:pt>
                <c:pt idx="1">
                  <c:v>25</c:v>
                </c:pt>
                <c:pt idx="2">
                  <c:v>20</c:v>
                </c:pt>
                <c:pt idx="3">
                  <c:v>27.2</c:v>
                </c:pt>
                <c:pt idx="4">
                  <c:v>8.3000000000000007</c:v>
                </c:pt>
                <c:pt idx="5">
                  <c:v>14.2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81B-4285-AE9C-DA91B1DE339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% пациентов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6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600" b="1" i="0" u="none" strike="noStrike">
                <a:solidFill>
                  <a:srgbClr val="2F3E55"/>
                </a:solidFill>
                <a:latin typeface="+mn-lt"/>
              </a:rPr>
              <a:t>СРК-З: уровень тревожности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7355"/>
          <c:y val="0.11000"/>
          <c:w val="0.79339"/>
          <c:h val="0.61000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Ситуативная — до</c:v>
                </c:pt>
              </c:strCache>
            </c:strRef>
          </c:tx>
          <c:spPr>
            <a:solidFill>
              <a:srgbClr val="C9D3DF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37</c:v>
                </c:pt>
                <c:pt idx="1">
                  <c:v>36.299999999999997</c:v>
                </c:pt>
                <c:pt idx="2">
                  <c:v>33.4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4F-4D94-9274-94A4A901E08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Ситуативная — после</c:v>
                </c:pt>
              </c:strCache>
            </c:strRef>
          </c:tx>
          <c:spPr>
            <a:solidFill>
              <a:srgbClr val="5F8DBA"/>
            </a:solidFill>
            <a:effectLst/>
          </c:spPr>
          <c:invertIfNegative val="0"/>
          <c:dLbls>
            <c:dLbl>
              <c:idx val="2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2F3E55"/>
                        </a:solidFill>
                        <a:latin typeface="+mn-lt"/>
                      </a:rPr>
                      <a:t>20,8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E94F-4D94-9274-94A4A901E084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33.799999999999997</c:v>
                </c:pt>
                <c:pt idx="1">
                  <c:v>36</c:v>
                </c:pt>
                <c:pt idx="2">
                  <c:v>20.8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94F-4D94-9274-94A4A901E08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Личностная — до</c:v>
                </c:pt>
              </c:strCache>
            </c:strRef>
          </c:tx>
          <c:spPr>
            <a:solidFill>
              <a:srgbClr val="C6E0DF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46</c:v>
                </c:pt>
                <c:pt idx="1">
                  <c:v>44.4</c:v>
                </c:pt>
                <c:pt idx="2">
                  <c:v>48.1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94F-4D94-9274-94A4A901E08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Личностная — после</c:v>
                </c:pt>
              </c:strCache>
            </c:strRef>
          </c:tx>
          <c:spPr>
            <a:solidFill>
              <a:srgbClr val="4C9097"/>
            </a:solidFill>
            <a:effectLst/>
          </c:spPr>
          <c:invertIfNegative val="0"/>
          <c:dLbls>
            <c:dLbl>
              <c:idx val="2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2F3E55"/>
                        </a:solidFill>
                        <a:latin typeface="+mn-lt"/>
                      </a:rPr>
                      <a:t>33,1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E94F-4D94-9274-94A4A901E084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39.799999999999997</c:v>
                </c:pt>
                <c:pt idx="1">
                  <c:v>43.8</c:v>
                </c:pt>
                <c:pt idx="2">
                  <c:v>33.1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94F-4D94-9274-94A4A901E08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Баллы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6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600" b="1" i="0" u="none" strike="noStrike">
                <a:solidFill>
                  <a:srgbClr val="2F3E55"/>
                </a:solidFill>
                <a:latin typeface="+mn-lt"/>
              </a:rPr>
              <a:t>СРК-Д: уровень тревожности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7355"/>
          <c:y val="0.11000"/>
          <c:w val="0.79339"/>
          <c:h val="0.61000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Ситуативная — до</c:v>
                </c:pt>
              </c:strCache>
            </c:strRef>
          </c:tx>
          <c:spPr>
            <a:solidFill>
              <a:srgbClr val="C9D3DF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38.299999999999997</c:v>
                </c:pt>
                <c:pt idx="1">
                  <c:v>35</c:v>
                </c:pt>
                <c:pt idx="2">
                  <c:v>34.5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CC-4CB0-9D68-DD7ED6C76F8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Ситуативная — после</c:v>
                </c:pt>
              </c:strCache>
            </c:strRef>
          </c:tx>
          <c:spPr>
            <a:solidFill>
              <a:srgbClr val="5F8DBA"/>
            </a:solidFill>
            <a:effectLst/>
          </c:spPr>
          <c:invertIfNegative val="0"/>
          <c:dLbls>
            <c:dLbl>
              <c:idx val="2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2F3E55"/>
                        </a:solidFill>
                        <a:latin typeface="+mn-lt"/>
                      </a:rPr>
                      <a:t>20,5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17CC-4CB0-9D68-DD7ED6C76F8D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36</c:v>
                </c:pt>
                <c:pt idx="1">
                  <c:v>33.200000000000003</c:v>
                </c:pt>
                <c:pt idx="2">
                  <c:v>20.5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7CC-4CB0-9D68-DD7ED6C76F8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Личностная — до</c:v>
                </c:pt>
              </c:strCache>
            </c:strRef>
          </c:tx>
          <c:spPr>
            <a:solidFill>
              <a:srgbClr val="C6E0DF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55.6</c:v>
                </c:pt>
                <c:pt idx="1">
                  <c:v>48.2</c:v>
                </c:pt>
                <c:pt idx="2">
                  <c:v>53.1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7CC-4CB0-9D68-DD7ED6C76F8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Личностная — после</c:v>
                </c:pt>
              </c:strCache>
            </c:strRef>
          </c:tx>
          <c:spPr>
            <a:solidFill>
              <a:srgbClr val="4C9097"/>
            </a:solidFill>
            <a:effectLst/>
          </c:spPr>
          <c:invertIfNegative val="0"/>
          <c:dLbls>
            <c:dLbl>
              <c:idx val="2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2F3E55"/>
                        </a:solidFill>
                        <a:latin typeface="+mn-lt"/>
                      </a:rPr>
                      <a:t>35,5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17CC-4CB0-9D68-DD7ED6C76F8D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53.5</c:v>
                </c:pt>
                <c:pt idx="1">
                  <c:v>45.1</c:v>
                </c:pt>
                <c:pt idx="2">
                  <c:v>35.5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7CC-4CB0-9D68-DD7ED6C76F8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5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Баллы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400" b="1" i="0" u="none" strike="noStrike">
                <a:solidFill>
                  <a:srgbClr val="2F3E55"/>
                </a:solidFill>
                <a:latin typeface="+mn-lt"/>
              </a:rPr>
              <a:t>Уровень стресса (норма &lt;20)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26582"/>
          <c:y val="0.11111"/>
          <c:w val="0.68354"/>
          <c:h val="0.6686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23.2</c:v>
                </c:pt>
                <c:pt idx="1">
                  <c:v>25.9</c:v>
                </c:pt>
                <c:pt idx="2">
                  <c:v>21.5</c:v>
                </c:pt>
                <c:pt idx="3">
                  <c:v>25.2</c:v>
                </c:pt>
                <c:pt idx="4">
                  <c:v>30.1</c:v>
                </c:pt>
                <c:pt idx="5">
                  <c:v>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5F-4FBA-817B-F9888C178AF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12,8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6F5F-4FBA-817B-F9888C178AF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13,2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6F5F-4FBA-817B-F9888C178AF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13,9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6F5F-4FBA-817B-F9888C178AFC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11,4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6F5F-4FBA-817B-F9888C178AFC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4,9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6F5F-4FBA-817B-F9888C178AFC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12,7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6F5F-4FBA-817B-F9888C178AFC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12.8</c:v>
                </c:pt>
                <c:pt idx="1">
                  <c:v>13.2</c:v>
                </c:pt>
                <c:pt idx="2">
                  <c:v>13.9</c:v>
                </c:pt>
                <c:pt idx="3">
                  <c:v>11.4</c:v>
                </c:pt>
                <c:pt idx="4">
                  <c:v>4.9000000000000004</c:v>
                </c:pt>
                <c:pt idx="5">
                  <c:v>12.7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6F5F-4FBA-817B-F9888C178AF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Баллы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400" b="1" i="0" u="none" strike="noStrike">
                <a:solidFill>
                  <a:srgbClr val="2F3E55"/>
                </a:solidFill>
                <a:latin typeface="+mn-lt"/>
              </a:rPr>
              <a:t>Напряжённость (норма 14–20)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26582"/>
          <c:y val="0.11111"/>
          <c:w val="0.68354"/>
          <c:h val="0.6686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24.2</c:v>
                </c:pt>
                <c:pt idx="1">
                  <c:v>23.2</c:v>
                </c:pt>
                <c:pt idx="2">
                  <c:v>22.5</c:v>
                </c:pt>
                <c:pt idx="3">
                  <c:v>25.1</c:v>
                </c:pt>
                <c:pt idx="4">
                  <c:v>26.1</c:v>
                </c:pt>
                <c:pt idx="5">
                  <c:v>24.3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AB-4EE9-977F-580190AB088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3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18,7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32AB-4EE9-977F-580190AB0883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16,3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32AB-4EE9-977F-580190AB0883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15,6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32AB-4EE9-977F-580190AB0883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21.8</c:v>
                </c:pt>
                <c:pt idx="1">
                  <c:v>19.3</c:v>
                </c:pt>
                <c:pt idx="2">
                  <c:v>20.8</c:v>
                </c:pt>
                <c:pt idx="3">
                  <c:v>18.7</c:v>
                </c:pt>
                <c:pt idx="4">
                  <c:v>16.3</c:v>
                </c:pt>
                <c:pt idx="5">
                  <c:v>15.6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2AB-4EE9-977F-580190AB088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5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Баллы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300" b="1" i="0" u="none" strike="noStrike">
                <a:solidFill>
                  <a:srgbClr val="2F3E55"/>
                </a:solidFill>
                <a:latin typeface="+mn-lt"/>
              </a:rPr>
              <a:t>Работоспособность (норма 16–20,9)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26582"/>
          <c:y val="0.11111"/>
          <c:w val="0.68354"/>
          <c:h val="0.6686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12.6</c:v>
                </c:pt>
                <c:pt idx="1">
                  <c:v>12.9</c:v>
                </c:pt>
                <c:pt idx="2">
                  <c:v>12.6</c:v>
                </c:pt>
                <c:pt idx="3">
                  <c:v>13.1</c:v>
                </c:pt>
                <c:pt idx="4">
                  <c:v>12.3</c:v>
                </c:pt>
                <c:pt idx="5">
                  <c:v>11.7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38-47C5-AEE1-EE31F13FE7D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4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19,6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6A38-47C5-AEE1-EE31F13FE7DA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19,7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6A38-47C5-AEE1-EE31F13FE7DA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15.9</c:v>
                </c:pt>
                <c:pt idx="1">
                  <c:v>14.7</c:v>
                </c:pt>
                <c:pt idx="2">
                  <c:v>14.9</c:v>
                </c:pt>
                <c:pt idx="3">
                  <c:v>14.6</c:v>
                </c:pt>
                <c:pt idx="4">
                  <c:v>19.600000000000001</c:v>
                </c:pt>
                <c:pt idx="5">
                  <c:v>19.7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A38-47C5-AEE1-EE31F13FE7D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8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Баллы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4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400" b="1" i="0" u="none" strike="noStrike">
                <a:solidFill>
                  <a:srgbClr val="2F3E55"/>
                </a:solidFill>
                <a:latin typeface="+mn-lt"/>
              </a:rPr>
              <a:t>Контрольная группа (1а)</a:t>
            </a:r>
          </a:p>
        </c:rich>
      </c:tx>
      <c:overlay val="0"/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ln w="25400" cap="flat">
              <a:solidFill>
                <a:srgbClr val="C3CED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3CEDB"/>
              </a:solidFill>
              <a:ln w="9525" cap="flat">
                <a:solidFill>
                  <a:srgbClr val="C3CEDB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PF *</c:v>
                </c:pt>
                <c:pt idx="1">
                  <c:v>RP *</c:v>
                </c:pt>
                <c:pt idx="2">
                  <c:v>BP *</c:v>
                </c:pt>
                <c:pt idx="3">
                  <c:v>GH *</c:v>
                </c:pt>
                <c:pt idx="4">
                  <c:v>VT *</c:v>
                </c:pt>
                <c:pt idx="5">
                  <c:v>RE *</c:v>
                </c:pt>
                <c:pt idx="6">
                  <c:v>SF *</c:v>
                </c:pt>
                <c:pt idx="7">
                  <c:v>MH *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59.2</c:v>
                </c:pt>
                <c:pt idx="1">
                  <c:v>45.5</c:v>
                </c:pt>
                <c:pt idx="2">
                  <c:v>40.200000000000003</c:v>
                </c:pt>
                <c:pt idx="3">
                  <c:v>46.1</c:v>
                </c:pt>
                <c:pt idx="4">
                  <c:v>57.3</c:v>
                </c:pt>
                <c:pt idx="5">
                  <c:v>37.4</c:v>
                </c:pt>
                <c:pt idx="6">
                  <c:v>60.1</c:v>
                </c:pt>
                <c:pt idx="7">
                  <c:v>48.2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A9D-4C14-88C7-E853617E437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ln w="25400" cap="flat">
              <a:solidFill>
                <a:srgbClr val="6C94B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C94BE"/>
              </a:solidFill>
              <a:ln w="9525" cap="flat">
                <a:solidFill>
                  <a:srgbClr val="6C94BE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PF *</c:v>
                </c:pt>
                <c:pt idx="1">
                  <c:v>RP *</c:v>
                </c:pt>
                <c:pt idx="2">
                  <c:v>BP *</c:v>
                </c:pt>
                <c:pt idx="3">
                  <c:v>GH *</c:v>
                </c:pt>
                <c:pt idx="4">
                  <c:v>VT *</c:v>
                </c:pt>
                <c:pt idx="5">
                  <c:v>RE *</c:v>
                </c:pt>
                <c:pt idx="6">
                  <c:v>SF *</c:v>
                </c:pt>
                <c:pt idx="7">
                  <c:v>MH *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64.099999999999994</c:v>
                </c:pt>
                <c:pt idx="1">
                  <c:v>54.9</c:v>
                </c:pt>
                <c:pt idx="2">
                  <c:v>53.9</c:v>
                </c:pt>
                <c:pt idx="3">
                  <c:v>50.9</c:v>
                </c:pt>
                <c:pt idx="4">
                  <c:v>62.9</c:v>
                </c:pt>
                <c:pt idx="5">
                  <c:v>45.9</c:v>
                </c:pt>
                <c:pt idx="6">
                  <c:v>65.900000000000006</c:v>
                </c:pt>
                <c:pt idx="7">
                  <c:v>55.8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A9D-4C14-88C7-E853617E43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400" b="1" i="0" u="none" strike="noStrike">
                <a:solidFill>
                  <a:srgbClr val="2F3E55"/>
                </a:solidFill>
                <a:latin typeface="+mn-lt"/>
              </a:rPr>
              <a:t>Группа сравнения (2а)</a:t>
            </a:r>
          </a:p>
        </c:rich>
      </c:tx>
      <c:overlay val="0"/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ln w="25400" cap="flat">
              <a:solidFill>
                <a:srgbClr val="C3CED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3CEDB"/>
              </a:solidFill>
              <a:ln w="9525" cap="flat">
                <a:solidFill>
                  <a:srgbClr val="C3CEDB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PF *</c:v>
                </c:pt>
                <c:pt idx="1">
                  <c:v>RP *</c:v>
                </c:pt>
                <c:pt idx="2">
                  <c:v>BP *</c:v>
                </c:pt>
                <c:pt idx="3">
                  <c:v>GH *</c:v>
                </c:pt>
                <c:pt idx="4">
                  <c:v>VT *</c:v>
                </c:pt>
                <c:pt idx="5">
                  <c:v>RE *</c:v>
                </c:pt>
                <c:pt idx="6">
                  <c:v>SF *</c:v>
                </c:pt>
                <c:pt idx="7">
                  <c:v>MH *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60.1</c:v>
                </c:pt>
                <c:pt idx="1">
                  <c:v>44.5</c:v>
                </c:pt>
                <c:pt idx="2">
                  <c:v>41.1</c:v>
                </c:pt>
                <c:pt idx="3">
                  <c:v>44.9</c:v>
                </c:pt>
                <c:pt idx="4">
                  <c:v>59.3</c:v>
                </c:pt>
                <c:pt idx="5">
                  <c:v>37.1</c:v>
                </c:pt>
                <c:pt idx="6">
                  <c:v>59.3</c:v>
                </c:pt>
                <c:pt idx="7">
                  <c:v>47.1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F9-43A7-938D-D8D1A82EFC5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ln w="25400" cap="flat">
              <a:solidFill>
                <a:srgbClr val="6C94B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C94BE"/>
              </a:solidFill>
              <a:ln w="9525" cap="flat">
                <a:solidFill>
                  <a:srgbClr val="6C94BE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PF *</c:v>
                </c:pt>
                <c:pt idx="1">
                  <c:v>RP *</c:v>
                </c:pt>
                <c:pt idx="2">
                  <c:v>BP *</c:v>
                </c:pt>
                <c:pt idx="3">
                  <c:v>GH *</c:v>
                </c:pt>
                <c:pt idx="4">
                  <c:v>VT *</c:v>
                </c:pt>
                <c:pt idx="5">
                  <c:v>RE *</c:v>
                </c:pt>
                <c:pt idx="6">
                  <c:v>SF *</c:v>
                </c:pt>
                <c:pt idx="7">
                  <c:v>MH *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67.900000000000006</c:v>
                </c:pt>
                <c:pt idx="1">
                  <c:v>57.8</c:v>
                </c:pt>
                <c:pt idx="2">
                  <c:v>59.3</c:v>
                </c:pt>
                <c:pt idx="3">
                  <c:v>58.3</c:v>
                </c:pt>
                <c:pt idx="4">
                  <c:v>65.099999999999994</c:v>
                </c:pt>
                <c:pt idx="5">
                  <c:v>47.8</c:v>
                </c:pt>
                <c:pt idx="6">
                  <c:v>68.3</c:v>
                </c:pt>
                <c:pt idx="7">
                  <c:v>59.5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BF9-43A7-938D-D8D1A82EFC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400" b="1" i="0" u="none" strike="noStrike">
                <a:solidFill>
                  <a:srgbClr val="2F3E55"/>
                </a:solidFill>
                <a:latin typeface="+mn-lt"/>
              </a:rPr>
              <a:t>Основная группа (3а)</a:t>
            </a:r>
          </a:p>
        </c:rich>
      </c:tx>
      <c:overlay val="0"/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ln w="25400" cap="flat">
              <a:solidFill>
                <a:srgbClr val="C3CED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3CEDB"/>
              </a:solidFill>
              <a:ln w="9525" cap="flat">
                <a:solidFill>
                  <a:srgbClr val="C3CEDB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PF *▲</c:v>
                </c:pt>
                <c:pt idx="1">
                  <c:v>RP *▲</c:v>
                </c:pt>
                <c:pt idx="2">
                  <c:v>BP *▲</c:v>
                </c:pt>
                <c:pt idx="3">
                  <c:v>GH *</c:v>
                </c:pt>
                <c:pt idx="4">
                  <c:v>VT *▲</c:v>
                </c:pt>
                <c:pt idx="5">
                  <c:v>RE *</c:v>
                </c:pt>
                <c:pt idx="6">
                  <c:v>SF *▲</c:v>
                </c:pt>
                <c:pt idx="7">
                  <c:v>MH *▲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60</c:v>
                </c:pt>
                <c:pt idx="1">
                  <c:v>43.6</c:v>
                </c:pt>
                <c:pt idx="2">
                  <c:v>39.299999999999997</c:v>
                </c:pt>
                <c:pt idx="3">
                  <c:v>45.3</c:v>
                </c:pt>
                <c:pt idx="4">
                  <c:v>56.3</c:v>
                </c:pt>
                <c:pt idx="5">
                  <c:v>35.1</c:v>
                </c:pt>
                <c:pt idx="6">
                  <c:v>59.9</c:v>
                </c:pt>
                <c:pt idx="7">
                  <c:v>46.1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2F-4782-BDD3-13651080DE8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ln w="25400" cap="flat">
              <a:solidFill>
                <a:srgbClr val="5A9AA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5A9AA0"/>
              </a:solidFill>
              <a:ln w="9525" cap="flat">
                <a:solidFill>
                  <a:srgbClr val="5A9AA0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PF *▲</c:v>
                </c:pt>
                <c:pt idx="1">
                  <c:v>RP *▲</c:v>
                </c:pt>
                <c:pt idx="2">
                  <c:v>BP *▲</c:v>
                </c:pt>
                <c:pt idx="3">
                  <c:v>GH *</c:v>
                </c:pt>
                <c:pt idx="4">
                  <c:v>VT *▲</c:v>
                </c:pt>
                <c:pt idx="5">
                  <c:v>RE *</c:v>
                </c:pt>
                <c:pt idx="6">
                  <c:v>SF *▲</c:v>
                </c:pt>
                <c:pt idx="7">
                  <c:v>MH *▲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75.900000000000006</c:v>
                </c:pt>
                <c:pt idx="1">
                  <c:v>63.9</c:v>
                </c:pt>
                <c:pt idx="2">
                  <c:v>62.4</c:v>
                </c:pt>
                <c:pt idx="3">
                  <c:v>66.099999999999994</c:v>
                </c:pt>
                <c:pt idx="4">
                  <c:v>70.400000000000006</c:v>
                </c:pt>
                <c:pt idx="5">
                  <c:v>62.4</c:v>
                </c:pt>
                <c:pt idx="6">
                  <c:v>72.400000000000006</c:v>
                </c:pt>
                <c:pt idx="7">
                  <c:v>65.400000000000006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52F-4782-BDD3-13651080DE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sz="1400" b="1" i="0" u="none" strike="noStrike">
                <a:solidFill>
                  <a:srgbClr val="2F3E55"/>
                </a:solidFill>
                <a:latin typeface="+mn-lt"/>
              </a:rPr>
              <a:t>Контрольная группа (1б)</a:t>
            </a:r>
          </a:p>
        </c:rich>
      </c:tx>
      <c:overlay val="0"/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ln w="25400" cap="flat">
              <a:solidFill>
                <a:srgbClr val="C3CED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3CEDB"/>
              </a:solidFill>
              <a:ln w="9525" cap="flat">
                <a:solidFill>
                  <a:srgbClr val="C3CEDB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PF *</c:v>
                </c:pt>
                <c:pt idx="1">
                  <c:v>RP *</c:v>
                </c:pt>
                <c:pt idx="2">
                  <c:v>BP *</c:v>
                </c:pt>
                <c:pt idx="3">
                  <c:v>GH *</c:v>
                </c:pt>
                <c:pt idx="4">
                  <c:v>VT *</c:v>
                </c:pt>
                <c:pt idx="5">
                  <c:v>RE *</c:v>
                </c:pt>
                <c:pt idx="6">
                  <c:v>SF *</c:v>
                </c:pt>
                <c:pt idx="7">
                  <c:v>MH *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57.3</c:v>
                </c:pt>
                <c:pt idx="1">
                  <c:v>42.1</c:v>
                </c:pt>
                <c:pt idx="2">
                  <c:v>48.3</c:v>
                </c:pt>
                <c:pt idx="3">
                  <c:v>48.3</c:v>
                </c:pt>
                <c:pt idx="4">
                  <c:v>55.2</c:v>
                </c:pt>
                <c:pt idx="5">
                  <c:v>36</c:v>
                </c:pt>
                <c:pt idx="6">
                  <c:v>58.3</c:v>
                </c:pt>
                <c:pt idx="7">
                  <c:v>49.5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AA6-4623-80C5-8AE648C6A8F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ln w="25400" cap="flat">
              <a:solidFill>
                <a:srgbClr val="6C94B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C94BE"/>
              </a:solidFill>
              <a:ln w="9525" cap="flat">
                <a:solidFill>
                  <a:srgbClr val="6C94BE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PF *</c:v>
                </c:pt>
                <c:pt idx="1">
                  <c:v>RP *</c:v>
                </c:pt>
                <c:pt idx="2">
                  <c:v>BP *</c:v>
                </c:pt>
                <c:pt idx="3">
                  <c:v>GH *</c:v>
                </c:pt>
                <c:pt idx="4">
                  <c:v>VT *</c:v>
                </c:pt>
                <c:pt idx="5">
                  <c:v>RE *</c:v>
                </c:pt>
                <c:pt idx="6">
                  <c:v>SF *</c:v>
                </c:pt>
                <c:pt idx="7">
                  <c:v>MH *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62.1</c:v>
                </c:pt>
                <c:pt idx="1">
                  <c:v>52.7</c:v>
                </c:pt>
                <c:pt idx="2">
                  <c:v>55.7</c:v>
                </c:pt>
                <c:pt idx="3">
                  <c:v>51.7</c:v>
                </c:pt>
                <c:pt idx="4">
                  <c:v>60.4</c:v>
                </c:pt>
                <c:pt idx="5">
                  <c:v>47.8</c:v>
                </c:pt>
                <c:pt idx="6">
                  <c:v>63.7</c:v>
                </c:pt>
                <c:pt idx="7">
                  <c:v>53.7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AA6-4623-80C5-8AE648C6A8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sz="1400" b="1" i="0" u="none" strike="noStrike">
                <a:solidFill>
                  <a:srgbClr val="2F3E55"/>
                </a:solidFill>
                <a:latin typeface="+mn-lt"/>
              </a:rPr>
              <a:t>Группа сравнения (2б)</a:t>
            </a:r>
          </a:p>
        </c:rich>
      </c:tx>
      <c:overlay val="0"/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ln w="25400" cap="flat">
              <a:solidFill>
                <a:srgbClr val="C3CED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3CEDB"/>
              </a:solidFill>
              <a:ln w="9525" cap="flat">
                <a:solidFill>
                  <a:srgbClr val="C3CEDB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PF *</c:v>
                </c:pt>
                <c:pt idx="1">
                  <c:v>RP *</c:v>
                </c:pt>
                <c:pt idx="2">
                  <c:v>BP *</c:v>
                </c:pt>
                <c:pt idx="3">
                  <c:v>GH *</c:v>
                </c:pt>
                <c:pt idx="4">
                  <c:v>VT *</c:v>
                </c:pt>
                <c:pt idx="5">
                  <c:v>RE *</c:v>
                </c:pt>
                <c:pt idx="6">
                  <c:v>SF *</c:v>
                </c:pt>
                <c:pt idx="7">
                  <c:v>MH *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58.4</c:v>
                </c:pt>
                <c:pt idx="1">
                  <c:v>45</c:v>
                </c:pt>
                <c:pt idx="2">
                  <c:v>50.3</c:v>
                </c:pt>
                <c:pt idx="3">
                  <c:v>46.5</c:v>
                </c:pt>
                <c:pt idx="4">
                  <c:v>57.2</c:v>
                </c:pt>
                <c:pt idx="5">
                  <c:v>37.799999999999997</c:v>
                </c:pt>
                <c:pt idx="6">
                  <c:v>56.1</c:v>
                </c:pt>
                <c:pt idx="7">
                  <c:v>48.5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7B-47BE-8D05-8DE8893834C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ln w="25400" cap="flat">
              <a:solidFill>
                <a:srgbClr val="6C94B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C94BE"/>
              </a:solidFill>
              <a:ln w="9525" cap="flat">
                <a:solidFill>
                  <a:srgbClr val="6C94BE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PF *</c:v>
                </c:pt>
                <c:pt idx="1">
                  <c:v>RP *</c:v>
                </c:pt>
                <c:pt idx="2">
                  <c:v>BP *</c:v>
                </c:pt>
                <c:pt idx="3">
                  <c:v>GH *</c:v>
                </c:pt>
                <c:pt idx="4">
                  <c:v>VT *</c:v>
                </c:pt>
                <c:pt idx="5">
                  <c:v>RE *</c:v>
                </c:pt>
                <c:pt idx="6">
                  <c:v>SF *</c:v>
                </c:pt>
                <c:pt idx="7">
                  <c:v>MH *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68.3</c:v>
                </c:pt>
                <c:pt idx="1">
                  <c:v>56.9</c:v>
                </c:pt>
                <c:pt idx="2">
                  <c:v>59.2</c:v>
                </c:pt>
                <c:pt idx="3">
                  <c:v>55.3</c:v>
                </c:pt>
                <c:pt idx="4">
                  <c:v>63.1</c:v>
                </c:pt>
                <c:pt idx="5">
                  <c:v>46.9</c:v>
                </c:pt>
                <c:pt idx="6">
                  <c:v>69.2</c:v>
                </c:pt>
                <c:pt idx="7">
                  <c:v>58.2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37B-47BE-8D05-8DE8893834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sz="1400" b="1" i="0" u="none" strike="noStrike">
                <a:solidFill>
                  <a:srgbClr val="2F3E55"/>
                </a:solidFill>
                <a:latin typeface="+mn-lt"/>
              </a:rPr>
              <a:t>Основная группа (3б)</a:t>
            </a:r>
          </a:p>
        </c:rich>
      </c:tx>
      <c:overlay val="0"/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ln w="25400" cap="flat">
              <a:solidFill>
                <a:srgbClr val="C3CED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3CEDB"/>
              </a:solidFill>
              <a:ln w="9525" cap="flat">
                <a:solidFill>
                  <a:srgbClr val="C3CEDB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PF *▲</c:v>
                </c:pt>
                <c:pt idx="1">
                  <c:v>RP *▲</c:v>
                </c:pt>
                <c:pt idx="2">
                  <c:v>BP *</c:v>
                </c:pt>
                <c:pt idx="3">
                  <c:v>GH *▲</c:v>
                </c:pt>
                <c:pt idx="4">
                  <c:v>VT *▲</c:v>
                </c:pt>
                <c:pt idx="5">
                  <c:v>RE *▲</c:v>
                </c:pt>
                <c:pt idx="6">
                  <c:v>SF *▲</c:v>
                </c:pt>
                <c:pt idx="7">
                  <c:v>MH *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59.3</c:v>
                </c:pt>
                <c:pt idx="1">
                  <c:v>43.2</c:v>
                </c:pt>
                <c:pt idx="2">
                  <c:v>47.9</c:v>
                </c:pt>
                <c:pt idx="3">
                  <c:v>45.9</c:v>
                </c:pt>
                <c:pt idx="4">
                  <c:v>55.2</c:v>
                </c:pt>
                <c:pt idx="5">
                  <c:v>31.9</c:v>
                </c:pt>
                <c:pt idx="6">
                  <c:v>56.9</c:v>
                </c:pt>
                <c:pt idx="7">
                  <c:v>47.2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74-49F1-A1EF-30858132EB6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ln w="25400" cap="flat">
              <a:solidFill>
                <a:srgbClr val="5A9AA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5A9AA0"/>
              </a:solidFill>
              <a:ln w="9525" cap="flat">
                <a:solidFill>
                  <a:srgbClr val="5A9AA0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PF *▲</c:v>
                </c:pt>
                <c:pt idx="1">
                  <c:v>RP *▲</c:v>
                </c:pt>
                <c:pt idx="2">
                  <c:v>BP *</c:v>
                </c:pt>
                <c:pt idx="3">
                  <c:v>GH *▲</c:v>
                </c:pt>
                <c:pt idx="4">
                  <c:v>VT *▲</c:v>
                </c:pt>
                <c:pt idx="5">
                  <c:v>RE *▲</c:v>
                </c:pt>
                <c:pt idx="6">
                  <c:v>SF *▲</c:v>
                </c:pt>
                <c:pt idx="7">
                  <c:v>MH *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73.7</c:v>
                </c:pt>
                <c:pt idx="1">
                  <c:v>66.900000000000006</c:v>
                </c:pt>
                <c:pt idx="2">
                  <c:v>60.2</c:v>
                </c:pt>
                <c:pt idx="3">
                  <c:v>67.2</c:v>
                </c:pt>
                <c:pt idx="4">
                  <c:v>68.2</c:v>
                </c:pt>
                <c:pt idx="5">
                  <c:v>63.4</c:v>
                </c:pt>
                <c:pt idx="6">
                  <c:v>75.3</c:v>
                </c:pt>
                <c:pt idx="7">
                  <c:v>61.4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074-49F1-A1EF-30858132EB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400" b="1" i="0" u="none" strike="noStrike">
                <a:solidFill>
                  <a:srgbClr val="2F3E55"/>
                </a:solidFill>
                <a:latin typeface="+mn-lt"/>
              </a:rPr>
              <a:t>Структура результатов лечения (непосредственно)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07438"/>
          <c:y val="0.11111"/>
          <c:w val="0.89256"/>
          <c:h val="0.60606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Значительное улучшение</c:v>
                </c:pt>
              </c:strCache>
            </c:strRef>
          </c:tx>
          <c:spPr>
            <a:solidFill>
              <a:srgbClr val="5A9AA0"/>
            </a:solidFill>
            <a:effectLst/>
          </c:spPr>
          <c:invertIfNegative val="0"/>
          <c:dLbls>
            <c:numFmt formatCode="0.0;\-0.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52.6</c:v>
                </c:pt>
                <c:pt idx="3">
                  <c:v>47.1</c:v>
                </c:pt>
                <c:pt idx="4">
                  <c:v>83.3</c:v>
                </c:pt>
                <c:pt idx="5">
                  <c:v>73.3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0F-4DC0-A336-8F506E1E17B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Улучшение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numFmt formatCode="0.0;\-0.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70.599999999999994</c:v>
                </c:pt>
                <c:pt idx="1">
                  <c:v>73.400000000000006</c:v>
                </c:pt>
                <c:pt idx="2">
                  <c:v>21</c:v>
                </c:pt>
                <c:pt idx="3">
                  <c:v>29.4</c:v>
                </c:pt>
                <c:pt idx="4">
                  <c:v>11.1</c:v>
                </c:pt>
                <c:pt idx="5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50F-4DC0-A336-8F506E1E17B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Незначительное улучшение</c:v>
                </c:pt>
              </c:strCache>
            </c:strRef>
          </c:tx>
          <c:spPr>
            <a:solidFill>
              <a:srgbClr val="E0C28C"/>
            </a:solidFill>
            <a:effectLst/>
          </c:spPr>
          <c:invertIfNegative val="0"/>
          <c:dLbls>
            <c:numFmt formatCode="0.0;\-0.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17.600000000000001</c:v>
                </c:pt>
                <c:pt idx="1">
                  <c:v>13.3</c:v>
                </c:pt>
                <c:pt idx="2">
                  <c:v>21.1</c:v>
                </c:pt>
                <c:pt idx="3">
                  <c:v>17.600000000000001</c:v>
                </c:pt>
                <c:pt idx="4">
                  <c:v>5.6</c:v>
                </c:pt>
                <c:pt idx="5">
                  <c:v>6.7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50F-4DC0-A336-8F506E1E17B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Без перемен</c:v>
                </c:pt>
              </c:strCache>
            </c:strRef>
          </c:tx>
          <c:spPr>
            <a:solidFill>
              <a:srgbClr val="C99AA9"/>
            </a:solidFill>
            <a:effectLst/>
          </c:spPr>
          <c:invertIfNegative val="0"/>
          <c:dLbls>
            <c:numFmt formatCode="0.0;\-0.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11.8</c:v>
                </c:pt>
                <c:pt idx="1">
                  <c:v>13.3</c:v>
                </c:pt>
                <c:pt idx="2">
                  <c:v>5.3</c:v>
                </c:pt>
                <c:pt idx="3">
                  <c:v>5.9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50F-4DC0-A336-8F506E1E17B6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4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6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600" b="1" i="0" u="none" strike="noStrike">
                <a:solidFill>
                  <a:srgbClr val="2F3E55"/>
                </a:solidFill>
                <a:latin typeface="+mn-lt"/>
              </a:rPr>
              <a:t>Эффективность лечения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7355"/>
          <c:y val="0.11111"/>
          <c:w val="0.79339"/>
          <c:h val="0.6060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Непосредственно 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4"/>
              <c:tx>
                <c:rich>
                  <a:bodyPr/>
                  <a:lstStyle/>
                  <a:p>
                    <a:r>
                      <a:rPr lang="ru-RU" sz="1200" b="0">
                        <a:solidFill>
                          <a:srgbClr val="2F3E55"/>
                        </a:solidFill>
                        <a:latin typeface="+mn-lt"/>
                      </a:rPr>
                      <a:t>94,4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BA05-4E71-BA47-180C6A9CB823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ru-RU" sz="1200" b="0">
                        <a:solidFill>
                          <a:srgbClr val="2F3E55"/>
                        </a:solidFill>
                        <a:latin typeface="+mn-lt"/>
                      </a:rPr>
                      <a:t>93,3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BA05-4E71-BA47-180C6A9CB823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70.599999999999994</c:v>
                </c:pt>
                <c:pt idx="1">
                  <c:v>73.400000000000006</c:v>
                </c:pt>
                <c:pt idx="2">
                  <c:v>73.599999999999994</c:v>
                </c:pt>
                <c:pt idx="3">
                  <c:v>76.5</c:v>
                </c:pt>
                <c:pt idx="4">
                  <c:v>94.4</c:v>
                </c:pt>
                <c:pt idx="5">
                  <c:v>93.3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A05-4E71-BA47-180C6A9CB82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Через 6 месяцев</c:v>
                </c:pt>
              </c:strCache>
            </c:strRef>
          </c:tx>
          <c:spPr>
            <a:solidFill>
              <a:srgbClr val="3F6B97"/>
            </a:solidFill>
            <a:effectLst/>
          </c:spPr>
          <c:invertIfNegative val="0"/>
          <c:dLbls>
            <c:dLbl>
              <c:idx val="4"/>
              <c:tx>
                <c:rich>
                  <a:bodyPr/>
                  <a:lstStyle/>
                  <a:p>
                    <a:r>
                      <a:rPr lang="ru-RU" sz="1200" b="0">
                        <a:solidFill>
                          <a:srgbClr val="2F3E55"/>
                        </a:solidFill>
                        <a:latin typeface="+mn-lt"/>
                      </a:rPr>
                      <a:t>86,7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BA05-4E71-BA47-180C6A9CB823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ru-RU" sz="1200" b="0">
                        <a:solidFill>
                          <a:srgbClr val="2F3E55"/>
                        </a:solidFill>
                        <a:latin typeface="+mn-lt"/>
                      </a:rPr>
                      <a:t>84,6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BA05-4E71-BA47-180C6A9CB823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53.8</c:v>
                </c:pt>
                <c:pt idx="1">
                  <c:v>50</c:v>
                </c:pt>
                <c:pt idx="2">
                  <c:v>60</c:v>
                </c:pt>
                <c:pt idx="3">
                  <c:v>64.3</c:v>
                </c:pt>
                <c:pt idx="4">
                  <c:v>86.7</c:v>
                </c:pt>
                <c:pt idx="5">
                  <c:v>84.6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A05-4E71-BA47-180C6A9CB82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% пациентов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6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600" b="1" i="0" u="none" strike="noStrike">
                <a:solidFill>
                  <a:srgbClr val="2F3E55"/>
                </a:solidFill>
                <a:latin typeface="+mn-lt"/>
              </a:rPr>
              <a:t>Интенсивность абдоминалгии — СРК-З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7355"/>
          <c:y val="0.21154"/>
          <c:w val="0.79339"/>
          <c:h val="0.3692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2.29</c:v>
                </c:pt>
                <c:pt idx="1">
                  <c:v>2.36</c:v>
                </c:pt>
                <c:pt idx="2">
                  <c:v>2.11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7E-43DB-AB71-1817C96AB8E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1.35</c:v>
                </c:pt>
                <c:pt idx="1">
                  <c:v>1.73</c:v>
                </c:pt>
                <c:pt idx="2">
                  <c:v>0.33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7E-43DB-AB71-1817C96AB8E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Через 6 месяцев</c:v>
                </c:pt>
              </c:strCache>
            </c:strRef>
          </c:tx>
          <c:spPr>
            <a:solidFill>
              <a:srgbClr val="3F6B97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F3E55"/>
                        </a:solidFill>
                        <a:latin typeface="+mn-lt"/>
                      </a:rPr>
                      <a:t>1,30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E47E-43DB-AB71-1817C96AB8E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F3E55"/>
                        </a:solidFill>
                        <a:latin typeface="+mn-lt"/>
                      </a:rPr>
                      <a:t>1,17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E47E-43DB-AB71-1817C96AB8E5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F3E55"/>
                        </a:solidFill>
                        <a:latin typeface="+mn-lt"/>
                      </a:rPr>
                      <a:t>0,11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E47E-43DB-AB71-1817C96AB8E5}"/>
                </c:ext>
              </c:extLst>
            </c:dLbl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1.3</c:v>
                </c:pt>
                <c:pt idx="1">
                  <c:v>1.17</c:v>
                </c:pt>
                <c:pt idx="2">
                  <c:v>0.11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47E-43DB-AB71-1817C96AB8E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Баллы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6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600" b="1" i="0" u="none" strike="noStrike">
                <a:solidFill>
                  <a:srgbClr val="2F3E55"/>
                </a:solidFill>
                <a:latin typeface="+mn-lt"/>
              </a:rPr>
              <a:t>Интенсивность абдоминалгии — СРК-Д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7355"/>
          <c:y val="0.21154"/>
          <c:w val="0.79339"/>
          <c:h val="0.3692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2.41</c:v>
                </c:pt>
                <c:pt idx="1">
                  <c:v>2.41</c:v>
                </c:pt>
                <c:pt idx="2">
                  <c:v>2.46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79-4A5E-8769-CC9FC8411F0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1.73</c:v>
                </c:pt>
                <c:pt idx="1">
                  <c:v>1.29</c:v>
                </c:pt>
                <c:pt idx="2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279-4A5E-8769-CC9FC8411F0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Через 6 месяцев</c:v>
                </c:pt>
              </c:strCache>
            </c:strRef>
          </c:tx>
          <c:spPr>
            <a:solidFill>
              <a:srgbClr val="3F6B97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F3E55"/>
                        </a:solidFill>
                        <a:latin typeface="+mn-lt"/>
                      </a:rPr>
                      <a:t>1,55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C279-4A5E-8769-CC9FC8411F0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F3E55"/>
                        </a:solidFill>
                        <a:latin typeface="+mn-lt"/>
                      </a:rPr>
                      <a:t>1,01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C279-4A5E-8769-CC9FC8411F0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F3E55"/>
                        </a:solidFill>
                        <a:latin typeface="+mn-lt"/>
                      </a:rPr>
                      <a:t>0,16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C279-4A5E-8769-CC9FC8411F04}"/>
                </c:ext>
              </c:extLst>
            </c:dLbl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1.55</c:v>
                </c:pt>
                <c:pt idx="1">
                  <c:v>1.01</c:v>
                </c:pt>
                <c:pt idx="2">
                  <c:v>0.16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C279-4A5E-8769-CC9FC8411F0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Баллы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6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600" b="1" i="0" u="none" strike="noStrike">
                <a:solidFill>
                  <a:srgbClr val="2F3E55"/>
                </a:solidFill>
                <a:latin typeface="+mn-lt"/>
              </a:rPr>
              <a:t>Число пациентов с абдоминалгией — СРК-З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7355"/>
          <c:y val="0.21154"/>
          <c:w val="0.79339"/>
          <c:h val="0.3692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8C-4201-BE46-8C00CC367AF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50</c:v>
                </c:pt>
                <c:pt idx="1">
                  <c:v>38</c:v>
                </c:pt>
                <c:pt idx="2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C8C-4201-BE46-8C00CC367AF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Через 6 месяцев</c:v>
                </c:pt>
              </c:strCache>
            </c:strRef>
          </c:tx>
          <c:spPr>
            <a:solidFill>
              <a:srgbClr val="3F6B97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F3E55"/>
                        </a:solidFill>
                        <a:latin typeface="+mn-lt"/>
                      </a:rPr>
                      <a:t>46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EC8C-4201-BE46-8C00CC367AF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F3E55"/>
                        </a:solidFill>
                        <a:latin typeface="+mn-lt"/>
                      </a:rPr>
                      <a:t>33,3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EC8C-4201-BE46-8C00CC367AF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F3E55"/>
                        </a:solidFill>
                        <a:latin typeface="+mn-lt"/>
                      </a:rPr>
                      <a:t>19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EC8C-4201-BE46-8C00CC367AFF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46</c:v>
                </c:pt>
                <c:pt idx="1">
                  <c:v>33.299999999999997</c:v>
                </c:pt>
                <c:pt idx="2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C8C-4201-BE46-8C00CC367AF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% пациентов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6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600" b="1" i="0" u="none" strike="noStrike">
                <a:solidFill>
                  <a:srgbClr val="2F3E55"/>
                </a:solidFill>
                <a:latin typeface="+mn-lt"/>
              </a:rPr>
              <a:t>Число пациентов с абдоминалгией — СРК-Д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7355"/>
          <c:y val="0.21154"/>
          <c:w val="0.79339"/>
          <c:h val="0.3692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F6-40A8-9EA3-B021E9205D9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53</c:v>
                </c:pt>
                <c:pt idx="1">
                  <c:v>43</c:v>
                </c:pt>
                <c:pt idx="2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6F6-40A8-9EA3-B021E9205D9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Через 6 месяцев</c:v>
                </c:pt>
              </c:strCache>
            </c:strRef>
          </c:tx>
          <c:spPr>
            <a:solidFill>
              <a:srgbClr val="3F6B97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F3E55"/>
                        </a:solidFill>
                        <a:latin typeface="+mn-lt"/>
                      </a:rPr>
                      <a:t>50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B6F6-40A8-9EA3-B021E9205D9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F3E55"/>
                        </a:solidFill>
                        <a:latin typeface="+mn-lt"/>
                      </a:rPr>
                      <a:t>35,7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B6F6-40A8-9EA3-B021E9205D9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F3E55"/>
                        </a:solidFill>
                        <a:latin typeface="+mn-lt"/>
                      </a:rPr>
                      <a:t>23,1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B6F6-40A8-9EA3-B021E9205D92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50</c:v>
                </c:pt>
                <c:pt idx="1">
                  <c:v>35.700000000000003</c:v>
                </c:pt>
                <c:pt idx="2">
                  <c:v>23.1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6F6-40A8-9EA3-B021E9205D9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% пациентов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400" b="1" i="0" u="none" strike="noStrike">
                <a:solidFill>
                  <a:srgbClr val="2F3E55"/>
                </a:solidFill>
                <a:latin typeface="+mn-lt"/>
              </a:rPr>
              <a:t>СРК-З: через 6 месяцев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42408"/>
          <c:y val="0.11111"/>
          <c:w val="0.53510"/>
          <c:h val="0.5515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Основная</c:v>
                </c:pt>
              </c:strCache>
            </c:strRef>
          </c:tx>
          <c:spPr>
            <a:solidFill>
              <a:srgbClr val="5A9AA0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ru-RU" sz="1200" b="0">
                        <a:solidFill>
                          <a:srgbClr val="2F3E55"/>
                        </a:solidFill>
                        <a:latin typeface="+mn-lt"/>
                      </a:rPr>
                      <a:t>0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2615-49DC-8F81-7AB81B2335A0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ru-RU" sz="1200" b="0">
                        <a:solidFill>
                          <a:srgbClr val="2F3E55"/>
                        </a:solidFill>
                        <a:latin typeface="+mn-lt"/>
                      </a:rPr>
                      <a:t>0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2615-49DC-8F81-7AB81B2335A0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ru-RU" sz="1200" b="0">
                        <a:solidFill>
                          <a:srgbClr val="2F3E55"/>
                        </a:solidFill>
                        <a:latin typeface="+mn-lt"/>
                      </a:rPr>
                      <a:t>8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2615-49DC-8F81-7AB81B2335A0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ru-RU" sz="1200" b="0">
                        <a:solidFill>
                          <a:srgbClr val="2F3E55"/>
                        </a:solidFill>
                        <a:latin typeface="+mn-lt"/>
                      </a:rPr>
                      <a:t>9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2615-49DC-8F81-7AB81B2335A0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ru-RU" sz="1200" b="0">
                        <a:solidFill>
                          <a:srgbClr val="2F3E55"/>
                        </a:solidFill>
                        <a:latin typeface="+mn-lt"/>
                      </a:rPr>
                      <a:t>8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2615-49DC-8F81-7AB81B2335A0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Протеи</c:v>
                </c:pt>
                <c:pt idx="1">
                  <c:v>Грибы Candida</c:v>
                </c:pt>
                <c:pt idx="2">
                  <c:v>Стафилококки</c:v>
                </c:pt>
                <c:pt idx="3">
                  <c:v>Энтеробактерии</c:v>
                </c:pt>
                <c:pt idx="4">
                  <c:v>Лактобактерии</c:v>
                </c:pt>
                <c:pt idx="5">
                  <c:v>Бифидобактерии</c:v>
                </c:pt>
                <c:pt idx="6">
                  <c:v>Кишечная палочка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8</c:v>
                </c:pt>
                <c:pt idx="5">
                  <c:v>9</c:v>
                </c:pt>
                <c:pt idx="6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2615-49DC-8F81-7AB81B2335A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Сравнения</c:v>
                </c:pt>
              </c:strCache>
            </c:strRef>
          </c:tx>
          <c:spPr>
            <a:solidFill>
              <a:srgbClr val="E0C28C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Протеи</c:v>
                </c:pt>
                <c:pt idx="1">
                  <c:v>Грибы Candida</c:v>
                </c:pt>
                <c:pt idx="2">
                  <c:v>Стафилококки</c:v>
                </c:pt>
                <c:pt idx="3">
                  <c:v>Энтеробактерии</c:v>
                </c:pt>
                <c:pt idx="4">
                  <c:v>Лактобактерии</c:v>
                </c:pt>
                <c:pt idx="5">
                  <c:v>Бифидобактерии</c:v>
                </c:pt>
                <c:pt idx="6">
                  <c:v>Кишечная палочка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6</c:v>
                </c:pt>
                <c:pt idx="1">
                  <c:v>0</c:v>
                </c:pt>
                <c:pt idx="2">
                  <c:v>2</c:v>
                </c:pt>
                <c:pt idx="3">
                  <c:v>2</c:v>
                </c:pt>
                <c:pt idx="4">
                  <c:v>4</c:v>
                </c:pt>
                <c:pt idx="5">
                  <c:v>6</c:v>
                </c:pt>
                <c:pt idx="6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615-49DC-8F81-7AB81B2335A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Контрольная</c:v>
                </c:pt>
              </c:strCache>
            </c:strRef>
          </c:tx>
          <c:spPr>
            <a:solidFill>
              <a:srgbClr val="B9C4D2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Протеи</c:v>
                </c:pt>
                <c:pt idx="1">
                  <c:v>Грибы Candida</c:v>
                </c:pt>
                <c:pt idx="2">
                  <c:v>Стафилококки</c:v>
                </c:pt>
                <c:pt idx="3">
                  <c:v>Энтеробактерии</c:v>
                </c:pt>
                <c:pt idx="4">
                  <c:v>Лактобактерии</c:v>
                </c:pt>
                <c:pt idx="5">
                  <c:v>Бифидобактерии</c:v>
                </c:pt>
                <c:pt idx="6">
                  <c:v>Кишечная палочка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6</c:v>
                </c:pt>
                <c:pt idx="1">
                  <c:v>2</c:v>
                </c:pt>
                <c:pt idx="2">
                  <c:v>0</c:v>
                </c:pt>
                <c:pt idx="3">
                  <c:v>2</c:v>
                </c:pt>
                <c:pt idx="4">
                  <c:v>4</c:v>
                </c:pt>
                <c:pt idx="5">
                  <c:v>6</c:v>
                </c:pt>
                <c:pt idx="6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2615-49DC-8F81-7AB81B2335A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Микроорганизмы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b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en-US" sz="1400" b="0" i="0" u="none" strike="noStrike">
                    <a:solidFill>
                      <a:srgbClr val="2F3E55"/>
                    </a:solidFill>
                    <a:latin typeface="Arial"/>
                  </a:rPr>
                  <a:t>lg </a:t>
                </a: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КОЕ/г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400" b="1" i="0" u="none" strike="noStrike">
                <a:solidFill>
                  <a:srgbClr val="2F3E55"/>
                </a:solidFill>
                <a:latin typeface="+mn-lt"/>
              </a:rPr>
              <a:t>СРК-Д: через 6 месяцев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42408"/>
          <c:y val="0.11111"/>
          <c:w val="0.53510"/>
          <c:h val="0.5515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Основная</c:v>
                </c:pt>
              </c:strCache>
            </c:strRef>
          </c:tx>
          <c:spPr>
            <a:solidFill>
              <a:srgbClr val="5A9AA0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ru-RU" sz="1200" b="0">
                        <a:solidFill>
                          <a:srgbClr val="2F3E55"/>
                        </a:solidFill>
                        <a:latin typeface="+mn-lt"/>
                      </a:rPr>
                      <a:t>1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932E-408F-8F4F-277BB91E536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ru-RU" sz="1200" b="0">
                        <a:solidFill>
                          <a:srgbClr val="2F3E55"/>
                        </a:solidFill>
                        <a:latin typeface="+mn-lt"/>
                      </a:rPr>
                      <a:t>0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932E-408F-8F4F-277BB91E5361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ru-RU" sz="1200" b="0">
                        <a:solidFill>
                          <a:srgbClr val="2F3E55"/>
                        </a:solidFill>
                        <a:latin typeface="+mn-lt"/>
                      </a:rPr>
                      <a:t>0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932E-408F-8F4F-277BB91E5361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ru-RU" sz="1200" b="0">
                        <a:solidFill>
                          <a:srgbClr val="2F3E55"/>
                        </a:solidFill>
                        <a:latin typeface="+mn-lt"/>
                      </a:rPr>
                      <a:t>7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932E-408F-8F4F-277BB91E5361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ru-RU" sz="1200" b="0">
                        <a:solidFill>
                          <a:srgbClr val="2F3E55"/>
                        </a:solidFill>
                        <a:latin typeface="+mn-lt"/>
                      </a:rPr>
                      <a:t>10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932E-408F-8F4F-277BB91E5361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ru-RU" sz="1200" b="0">
                        <a:solidFill>
                          <a:srgbClr val="2F3E55"/>
                        </a:solidFill>
                        <a:latin typeface="+mn-lt"/>
                      </a:rPr>
                      <a:t>8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932E-408F-8F4F-277BB91E5361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Протеи</c:v>
                </c:pt>
                <c:pt idx="1">
                  <c:v>Грибы Candida</c:v>
                </c:pt>
                <c:pt idx="2">
                  <c:v>Стафилококки</c:v>
                </c:pt>
                <c:pt idx="3">
                  <c:v>Энтеробактерии</c:v>
                </c:pt>
                <c:pt idx="4">
                  <c:v>Лактобактерии</c:v>
                </c:pt>
                <c:pt idx="5">
                  <c:v>Бифидобактерии</c:v>
                </c:pt>
                <c:pt idx="6">
                  <c:v>Кишечная палочка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7</c:v>
                </c:pt>
                <c:pt idx="5">
                  <c:v>10</c:v>
                </c:pt>
                <c:pt idx="6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32E-408F-8F4F-277BB91E536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Сравнения</c:v>
                </c:pt>
              </c:strCache>
            </c:strRef>
          </c:tx>
          <c:spPr>
            <a:solidFill>
              <a:srgbClr val="E0C28C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Протеи</c:v>
                </c:pt>
                <c:pt idx="1">
                  <c:v>Грибы Candida</c:v>
                </c:pt>
                <c:pt idx="2">
                  <c:v>Стафилококки</c:v>
                </c:pt>
                <c:pt idx="3">
                  <c:v>Энтеробактерии</c:v>
                </c:pt>
                <c:pt idx="4">
                  <c:v>Лактобактерии</c:v>
                </c:pt>
                <c:pt idx="5">
                  <c:v>Бифидобактерии</c:v>
                </c:pt>
                <c:pt idx="6">
                  <c:v>Кишечная палочка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5</c:v>
                </c:pt>
                <c:pt idx="1">
                  <c:v>1</c:v>
                </c:pt>
                <c:pt idx="2">
                  <c:v>2</c:v>
                </c:pt>
                <c:pt idx="3">
                  <c:v>0</c:v>
                </c:pt>
                <c:pt idx="4">
                  <c:v>6</c:v>
                </c:pt>
                <c:pt idx="5">
                  <c:v>7</c:v>
                </c:pt>
                <c:pt idx="6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932E-408F-8F4F-277BB91E536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Контрольная</c:v>
                </c:pt>
              </c:strCache>
            </c:strRef>
          </c:tx>
          <c:spPr>
            <a:solidFill>
              <a:srgbClr val="B9C4D2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Протеи</c:v>
                </c:pt>
                <c:pt idx="1">
                  <c:v>Грибы Candida</c:v>
                </c:pt>
                <c:pt idx="2">
                  <c:v>Стафилококки</c:v>
                </c:pt>
                <c:pt idx="3">
                  <c:v>Энтеробактерии</c:v>
                </c:pt>
                <c:pt idx="4">
                  <c:v>Лактобактерии</c:v>
                </c:pt>
                <c:pt idx="5">
                  <c:v>Бифидобактерии</c:v>
                </c:pt>
                <c:pt idx="6">
                  <c:v>Кишечная палочка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6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4</c:v>
                </c:pt>
                <c:pt idx="5">
                  <c:v>7</c:v>
                </c:pt>
                <c:pt idx="6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32E-408F-8F4F-277BB91E536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Микроорганизмы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b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en-US" sz="1400" b="0" i="0" u="none" strike="noStrike">
                    <a:solidFill>
                      <a:srgbClr val="2F3E55"/>
                    </a:solidFill>
                    <a:latin typeface="Arial"/>
                  </a:rPr>
                  <a:t>lg </a:t>
                </a: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КОЕ/г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6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600" b="1" i="0" u="none" strike="noStrike">
                <a:solidFill>
                  <a:srgbClr val="2F3E55"/>
                </a:solidFill>
                <a:latin typeface="+mn-lt"/>
              </a:rPr>
              <a:t>Физический компонент здоровья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7355"/>
          <c:y val="0.11111"/>
          <c:w val="0.79339"/>
          <c:h val="0.6060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56.2</c:v>
                </c:pt>
                <c:pt idx="1">
                  <c:v>54.9</c:v>
                </c:pt>
                <c:pt idx="2">
                  <c:v>52.6</c:v>
                </c:pt>
                <c:pt idx="3">
                  <c:v>55.3</c:v>
                </c:pt>
                <c:pt idx="4">
                  <c:v>56.6</c:v>
                </c:pt>
                <c:pt idx="5">
                  <c:v>56.5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2E5-4ECD-AF9B-33538F84399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Через 6 месяцев после лечения</c:v>
                </c:pt>
              </c:strCache>
            </c:strRef>
          </c:tx>
          <c:spPr>
            <a:solidFill>
              <a:srgbClr val="3F6B97"/>
            </a:solidFill>
            <a:effectLst/>
          </c:spPr>
          <c:invertIfNegative val="0"/>
          <c:dLbls>
            <c:dLbl>
              <c:idx val="3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48,3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92E5-4ECD-AF9B-33538F843995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58,9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92E5-4ECD-AF9B-33538F843995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55.1</c:v>
                </c:pt>
                <c:pt idx="1">
                  <c:v>53.7</c:v>
                </c:pt>
                <c:pt idx="2">
                  <c:v>54.3</c:v>
                </c:pt>
                <c:pt idx="3">
                  <c:v>48.3</c:v>
                </c:pt>
                <c:pt idx="4">
                  <c:v>57.1</c:v>
                </c:pt>
                <c:pt idx="5">
                  <c:v>58.9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2E5-4ECD-AF9B-33538F84399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Баллы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6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600" b="1" i="0" u="none" strike="noStrike">
                <a:solidFill>
                  <a:srgbClr val="2F3E55"/>
                </a:solidFill>
                <a:latin typeface="+mn-lt"/>
              </a:rPr>
              <a:t>Психический компонент здоровья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7355"/>
          <c:y val="0.11111"/>
          <c:w val="0.79339"/>
          <c:h val="0.6060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50.7</c:v>
                </c:pt>
                <c:pt idx="1">
                  <c:v>51.2</c:v>
                </c:pt>
                <c:pt idx="2">
                  <c:v>53.4</c:v>
                </c:pt>
                <c:pt idx="3">
                  <c:v>50.1</c:v>
                </c:pt>
                <c:pt idx="4">
                  <c:v>57</c:v>
                </c:pt>
                <c:pt idx="5">
                  <c:v>55.3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B3-4852-99ED-50F05E55E00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Через 6 месяцев после лечения</c:v>
                </c:pt>
              </c:strCache>
            </c:strRef>
          </c:tx>
          <c:spPr>
            <a:solidFill>
              <a:srgbClr val="3F6B97"/>
            </a:solidFill>
            <a:effectLst/>
          </c:spPr>
          <c:invertIfNegative val="0"/>
          <c:dLbls>
            <c:dLbl>
              <c:idx val="2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56,1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BCB3-4852-99ED-50F05E55E00D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43,1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BCB3-4852-99ED-50F05E55E00D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59,7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BCB3-4852-99ED-50F05E55E00D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61,7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BCB3-4852-99ED-50F05E55E00D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51.4</c:v>
                </c:pt>
                <c:pt idx="1">
                  <c:v>53.6</c:v>
                </c:pt>
                <c:pt idx="2">
                  <c:v>56.1</c:v>
                </c:pt>
                <c:pt idx="3">
                  <c:v>43.1</c:v>
                </c:pt>
                <c:pt idx="4">
                  <c:v>59.7</c:v>
                </c:pt>
                <c:pt idx="5">
                  <c:v>61.7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CB3-4852-99ED-50F05E55E00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Баллы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6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600" b="1" i="0" u="none" strike="noStrike">
                <a:solidFill>
                  <a:srgbClr val="2F3E55"/>
                </a:solidFill>
                <a:latin typeface="+mn-lt"/>
              </a:rPr>
              <a:t>Длительность ремиссии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2805"/>
          <c:y val="0.11111"/>
          <c:w val="0.84756"/>
          <c:h val="0.6686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2.2999999999999998</c:v>
                </c:pt>
                <c:pt idx="1">
                  <c:v>2.9</c:v>
                </c:pt>
                <c:pt idx="2">
                  <c:v>2.7</c:v>
                </c:pt>
                <c:pt idx="3">
                  <c:v>3</c:v>
                </c:pt>
                <c:pt idx="4">
                  <c:v>2.7</c:v>
                </c:pt>
                <c:pt idx="5">
                  <c:v>2.9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961-46B5-B766-42630E3D395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Через 6 месяцев 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2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3,8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B961-46B5-B766-42630E3D3950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3,6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B961-46B5-B766-42630E3D3950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5,5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B961-46B5-B766-42630E3D3950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5,1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B961-46B5-B766-42630E3D3950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3.5</c:v>
                </c:pt>
                <c:pt idx="1">
                  <c:v>3.1</c:v>
                </c:pt>
                <c:pt idx="2">
                  <c:v>3.8</c:v>
                </c:pt>
                <c:pt idx="3">
                  <c:v>3.6</c:v>
                </c:pt>
                <c:pt idx="4">
                  <c:v>5.5</c:v>
                </c:pt>
                <c:pt idx="5">
                  <c:v>5.0999999999999996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961-46B5-B766-42630E3D395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Месяцы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60454"/>
          <c:y val="0.03093"/>
          <c:w val="0.37924"/>
          <c:h val="0.8329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</c:v>
                </c:pt>
              </c:strCache>
            </c:strRef>
          </c:tx>
          <c:spPr>
            <a:solidFill>
              <a:srgbClr val="C99AA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2FD-492F-893C-D6693CA3BF44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F2FD-492F-893C-D6693CA3BF44}"/>
              </c:ext>
            </c:extLst>
          </c:dPt>
          <c:dPt>
            <c:idx val="2"/>
            <c:invertIfNegative val="0"/>
            <c:bubble3D val="0"/>
            <c:spPr>
              <a:solidFill>
                <a:srgbClr val="B9C4D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2FD-492F-893C-D6693CA3BF44}"/>
              </c:ext>
            </c:extLst>
          </c:dPt>
          <c:dPt>
            <c:idx val="3"/>
            <c:invertIfNegative val="0"/>
            <c:bubble3D val="0"/>
            <c:spPr>
              <a:solidFill>
                <a:srgbClr val="6C94B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2FD-492F-893C-D6693CA3BF44}"/>
              </c:ext>
            </c:extLst>
          </c:dPt>
          <c:dPt>
            <c:idx val="4"/>
            <c:invertIfNegative val="0"/>
            <c:bubble3D val="0"/>
            <c:spPr>
              <a:solidFill>
                <a:srgbClr val="6C94B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2FD-492F-893C-D6693CA3BF44}"/>
              </c:ext>
            </c:extLst>
          </c:dPt>
          <c:dPt>
            <c:idx val="5"/>
            <c:invertIfNegative val="0"/>
            <c:bubble3D val="0"/>
            <c:spPr>
              <a:solidFill>
                <a:srgbClr val="6C94B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2FD-492F-893C-D6693CA3BF44}"/>
              </c:ext>
            </c:extLst>
          </c:dPt>
          <c:dPt>
            <c:idx val="6"/>
            <c:invertIfNegative val="0"/>
            <c:bubble3D val="0"/>
            <c:spPr>
              <a:solidFill>
                <a:srgbClr val="6C94B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F2FD-492F-893C-D6693CA3BF44}"/>
              </c:ext>
            </c:extLst>
          </c:dPt>
          <c:dPt>
            <c:idx val="7"/>
            <c:invertIfNegative val="0"/>
            <c:bubble3D val="0"/>
            <c:spPr>
              <a:solidFill>
                <a:srgbClr val="6C94B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F2FD-492F-893C-D6693CA3BF44}"/>
              </c:ext>
            </c:extLst>
          </c:dPt>
          <c:dPt>
            <c:idx val="8"/>
            <c:invertIfNegative val="0"/>
            <c:bubble3D val="0"/>
            <c:spPr>
              <a:solidFill>
                <a:srgbClr val="6C94B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F2FD-492F-893C-D6693CA3BF44}"/>
              </c:ext>
            </c:extLst>
          </c:dPt>
          <c:dPt>
            <c:idx val="9"/>
            <c:invertIfNegative val="0"/>
            <c:bubble3D val="0"/>
            <c:spPr>
              <a:solidFill>
                <a:srgbClr val="5A9A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F2FD-492F-893C-D6693CA3BF44}"/>
              </c:ext>
            </c:extLst>
          </c:dPt>
          <c:dPt>
            <c:idx val="10"/>
            <c:invertIfNegative val="0"/>
            <c:bubble3D val="0"/>
            <c:spPr>
              <a:solidFill>
                <a:srgbClr val="5A9A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F2FD-492F-893C-D6693CA3BF44}"/>
              </c:ext>
            </c:extLst>
          </c:dPt>
          <c:dPt>
            <c:idx val="11"/>
            <c:invertIfNegative val="0"/>
            <c:bubble3D val="0"/>
            <c:spPr>
              <a:solidFill>
                <a:srgbClr val="5A9A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F2FD-492F-893C-D6693CA3BF44}"/>
              </c:ext>
            </c:extLst>
          </c:dPt>
          <c:dLbls>
            <c:numFmt formatCode="0.0#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Абдоминальная боль ↔ работоспособность, СРК-Д</c:v>
                </c:pt>
                <c:pt idx="1">
                  <c:v>Абдоминальная боль ↔ работоспособность, СРК-З</c:v>
                </c:pt>
                <c:pt idx="2">
                  <c:v>Диарея ↔ парасимпатикотония (p=0,03)</c:v>
                </c:pt>
                <c:pt idx="3">
                  <c:v>Симпатикотония ↔ личностная тревожность, СРК-З (p=0,04)</c:v>
                </c:pt>
                <c:pt idx="4">
                  <c:v>Абдоминальная боль ↔ личностная тревожность, СРК-З (p=0,007)</c:v>
                </c:pt>
                <c:pt idx="5">
                  <c:v>Абдоминальная боль ↔ симпатикотония (p=0,003)</c:v>
                </c:pt>
                <c:pt idx="6">
                  <c:v>Симпатикотония ↔ снижение качества жизни (p=0,04)</c:v>
                </c:pt>
                <c:pt idx="7">
                  <c:v>Абдоминальная боль ↔ личностная тревожность, СРК-Д (p=0,0001)</c:v>
                </c:pt>
                <c:pt idx="8">
                  <c:v>Запор ↔ симпатикотония (p=0,0001)</c:v>
                </c:pt>
                <c:pt idx="9">
                  <c:v>Парасимпатикотония ↔ личностная тревожность, СРК-Д (p=0,0001)</c:v>
                </c:pt>
                <c:pt idx="10">
                  <c:v>Абдоминальная боль ↔ уровень стресса (p=0,04)</c:v>
                </c:pt>
                <c:pt idx="11">
                  <c:v>Нормотония ↔ высокое качество жизни (p=0,001)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-0.38100000000000001</c:v>
                </c:pt>
                <c:pt idx="1">
                  <c:v>-0.33</c:v>
                </c:pt>
                <c:pt idx="2">
                  <c:v>0.247</c:v>
                </c:pt>
                <c:pt idx="3">
                  <c:v>0.32200000000000001</c:v>
                </c:pt>
                <c:pt idx="4">
                  <c:v>0.33100000000000002</c:v>
                </c:pt>
                <c:pt idx="5">
                  <c:v>0.35360000000000003</c:v>
                </c:pt>
                <c:pt idx="6">
                  <c:v>0.51300000000000001</c:v>
                </c:pt>
                <c:pt idx="7">
                  <c:v>0.54400000000000004</c:v>
                </c:pt>
                <c:pt idx="8">
                  <c:v>0.61599999999999999</c:v>
                </c:pt>
                <c:pt idx="9">
                  <c:v>0.70499999999999996</c:v>
                </c:pt>
                <c:pt idx="10">
                  <c:v>0.82299999999999995</c:v>
                </c:pt>
                <c:pt idx="11">
                  <c:v>0.83699999999999997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F2FD-492F-893C-D6693CA3BF4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Пары показателей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-0.6"/>
        </c:scaling>
        <c:delete val="0"/>
        <c:axPos val="b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Коэффициент корреляции Спирмена (</a:t>
                </a:r>
                <a:r>
                  <a:rPr lang="en-US" sz="1400" b="0" i="0" u="none" strike="noStrike">
                    <a:solidFill>
                      <a:srgbClr val="2F3E55"/>
                    </a:solidFill>
                    <a:latin typeface="Arial"/>
                  </a:rPr>
                  <a:t>r)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6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600" b="1" i="0" u="none" strike="noStrike">
                <a:solidFill>
                  <a:srgbClr val="2F3E55"/>
                </a:solidFill>
                <a:latin typeface="+mn-lt"/>
              </a:rPr>
              <a:t>СРК-З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61851"/>
          <c:y val="0.10784"/>
          <c:w val="0.34843"/>
          <c:h val="0.5568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3. + амплипульстерапия + КВЧ-терапия</c:v>
                </c:pt>
              </c:strCache>
            </c:strRef>
          </c:tx>
          <c:spPr>
            <a:solidFill>
              <a:srgbClr val="5A9AA0"/>
            </a:solidFill>
            <a:effectLst/>
          </c:spPr>
          <c:invertIfNegative val="0"/>
          <c:dLbls>
            <c:numFmt formatCode="0.0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Высокий уровень КЖ</c:v>
                </c:pt>
                <c:pt idx="1">
                  <c:v>Высокая работоспособность</c:v>
                </c:pt>
                <c:pt idx="2">
                  <c:v>Реакция повышенной активации</c:v>
                </c:pt>
                <c:pt idx="3">
                  <c:v>Отсутствие стресса</c:v>
                </c:pt>
                <c:pt idx="4">
                  <c:v>Отсутствие запора</c:v>
                </c:pt>
                <c:pt idx="5">
                  <c:v>Отсутствие метеоризма</c:v>
                </c:pt>
                <c:pt idx="6">
                  <c:v>Отсутствие абдоминалгии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9.19</c:v>
                </c:pt>
                <c:pt idx="1">
                  <c:v>3.49</c:v>
                </c:pt>
                <c:pt idx="2">
                  <c:v>8.39</c:v>
                </c:pt>
                <c:pt idx="3">
                  <c:v>10.89</c:v>
                </c:pt>
                <c:pt idx="4">
                  <c:v>6.75</c:v>
                </c:pt>
                <c:pt idx="5">
                  <c:v>6.14</c:v>
                </c:pt>
                <c:pt idx="6">
                  <c:v>6.76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1C-4D0F-B109-C47AA03CD0A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2. + амплипульстерапия</c:v>
                </c:pt>
              </c:strCache>
            </c:strRef>
          </c:tx>
          <c:spPr>
            <a:solidFill>
              <a:srgbClr val="E0C28C"/>
            </a:solidFill>
            <a:effectLst/>
          </c:spPr>
          <c:invertIfNegative val="0"/>
          <c:dLbls>
            <c:numFmt formatCode="0.0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Высокий уровень КЖ</c:v>
                </c:pt>
                <c:pt idx="1">
                  <c:v>Высокая работоспособность</c:v>
                </c:pt>
                <c:pt idx="2">
                  <c:v>Реакция повышенной активации</c:v>
                </c:pt>
                <c:pt idx="3">
                  <c:v>Отсутствие стресса</c:v>
                </c:pt>
                <c:pt idx="4">
                  <c:v>Отсутствие запора</c:v>
                </c:pt>
                <c:pt idx="5">
                  <c:v>Отсутствие метеоризма</c:v>
                </c:pt>
                <c:pt idx="6">
                  <c:v>Отсутствие абдоминалгии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4">
                  <c:v>5.75</c:v>
                </c:pt>
                <c:pt idx="5">
                  <c:v>3.14</c:v>
                </c:pt>
                <c:pt idx="6">
                  <c:v>4.1100000000000003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31C-4D0F-B109-C47AA03CD0A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1. Базисное СКЛ</c:v>
                </c:pt>
              </c:strCache>
            </c:strRef>
          </c:tx>
          <c:spPr>
            <a:solidFill>
              <a:srgbClr val="B9C4D2"/>
            </a:solidFill>
            <a:effectLst/>
          </c:spPr>
          <c:invertIfNegative val="0"/>
          <c:dLbls>
            <c:numFmt formatCode="0.0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Высокий уровень КЖ</c:v>
                </c:pt>
                <c:pt idx="1">
                  <c:v>Высокая работоспособность</c:v>
                </c:pt>
                <c:pt idx="2">
                  <c:v>Реакция повышенной активации</c:v>
                </c:pt>
                <c:pt idx="3">
                  <c:v>Отсутствие стресса</c:v>
                </c:pt>
                <c:pt idx="4">
                  <c:v>Отсутствие запора</c:v>
                </c:pt>
                <c:pt idx="5">
                  <c:v>Отсутствие метеоризма</c:v>
                </c:pt>
                <c:pt idx="6">
                  <c:v>Отсутствие абдоминалгии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5">
                  <c:v>2.11</c:v>
                </c:pt>
                <c:pt idx="6">
                  <c:v>3.49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31C-4D0F-B109-C47AA03CD0A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Исход лечения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b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el-GR" sz="1400" b="0" i="0" u="none" strike="noStrike">
                    <a:solidFill>
                      <a:srgbClr val="2F3E55"/>
                    </a:solidFill>
                    <a:latin typeface="Arial"/>
                  </a:rPr>
                  <a:t>χ² </a:t>
                </a: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Пирсона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6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600" b="1" i="0" u="none" strike="noStrike">
                <a:solidFill>
                  <a:srgbClr val="2F3E55"/>
                </a:solidFill>
                <a:latin typeface="+mn-lt"/>
              </a:rPr>
              <a:t>СРК-Д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61851"/>
          <c:y val="0.10784"/>
          <c:w val="0.34843"/>
          <c:h val="0.5568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3. + амплипульстерапия + КВЧ-терапия</c:v>
                </c:pt>
              </c:strCache>
            </c:strRef>
          </c:tx>
          <c:spPr>
            <a:solidFill>
              <a:srgbClr val="5A9AA0"/>
            </a:solidFill>
            <a:effectLst/>
          </c:spPr>
          <c:invertIfNegative val="0"/>
          <c:dLbls>
            <c:numFmt formatCode="0.0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Высокий уровень КЖ</c:v>
                </c:pt>
                <c:pt idx="1">
                  <c:v>Высокая работоспособность</c:v>
                </c:pt>
                <c:pt idx="2">
                  <c:v>Реакция повышенной активации</c:v>
                </c:pt>
                <c:pt idx="3">
                  <c:v>Отсутствие стресса</c:v>
                </c:pt>
                <c:pt idx="4">
                  <c:v>Отсутствие диареи</c:v>
                </c:pt>
                <c:pt idx="5">
                  <c:v>Отсутствие метеоризма</c:v>
                </c:pt>
                <c:pt idx="6">
                  <c:v>Отсутствие абдоминалгии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19.29</c:v>
                </c:pt>
                <c:pt idx="1">
                  <c:v>6.75</c:v>
                </c:pt>
                <c:pt idx="2">
                  <c:v>4.8899999999999997</c:v>
                </c:pt>
                <c:pt idx="3">
                  <c:v>7.56</c:v>
                </c:pt>
                <c:pt idx="4">
                  <c:v>5.89</c:v>
                </c:pt>
                <c:pt idx="5">
                  <c:v>5.01</c:v>
                </c:pt>
                <c:pt idx="6">
                  <c:v>5.99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94F-4AAB-B153-18EA6E99864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2. + амплипульстерапия</c:v>
                </c:pt>
              </c:strCache>
            </c:strRef>
          </c:tx>
          <c:spPr>
            <a:solidFill>
              <a:srgbClr val="E0C28C"/>
            </a:solidFill>
            <a:effectLst/>
          </c:spPr>
          <c:invertIfNegative val="0"/>
          <c:dLbls>
            <c:numFmt formatCode="0.0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Высокий уровень КЖ</c:v>
                </c:pt>
                <c:pt idx="1">
                  <c:v>Высокая работоспособность</c:v>
                </c:pt>
                <c:pt idx="2">
                  <c:v>Реакция повышенной активации</c:v>
                </c:pt>
                <c:pt idx="3">
                  <c:v>Отсутствие стресса</c:v>
                </c:pt>
                <c:pt idx="4">
                  <c:v>Отсутствие диареи</c:v>
                </c:pt>
                <c:pt idx="5">
                  <c:v>Отсутствие метеоризма</c:v>
                </c:pt>
                <c:pt idx="6">
                  <c:v>Отсутствие абдоминалгии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4">
                  <c:v>4.88</c:v>
                </c:pt>
                <c:pt idx="5">
                  <c:v>3.05</c:v>
                </c:pt>
                <c:pt idx="6">
                  <c:v>3.75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94F-4AAB-B153-18EA6E99864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1. Базисное СКЛ</c:v>
                </c:pt>
              </c:strCache>
            </c:strRef>
          </c:tx>
          <c:spPr>
            <a:solidFill>
              <a:srgbClr val="B9C4D2"/>
            </a:solidFill>
            <a:effectLst/>
          </c:spPr>
          <c:invertIfNegative val="0"/>
          <c:dLbls>
            <c:numFmt formatCode="0.0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Высокий уровень КЖ</c:v>
                </c:pt>
                <c:pt idx="1">
                  <c:v>Высокая работоспособность</c:v>
                </c:pt>
                <c:pt idx="2">
                  <c:v>Реакция повышенной активации</c:v>
                </c:pt>
                <c:pt idx="3">
                  <c:v>Отсутствие стресса</c:v>
                </c:pt>
                <c:pt idx="4">
                  <c:v>Отсутствие диареи</c:v>
                </c:pt>
                <c:pt idx="5">
                  <c:v>Отсутствие метеоризма</c:v>
                </c:pt>
                <c:pt idx="6">
                  <c:v>Отсутствие абдоминалгии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5">
                  <c:v>2.57</c:v>
                </c:pt>
                <c:pt idx="6">
                  <c:v>2.99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94F-4AAB-B153-18EA6E99864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Исход лечения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"/>
          <c:min val="0"/>
        </c:scaling>
        <c:delete val="0"/>
        <c:axPos val="b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el-GR" sz="1400" b="0" i="0" u="none" strike="noStrike">
                    <a:solidFill>
                      <a:srgbClr val="2F3E55"/>
                    </a:solidFill>
                    <a:latin typeface="Arial"/>
                  </a:rPr>
                  <a:t>χ² </a:t>
                </a: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Пирсона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4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6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600" b="1" i="0" u="none" strike="noStrike">
                <a:solidFill>
                  <a:srgbClr val="2F3E55"/>
                </a:solidFill>
                <a:latin typeface="+mn-lt"/>
              </a:rPr>
              <a:t>Сила связи с эффективностью лечения (r)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62000"/>
          <c:y val="0.10784"/>
          <c:w val="0.34694"/>
          <c:h val="0.6784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3б (СРК-Д)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numFmt formatCode="0.0#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Работоспособность</c:v>
                </c:pt>
                <c:pt idx="1">
                  <c:v>Уровень стресса</c:v>
                </c:pt>
                <c:pt idx="2">
                  <c:v>Низкая личностная тревожность</c:v>
                </c:pt>
                <c:pt idx="3">
                  <c:v>Низкая ситуативная тревожность</c:v>
                </c:pt>
                <c:pt idx="4">
                  <c:v>Эйтония</c:v>
                </c:pt>
                <c:pt idx="5">
                  <c:v>Тип адаптационной реакции</c:v>
                </c:pt>
                <c:pt idx="6">
                  <c:v>Купирование абдоминалгии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0.78900000000000003</c:v>
                </c:pt>
                <c:pt idx="1">
                  <c:v>0.72</c:v>
                </c:pt>
                <c:pt idx="2">
                  <c:v>1</c:v>
                </c:pt>
                <c:pt idx="3">
                  <c:v>0.85</c:v>
                </c:pt>
                <c:pt idx="4">
                  <c:v>1</c:v>
                </c:pt>
                <c:pt idx="5">
                  <c:v>0.52800000000000002</c:v>
                </c:pt>
                <c:pt idx="6">
                  <c:v>0.33800000000000002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B7-4EE6-9A09-C6791F8EBC0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3а (СРК-З)</c:v>
                </c:pt>
              </c:strCache>
            </c:strRef>
          </c:tx>
          <c:spPr>
            <a:solidFill>
              <a:srgbClr val="8DB5A5"/>
            </a:solidFill>
            <a:effectLst/>
          </c:spPr>
          <c:invertIfNegative val="0"/>
          <c:dLbls>
            <c:numFmt formatCode="0.0#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Работоспособность</c:v>
                </c:pt>
                <c:pt idx="1">
                  <c:v>Уровень стресса</c:v>
                </c:pt>
                <c:pt idx="2">
                  <c:v>Низкая личностная тревожность</c:v>
                </c:pt>
                <c:pt idx="3">
                  <c:v>Низкая ситуативная тревожность</c:v>
                </c:pt>
                <c:pt idx="4">
                  <c:v>Эйтония</c:v>
                </c:pt>
                <c:pt idx="5">
                  <c:v>Тип адаптационной реакции</c:v>
                </c:pt>
                <c:pt idx="6">
                  <c:v>Купирование абдоминалгии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0.89200000000000002</c:v>
                </c:pt>
                <c:pt idx="1">
                  <c:v>0.82299999999999995</c:v>
                </c:pt>
                <c:pt idx="2">
                  <c:v>0.79400000000000004</c:v>
                </c:pt>
                <c:pt idx="3">
                  <c:v>0.77600000000000002</c:v>
                </c:pt>
                <c:pt idx="4">
                  <c:v>0.80900000000000005</c:v>
                </c:pt>
                <c:pt idx="5">
                  <c:v>0.35499999999999998</c:v>
                </c:pt>
                <c:pt idx="6">
                  <c:v>0.32500000000000001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4B7-4EE6-9A09-C6791F8EBC0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Фактор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2"/>
          <c:min val="0"/>
        </c:scaling>
        <c:delete val="0"/>
        <c:axPos val="b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Коэффициент </a:t>
                </a:r>
                <a:r>
                  <a:rPr lang="en-US" sz="1400" b="0" i="0" u="none" strike="noStrike">
                    <a:solidFill>
                      <a:srgbClr val="2F3E55"/>
                    </a:solidFill>
                    <a:latin typeface="Arial"/>
                  </a:rPr>
                  <a:t>r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6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600" b="1" i="0" u="none" strike="noStrike">
                <a:solidFill>
                  <a:srgbClr val="2F3E55"/>
                </a:solidFill>
                <a:latin typeface="+mn-lt"/>
              </a:rPr>
              <a:t>Критерий </a:t>
            </a:r>
            <a:r>
              <a:rPr lang="el-GR" sz="1600" b="1" i="0" u="none" strike="noStrike">
                <a:solidFill>
                  <a:srgbClr val="2F3E55"/>
                </a:solidFill>
                <a:latin typeface="+mn-lt"/>
              </a:rPr>
              <a:t>χ² </a:t>
            </a:r>
            <a:r>
              <a:rPr lang="ru-RU" sz="1600" b="1" i="0" u="none" strike="noStrike">
                <a:solidFill>
                  <a:srgbClr val="2F3E55"/>
                </a:solidFill>
                <a:latin typeface="+mn-lt"/>
              </a:rPr>
              <a:t>Пирсона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62000"/>
          <c:y val="0.10784"/>
          <c:w val="0.34694"/>
          <c:h val="0.6784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3б (СРК-Д)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numFmt formatCode="0.0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Работоспособность</c:v>
                </c:pt>
                <c:pt idx="1">
                  <c:v>Уровень стресса</c:v>
                </c:pt>
                <c:pt idx="2">
                  <c:v>Низкая личностная тревожность</c:v>
                </c:pt>
                <c:pt idx="3">
                  <c:v>Низкая ситуативная тревожность</c:v>
                </c:pt>
                <c:pt idx="4">
                  <c:v>Эйтония</c:v>
                </c:pt>
                <c:pt idx="5">
                  <c:v>Тип адаптационной реакции</c:v>
                </c:pt>
                <c:pt idx="6">
                  <c:v>Купирование абдоминалгии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96.37</c:v>
                </c:pt>
                <c:pt idx="1">
                  <c:v>91.66</c:v>
                </c:pt>
                <c:pt idx="2">
                  <c:v>69.099999999999994</c:v>
                </c:pt>
                <c:pt idx="3">
                  <c:v>44.3</c:v>
                </c:pt>
                <c:pt idx="4">
                  <c:v>60</c:v>
                </c:pt>
                <c:pt idx="5">
                  <c:v>9.48</c:v>
                </c:pt>
                <c:pt idx="6">
                  <c:v>16.97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2D-49E0-BDE9-30728698CFF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3а (СРК-З)</c:v>
                </c:pt>
              </c:strCache>
            </c:strRef>
          </c:tx>
          <c:spPr>
            <a:solidFill>
              <a:srgbClr val="8DB5A5"/>
            </a:solidFill>
            <a:effectLst/>
          </c:spPr>
          <c:invertIfNegative val="0"/>
          <c:dLbls>
            <c:numFmt formatCode="0.0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Работоспособность</c:v>
                </c:pt>
                <c:pt idx="1">
                  <c:v>Уровень стресса</c:v>
                </c:pt>
                <c:pt idx="2">
                  <c:v>Низкая личностная тревожность</c:v>
                </c:pt>
                <c:pt idx="3">
                  <c:v>Низкая ситуативная тревожность</c:v>
                </c:pt>
                <c:pt idx="4">
                  <c:v>Эйтония</c:v>
                </c:pt>
                <c:pt idx="5">
                  <c:v>Тип адаптационной реакции</c:v>
                </c:pt>
                <c:pt idx="6">
                  <c:v>Купирование абдоминалгии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113.35</c:v>
                </c:pt>
                <c:pt idx="1">
                  <c:v>125.65</c:v>
                </c:pt>
                <c:pt idx="2">
                  <c:v>90.78</c:v>
                </c:pt>
                <c:pt idx="3">
                  <c:v>86.78</c:v>
                </c:pt>
                <c:pt idx="4">
                  <c:v>70.84</c:v>
                </c:pt>
                <c:pt idx="5">
                  <c:v>18.73</c:v>
                </c:pt>
                <c:pt idx="6">
                  <c:v>15.67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82D-49E0-BDE9-30728698CFF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Фактор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0"/>
          <c:min val="0"/>
        </c:scaling>
        <c:delete val="0"/>
        <c:axPos val="b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el-GR" sz="1400" b="0" i="0" u="none" strike="noStrike">
                    <a:solidFill>
                      <a:srgbClr val="2F3E55"/>
                    </a:solidFill>
                    <a:latin typeface="Arial"/>
                  </a:rPr>
                  <a:t>χ² </a:t>
                </a: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Пирсона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1279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Схема 1 диссертации. В Word основная группа указана n=43, но подгруппы 3а (24) и 3б (21) дают 45 (43+47+45=135). Блок «Обследование пациентов» (клинические симптомы, жалобы, пальпация живота, индекс Кердо, ортоклиностатическая проба, эпигастральный рефлекс, кардиоинтервалография, тест Люшера, анкета Спилбергера–Ханина, SF-36, общий анализ крови с адаптационными реакциями, микробиологическое исследование кала, УЗИ кишечника) вынесен в слайд «Методы исследования».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описание лечебного комплекса из диссертации. Рисунки 1 и 2 (точки VC.17 и E.25) в файле правок не приложены.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текст раздела (шкала Ликерта), рисунки 4 и 5. p (до/после), баллы: СРК-З — 0,005; 0,041; 0,00001; СРК-Д — 0,005; 0,002; 0,00001. Основная группа достоверно лучше контрольной и сравнения (p&lt;0,005; критерии Краскела–Уоллиса, ван дер Вардена). Частота абдоминалгии снижалась во всех группах (p&lt;0,05), наиболее значимо — в основной.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текст раздела и таблица 12. p (нормализация стула): СРК-З — 0,0001; 0,001; 0,00001; СРК-Д — 0,05; &lt;0,05; 0,0004. Различия по характеру стула между всеми группами: p=0,003–0,01.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таблицы 14 и 15. РС — реакция стресса, РПеА — реакция переактивации, РСА — реакция спокойной активации, РПА — реакция повышенной активации. РС и РСА+РПА, p (до/после): основная — 0,007 и 0,001 (СРК-З), 0,01 и 0,001 (СРК-Д). Δ: основная vs контрольная p=0,008 (СРК-З), vs сравнения p=0,0007 (СРК-Д).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текст раздела «Динамика показателей ультрасонографии». Во всех группах p&lt;0,05. Межгрупповые различия: СРК-З — 1а/2а 0,01; 1а/3а 0,001; 2а/3а 0,02; СРК-Д — 1б/2б 0,03; 1б/3б 0,005; 2б/3б 0,001.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текст раздела и таблицы 16, 17. lg КОЕ/г: значение 6 означает 10^6 КОЕ/г. Основная группа: нормализация у 100 % пациентов (p=0,001); контрольная и сравнения — у 61,5 % (p=0,005), у остальных показатели значительно улучшились (p=0,05). Патогенные микроорганизмы (Salmonella spp., Shigella spp.) не обнаружены.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таблица 16 диссертации.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таблица 18. Показано число пациентов (n) в каждой категории до и после лечения. Объём групп: 1а=23; 2а=25; 3а=24; 1б=20; 2б=22; 3б=21. Рост эйтонии в основной группе: p=0,01 (СРК-З), p=0,004 (СРК-Д); максимальное приближение индекса Кердо к норме — в основной группе (p=0,001).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таблица 19. НВО — нормальное, НедВО — недостаточное, ИВО — избыточное вегетативное обеспечение. НВО после лечения, межгрупповые различия: СРК-З — p1,2=0,005; p1,3=0,0006; p2,3=0,001; СРК-Д — p1,2=0,01; p1,3=0,003; p2,3=0,004. В основной группе число пациентов с избыточным и недостаточным обеспечением уменьшилось в 2–4 раза.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таблица 20. Нормальный тип после лечения, межгрупповые различия: СРК-З — p1,2=0,08; p1,3=0,002; p2,3=0,001; СРК-Д — p1,2=0,09; p1,3=0,01; p2,3=0,02.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таблица 21.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таблица 22.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таблица 23. M, баллы. Основная группа, p (до/после): СРК-З — ситуативная 0,019, личностная 0,0032; СРК-Д — 0,0069 и 0,0071. В контрольной группе и группе сравнения изменения недостоверны (p&gt;0,05). Межгрупповые различия основной группы: p1,3 и p2,3 = 0,01–0,04 (СРК-З); 0,005–0,01 (СРК-Д).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таблицы 25 и 26. M, баллы. Основная группа, p (до/после): стресс 0,001 (СРК-З), 0,007 (СРК-Д); напряжённость 0,01 и 0,02; работоспособность 0,03 и 0,006. Работоспособность достоверно возросла только в основной группе.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таблица 27. Значки ▲ у основной группы: шкалы PF, RP, BP, VT, SF, MH (p1,3 и p2,3 &lt;0,05).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таблица 28. Значки ▲ у основной группы: шкалы PF, RP, GH, VT, RE, SF (p1,3 и p2,3 &lt;0,05).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таблицы 30 и 44. Эффективность = «значительное улучшение» (КЭ ≥ 3,0) + «улучшение» (КЭ 2,1–3,0). Ухудшения не выявлено ни в одной из групп. Различия эффективности (χ²): непосредственно — СРК-З p1,3=0,001; p2,3=0,004; СРК-Д p1,3=0,005; p2,3=0,007; через 6 месяцев — СРК-З p1,3=0,006; p2,3=0,02; СРК-Д p1,3=0,02; p2,3=0,03.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текст раздела и рисунки 6, 7. p (до лечения / через 6 мес.), баллы: СРК-З — 0,004; 0,03; 0,00005; СРК-Д — 0,003; 0,002; 0,00002. Превосходство основной группы p&lt;0,01; различий между контрольной группой и группой сравнения нет (p&gt;0,05). Число пациентов с абдоминалгией: p&lt;0,05; основная группа — p=0,008 (СРК-З), p=0,007 (СРК-Д).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таблицы 35 и 36; lg КОЕ/г (значение 6 означает 10^6 КОЕ/г). Нормы: кишечная палочка 10^7–10^8; бифидобактерии 10^8–10^10; лактобактерии 10^6–10^10; энтеробактерии ≤10^4; стафилококки ≤10^4; Candida ≤10^3; протеи ≤10^2. Основная группа: достоверно более высокий уровень бифидо- и лактобактерий (p1,3 и p2,3 = 0,0001–0,01) и отсутствие протеев (p=0,0001–0,002).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таблица 43 (правки от 3.10). M, баллы. Через 6 месяцев — средний и высокий уровень КЖ; наиболее выраженный эффект в основной группе. p (после лечения / через 6 мес.): СРК-З — физический компонент p1,2=0,08; p1,3=0,05; p2,3=0,04, психический p1,2=0,01; p1,3=0,009; p2,3=0,02; СРК-Д — физический p1,2=0,03; p1,3=0,01; p2,3=0,008, психический p1,2=0,02; p1,3=0,005; p2,3=0,001.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таблица 45 и рисунок 10. Через 6 месяцев, межгрупповые различия: СРК-З — p1,3=0,005; p2,3=0,001; СРК-Д — p1,3=0,001; p2,3=0,006. Основная группа vs до лечения: p=0,005 (СРК-З), p=0,008 (СРК-Д); группа сравнения: p=0,037 и p=0,041.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Коэффициент ранговой корреляции Спирмена (r). Сила связи: слабая 0,01–0,29; умеренная 0,30–0,69; сильная 0,70–1,00 (для положительных и отрицательных значений). Корреляции рассчитаны на этапе первичного осмотра.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Парные таблицы сопряжённости, критерий χ² Пирсона, V-коэффициент Крамера (r=0–1); уровень значимости p&lt;0,05. Отсутствие столбца — показатель для данной группы в диссертации не приводится. Базисное СКЛ: p=0,01–0,03; + амплипульстерапия — p=0,005–0,02 (в т.ч. моторика: отсутствие запора p=0,005, диареи p=0,007); + амплипульстерапия + КВЧ-терапия — p=0,001–0,03 (отсутствие стресса p=0,003 и p=0,002; КЖ p=0,001 и p=0,01).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раздел «Корреляционный анализ и анализ таблиц сопряженности». r — V Крамера (сила связи), χ² — критерий Пирсона. p (СРК-З / СРК-Д): абдоминалгия 0,04 / 0,03; адаптационная реакция 0,01 / 0,01; эйтония 0,01 / 0,05; ситуативная тревожность 0,048 / 0,045; личностная тревожность 0,03 / 0,03; стресс 0,01 / 0,01; работоспособность 0,02 / 0,03. Ключевой предиктор — гармонизация вегетативного тонуса (эйтония).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Рисунок 11 диссертации: схема воспроизведена по подписям и расположению фигур; проверьте соответствие оригиналу.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94560"/>
            <a:ext cx="10725912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marL="0" indent="0" algn="ctr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2011680"/>
            <a:ext cx="10515600" cy="3840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chart" Target="../charts/chart3.xml"/><Relationship Id="rId6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Relationship Id="rId5" Type="http://schemas.openxmlformats.org/officeDocument/2006/relationships/chart" Target="../charts/chart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chart" Target="../charts/chart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10.xml"/><Relationship Id="rId4" Type="http://schemas.openxmlformats.org/officeDocument/2006/relationships/chart" Target="../charts/chart11.xml"/><Relationship Id="rId5" Type="http://schemas.openxmlformats.org/officeDocument/2006/relationships/chart" Target="../charts/chart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chart" Target="../charts/chart13.xml"/><Relationship Id="rId4" Type="http://schemas.openxmlformats.org/officeDocument/2006/relationships/chart" Target="../charts/chart14.xml"/><Relationship Id="rId5" Type="http://schemas.openxmlformats.org/officeDocument/2006/relationships/chart" Target="../charts/chart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chart" Target="../charts/chart16.xml"/><Relationship Id="rId4" Type="http://schemas.openxmlformats.org/officeDocument/2006/relationships/chart" Target="../charts/chart17.xml"/><Relationship Id="rId5" Type="http://schemas.openxmlformats.org/officeDocument/2006/relationships/chart" Target="../charts/chart1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chart" Target="../charts/chart19.xml"/><Relationship Id="rId4" Type="http://schemas.openxmlformats.org/officeDocument/2006/relationships/chart" Target="../charts/chart20.xml"/><Relationship Id="rId5" Type="http://schemas.openxmlformats.org/officeDocument/2006/relationships/chart" Target="../charts/chart2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chart" Target="../charts/chart22.xml"/><Relationship Id="rId4" Type="http://schemas.openxmlformats.org/officeDocument/2006/relationships/chart" Target="../charts/chart2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chart" Target="../charts/chart24.xml"/><Relationship Id="rId4" Type="http://schemas.openxmlformats.org/officeDocument/2006/relationships/chart" Target="../charts/chart25.xml"/><Relationship Id="rId5" Type="http://schemas.openxmlformats.org/officeDocument/2006/relationships/chart" Target="../charts/chart2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chart" Target="../charts/chart27.xml"/><Relationship Id="rId4" Type="http://schemas.openxmlformats.org/officeDocument/2006/relationships/chart" Target="../charts/chart28.xml"/><Relationship Id="rId5" Type="http://schemas.openxmlformats.org/officeDocument/2006/relationships/chart" Target="../charts/chart2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chart" Target="../charts/chart30.xml"/><Relationship Id="rId4" Type="http://schemas.openxmlformats.org/officeDocument/2006/relationships/chart" Target="../charts/chart31.xml"/><Relationship Id="rId5" Type="http://schemas.openxmlformats.org/officeDocument/2006/relationships/chart" Target="../charts/chart3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chart" Target="../charts/chart33.xml"/><Relationship Id="rId4" Type="http://schemas.openxmlformats.org/officeDocument/2006/relationships/chart" Target="../charts/chart3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chart" Target="../charts/chart35.xml"/><Relationship Id="rId4" Type="http://schemas.openxmlformats.org/officeDocument/2006/relationships/chart" Target="../charts/chart36.xml"/><Relationship Id="rId5" Type="http://schemas.openxmlformats.org/officeDocument/2006/relationships/chart" Target="../charts/chart37.xml"/><Relationship Id="rId6" Type="http://schemas.openxmlformats.org/officeDocument/2006/relationships/chart" Target="../charts/chart3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chart" Target="../charts/chart39.xml"/><Relationship Id="rId4" Type="http://schemas.openxmlformats.org/officeDocument/2006/relationships/chart" Target="../charts/chart4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Relationship Id="rId3" Type="http://schemas.openxmlformats.org/officeDocument/2006/relationships/chart" Target="../charts/chart41.xml"/><Relationship Id="rId4" Type="http://schemas.openxmlformats.org/officeDocument/2006/relationships/chart" Target="../charts/chart4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chart" Target="../charts/chart4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Relationship Id="rId3" Type="http://schemas.openxmlformats.org/officeDocument/2006/relationships/chart" Target="../charts/chart4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Relationship Id="rId3" Type="http://schemas.openxmlformats.org/officeDocument/2006/relationships/chart" Target="../charts/chart45.xml"/><Relationship Id="rId4" Type="http://schemas.openxmlformats.org/officeDocument/2006/relationships/chart" Target="../charts/chart4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Relationship Id="rId3" Type="http://schemas.openxmlformats.org/officeDocument/2006/relationships/chart" Target="../charts/chart47.xml"/><Relationship Id="rId4" Type="http://schemas.openxmlformats.org/officeDocument/2006/relationships/chart" Target="../charts/chart4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Шапка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4" name="Наименование организации"/>
          <p:cNvSpPr txBox="1"/>
          <p:nvPr/>
        </p:nvSpPr>
        <p:spPr>
          <a:xfrm>
            <a:off x="213755" y="182880"/>
            <a:ext cx="1172688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800" b="1" dirty="0">
                <a:solidFill>
                  <a:schemeClr val="tx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Федеральный научно-клинический центр медицинской реабилитации и курортологии Федерального медико-биологического агентства» </a:t>
            </a:r>
            <a:endParaRPr lang="en-US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Вид работы"/>
          <p:cNvSpPr txBox="1"/>
          <p:nvPr/>
        </p:nvSpPr>
        <p:spPr>
          <a:xfrm>
            <a:off x="731520" y="17830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tx1"/>
                </a:solidFill>
              </a:rPr>
              <a:t>Диссертация на соискание ученой степени кандидата медицинских наук</a:t>
            </a:r>
            <a:endParaRPr lang="en-US" sz="18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94560"/>
            <a:ext cx="107259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</a:rPr>
              <a:t>КВЧ-терапия и амплипульстерапия в комплексном санаторно-курортном лечении пациентов с синдромом раздраженного кишечника</a:t>
            </a:r>
            <a:endParaRPr lang="en-US" sz="2800" dirty="0"/>
          </a:p>
        </p:txBody>
      </p:sp>
      <p:sp>
        <p:nvSpPr>
          <p:cNvPr id="7" name="Специальность"/>
          <p:cNvSpPr txBox="1"/>
          <p:nvPr/>
        </p:nvSpPr>
        <p:spPr>
          <a:xfrm>
            <a:off x="1097280" y="4069080"/>
            <a:ext cx="9994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по специальности: </a:t>
            </a:r>
            <a:r>
              <a:rPr lang="en-US" sz="1600" dirty="0">
                <a:solidFill>
                  <a:schemeClr val="tx1"/>
                </a:solidFill>
              </a:rPr>
              <a:t>3.1.33. Восстановительная медицина, спортивная медицина, лечебная физкультура, курортология и физиотерапия, медико-социальная реабилитация</a:t>
            </a:r>
            <a:endParaRPr lang="en-US" sz="1600" dirty="0"/>
          </a:p>
        </p:txBody>
      </p:sp>
      <p:sp>
        <p:nvSpPr>
          <p:cNvPr id="8" name="Соискатель и руководители"/>
          <p:cNvSpPr txBox="1"/>
          <p:nvPr/>
        </p:nvSpPr>
        <p:spPr>
          <a:xfrm>
            <a:off x="731520" y="512064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i="1" dirty="0">
                <a:solidFill>
                  <a:schemeClr val="tx1"/>
                </a:solidFill>
              </a:rPr>
              <a:t>Соискатель: </a:t>
            </a:r>
            <a:r>
              <a:rPr lang="en-US" sz="1800" i="1" dirty="0">
                <a:solidFill>
                  <a:schemeClr val="tx1"/>
                </a:solidFill>
              </a:rPr>
              <a:t>Привалова Наталья Ивановна</a:t>
            </a:r>
            <a:endParaRPr lang="en-US" sz="1800" dirty="0"/>
          </a:p>
          <a:p>
            <a:pPr marL="0" indent="0">
              <a:buNone/>
            </a:pPr>
            <a:r>
              <a:rPr lang="en-US" sz="1800" b="1" i="1" dirty="0">
                <a:solidFill>
                  <a:schemeClr val="tx1"/>
                </a:solidFill>
              </a:rPr>
              <a:t>Научные руководители: </a:t>
            </a:r>
            <a:r>
              <a:rPr lang="en-US" sz="1800" i="1" dirty="0">
                <a:solidFill>
                  <a:schemeClr val="tx1"/>
                </a:solidFill>
              </a:rPr>
              <a:t>д.м.н., профессор Смирнова Ирина Николаевна;</a:t>
            </a:r>
            <a:endParaRPr lang="en-US" sz="1800" dirty="0"/>
          </a:p>
          <a:p>
            <a:pPr marL="0" indent="0">
              <a:buNone/>
            </a:pPr>
            <a:r>
              <a:rPr lang="en-US" sz="1800" i="1" dirty="0">
                <a:solidFill>
                  <a:schemeClr val="tx1"/>
                </a:solidFill>
              </a:rPr>
              <a:t>д.м.н., профессор Поддубная Ольга Александровна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-7125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Актуальность</a:t>
            </a:r>
            <a:endParaRPr lang="en-US" sz="2600" dirty="0"/>
          </a:p>
        </p:txBody>
      </p:sp>
      <p:sp>
        <p:nvSpPr>
          <p:cNvPr id="3" name="Тезис"/>
          <p:cNvSpPr txBox="1"/>
          <p:nvPr/>
        </p:nvSpPr>
        <p:spPr>
          <a:xfrm>
            <a:off x="475488" y="675409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Синдром раздраженного кишечника (СРК) — одно из наиболее часто встречающихся заболеваний в гастроэнтерологической практике</a:t>
            </a:r>
            <a:endParaRPr lang="en-US" sz="1800" dirty="0"/>
          </a:p>
        </p:txBody>
      </p:sp>
      <p:sp>
        <p:nvSpPr>
          <p:cNvPr id="4" name="Показатель 1"/>
          <p:cNvSpPr txBox="1"/>
          <p:nvPr/>
        </p:nvSpPr>
        <p:spPr>
          <a:xfrm>
            <a:off x="457200" y="1335083"/>
            <a:ext cx="553212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chemeClr val="tx2"/>
                </a:solidFill>
              </a:rPr>
              <a:t>10–13 %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встречаемость СРК среди населения РФ</a:t>
            </a:r>
            <a:endParaRPr lang="en-US" sz="1600" dirty="0"/>
          </a:p>
        </p:txBody>
      </p:sp>
      <p:sp>
        <p:nvSpPr>
          <p:cNvPr id="5" name="Показатель 2"/>
          <p:cNvSpPr txBox="1"/>
          <p:nvPr/>
        </p:nvSpPr>
        <p:spPr>
          <a:xfrm>
            <a:off x="6217920" y="1335083"/>
            <a:ext cx="553212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tx2"/>
                </a:solidFill>
              </a:rPr>
              <a:t>18–44 года (до 35 %)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подъём заболеваемости СРК приходится на молодой возраст</a:t>
            </a:r>
            <a:endParaRPr lang="en-US" sz="1600" dirty="0"/>
          </a:p>
        </p:txBody>
      </p:sp>
      <p:sp>
        <p:nvSpPr>
          <p:cNvPr id="6" name="Факт 1"/>
          <p:cNvSpPr txBox="1"/>
          <p:nvPr/>
        </p:nvSpPr>
        <p:spPr>
          <a:xfrm>
            <a:off x="457200" y="2651760"/>
            <a:ext cx="3703320" cy="96012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Чаще страдают лица трудоспособного возраста</a:t>
            </a:r>
            <a:endParaRPr lang="en-US" sz="1600" dirty="0"/>
          </a:p>
        </p:txBody>
      </p:sp>
      <p:sp>
        <p:nvSpPr>
          <p:cNvPr id="7" name="Факт 2"/>
          <p:cNvSpPr txBox="1"/>
          <p:nvPr/>
        </p:nvSpPr>
        <p:spPr>
          <a:xfrm>
            <a:off x="4293821" y="2651760"/>
            <a:ext cx="3703320" cy="96012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Функциональные нарушения приобретают устойчивое рецидивирующее течение</a:t>
            </a:r>
            <a:endParaRPr lang="en-US" sz="1600" dirty="0"/>
          </a:p>
        </p:txBody>
      </p:sp>
      <p:sp>
        <p:nvSpPr>
          <p:cNvPr id="8" name="Факт 3"/>
          <p:cNvSpPr txBox="1"/>
          <p:nvPr/>
        </p:nvSpPr>
        <p:spPr>
          <a:xfrm>
            <a:off x="8130442" y="2651760"/>
            <a:ext cx="3703320" cy="96012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Признаки вегетативной дисфункции и психоэмоционального напряжения способствуют прогрессированию СРК</a:t>
            </a:r>
            <a:endParaRPr lang="en-US" sz="1600" dirty="0"/>
          </a:p>
        </p:txBody>
      </p:sp>
      <p:sp>
        <p:nvSpPr>
          <p:cNvPr id="9" name="Вывод по актуальности"/>
          <p:cNvSpPr txBox="1"/>
          <p:nvPr/>
        </p:nvSpPr>
        <p:spPr>
          <a:xfrm>
            <a:off x="508205" y="3703320"/>
            <a:ext cx="11274552" cy="914400"/>
          </a:xfrm>
          <a:prstGeom prst="roundRect">
            <a:avLst>
              <a:gd name="adj" fmla="val 7273"/>
            </a:avLst>
          </a:prstGeom>
          <a:solidFill>
            <a:srgbClr val="E3EBF4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2"/>
                </a:solidFill>
              </a:rPr>
              <a:t>Эффективность современной медикаментозной терапии СРК, даже с учетом регламентированных клинических рекомендаций, нельзя признать удовлетворительной, что обосновывает необходимость разработки новых подходов к лечению данной категории пациентов</a:t>
            </a:r>
            <a:endParaRPr lang="en-US" sz="1600" dirty="0"/>
          </a:p>
        </p:txBody>
      </p:sp>
      <p:sp>
        <p:nvSpPr>
          <p:cNvPr id="10" name="Пустой блок 1"/>
          <p:cNvSpPr txBox="1"/>
          <p:nvPr/>
        </p:nvSpPr>
        <p:spPr>
          <a:xfrm>
            <a:off x="457200" y="4754880"/>
            <a:ext cx="5532120" cy="1920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l">
              <a:buNone/>
            </a:pPr>
            <a:endParaRPr lang="ru-RU" sz="1600" dirty="0"/>
          </a:p>
          <a:p>
            <a:pPr marL="0" indent="0" algn="l">
              <a:buNone/>
            </a:pPr>
            <a:r>
              <a:rPr lang="ru-RU" sz="1600" dirty="0"/>
              <a:t>Преформированные физические факторы демонстрируют достаточную эффективность в коррекции локальных нарушений моторно-эвакуаторной функции толстой кишки и купировании абдоминального болевого синдрома, но их терапевтический потенциал ограничен отсутствием выраженного влияния на психовегетативный статус пациента.</a:t>
            </a:r>
            <a:br>
              <a:rPr lang="ru-RU" sz="1600" dirty="0"/>
            </a:br>
            <a:endParaRPr lang="en-US" sz="1600" dirty="0"/>
          </a:p>
        </p:txBody>
      </p:sp>
      <p:sp>
        <p:nvSpPr>
          <p:cNvPr id="11" name="Пустой блок 2"/>
          <p:cNvSpPr txBox="1"/>
          <p:nvPr/>
        </p:nvSpPr>
        <p:spPr>
          <a:xfrm>
            <a:off x="6178198" y="4754880"/>
            <a:ext cx="5604559" cy="1920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algn="l"/>
            <a:br>
              <a:rPr lang="ru-RU" sz="1600" dirty="0"/>
            </a:br>
            <a:r>
              <a:rPr lang="ru-RU" sz="1600" b="1" dirty="0">
                <a:solidFill>
                  <a:schemeClr val="accent1">
                    <a:lumMod val="75000"/>
                  </a:schemeClr>
                </a:solidFill>
              </a:rPr>
              <a:t>Уникальный механизм действия КВЧ-терапии, реализуемый через активацию нейрогуморальных и регуляторных систем организма, позволяет рассматривать КВЧ-терапию как перспективный метод воздействия на вегетативный гомеостаз.</a:t>
            </a:r>
            <a:br>
              <a:rPr lang="ru-RU" sz="1600" b="1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Цель исследования</a:t>
            </a:r>
            <a:endParaRPr lang="en-US" sz="2600" dirty="0"/>
          </a:p>
        </p:txBody>
      </p:sp>
      <p:sp>
        <p:nvSpPr>
          <p:cNvPr id="3" name="Цель"/>
          <p:cNvSpPr txBox="1"/>
          <p:nvPr/>
        </p:nvSpPr>
        <p:spPr>
          <a:xfrm>
            <a:off x="1027215" y="2213560"/>
            <a:ext cx="10360152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chemeClr val="tx2"/>
                </a:solidFill>
              </a:rPr>
              <a:t>Научное обоснование и оценка эффективности комбинированного применения КВЧ-терапии и амплипульстерапии в комплексном санаторно-курортном лечении пациентов молодого возраста c синдромом раздраженного кишечника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Задачи исследования</a:t>
            </a:r>
            <a:endParaRPr lang="en-US" sz="2600" dirty="0"/>
          </a:p>
        </p:txBody>
      </p:sp>
      <p:sp>
        <p:nvSpPr>
          <p:cNvPr id="3" name="Номер задачи 1"/>
          <p:cNvSpPr/>
          <p:nvPr/>
        </p:nvSpPr>
        <p:spPr>
          <a:xfrm>
            <a:off x="457200" y="1371600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4" name="Задача 1"/>
          <p:cNvSpPr txBox="1"/>
          <p:nvPr/>
        </p:nvSpPr>
        <p:spPr>
          <a:xfrm>
            <a:off x="1188720" y="1188720"/>
            <a:ext cx="10543032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Изучить клинические, лабораторные, психовегетативные и адаптационные показатели, состояние микробиоценоза кишечника и качество жизни у пациентов молодого возраста с синдромом раздражённого кишечника.</a:t>
            </a:r>
            <a:endParaRPr lang="en-US" sz="1600" dirty="0"/>
          </a:p>
        </p:txBody>
      </p:sp>
      <p:sp>
        <p:nvSpPr>
          <p:cNvPr id="5" name="Номер задачи 2"/>
          <p:cNvSpPr/>
          <p:nvPr/>
        </p:nvSpPr>
        <p:spPr>
          <a:xfrm>
            <a:off x="457200" y="2574036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6" name="Задача 2"/>
          <p:cNvSpPr txBox="1"/>
          <p:nvPr/>
        </p:nvSpPr>
        <p:spPr>
          <a:xfrm>
            <a:off x="1188720" y="2231136"/>
            <a:ext cx="10543032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Изучить влияние комплексного санаторно-курортного лечения с комбинированным применением КВЧ-терапии и амплипульстерапии на показатели клинического, психовегетативного, адаптационного статуса, микробиоценоз кишечника и качество жизни у пациентов молодого возраста с синдромом раздраженного кишечника.</a:t>
            </a:r>
            <a:endParaRPr lang="en-US" sz="1600" dirty="0"/>
          </a:p>
        </p:txBody>
      </p:sp>
      <p:sp>
        <p:nvSpPr>
          <p:cNvPr id="7" name="Номер задачи 3"/>
          <p:cNvSpPr/>
          <p:nvPr/>
        </p:nvSpPr>
        <p:spPr>
          <a:xfrm>
            <a:off x="457200" y="3982212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8" name="Задача 3"/>
          <p:cNvSpPr txBox="1"/>
          <p:nvPr/>
        </p:nvSpPr>
        <p:spPr>
          <a:xfrm>
            <a:off x="1188720" y="3593592"/>
            <a:ext cx="10543032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Оценить непосредственные и отдалённые результаты комплексного санаторно-курортного лечения с комбинированным применением КВЧ-терапии и амплипульстерапии в сравнении со стандартным комплексом у пациентов с синдромом раздражённого кишечника, в том числе с учётом клинических вариантов заболевания.</a:t>
            </a:r>
            <a:endParaRPr lang="en-US" sz="1600" dirty="0"/>
          </a:p>
        </p:txBody>
      </p:sp>
      <p:sp>
        <p:nvSpPr>
          <p:cNvPr id="9" name="Номер задачи 4"/>
          <p:cNvSpPr/>
          <p:nvPr/>
        </p:nvSpPr>
        <p:spPr>
          <a:xfrm>
            <a:off x="457200" y="5321808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0" name="Задача 4"/>
          <p:cNvSpPr txBox="1"/>
          <p:nvPr/>
        </p:nvSpPr>
        <p:spPr>
          <a:xfrm>
            <a:off x="1188720" y="5047488"/>
            <a:ext cx="10543032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Установить взаимосвязи эффективности комплексного санаторно-курортного лечения с включением КВЧ-терапии и амплипульстерапии с основными клинико-лабораторными и психовегетативными показателями, характеризующими течение заболевания.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Критерии включения, невключения и исключения</a:t>
            </a:r>
            <a:endParaRPr lang="en-US" sz="2600" dirty="0"/>
          </a:p>
        </p:txBody>
      </p:sp>
      <p:sp>
        <p:nvSpPr>
          <p:cNvPr id="3" name="Критерии включения"/>
          <p:cNvSpPr txBox="1"/>
          <p:nvPr/>
        </p:nvSpPr>
        <p:spPr>
          <a:xfrm>
            <a:off x="457200" y="1143000"/>
            <a:ext cx="3657600" cy="502920"/>
          </a:xfrm>
          <a:prstGeom prst="roundRect">
            <a:avLst>
              <a:gd name="adj" fmla="val 13333"/>
            </a:avLst>
          </a:prstGeom>
          <a:solidFill>
            <a:srgbClr val="5A9AA0"/>
          </a:solidFill>
          <a:ln w="9525">
            <a:solidFill>
              <a:srgbClr val="5A9AA0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Критерии включения</a:t>
            </a:r>
            <a:endParaRPr lang="en-US" sz="1800" dirty="0"/>
          </a:p>
        </p:txBody>
      </p:sp>
      <p:sp>
        <p:nvSpPr>
          <p:cNvPr id="4" name="Критерии включения — перечень"/>
          <p:cNvSpPr txBox="1"/>
          <p:nvPr/>
        </p:nvSpPr>
        <p:spPr>
          <a:xfrm>
            <a:off x="457200" y="1691640"/>
            <a:ext cx="3657600" cy="466344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101600" tIns="127000" rIns="127000" bIns="7620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информированное добровольное согласие на медицинское вмешательство и обработку персональных данных</a:t>
            </a:r>
            <a:endParaRPr lang="en-US" sz="16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верифицированный диагноз СРК: «СРК с преобладанием диареи» или «СРК с преобладанием запора»</a:t>
            </a:r>
            <a:endParaRPr lang="en-US" sz="16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рецидивирующая боль в животе не реже 1 раза в неделю, связанная с дефекацией, изменением частоты и формы стула; симптомы последние 3 месяца при общей продолжительности не менее 6 месяцев</a:t>
            </a:r>
            <a:endParaRPr lang="en-US" sz="16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отсутствие «симптомов тревоги»: потеря массы тела, ночная симптоматика, лихорадка, гепатомегалия, спленомегалия, снижение уровня гемоглобина, лейкоцитоз, повышение СОЭ, скрытая кровь в кале и др.</a:t>
            </a:r>
            <a:endParaRPr lang="en-US" sz="1600" dirty="0"/>
          </a:p>
        </p:txBody>
      </p:sp>
      <p:sp>
        <p:nvSpPr>
          <p:cNvPr id="5" name="Критерии невключения"/>
          <p:cNvSpPr txBox="1"/>
          <p:nvPr/>
        </p:nvSpPr>
        <p:spPr>
          <a:xfrm>
            <a:off x="4265676" y="1143000"/>
            <a:ext cx="3657600" cy="502920"/>
          </a:xfrm>
          <a:prstGeom prst="roundRect">
            <a:avLst>
              <a:gd name="adj" fmla="val 13333"/>
            </a:avLst>
          </a:prstGeom>
          <a:solidFill>
            <a:srgbClr val="E0C28C"/>
          </a:solidFill>
          <a:ln w="9525">
            <a:solidFill>
              <a:srgbClr val="E0C28C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Критерии невключения</a:t>
            </a:r>
            <a:endParaRPr lang="en-US" sz="1800" dirty="0"/>
          </a:p>
        </p:txBody>
      </p:sp>
      <p:sp>
        <p:nvSpPr>
          <p:cNvPr id="6" name="Критерии невключения — перечень"/>
          <p:cNvSpPr txBox="1"/>
          <p:nvPr/>
        </p:nvSpPr>
        <p:spPr>
          <a:xfrm>
            <a:off x="4265676" y="1691640"/>
            <a:ext cx="3657600" cy="466344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101600" tIns="127000" rIns="127000" bIns="7620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заболевания ЖКТ, повторяющие симптоматику СРК (НЯК, болезнь Крона, целиакия, колиты, рак толстой кишки, панкреатит, лямблиоз, дивертикулит и др.)</a:t>
            </a:r>
            <a:endParaRPr lang="en-US" sz="16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гинекологические заболевания (эндометриоз, воспалительные заболевания, опухоли яичника)</a:t>
            </a:r>
            <a:endParaRPr lang="en-US" sz="16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острые и хронические заболевания в стадии обострения и/или декомпенсации</a:t>
            </a:r>
            <a:endParaRPr lang="en-US" sz="16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терапия, потенциально влияющая на функцию ВНС, ЖКТ, микробиоту кишечника</a:t>
            </a:r>
            <a:endParaRPr lang="en-US" sz="16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психические заболевания и депрессивные расстройства</a:t>
            </a:r>
            <a:endParaRPr lang="en-US" sz="16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общие противопоказания к назначению физиотерапии</a:t>
            </a:r>
            <a:endParaRPr lang="en-US" sz="1600" dirty="0"/>
          </a:p>
        </p:txBody>
      </p:sp>
      <p:sp>
        <p:nvSpPr>
          <p:cNvPr id="7" name="Критерии исключения"/>
          <p:cNvSpPr txBox="1"/>
          <p:nvPr/>
        </p:nvSpPr>
        <p:spPr>
          <a:xfrm>
            <a:off x="8074152" y="1143000"/>
            <a:ext cx="3657600" cy="502920"/>
          </a:xfrm>
          <a:prstGeom prst="roundRect">
            <a:avLst>
              <a:gd name="adj" fmla="val 13333"/>
            </a:avLst>
          </a:prstGeom>
          <a:solidFill>
            <a:srgbClr val="B9C4D2"/>
          </a:solidFill>
          <a:ln w="9525">
            <a:solidFill>
              <a:srgbClr val="B9C4D2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Критерии исключения</a:t>
            </a:r>
            <a:endParaRPr lang="en-US" sz="1800" dirty="0"/>
          </a:p>
        </p:txBody>
      </p:sp>
      <p:sp>
        <p:nvSpPr>
          <p:cNvPr id="8" name="Критерии исключения — перечень"/>
          <p:cNvSpPr txBox="1"/>
          <p:nvPr/>
        </p:nvSpPr>
        <p:spPr>
          <a:xfrm>
            <a:off x="8074152" y="1691640"/>
            <a:ext cx="3657600" cy="466344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101600" tIns="127000" rIns="127000" bIns="7620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отказ пациента от обследования или лечения</a:t>
            </a:r>
            <a:endParaRPr lang="en-US" sz="16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оперативные вмешательства за период исследования</a:t>
            </a:r>
            <a:endParaRPr lang="en-US" sz="16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острые состояния или обострение хронической патологии в ходе исследования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Дизайн исследования</a:t>
            </a:r>
            <a:endParaRPr lang="en-US" sz="2600" dirty="0"/>
          </a:p>
        </p:txBody>
      </p:sp>
      <p:sp>
        <p:nvSpPr>
          <p:cNvPr id="4" name="База 1"/>
          <p:cNvSpPr txBox="1"/>
          <p:nvPr/>
        </p:nvSpPr>
        <p:spPr>
          <a:xfrm>
            <a:off x="457200" y="1097280"/>
            <a:ext cx="553212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Исследование проводилось на базах: </a:t>
            </a:r>
            <a:r>
              <a:rPr lang="en-US" sz="1600" dirty="0">
                <a:solidFill>
                  <a:schemeClr val="tx1"/>
                </a:solidFill>
              </a:rPr>
              <a:t>Санаторий-профилакторий Научно-исследовательского Томского политехнического университета (НИ ТПУ)</a:t>
            </a:r>
            <a:endParaRPr lang="en-US" sz="1600" dirty="0"/>
          </a:p>
        </p:txBody>
      </p:sp>
      <p:sp>
        <p:nvSpPr>
          <p:cNvPr id="5" name="База 2"/>
          <p:cNvSpPr txBox="1"/>
          <p:nvPr/>
        </p:nvSpPr>
        <p:spPr>
          <a:xfrm>
            <a:off x="6199632" y="1097280"/>
            <a:ext cx="553212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Томский научно-исследовательский институт курортологии и физиотерапии </a:t>
            </a:r>
            <a:r>
              <a:rPr lang="en-US" sz="1600" dirty="0">
                <a:solidFill>
                  <a:schemeClr val="tx1"/>
                </a:solidFill>
              </a:rPr>
              <a:t>(Томский НИИКиФ ФФГБУ ФНКЦ МРИК ФМБА России)</a:t>
            </a:r>
            <a:endParaRPr lang="en-US" sz="1600" dirty="0"/>
          </a:p>
        </p:txBody>
      </p:sp>
      <p:sp>
        <p:nvSpPr>
          <p:cNvPr id="6" name="Стрелка"/>
          <p:cNvSpPr/>
          <p:nvPr/>
        </p:nvSpPr>
        <p:spPr>
          <a:xfrm>
            <a:off x="6094476" y="1965960"/>
            <a:ext cx="0" cy="109728"/>
          </a:xfrm>
          <a:prstGeom prst="line">
            <a:avLst/>
          </a:prstGeom>
          <a:noFill/>
          <a:ln w="22225">
            <a:solidFill>
              <a:srgbClr val="7F93A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7" name="Рандомизация"/>
          <p:cNvSpPr txBox="1"/>
          <p:nvPr/>
        </p:nvSpPr>
        <p:spPr>
          <a:xfrm>
            <a:off x="457200" y="2075688"/>
            <a:ext cx="11274552" cy="41148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Включение в исследование и рандомизация пациентов с СРК (n=135)</a:t>
            </a:r>
            <a:endParaRPr lang="en-US" sz="1600" dirty="0"/>
          </a:p>
        </p:txBody>
      </p:sp>
      <p:sp>
        <p:nvSpPr>
          <p:cNvPr id="8" name="Стрелка"/>
          <p:cNvSpPr/>
          <p:nvPr/>
        </p:nvSpPr>
        <p:spPr>
          <a:xfrm>
            <a:off x="2263140" y="2487168"/>
            <a:ext cx="0" cy="137160"/>
          </a:xfrm>
          <a:prstGeom prst="line">
            <a:avLst/>
          </a:prstGeom>
          <a:noFill/>
          <a:ln w="22225">
            <a:solidFill>
              <a:srgbClr val="7F93A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Группа контроля (n=43)"/>
          <p:cNvSpPr txBox="1"/>
          <p:nvPr/>
        </p:nvSpPr>
        <p:spPr>
          <a:xfrm>
            <a:off x="457200" y="2624328"/>
            <a:ext cx="3611880" cy="347472"/>
          </a:xfrm>
          <a:prstGeom prst="roundRect">
            <a:avLst>
              <a:gd name="adj" fmla="val 20000"/>
            </a:avLst>
          </a:prstGeom>
          <a:solidFill>
            <a:srgbClr val="B9C4D2"/>
          </a:solidFill>
          <a:ln w="9525">
            <a:solidFill>
              <a:srgbClr val="B9C4D2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Группа контроля (n=43)</a:t>
            </a:r>
            <a:endParaRPr lang="en-US" sz="1600" dirty="0"/>
          </a:p>
        </p:txBody>
      </p:sp>
      <p:sp>
        <p:nvSpPr>
          <p:cNvPr id="10" name="Подгруппа 1а (n=23)"/>
          <p:cNvSpPr txBox="1"/>
          <p:nvPr/>
        </p:nvSpPr>
        <p:spPr>
          <a:xfrm>
            <a:off x="457200" y="2971800"/>
            <a:ext cx="1787652" cy="566928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СРК-З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1а (n=23)</a:t>
            </a:r>
            <a:endParaRPr lang="en-US" sz="1600" dirty="0"/>
          </a:p>
        </p:txBody>
      </p:sp>
      <p:sp>
        <p:nvSpPr>
          <p:cNvPr id="11" name="Подгруппа 1б (n=20)"/>
          <p:cNvSpPr txBox="1"/>
          <p:nvPr/>
        </p:nvSpPr>
        <p:spPr>
          <a:xfrm>
            <a:off x="2263140" y="2971800"/>
            <a:ext cx="1787652" cy="566928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СРК-Д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1б (n=20)</a:t>
            </a:r>
            <a:endParaRPr lang="en-US" sz="1600" dirty="0"/>
          </a:p>
        </p:txBody>
      </p:sp>
      <p:sp>
        <p:nvSpPr>
          <p:cNvPr id="12" name="Стрелка"/>
          <p:cNvSpPr/>
          <p:nvPr/>
        </p:nvSpPr>
        <p:spPr>
          <a:xfrm>
            <a:off x="2263140" y="3538728"/>
            <a:ext cx="0" cy="182880"/>
          </a:xfrm>
          <a:prstGeom prst="line">
            <a:avLst/>
          </a:prstGeom>
          <a:noFill/>
          <a:ln w="22225">
            <a:solidFill>
              <a:srgbClr val="7F93A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Стрелка"/>
          <p:cNvSpPr/>
          <p:nvPr/>
        </p:nvSpPr>
        <p:spPr>
          <a:xfrm>
            <a:off x="6094476" y="2487168"/>
            <a:ext cx="0" cy="137160"/>
          </a:xfrm>
          <a:prstGeom prst="line">
            <a:avLst/>
          </a:prstGeom>
          <a:noFill/>
          <a:ln w="22225">
            <a:solidFill>
              <a:srgbClr val="7F93A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Группа сравнения (n=47)"/>
          <p:cNvSpPr txBox="1"/>
          <p:nvPr/>
        </p:nvSpPr>
        <p:spPr>
          <a:xfrm>
            <a:off x="4288536" y="2624328"/>
            <a:ext cx="3611880" cy="347472"/>
          </a:xfrm>
          <a:prstGeom prst="roundRect">
            <a:avLst>
              <a:gd name="adj" fmla="val 20000"/>
            </a:avLst>
          </a:prstGeom>
          <a:solidFill>
            <a:srgbClr val="E0C28C"/>
          </a:solidFill>
          <a:ln w="9525">
            <a:solidFill>
              <a:srgbClr val="E0C28C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Группа сравнения (n=47)</a:t>
            </a:r>
            <a:endParaRPr lang="en-US" sz="1600" dirty="0"/>
          </a:p>
        </p:txBody>
      </p:sp>
      <p:sp>
        <p:nvSpPr>
          <p:cNvPr id="15" name="Подгруппа 2а (n=25)"/>
          <p:cNvSpPr txBox="1"/>
          <p:nvPr/>
        </p:nvSpPr>
        <p:spPr>
          <a:xfrm>
            <a:off x="4288536" y="2971800"/>
            <a:ext cx="1787652" cy="566928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0C28C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СРК-З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2а (n=25)</a:t>
            </a:r>
            <a:endParaRPr lang="en-US" sz="1600" dirty="0"/>
          </a:p>
        </p:txBody>
      </p:sp>
      <p:sp>
        <p:nvSpPr>
          <p:cNvPr id="16" name="Подгруппа 2б (n=22)"/>
          <p:cNvSpPr txBox="1"/>
          <p:nvPr/>
        </p:nvSpPr>
        <p:spPr>
          <a:xfrm>
            <a:off x="6094476" y="2971800"/>
            <a:ext cx="1787652" cy="566928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0C28C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СРК-Д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2б (n=22)</a:t>
            </a:r>
            <a:endParaRPr lang="en-US" sz="1600" dirty="0"/>
          </a:p>
        </p:txBody>
      </p:sp>
      <p:sp>
        <p:nvSpPr>
          <p:cNvPr id="17" name="Стрелка"/>
          <p:cNvSpPr/>
          <p:nvPr/>
        </p:nvSpPr>
        <p:spPr>
          <a:xfrm>
            <a:off x="6094476" y="3538728"/>
            <a:ext cx="0" cy="182880"/>
          </a:xfrm>
          <a:prstGeom prst="line">
            <a:avLst/>
          </a:prstGeom>
          <a:noFill/>
          <a:ln w="22225">
            <a:solidFill>
              <a:srgbClr val="7F93A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8" name="Стрелка"/>
          <p:cNvSpPr/>
          <p:nvPr/>
        </p:nvSpPr>
        <p:spPr>
          <a:xfrm>
            <a:off x="9925812" y="2487168"/>
            <a:ext cx="0" cy="137160"/>
          </a:xfrm>
          <a:prstGeom prst="line">
            <a:avLst/>
          </a:prstGeom>
          <a:noFill/>
          <a:ln w="22225">
            <a:solidFill>
              <a:srgbClr val="7F93A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9" name="Основная группа (n=45)"/>
          <p:cNvSpPr txBox="1"/>
          <p:nvPr/>
        </p:nvSpPr>
        <p:spPr>
          <a:xfrm>
            <a:off x="8119872" y="2624328"/>
            <a:ext cx="3611880" cy="347472"/>
          </a:xfrm>
          <a:prstGeom prst="roundRect">
            <a:avLst>
              <a:gd name="adj" fmla="val 20000"/>
            </a:avLst>
          </a:prstGeom>
          <a:solidFill>
            <a:srgbClr val="5A9AA0"/>
          </a:solidFill>
          <a:ln w="9525">
            <a:solidFill>
              <a:srgbClr val="5A9AA0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Основная группа (n=45)</a:t>
            </a:r>
            <a:endParaRPr lang="en-US" sz="1600" dirty="0"/>
          </a:p>
        </p:txBody>
      </p:sp>
      <p:sp>
        <p:nvSpPr>
          <p:cNvPr id="20" name="Подгруппа 3а (n=24)"/>
          <p:cNvSpPr txBox="1"/>
          <p:nvPr/>
        </p:nvSpPr>
        <p:spPr>
          <a:xfrm>
            <a:off x="8119872" y="2971800"/>
            <a:ext cx="1787652" cy="566928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5A9AA0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СРК-З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3а (n=24)</a:t>
            </a:r>
            <a:endParaRPr lang="en-US" sz="1600" dirty="0"/>
          </a:p>
        </p:txBody>
      </p:sp>
      <p:sp>
        <p:nvSpPr>
          <p:cNvPr id="21" name="Подгруппа 3б (n=21)"/>
          <p:cNvSpPr txBox="1"/>
          <p:nvPr/>
        </p:nvSpPr>
        <p:spPr>
          <a:xfrm>
            <a:off x="9925812" y="2971800"/>
            <a:ext cx="1787652" cy="566928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5A9AA0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СРК-Д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3б (n=21)</a:t>
            </a:r>
            <a:endParaRPr lang="en-US" sz="1600" dirty="0"/>
          </a:p>
        </p:txBody>
      </p:sp>
      <p:sp>
        <p:nvSpPr>
          <p:cNvPr id="22" name="Стрелка"/>
          <p:cNvSpPr/>
          <p:nvPr/>
        </p:nvSpPr>
        <p:spPr>
          <a:xfrm>
            <a:off x="9925812" y="3538728"/>
            <a:ext cx="0" cy="182880"/>
          </a:xfrm>
          <a:prstGeom prst="line">
            <a:avLst/>
          </a:prstGeom>
          <a:noFill/>
          <a:ln w="22225">
            <a:solidFill>
              <a:srgbClr val="7F93A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3" name="Метод 1"/>
          <p:cNvSpPr txBox="1"/>
          <p:nvPr/>
        </p:nvSpPr>
        <p:spPr>
          <a:xfrm>
            <a:off x="457200" y="3721608"/>
            <a:ext cx="3611880" cy="1783080"/>
          </a:xfrm>
          <a:prstGeom prst="roundRect">
            <a:avLst>
              <a:gd name="adj" fmla="val 5333"/>
            </a:avLst>
          </a:prstGeom>
          <a:solidFill>
            <a:srgbClr val="B9C4D2"/>
          </a:solidFill>
          <a:ln w="9525">
            <a:solidFill>
              <a:srgbClr val="B9C4D2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Проводилось только базисное лечение: </a:t>
            </a:r>
            <a:r>
              <a:rPr lang="en-US" sz="1600" dirty="0">
                <a:solidFill>
                  <a:schemeClr val="tx1"/>
                </a:solidFill>
              </a:rPr>
              <a:t>лечебное питание, внутренний прием маломинерализованной минеральной воды, пробиотик «аципол-форте», групповая ЛФК, массаж воротниковой области</a:t>
            </a:r>
            <a:endParaRPr lang="en-US" sz="1600" dirty="0"/>
          </a:p>
        </p:txBody>
      </p:sp>
      <p:sp>
        <p:nvSpPr>
          <p:cNvPr id="24" name="Метод 2"/>
          <p:cNvSpPr txBox="1"/>
          <p:nvPr/>
        </p:nvSpPr>
        <p:spPr>
          <a:xfrm>
            <a:off x="4288536" y="3721608"/>
            <a:ext cx="3611880" cy="1783080"/>
          </a:xfrm>
          <a:prstGeom prst="roundRect">
            <a:avLst>
              <a:gd name="adj" fmla="val 5333"/>
            </a:avLst>
          </a:prstGeom>
          <a:solidFill>
            <a:srgbClr val="E0C28C"/>
          </a:solidFill>
          <a:ln w="9525">
            <a:solidFill>
              <a:srgbClr val="E0C28C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Дополнительно проводилась амплипульстерапия</a:t>
            </a:r>
            <a:endParaRPr lang="en-US" sz="1600" dirty="0"/>
          </a:p>
        </p:txBody>
      </p:sp>
      <p:sp>
        <p:nvSpPr>
          <p:cNvPr id="25" name="Метод 3"/>
          <p:cNvSpPr txBox="1"/>
          <p:nvPr/>
        </p:nvSpPr>
        <p:spPr>
          <a:xfrm>
            <a:off x="8119872" y="3721608"/>
            <a:ext cx="3611880" cy="1783080"/>
          </a:xfrm>
          <a:prstGeom prst="roundRect">
            <a:avLst>
              <a:gd name="adj" fmla="val 5333"/>
            </a:avLst>
          </a:prstGeom>
          <a:solidFill>
            <a:srgbClr val="5A9AA0"/>
          </a:solidFill>
          <a:ln w="9525">
            <a:solidFill>
              <a:srgbClr val="5A9AA0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Дополнительно проводилась амплипульстерапия и КВЧ-терапия</a:t>
            </a:r>
            <a:endParaRPr lang="en-US" sz="1600" dirty="0"/>
          </a:p>
        </p:txBody>
      </p:sp>
      <p:sp>
        <p:nvSpPr>
          <p:cNvPr id="26" name="Этап 1"/>
          <p:cNvSpPr txBox="1"/>
          <p:nvPr/>
        </p:nvSpPr>
        <p:spPr>
          <a:xfrm>
            <a:off x="457200" y="5596128"/>
            <a:ext cx="3611880" cy="82296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Контрольное обследование сразу после завершения </a:t>
            </a:r>
            <a:r>
              <a:rPr lang="en-US" sz="1600" b="1" dirty="0" err="1">
                <a:solidFill>
                  <a:schemeClr val="tx1"/>
                </a:solidFill>
              </a:rPr>
              <a:t>курса</a:t>
            </a:r>
            <a:r>
              <a:rPr lang="en-US" sz="1600" b="1" dirty="0">
                <a:solidFill>
                  <a:schemeClr val="tx1"/>
                </a:solidFill>
              </a:rPr>
              <a:t> </a:t>
            </a:r>
            <a:r>
              <a:rPr lang="en-US" sz="1600" b="1" dirty="0" err="1">
                <a:solidFill>
                  <a:schemeClr val="tx1"/>
                </a:solidFill>
              </a:rPr>
              <a:t>лечения</a:t>
            </a:r>
            <a:r>
              <a:rPr lang="ru-RU" sz="1600" b="1" dirty="0">
                <a:solidFill>
                  <a:schemeClr val="tx1"/>
                </a:solidFill>
              </a:rPr>
              <a:t> (21 день)</a:t>
            </a:r>
            <a:endParaRPr lang="en-US" sz="1600" dirty="0"/>
          </a:p>
        </p:txBody>
      </p:sp>
      <p:sp>
        <p:nvSpPr>
          <p:cNvPr id="27" name="Стрелка"/>
          <p:cNvSpPr/>
          <p:nvPr/>
        </p:nvSpPr>
        <p:spPr>
          <a:xfrm>
            <a:off x="4069080" y="6007608"/>
            <a:ext cx="219456" cy="0"/>
          </a:xfrm>
          <a:prstGeom prst="line">
            <a:avLst/>
          </a:prstGeom>
          <a:noFill/>
          <a:ln w="22225">
            <a:solidFill>
              <a:srgbClr val="7F93A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8" name="Этап 2"/>
          <p:cNvSpPr txBox="1"/>
          <p:nvPr/>
        </p:nvSpPr>
        <p:spPr>
          <a:xfrm>
            <a:off x="4288536" y="5596128"/>
            <a:ext cx="3611880" cy="82296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Контрольное обследование через 6 месяцев после завершения курса лечения</a:t>
            </a:r>
            <a:endParaRPr lang="en-US" sz="1600" dirty="0"/>
          </a:p>
        </p:txBody>
      </p:sp>
      <p:sp>
        <p:nvSpPr>
          <p:cNvPr id="29" name="Стрелка"/>
          <p:cNvSpPr/>
          <p:nvPr/>
        </p:nvSpPr>
        <p:spPr>
          <a:xfrm>
            <a:off x="7900416" y="6007608"/>
            <a:ext cx="219456" cy="0"/>
          </a:xfrm>
          <a:prstGeom prst="line">
            <a:avLst/>
          </a:prstGeom>
          <a:noFill/>
          <a:ln w="22225">
            <a:solidFill>
              <a:srgbClr val="7F93A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0" name="Этап 3"/>
          <p:cNvSpPr txBox="1"/>
          <p:nvPr/>
        </p:nvSpPr>
        <p:spPr>
          <a:xfrm>
            <a:off x="8119872" y="5596128"/>
            <a:ext cx="3611880" cy="82296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Завершение исследования, статистическая обработка результатов и анализ данных</a:t>
            </a:r>
            <a:endParaRPr lang="en-US" sz="16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Методы исследования</a:t>
            </a:r>
            <a:endParaRPr lang="en-US" sz="2600" dirty="0"/>
          </a:p>
        </p:txBody>
      </p:sp>
      <p:sp>
        <p:nvSpPr>
          <p:cNvPr id="3" name="Клинические"/>
          <p:cNvSpPr txBox="1"/>
          <p:nvPr/>
        </p:nvSpPr>
        <p:spPr>
          <a:xfrm>
            <a:off x="457200" y="1143000"/>
            <a:ext cx="3383280" cy="548640"/>
          </a:xfrm>
          <a:prstGeom prst="roundRect">
            <a:avLst>
              <a:gd name="adj" fmla="val 12308"/>
            </a:avLst>
          </a:prstGeom>
          <a:solidFill>
            <a:srgbClr val="8DB5A5"/>
          </a:solidFill>
          <a:ln w="9525">
            <a:solidFill>
              <a:srgbClr val="8DB5A5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Клинические</a:t>
            </a:r>
            <a:endParaRPr lang="en-US" sz="1600" dirty="0"/>
          </a:p>
        </p:txBody>
      </p:sp>
      <p:sp>
        <p:nvSpPr>
          <p:cNvPr id="4" name="Клинические — перечень"/>
          <p:cNvSpPr txBox="1"/>
          <p:nvPr/>
        </p:nvSpPr>
        <p:spPr>
          <a:xfrm>
            <a:off x="457200" y="1737360"/>
            <a:ext cx="3383280" cy="26974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101600" tIns="127000" rIns="127000" bIns="7620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оценка клинических симптомов, жалоб, объективного статуса (пальпация живота); оценка по 5-балльной шкале Ликерта (Likert scale)</a:t>
            </a:r>
            <a:endParaRPr lang="en-US" sz="16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оценка частоты и характера стула по Бристольской шкале</a:t>
            </a:r>
            <a:endParaRPr lang="en-US" sz="1600" dirty="0"/>
          </a:p>
        </p:txBody>
      </p:sp>
      <p:sp>
        <p:nvSpPr>
          <p:cNvPr id="5" name="Лабораторные"/>
          <p:cNvSpPr txBox="1"/>
          <p:nvPr/>
        </p:nvSpPr>
        <p:spPr>
          <a:xfrm>
            <a:off x="3977640" y="1143000"/>
            <a:ext cx="5120640" cy="548640"/>
          </a:xfrm>
          <a:prstGeom prst="roundRect">
            <a:avLst>
              <a:gd name="adj" fmla="val 12308"/>
            </a:avLst>
          </a:prstGeom>
          <a:solidFill>
            <a:srgbClr val="6C94BE"/>
          </a:solidFill>
          <a:ln w="9525">
            <a:solidFill>
              <a:srgbClr val="6C94BE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Лабораторные</a:t>
            </a:r>
            <a:endParaRPr lang="en-US" sz="1600" dirty="0"/>
          </a:p>
        </p:txBody>
      </p:sp>
      <p:sp>
        <p:nvSpPr>
          <p:cNvPr id="6" name="Лабораторные — перечень"/>
          <p:cNvSpPr txBox="1"/>
          <p:nvPr/>
        </p:nvSpPr>
        <p:spPr>
          <a:xfrm>
            <a:off x="3977640" y="1737360"/>
            <a:ext cx="5120640" cy="26974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101600" tIns="127000" rIns="127000" bIns="7620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общеклинический анализ крови с определением неспецифических адаптивных систем организма по методике Л.Х. Гаркави</a:t>
            </a:r>
            <a:endParaRPr lang="en-US" sz="16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бактериологическое исследование количественного и качественного видового состава </a:t>
            </a:r>
            <a:r>
              <a:rPr lang="en-US" sz="1600" dirty="0" err="1">
                <a:solidFill>
                  <a:schemeClr val="tx1"/>
                </a:solidFill>
              </a:rPr>
              <a:t>кишечной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микрофлоры</a:t>
            </a:r>
            <a:r>
              <a:rPr lang="ru-RU" sz="1600" dirty="0">
                <a:solidFill>
                  <a:schemeClr val="tx1"/>
                </a:solidFill>
              </a:rPr>
              <a:t> </a:t>
            </a:r>
            <a:r>
              <a:rPr lang="ru-RU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методом посева десятикратных разведений фекалий (10–1—10–9) на стандартный набор элективных и дифференциально-диагностических питательных сред</a:t>
            </a:r>
            <a:endParaRPr lang="en-US" sz="1600" dirty="0"/>
          </a:p>
        </p:txBody>
      </p:sp>
      <p:sp>
        <p:nvSpPr>
          <p:cNvPr id="7" name="Инструментальные"/>
          <p:cNvSpPr txBox="1"/>
          <p:nvPr/>
        </p:nvSpPr>
        <p:spPr>
          <a:xfrm>
            <a:off x="9235440" y="1143000"/>
            <a:ext cx="2496312" cy="548640"/>
          </a:xfrm>
          <a:prstGeom prst="roundRect">
            <a:avLst>
              <a:gd name="adj" fmla="val 12308"/>
            </a:avLst>
          </a:prstGeom>
          <a:solidFill>
            <a:srgbClr val="B9C4D2"/>
          </a:solidFill>
          <a:ln w="9525">
            <a:solidFill>
              <a:srgbClr val="B9C4D2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Инструментальные</a:t>
            </a:r>
            <a:endParaRPr lang="en-US" sz="1600" dirty="0"/>
          </a:p>
        </p:txBody>
      </p:sp>
      <p:sp>
        <p:nvSpPr>
          <p:cNvPr id="8" name="Инструментальные — перечень"/>
          <p:cNvSpPr txBox="1"/>
          <p:nvPr/>
        </p:nvSpPr>
        <p:spPr>
          <a:xfrm>
            <a:off x="9235440" y="1737360"/>
            <a:ext cx="2496312" cy="26974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101600" tIns="127000" rIns="127000" bIns="7620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ультразвуковое исследование толстого кишечника</a:t>
            </a:r>
            <a:endParaRPr lang="en-US" sz="1600" dirty="0"/>
          </a:p>
        </p:txBody>
      </p:sp>
      <p:sp>
        <p:nvSpPr>
          <p:cNvPr id="9" name="Исследование вегетативной регуляции"/>
          <p:cNvSpPr txBox="1"/>
          <p:nvPr/>
        </p:nvSpPr>
        <p:spPr>
          <a:xfrm>
            <a:off x="457200" y="4526280"/>
            <a:ext cx="3383280" cy="548640"/>
          </a:xfrm>
          <a:prstGeom prst="roundRect">
            <a:avLst>
              <a:gd name="adj" fmla="val 12308"/>
            </a:avLst>
          </a:prstGeom>
          <a:solidFill>
            <a:srgbClr val="E0C28C"/>
          </a:solidFill>
          <a:ln w="9525">
            <a:solidFill>
              <a:srgbClr val="E0C28C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Исследование вегетативной регуляции</a:t>
            </a:r>
            <a:endParaRPr lang="en-US" sz="1600" dirty="0"/>
          </a:p>
        </p:txBody>
      </p:sp>
      <p:sp>
        <p:nvSpPr>
          <p:cNvPr id="10" name="Исследование вегетативной регуляции — перечень"/>
          <p:cNvSpPr txBox="1"/>
          <p:nvPr/>
        </p:nvSpPr>
        <p:spPr>
          <a:xfrm>
            <a:off x="457200" y="5120640"/>
            <a:ext cx="3383280" cy="128016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101600" tIns="127000" rIns="127000" bIns="7620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вегетативный индекс Кердо</a:t>
            </a:r>
            <a:endParaRPr lang="en-US" sz="16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ортоклиностатическая проба</a:t>
            </a:r>
            <a:endParaRPr lang="en-US" sz="16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эпигастральный рефлекс</a:t>
            </a:r>
            <a:endParaRPr lang="en-US" sz="16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кардиоинтервалография</a:t>
            </a:r>
            <a:endParaRPr lang="en-US" sz="1600" dirty="0"/>
          </a:p>
        </p:txBody>
      </p:sp>
      <p:sp>
        <p:nvSpPr>
          <p:cNvPr id="11" name="Исследование психоэмоционального статуса"/>
          <p:cNvSpPr txBox="1"/>
          <p:nvPr/>
        </p:nvSpPr>
        <p:spPr>
          <a:xfrm>
            <a:off x="3977640" y="4526280"/>
            <a:ext cx="5120640" cy="548640"/>
          </a:xfrm>
          <a:prstGeom prst="roundRect">
            <a:avLst>
              <a:gd name="adj" fmla="val 12308"/>
            </a:avLst>
          </a:prstGeom>
          <a:solidFill>
            <a:srgbClr val="C99AA9"/>
          </a:solidFill>
          <a:ln w="9525">
            <a:solidFill>
              <a:srgbClr val="C99AA9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Исследование психоэмоционального статуса</a:t>
            </a:r>
            <a:endParaRPr lang="en-US" sz="1600" dirty="0"/>
          </a:p>
        </p:txBody>
      </p:sp>
      <p:sp>
        <p:nvSpPr>
          <p:cNvPr id="12" name="Исследование психоэмоционального статуса — перечень"/>
          <p:cNvSpPr txBox="1"/>
          <p:nvPr/>
        </p:nvSpPr>
        <p:spPr>
          <a:xfrm>
            <a:off x="3977640" y="5120640"/>
            <a:ext cx="5120640" cy="128016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101600" tIns="127000" rIns="127000" bIns="7620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цветовой тест Макса Люшера (Lüscher-Test)</a:t>
            </a:r>
            <a:endParaRPr lang="en-US" sz="16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опросник Спилбергера–Ханина (State-Trait Anxiety Inventory)</a:t>
            </a:r>
            <a:endParaRPr lang="en-US" sz="1600" dirty="0"/>
          </a:p>
        </p:txBody>
      </p:sp>
      <p:sp>
        <p:nvSpPr>
          <p:cNvPr id="13" name="Исследование качества жизни"/>
          <p:cNvSpPr txBox="1"/>
          <p:nvPr/>
        </p:nvSpPr>
        <p:spPr>
          <a:xfrm>
            <a:off x="9235440" y="4526280"/>
            <a:ext cx="2496312" cy="548640"/>
          </a:xfrm>
          <a:prstGeom prst="roundRect">
            <a:avLst>
              <a:gd name="adj" fmla="val 12308"/>
            </a:avLst>
          </a:prstGeom>
          <a:solidFill>
            <a:srgbClr val="5A9AA0"/>
          </a:solidFill>
          <a:ln w="9525">
            <a:solidFill>
              <a:srgbClr val="5A9AA0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Исследование качества жизни</a:t>
            </a:r>
            <a:endParaRPr lang="en-US" sz="1600" dirty="0"/>
          </a:p>
        </p:txBody>
      </p:sp>
      <p:sp>
        <p:nvSpPr>
          <p:cNvPr id="14" name="Исследование качества жизни — перечень"/>
          <p:cNvSpPr txBox="1"/>
          <p:nvPr/>
        </p:nvSpPr>
        <p:spPr>
          <a:xfrm>
            <a:off x="9235440" y="5120640"/>
            <a:ext cx="2496312" cy="128016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101600" tIns="127000" rIns="127000" bIns="7620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общий опросник MOS SF-36 (36-Item Short-Form Health Survey)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Методы лечения</a:t>
            </a:r>
            <a:endParaRPr lang="en-US" sz="2600" dirty="0"/>
          </a:p>
        </p:txBody>
      </p:sp>
      <p:graphicFrame>
        <p:nvGraphicFramePr>
          <p:cNvPr id="9" name="Методы лечения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6646642"/>
              </p:ext>
            </p:extLst>
          </p:nvPr>
        </p:nvGraphicFramePr>
        <p:xfrm>
          <a:off x="457200" y="1005840"/>
          <a:ext cx="11274552" cy="522732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7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Компонент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СРК-З (с преобладанием запора)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СРК-Д (с преобладанием диареи)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 gridSpan="3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Все группы — базисное лечение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4D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Режим и питание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щадяще-тренирующий режим; общеврачебная диета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щадяще-тренирующий режим; щадящая диета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Минеральная вода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хлоридно-гидрокарбонатная натриевая (до 3 г/дм³, Карачинская), дегазированная: 3 раза в день, за 90 мин до еды, 26–28 °С, по 200 мл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та же вода: 3 раза в день, за 30–40 мин до еды, 34–36 °С, по 50 мл, постепенно доводя до 200 мл на прием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Пробиотик и ЛФК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«Аципол-форте» — по 1 капсуле во время еды, 21 день; ЛФК — по 20 мин ежедневно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Массаж шейно-воротниковой зоны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 err="1">
                          <a:solidFill>
                            <a:srgbClr val="2F3E55"/>
                          </a:solidFill>
                        </a:rPr>
                        <a:t>тонизирующая</a:t>
                      </a: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2F3E55"/>
                          </a:solidFill>
                        </a:rPr>
                        <a:t>методика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 err="1">
                          <a:solidFill>
                            <a:srgbClr val="2F3E55"/>
                          </a:solidFill>
                        </a:rPr>
                        <a:t>седативная</a:t>
                      </a: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2F3E55"/>
                          </a:solidFill>
                        </a:rPr>
                        <a:t>методика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 gridSpan="3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Группа сравнения: дополнительно амплипульстерапия — «Амплипульс-5», проекция восходящего и нисходящего отдела толстой кишки, № 10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C28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1-й этап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режим 1, род работы (РР) 1, частота модуляции (ЧМ) 50 Гц, глубина модуляции (ГМ) 50 %, 2–3 с, 5 мин; до выраженной безболезненной вибрации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режим 1, РР 3, ЧМ 50 Гц, ГМ 50 %, 1–1,5 с, 5 мин; до выраженной, но безболезненной вибрации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2-й этап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режим 1, РР 2, ЧМ 10 Гц, ГМ 100 %, 1–1,5 с, 5 мин; до ощущения сокращения под электродами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режим 1, РР 4, ЧМ 100 Гц, ГМ 25 %, 2–3 с, 5 мин; до выраженной, но безболезненной вибрации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Время процедур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первая половина дня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вторая половина дня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1480">
                <a:tc gridSpan="3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Основная группа: дополнительно КВЧ-терапия — «СЕМ-ТЕСН-БФ», шумовой излучатель 40–63 ГГц, 30 мин, ежедневно, № 10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9A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Зоны воздействия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средняя треть грудины — точка Тань-чжун VC.17 (рисунок 1); восходящий отдел толстого кишечника — точка Тянь-шу E.25 (рисунок 2)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Время процедур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первая половина дня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вторая половина дня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Положение, выносимое на защиту № 1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2011680"/>
            <a:ext cx="10515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chemeClr val="tx1"/>
                </a:solidFill>
              </a:rPr>
              <a:t>Комбинированное применение КВЧ-терапии и амплипульстерапии в комплексном санаторно-курортном лечении пациентов молодого возраста с синдромом раздражённого кишечника патогенетически обосновано и обеспечивает более выраженное корригирующее действие на клинические проявления заболевания, психовегетативный и адаптационный статус, состояние микробиоценоза кишечника и качество жизни по сравнению со стандартным лечебным комплексом.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Динамика абдоминалгии у пациентов с СРК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1</a:t>
            </a:r>
            <a:endParaRPr lang="en-US" sz="1600" dirty="0"/>
          </a:p>
        </p:txBody>
      </p:sp>
      <p:graphicFrame>
        <p:nvGraphicFramePr>
          <p:cNvPr id="5" name="Ликерт СРК-З"/>
          <p:cNvGraphicFramePr/>
          <p:nvPr/>
        </p:nvGraphicFramePr>
        <p:xfrm>
          <a:off x="457200" y="1097280"/>
          <a:ext cx="55321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Овал: динамика в основной группе"/>
          <p:cNvSpPr/>
          <p:nvPr/>
        </p:nvSpPr>
        <p:spPr>
          <a:xfrm>
            <a:off x="4288536" y="1581912"/>
            <a:ext cx="1572767" cy="1005839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p/>
        </p:txBody>
      </p:sp>
      <p:graphicFrame>
        <p:nvGraphicFramePr>
          <p:cNvPr id="7" name="Ликерт СРК-Д"/>
          <p:cNvGraphicFramePr/>
          <p:nvPr/>
        </p:nvGraphicFramePr>
        <p:xfrm>
          <a:off x="6199632" y="1097280"/>
          <a:ext cx="55321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Овал: динамика в основной группе"/>
          <p:cNvSpPr/>
          <p:nvPr/>
        </p:nvSpPr>
        <p:spPr>
          <a:xfrm>
            <a:off x="10030967" y="1581912"/>
            <a:ext cx="1572767" cy="1005839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p/>
        </p:txBody>
      </p:sp>
      <p:graphicFrame>
        <p:nvGraphicFramePr>
          <p:cNvPr id="9" name="Частота СРК-З"/>
          <p:cNvGraphicFramePr/>
          <p:nvPr/>
        </p:nvGraphicFramePr>
        <p:xfrm>
          <a:off x="457200" y="3474720"/>
          <a:ext cx="55321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Овал: динамика в основной группе"/>
          <p:cNvSpPr/>
          <p:nvPr/>
        </p:nvSpPr>
        <p:spPr>
          <a:xfrm>
            <a:off x="4288536" y="3959352"/>
            <a:ext cx="1572767" cy="1005839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p/>
        </p:txBody>
      </p:sp>
      <p:graphicFrame>
        <p:nvGraphicFramePr>
          <p:cNvPr id="11" name="Частота СРК-Д"/>
          <p:cNvGraphicFramePr/>
          <p:nvPr/>
        </p:nvGraphicFramePr>
        <p:xfrm>
          <a:off x="6199632" y="3474720"/>
          <a:ext cx="55321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2" name="Овал: динамика в основной группе"/>
          <p:cNvSpPr/>
          <p:nvPr/>
        </p:nvSpPr>
        <p:spPr>
          <a:xfrm>
            <a:off x="10030967" y="3959352"/>
            <a:ext cx="1572767" cy="1005839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p/>
        </p:txBody>
      </p:sp>
      <p:sp>
        <p:nvSpPr>
          <p:cNvPr id="13" name="Примечание (достоверность)"/>
          <p:cNvSpPr txBox="1"/>
          <p:nvPr/>
        </p:nvSpPr>
        <p:spPr>
          <a:xfrm>
            <a:off x="457200" y="6144768"/>
            <a:ext cx="11274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Примечание: * – различия внутри групп до и после лечения; ▲ – различия между группами после лечения (p&lt;0,05)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Нормализация стула у пациентов с СРК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1</a:t>
            </a:r>
            <a:endParaRPr lang="en-US" sz="1600" dirty="0"/>
          </a:p>
        </p:txBody>
      </p:sp>
      <p:graphicFrame>
        <p:nvGraphicFramePr>
          <p:cNvPr id="5" name="Нормализация стула"/>
          <p:cNvGraphicFramePr/>
          <p:nvPr/>
        </p:nvGraphicFramePr>
        <p:xfrm>
          <a:off x="457200" y="1188720"/>
          <a:ext cx="502920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Овал: динамика в основной группе"/>
          <p:cNvSpPr/>
          <p:nvPr/>
        </p:nvSpPr>
        <p:spPr>
          <a:xfrm>
            <a:off x="3953256" y="1673352"/>
            <a:ext cx="1405128" cy="3191256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p/>
        </p:txBody>
      </p:sp>
      <p:sp>
        <p:nvSpPr>
          <p:cNvPr id="7" name="Заголовок таблицы 12"/>
          <p:cNvSpPr txBox="1"/>
          <p:nvPr/>
        </p:nvSpPr>
        <p:spPr>
          <a:xfrm>
            <a:off x="5669280" y="1188720"/>
            <a:ext cx="6062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Динамика частоты и характера стула (по Бристольской шкале)</a:t>
            </a:r>
            <a:endParaRPr lang="en-US" sz="1600" dirty="0"/>
          </a:p>
        </p:txBody>
      </p:sp>
      <p:graphicFrame>
        <p:nvGraphicFramePr>
          <p:cNvPr id="14" name="Таблица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600200"/>
          <a:ext cx="6062472" cy="41148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7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F3E55"/>
                          </a:solidFill>
                        </a:rPr>
                        <a:t>Группа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F3E55"/>
                          </a:solidFill>
                        </a:rPr>
                        <a:t>До лечения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F3E55"/>
                          </a:solidFill>
                        </a:rPr>
                        <a:t>После лечения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F3E55"/>
                          </a:solidFill>
                        </a:rPr>
                        <a:t>частота дефекаций / характер стула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F3E55"/>
                          </a:solidFill>
                        </a:rPr>
                        <a:t>частота дефекаций / характер стула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F3E55"/>
                          </a:solidFill>
                        </a:rPr>
                        <a:t>Контрольная с СРК-З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F3E55"/>
                          </a:solidFill>
                        </a:rPr>
                        <a:t>1 раз в 3 дня / 2 тип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F3E55"/>
                          </a:solidFill>
                        </a:rPr>
                        <a:t>6 раз в 7 дней / 3 тип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F3E55"/>
                          </a:solidFill>
                        </a:rPr>
                        <a:t>Контрольная с СРК-Д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F3E55"/>
                          </a:solidFill>
                        </a:rPr>
                        <a:t>3 раза в день / 6 тип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F3E55"/>
                          </a:solidFill>
                        </a:rPr>
                        <a:t>1–2 раза в день / 5 тип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F3E55"/>
                          </a:solidFill>
                        </a:rPr>
                        <a:t>Сравнения с СРК-З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F3E55"/>
                          </a:solidFill>
                        </a:rPr>
                        <a:t>1 раз в 3 дня / 2 тип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F3E55"/>
                          </a:solidFill>
                        </a:rPr>
                        <a:t>7 раз в 7 дней / 3–4 тип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F3E55"/>
                          </a:solidFill>
                        </a:rPr>
                        <a:t>Сравнения с СРК-Д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F3E55"/>
                          </a:solidFill>
                        </a:rPr>
                        <a:t>3 раза в день / 6 тип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F3E55"/>
                          </a:solidFill>
                        </a:rPr>
                        <a:t>1–2 раза в день / 5 тип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F3E55"/>
                          </a:solidFill>
                        </a:rPr>
                        <a:t>Основная с СРК-З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F3E55"/>
                          </a:solidFill>
                        </a:rPr>
                        <a:t>1 раз в 3 дня / 2 тип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F3E55"/>
                          </a:solidFill>
                        </a:rPr>
                        <a:t>7 раз в 7 дней / 4 тип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F3E55"/>
                          </a:solidFill>
                        </a:rPr>
                        <a:t>Основная с СРК-Д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F3E55"/>
                          </a:solidFill>
                        </a:rPr>
                        <a:t>3 раза в день / 6 тип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F3E55"/>
                          </a:solidFill>
                        </a:rPr>
                        <a:t>1 раз в день / 4 тип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Овал: основная группа"/>
          <p:cNvSpPr/>
          <p:nvPr/>
        </p:nvSpPr>
        <p:spPr>
          <a:xfrm>
            <a:off x="5596128" y="4562856"/>
            <a:ext cx="6208776" cy="1207008"/>
          </a:xfrm>
          <a:prstGeom prst="roundRect">
            <a:avLst>
              <a:gd name="adj" fmla="val 11538"/>
            </a:avLst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p/>
        </p:txBody>
      </p:sp>
      <p:sp>
        <p:nvSpPr>
          <p:cNvPr id="10" name="Примечание (достоверность)"/>
          <p:cNvSpPr txBox="1"/>
          <p:nvPr/>
        </p:nvSpPr>
        <p:spPr>
          <a:xfrm>
            <a:off x="457200" y="6144768"/>
            <a:ext cx="11274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Примечание: * – различия внутри групп до и после лечения; ▲ – различия между группами после лечения (p&lt;0,05)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Динамика адаптационных реакций (по Л.Х. Гаркави)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1</a:t>
            </a:r>
            <a:endParaRPr lang="en-US" sz="1600" dirty="0"/>
          </a:p>
        </p:txBody>
      </p:sp>
      <p:graphicFrame>
        <p:nvGraphicFramePr>
          <p:cNvPr id="5" name="Реакция стресса (РС)"/>
          <p:cNvGraphicFramePr/>
          <p:nvPr/>
        </p:nvGraphicFramePr>
        <p:xfrm>
          <a:off x="457200" y="1097280"/>
          <a:ext cx="55321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Овал: динамика в основной группе"/>
          <p:cNvSpPr/>
          <p:nvPr/>
        </p:nvSpPr>
        <p:spPr>
          <a:xfrm>
            <a:off x="4288536" y="1581912"/>
            <a:ext cx="1572767" cy="1005839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p/>
        </p:txBody>
      </p:sp>
      <p:graphicFrame>
        <p:nvGraphicFramePr>
          <p:cNvPr id="7" name="Реакция переактивации (РПеА)"/>
          <p:cNvGraphicFramePr/>
          <p:nvPr/>
        </p:nvGraphicFramePr>
        <p:xfrm>
          <a:off x="6199632" y="1097280"/>
          <a:ext cx="55321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Овал: динамика в основной группе"/>
          <p:cNvSpPr/>
          <p:nvPr/>
        </p:nvSpPr>
        <p:spPr>
          <a:xfrm>
            <a:off x="10030967" y="1581912"/>
            <a:ext cx="1572767" cy="1005839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p/>
        </p:txBody>
      </p:sp>
      <p:graphicFrame>
        <p:nvGraphicFramePr>
          <p:cNvPr id="11" name="Прирост РСА+РПА"/>
          <p:cNvGraphicFramePr/>
          <p:nvPr>
            <p:extLst>
              <p:ext uri="{D42A27DB-BD31-4B8C-83A1-F6EECF244321}">
                <p14:modId xmlns:p14="http://schemas.microsoft.com/office/powerpoint/2010/main" val="1287312865"/>
              </p:ext>
            </p:extLst>
          </p:nvPr>
        </p:nvGraphicFramePr>
        <p:xfrm>
          <a:off x="3433572" y="3593473"/>
          <a:ext cx="5532120" cy="22586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Овал: динамика в основной группе"/>
          <p:cNvSpPr/>
          <p:nvPr/>
        </p:nvSpPr>
        <p:spPr>
          <a:xfrm>
            <a:off x="7264907" y="4078105"/>
            <a:ext cx="1572767" cy="1280279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p/>
        </p:txBody>
      </p:sp>
      <p:sp>
        <p:nvSpPr>
          <p:cNvPr id="13" name="Примечание (достоверность)"/>
          <p:cNvSpPr txBox="1"/>
          <p:nvPr/>
        </p:nvSpPr>
        <p:spPr>
          <a:xfrm>
            <a:off x="457200" y="587959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1 — контрольная, 2 — сравнения, 3 — основная группа; а — СРК-З, б — СРК-Д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Примечание: * – различия внутри групп до и после лечения; ▲ – различия между группами после лечения (p&lt;0,05)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Ультразвуковые признаки пневматоза кишечника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1</a:t>
            </a:r>
            <a:endParaRPr lang="en-US" sz="1600" dirty="0"/>
          </a:p>
        </p:txBody>
      </p:sp>
      <p:graphicFrame>
        <p:nvGraphicFramePr>
          <p:cNvPr id="5" name="Частота пневматоза кишечника по данным УЗИ"/>
          <p:cNvGraphicFramePr/>
          <p:nvPr/>
        </p:nvGraphicFramePr>
        <p:xfrm>
          <a:off x="457200" y="1188720"/>
          <a:ext cx="768096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Овал: динамика в основной группе"/>
          <p:cNvSpPr/>
          <p:nvPr/>
        </p:nvSpPr>
        <p:spPr>
          <a:xfrm>
            <a:off x="5721096" y="1673352"/>
            <a:ext cx="2289048" cy="315468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p/>
        </p:txBody>
      </p:sp>
      <p:sp>
        <p:nvSpPr>
          <p:cNvPr id="7" name="Показатель СРК-З"/>
          <p:cNvSpPr txBox="1"/>
          <p:nvPr/>
        </p:nvSpPr>
        <p:spPr>
          <a:xfrm>
            <a:off x="8503920" y="1463040"/>
            <a:ext cx="3227832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Основная группа</a:t>
            </a:r>
            <a:endParaRPr lang="en-US" sz="1600" dirty="0"/>
          </a:p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</a:rPr>
              <a:t>СРК-З: 94,4 → 22,2 %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p = 0,0002</a:t>
            </a:r>
            <a:endParaRPr lang="en-US" sz="1600" dirty="0"/>
          </a:p>
        </p:txBody>
      </p:sp>
      <p:sp>
        <p:nvSpPr>
          <p:cNvPr id="8" name="Показатель СРК-Д"/>
          <p:cNvSpPr txBox="1"/>
          <p:nvPr/>
        </p:nvSpPr>
        <p:spPr>
          <a:xfrm>
            <a:off x="8503920" y="3474720"/>
            <a:ext cx="3227832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Основная группа</a:t>
            </a:r>
            <a:endParaRPr lang="en-US" sz="1600" dirty="0"/>
          </a:p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</a:rPr>
              <a:t>СРК-Д: 100 → 20,0 %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p = 0,0003</a:t>
            </a:r>
            <a:endParaRPr lang="en-US" sz="1600" dirty="0"/>
          </a:p>
        </p:txBody>
      </p:sp>
      <p:sp>
        <p:nvSpPr>
          <p:cNvPr id="9" name="Примечание (достоверность)"/>
          <p:cNvSpPr txBox="1"/>
          <p:nvPr/>
        </p:nvSpPr>
        <p:spPr>
          <a:xfrm>
            <a:off x="457200" y="587959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1 — контрольная, 2 — сравнения, 3 — основная группа; а — СРК-З, б — СРК-Д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Примечание: * – различия внутри групп до и после лечения; ▲ – различия между группами после лечения (p&lt;0,05)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Нормализация микробиоценоза кишечника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1</a:t>
            </a:r>
            <a:endParaRPr lang="en-US" sz="1600" dirty="0"/>
          </a:p>
        </p:txBody>
      </p:sp>
      <p:graphicFrame>
        <p:nvGraphicFramePr>
          <p:cNvPr id="5" name="Нормализация микробиоценоза"/>
          <p:cNvGraphicFramePr/>
          <p:nvPr/>
        </p:nvGraphicFramePr>
        <p:xfrm>
          <a:off x="457200" y="1188720"/>
          <a:ext cx="338328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Бифидобактерии (норма 8–10)"/>
          <p:cNvGraphicFramePr/>
          <p:nvPr/>
        </p:nvGraphicFramePr>
        <p:xfrm>
          <a:off x="3977640" y="1188720"/>
          <a:ext cx="384048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Овал: динамика в основной группе"/>
          <p:cNvSpPr/>
          <p:nvPr/>
        </p:nvSpPr>
        <p:spPr>
          <a:xfrm>
            <a:off x="6681216" y="1673352"/>
            <a:ext cx="1008888" cy="315468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p/>
        </p:txBody>
      </p:sp>
      <p:graphicFrame>
        <p:nvGraphicFramePr>
          <p:cNvPr id="8" name="Лактобактерии (норма 6–10)"/>
          <p:cNvGraphicFramePr/>
          <p:nvPr/>
        </p:nvGraphicFramePr>
        <p:xfrm>
          <a:off x="7955280" y="1188720"/>
          <a:ext cx="3776472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Овал: динамика в основной группе"/>
          <p:cNvSpPr/>
          <p:nvPr/>
        </p:nvSpPr>
        <p:spPr>
          <a:xfrm>
            <a:off x="10616184" y="1673352"/>
            <a:ext cx="987552" cy="315468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p/>
        </p:txBody>
      </p:sp>
      <p:sp>
        <p:nvSpPr>
          <p:cNvPr id="10" name="Примечание (достоверность)"/>
          <p:cNvSpPr txBox="1"/>
          <p:nvPr/>
        </p:nvSpPr>
        <p:spPr>
          <a:xfrm>
            <a:off x="457200" y="587959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1 — контрольная, 2 — сравнения, 3 — основная группа; а — СРК-З, б — СРК-Д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Примечание: * – различия внутри групп до и после лечения; ▲ – различия между группами после лечения (p&lt;0,05)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Динамика микробиоценоза толстого кишечника у пациентов с СРК (КОЕ/г)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1</a:t>
            </a:r>
            <a:endParaRPr lang="en-US" sz="1600" dirty="0"/>
          </a:p>
        </p:txBody>
      </p:sp>
      <p:graphicFrame>
        <p:nvGraphicFramePr>
          <p:cNvPr id="18" name="Динамика микробиоценоза толстого кишечника у пациентов с СРК-З (КОЕ/г)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4700016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65760">
                <a:tc row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Показатель (норма, КОЕ/г)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Контрольная (1а)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Сравнения (2а)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Основная (3а)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Р1,2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Р1,3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Р2,3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до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после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до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после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до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после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Кишечная палочка (10⁷–10⁸)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7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7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6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7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F3E55"/>
                          </a:solidFill>
                        </a:rPr>
                        <a:t>(p=0,02)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7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8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F3E55"/>
                          </a:solidFill>
                        </a:rPr>
                        <a:t>(p=0,01)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0,05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0,02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0,04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Бифидобактерии (10⁸–10¹⁰)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6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6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6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6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6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9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F3E55"/>
                          </a:solidFill>
                        </a:rPr>
                        <a:t>(p=0,001)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0,06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0,001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0,003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Кишечная палочка со сниженными ферментативными свойствами (0)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0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F3E55"/>
                          </a:solidFill>
                        </a:rPr>
                        <a:t>(p=0,01)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0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F3E55"/>
                          </a:solidFill>
                        </a:rPr>
                        <a:t>(p=0,004)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0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F3E55"/>
                          </a:solidFill>
                        </a:rPr>
                        <a:t>(p=0,001)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0,2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0,2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0,2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Лактобактерии (10⁶–10¹⁰)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6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4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F3E55"/>
                          </a:solidFill>
                        </a:rPr>
                        <a:t>(p=0,02)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7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4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F3E55"/>
                          </a:solidFill>
                        </a:rPr>
                        <a:t>(p=0,001)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6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8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F3E55"/>
                          </a:solidFill>
                        </a:rPr>
                        <a:t>(p=0,001)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0,06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0,004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0,006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Энтеробактерии (≤10⁴)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2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F3E55"/>
                          </a:solidFill>
                        </a:rPr>
                        <a:t>(p=0,003)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0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F3E55"/>
                          </a:solidFill>
                        </a:rPr>
                        <a:t>(p=0,001)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0,08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0,008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0,01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Стафилококки (≤10⁴)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1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F3E55"/>
                          </a:solidFill>
                        </a:rPr>
                        <a:t>(p=0,001)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0,04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0,03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0,009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Грибы Candida (≤10³)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0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F3E55"/>
                          </a:solidFill>
                        </a:rPr>
                        <a:t>(p=0,001)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0,01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0,002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0,1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Протеи (≤10²)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6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F3E55"/>
                          </a:solidFill>
                        </a:rPr>
                        <a:t>(p=0,001)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6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F3E55"/>
                          </a:solidFill>
                        </a:rPr>
                        <a:t>(p=0,0008)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1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F3E55"/>
                          </a:solidFill>
                        </a:rPr>
                        <a:t>(p=0,01)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0,5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0,001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0,002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Овал: основная группа"/>
          <p:cNvSpPr/>
          <p:nvPr/>
        </p:nvSpPr>
        <p:spPr>
          <a:xfrm>
            <a:off x="6821424" y="1133856"/>
            <a:ext cx="1810512" cy="4791456"/>
          </a:xfrm>
          <a:prstGeom prst="roundRect">
            <a:avLst>
              <a:gd name="adj" fmla="val 4808"/>
            </a:avLst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p/>
        </p:txBody>
      </p:sp>
      <p:sp>
        <p:nvSpPr>
          <p:cNvPr id="7" name="Text 3"/>
          <p:cNvSpPr txBox="1"/>
          <p:nvPr/>
        </p:nvSpPr>
        <p:spPr>
          <a:xfrm>
            <a:off x="457200" y="603504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6768C"/>
                </a:solidFill>
              </a:rPr>
              <a:t>до — до лечения; после — после лечения; Р1,2; Р1,3; Р2,3 — достоверность различий между группами (полужирным — p&lt;0,05). В скобках — достоверность различий до и после лечения внутри группы.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Вегетативный тонус по индексу Кердо у пациентов с СРК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1</a:t>
            </a:r>
            <a:endParaRPr lang="en-US" sz="1600" dirty="0"/>
          </a:p>
        </p:txBody>
      </p:sp>
      <p:graphicFrame>
        <p:nvGraphicFramePr>
          <p:cNvPr id="5" name="Симпатикотония"/>
          <p:cNvGraphicFramePr/>
          <p:nvPr/>
        </p:nvGraphicFramePr>
        <p:xfrm>
          <a:off x="457200" y="1188720"/>
          <a:ext cx="361188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Овал: динамика в основной группе"/>
          <p:cNvSpPr/>
          <p:nvPr/>
        </p:nvSpPr>
        <p:spPr>
          <a:xfrm>
            <a:off x="3008376" y="1673352"/>
            <a:ext cx="932688" cy="315468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p/>
        </p:txBody>
      </p:sp>
      <p:graphicFrame>
        <p:nvGraphicFramePr>
          <p:cNvPr id="7" name="Парасимпатикотония"/>
          <p:cNvGraphicFramePr/>
          <p:nvPr/>
        </p:nvGraphicFramePr>
        <p:xfrm>
          <a:off x="4288536" y="1188720"/>
          <a:ext cx="361188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Овал: динамика в основной группе"/>
          <p:cNvSpPr/>
          <p:nvPr/>
        </p:nvSpPr>
        <p:spPr>
          <a:xfrm>
            <a:off x="6839712" y="1673352"/>
            <a:ext cx="932688" cy="315468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p/>
        </p:txBody>
      </p:sp>
      <p:graphicFrame>
        <p:nvGraphicFramePr>
          <p:cNvPr id="9" name="Нормотония (эйтония)"/>
          <p:cNvGraphicFramePr/>
          <p:nvPr/>
        </p:nvGraphicFramePr>
        <p:xfrm>
          <a:off x="8119872" y="1188720"/>
          <a:ext cx="361188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Овал: динамика в основной группе"/>
          <p:cNvSpPr/>
          <p:nvPr/>
        </p:nvSpPr>
        <p:spPr>
          <a:xfrm>
            <a:off x="10671048" y="1673352"/>
            <a:ext cx="932688" cy="315468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p/>
        </p:txBody>
      </p:sp>
      <p:sp>
        <p:nvSpPr>
          <p:cNvPr id="11" name="Примечание (достоверность)"/>
          <p:cNvSpPr txBox="1"/>
          <p:nvPr/>
        </p:nvSpPr>
        <p:spPr>
          <a:xfrm>
            <a:off x="457200" y="587959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1 — контрольная, 2 — сравнения, 3 — основная группа; а — СРК-З, б — СРК-Д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Примечание: * – различия внутри групп до и после лечения; ▲ – различия между группами после лечения (p&lt;0,05)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Ортоклиностатическая проба: типы вегетативного обеспечения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1</a:t>
            </a:r>
            <a:endParaRPr lang="en-US" sz="1600" dirty="0"/>
          </a:p>
        </p:txBody>
      </p:sp>
      <p:graphicFrame>
        <p:nvGraphicFramePr>
          <p:cNvPr id="5" name="Нормальное обеспечение (НВО)"/>
          <p:cNvGraphicFramePr/>
          <p:nvPr/>
        </p:nvGraphicFramePr>
        <p:xfrm>
          <a:off x="457200" y="1188720"/>
          <a:ext cx="361188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Овал: динамика в основной группе"/>
          <p:cNvSpPr/>
          <p:nvPr/>
        </p:nvSpPr>
        <p:spPr>
          <a:xfrm>
            <a:off x="3008376" y="1673352"/>
            <a:ext cx="932688" cy="315468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p/>
        </p:txBody>
      </p:sp>
      <p:graphicFrame>
        <p:nvGraphicFramePr>
          <p:cNvPr id="7" name="Недостаточное обеспечение (НедВО)"/>
          <p:cNvGraphicFramePr/>
          <p:nvPr/>
        </p:nvGraphicFramePr>
        <p:xfrm>
          <a:off x="4288536" y="1188720"/>
          <a:ext cx="361188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Овал: динамика в основной группе"/>
          <p:cNvSpPr/>
          <p:nvPr/>
        </p:nvSpPr>
        <p:spPr>
          <a:xfrm>
            <a:off x="6839712" y="1673352"/>
            <a:ext cx="932688" cy="315468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p/>
        </p:txBody>
      </p:sp>
      <p:graphicFrame>
        <p:nvGraphicFramePr>
          <p:cNvPr id="9" name="Избыточное обеспечение (ИВО)"/>
          <p:cNvGraphicFramePr/>
          <p:nvPr/>
        </p:nvGraphicFramePr>
        <p:xfrm>
          <a:off x="8119872" y="1188720"/>
          <a:ext cx="361188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Овал: динамика в основной группе"/>
          <p:cNvSpPr/>
          <p:nvPr/>
        </p:nvSpPr>
        <p:spPr>
          <a:xfrm>
            <a:off x="10671048" y="1673352"/>
            <a:ext cx="932688" cy="315468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p/>
        </p:txBody>
      </p:sp>
      <p:sp>
        <p:nvSpPr>
          <p:cNvPr id="11" name="Примечание (достоверность)"/>
          <p:cNvSpPr txBox="1"/>
          <p:nvPr/>
        </p:nvSpPr>
        <p:spPr>
          <a:xfrm>
            <a:off x="457200" y="587959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1 — контрольная, 2 — сравнения, 3 — основная группа; а — СРК-З, б — СРК-Д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Примечание: * – различия внутри групп до и после лечения; ▲ – различия между группами после лечения (p&lt;0,05)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Эпигастральный рефлекс: типы вегетативной реактивности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1</a:t>
            </a:r>
            <a:endParaRPr lang="en-US" sz="1600" dirty="0"/>
          </a:p>
        </p:txBody>
      </p:sp>
      <p:graphicFrame>
        <p:nvGraphicFramePr>
          <p:cNvPr id="5" name="Нормальный тип реактивности"/>
          <p:cNvGraphicFramePr/>
          <p:nvPr/>
        </p:nvGraphicFramePr>
        <p:xfrm>
          <a:off x="457200" y="1188720"/>
          <a:ext cx="361188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Овал: динамика в основной группе"/>
          <p:cNvSpPr/>
          <p:nvPr/>
        </p:nvSpPr>
        <p:spPr>
          <a:xfrm>
            <a:off x="3008376" y="1673352"/>
            <a:ext cx="932688" cy="315468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p/>
        </p:txBody>
      </p:sp>
      <p:graphicFrame>
        <p:nvGraphicFramePr>
          <p:cNvPr id="7" name="Парасимпатический тип"/>
          <p:cNvGraphicFramePr/>
          <p:nvPr/>
        </p:nvGraphicFramePr>
        <p:xfrm>
          <a:off x="4288536" y="1188720"/>
          <a:ext cx="361188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Овал: динамика в основной группе"/>
          <p:cNvSpPr/>
          <p:nvPr/>
        </p:nvSpPr>
        <p:spPr>
          <a:xfrm>
            <a:off x="6839712" y="1673352"/>
            <a:ext cx="932688" cy="315468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p/>
        </p:txBody>
      </p:sp>
      <p:graphicFrame>
        <p:nvGraphicFramePr>
          <p:cNvPr id="9" name="Симпатический тип"/>
          <p:cNvGraphicFramePr/>
          <p:nvPr/>
        </p:nvGraphicFramePr>
        <p:xfrm>
          <a:off x="8119872" y="1188720"/>
          <a:ext cx="361188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Овал: динамика в основной группе"/>
          <p:cNvSpPr/>
          <p:nvPr/>
        </p:nvSpPr>
        <p:spPr>
          <a:xfrm>
            <a:off x="10671048" y="1673352"/>
            <a:ext cx="932688" cy="315468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p/>
        </p:txBody>
      </p:sp>
      <p:sp>
        <p:nvSpPr>
          <p:cNvPr id="11" name="Примечание (достоверность)"/>
          <p:cNvSpPr txBox="1"/>
          <p:nvPr/>
        </p:nvSpPr>
        <p:spPr>
          <a:xfrm>
            <a:off x="457200" y="587959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1 — контрольная, 2 — сравнения, 3 — основная группа; а — СРК-З, б — СРК-Д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Примечание: * – различия внутри групп до и после лечения; ▲ – различия между группами после лечения (p&lt;0,05)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Спектральные показатели вариабельности ритма сердца у пациентов с СРК-З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1</a:t>
            </a:r>
            <a:endParaRPr lang="en-US" sz="1600" dirty="0"/>
          </a:p>
        </p:txBody>
      </p:sp>
      <p:graphicFrame>
        <p:nvGraphicFramePr>
          <p:cNvPr id="23" name="Спектральные показатели вариабельности ритма сердца у пациентов с СРК-З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461772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Показатель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Контрольная группа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Группа сравнения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Основная группа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Р1,2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Р2,3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Р1,3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VLF, мс²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595 [418; 1167]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678 [283; 1403]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66768C"/>
                          </a:solidFill>
                        </a:rPr>
                        <a:t>p=0,190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612 [413; 1213]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685 [295; 1311]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66768C"/>
                          </a:solidFill>
                        </a:rPr>
                        <a:t>p=0,198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711,6 [368; 1215]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590 [411; 738]</a:t>
                      </a:r>
                      <a:r>
                        <a:rPr lang="en-US" sz="1600" b="1" dirty="0">
                          <a:solidFill>
                            <a:srgbClr val="A94F66"/>
                          </a:solidFill>
                        </a:rPr>
                        <a:t> *▲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6B72"/>
                          </a:solidFill>
                        </a:rPr>
                        <a:t>p=0,041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0,123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0,047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0,048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LF, мс²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272 [181; 344]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319 [124; 456]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66768C"/>
                          </a:solidFill>
                        </a:rPr>
                        <a:t>p=0,690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221 [160; 321]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325 [125; 458]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66768C"/>
                          </a:solidFill>
                        </a:rPr>
                        <a:t>p=0,511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233,5 [198; 669]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774,6 [352; 1307]</a:t>
                      </a:r>
                      <a:r>
                        <a:rPr lang="en-US" sz="1600" b="1" dirty="0">
                          <a:solidFill>
                            <a:srgbClr val="A94F66"/>
                          </a:solidFill>
                        </a:rPr>
                        <a:t> *▲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6B72"/>
                          </a:solidFill>
                        </a:rPr>
                        <a:t>p=0,035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0,344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0,031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0,030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HF, мс²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119 [53,5; 206]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160 [119; 409]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66768C"/>
                          </a:solidFill>
                        </a:rPr>
                        <a:t>p=0,301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121 [60; 202]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149 [125; 400]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66768C"/>
                          </a:solidFill>
                        </a:rPr>
                        <a:t>p=0,251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104 [100; 106]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244 [147; 340]</a:t>
                      </a:r>
                      <a:r>
                        <a:rPr lang="en-US" sz="1600" b="1" dirty="0">
                          <a:solidFill>
                            <a:srgbClr val="A94F66"/>
                          </a:solidFill>
                        </a:rPr>
                        <a:t> *▲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6B72"/>
                          </a:solidFill>
                        </a:rPr>
                        <a:t>p=0,021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0,231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0,046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0,045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LF/HF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2,28 [1,3; 4,5]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1,23 [0,92; 2,76]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66768C"/>
                          </a:solidFill>
                        </a:rPr>
                        <a:t>p=0,147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2,03 [1,3; 4,3]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1,27 [0,93; 2,95]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66768C"/>
                          </a:solidFill>
                        </a:rPr>
                        <a:t>p=0,161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2,24 [1,45; 4,78]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1,68 [0,56; 3,18]</a:t>
                      </a:r>
                      <a:r>
                        <a:rPr lang="en-US" sz="1600" b="1" dirty="0">
                          <a:solidFill>
                            <a:srgbClr val="A94F66"/>
                          </a:solidFill>
                        </a:rPr>
                        <a:t> *▲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6B72"/>
                          </a:solidFill>
                        </a:rPr>
                        <a:t>p=0,002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0,101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0,049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0,046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Овал: основная группа"/>
          <p:cNvSpPr/>
          <p:nvPr/>
        </p:nvSpPr>
        <p:spPr>
          <a:xfrm>
            <a:off x="6217920" y="1115568"/>
            <a:ext cx="2468880" cy="4764024"/>
          </a:xfrm>
          <a:prstGeom prst="roundRect">
            <a:avLst>
              <a:gd name="adj" fmla="val 4444"/>
            </a:avLst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p/>
        </p:txBody>
      </p:sp>
      <p:sp>
        <p:nvSpPr>
          <p:cNvPr id="7" name="Примечание (достоверность)"/>
          <p:cNvSpPr txBox="1"/>
          <p:nvPr/>
        </p:nvSpPr>
        <p:spPr>
          <a:xfrm>
            <a:off x="457200" y="587959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В ячейках: до лечения, после лечения, p; Me [LQ; UQ]. VLF, LF, HF — мощность спектра (мс²); LF/HF — вагосимпатический баланс.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Примечание: * – различия внутри групп до и после лечения; ▲ – различия основной группы с контрольной и сравнения (p&lt;0,05)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Спектральные показатели вариабельности ритма сердца у пациентов с СРК-Д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1</a:t>
            </a:r>
            <a:endParaRPr lang="en-US" sz="1600" dirty="0"/>
          </a:p>
        </p:txBody>
      </p:sp>
      <p:graphicFrame>
        <p:nvGraphicFramePr>
          <p:cNvPr id="24" name="Спектральные показатели вариабельности ритма сердца у пациентов с СРК-Д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Показатель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Контрольная группа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Группа сравнения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Основная группа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Р1,2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Р2,3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Р1,3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VLF, мс²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365 [311; 1020]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423 [311; 1423]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66768C"/>
                          </a:solidFill>
                        </a:rPr>
                        <a:t>p=0,201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301 [295; 1001]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510 [321; 1278]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66768C"/>
                          </a:solidFill>
                        </a:rPr>
                        <a:t>p=0,501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287 [260; 1058]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630 [511; 835]</a:t>
                      </a:r>
                      <a:r>
                        <a:rPr lang="en-US" sz="1600" b="1" dirty="0">
                          <a:solidFill>
                            <a:srgbClr val="A94F66"/>
                          </a:solidFill>
                        </a:rPr>
                        <a:t> *▲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6B72"/>
                          </a:solidFill>
                        </a:rPr>
                        <a:t>p=0,042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0,062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0,049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0,040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LF, мс²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205 [175; 368]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420 [213; 579]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66768C"/>
                          </a:solidFill>
                        </a:rPr>
                        <a:t>p=0,071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290 [236; 327]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467 [215; 490]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66768C"/>
                          </a:solidFill>
                        </a:rPr>
                        <a:t>p=0,081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307 [185; 613]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670 [312; 1108]</a:t>
                      </a:r>
                      <a:r>
                        <a:rPr lang="en-US" sz="1600" b="1" dirty="0">
                          <a:solidFill>
                            <a:srgbClr val="A94F66"/>
                          </a:solidFill>
                        </a:rPr>
                        <a:t> *▲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6B72"/>
                          </a:solidFill>
                        </a:rPr>
                        <a:t>p=0,031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0,276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0,045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0,032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HF, мс²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817 [615; 1101]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759 [613; 913]</a:t>
                      </a:r>
                      <a:r>
                        <a:rPr lang="en-US" sz="1600" b="1" dirty="0">
                          <a:solidFill>
                            <a:srgbClr val="A94F66"/>
                          </a:solidFill>
                        </a:rPr>
                        <a:t> *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6B72"/>
                          </a:solidFill>
                        </a:rPr>
                        <a:t>p=0,021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907 [625; 1101]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790 [118; 407]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66768C"/>
                          </a:solidFill>
                        </a:rPr>
                        <a:t>p=0,081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901 [99; 107]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337 [190; 527]</a:t>
                      </a:r>
                      <a:r>
                        <a:rPr lang="en-US" sz="1600" b="1" dirty="0">
                          <a:solidFill>
                            <a:srgbClr val="A94F66"/>
                          </a:solidFill>
                        </a:rPr>
                        <a:t> *▲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6B72"/>
                          </a:solidFill>
                        </a:rPr>
                        <a:t>p=0,009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0,431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0,021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0,030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LF/HF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0,35 [0,23; 1,25]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0,60 [0,52; 1,26]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66768C"/>
                          </a:solidFill>
                        </a:rPr>
                        <a:t>p=0,231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0,31 [0,21; 1,06]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0,59 [0,46; 1,25]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66768C"/>
                          </a:solidFill>
                        </a:rPr>
                        <a:t>p=0,312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0,74 [0,44; 1,05]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1,98 [0,58; 3,55]</a:t>
                      </a:r>
                      <a:r>
                        <a:rPr lang="en-US" sz="1600" b="1" dirty="0">
                          <a:solidFill>
                            <a:srgbClr val="A94F66"/>
                          </a:solidFill>
                        </a:rPr>
                        <a:t> *▲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6B72"/>
                          </a:solidFill>
                        </a:rPr>
                        <a:t>p=0,003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0,698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0,041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0,021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Овал: основная группа"/>
          <p:cNvSpPr/>
          <p:nvPr/>
        </p:nvSpPr>
        <p:spPr>
          <a:xfrm>
            <a:off x="6217920" y="1115568"/>
            <a:ext cx="2468880" cy="4764024"/>
          </a:xfrm>
          <a:prstGeom prst="roundRect">
            <a:avLst>
              <a:gd name="adj" fmla="val 4444"/>
            </a:avLst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p/>
        </p:txBody>
      </p:sp>
      <p:sp>
        <p:nvSpPr>
          <p:cNvPr id="7" name="Примечание (достоверность)"/>
          <p:cNvSpPr txBox="1"/>
          <p:nvPr/>
        </p:nvSpPr>
        <p:spPr>
          <a:xfrm>
            <a:off x="457200" y="587959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В ячейках: до лечения, после лечения, p; Me [LQ; UQ]. VLF, LF, HF — мощность спектра (мс²); LF/HF — вагосимпатический баланс.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Примечание: * – различия внутри групп до и после лечения; ▲ – различия основной группы с контрольной и сравнения (p&lt;0,05)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Ситуативная и личностная тревожность (тест Спилбергера–Ханина)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1</a:t>
            </a:r>
            <a:endParaRPr lang="en-US" sz="1600" dirty="0"/>
          </a:p>
        </p:txBody>
      </p:sp>
      <p:graphicFrame>
        <p:nvGraphicFramePr>
          <p:cNvPr id="5" name="Тревожность СРК-З"/>
          <p:cNvGraphicFramePr/>
          <p:nvPr/>
        </p:nvGraphicFramePr>
        <p:xfrm>
          <a:off x="457200" y="1188720"/>
          <a:ext cx="553212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Овал: динамика в основной группе"/>
          <p:cNvSpPr/>
          <p:nvPr/>
        </p:nvSpPr>
        <p:spPr>
          <a:xfrm>
            <a:off x="4288536" y="1673352"/>
            <a:ext cx="1572767" cy="2916936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p/>
        </p:txBody>
      </p:sp>
      <p:graphicFrame>
        <p:nvGraphicFramePr>
          <p:cNvPr id="7" name="Тревожность СРК-Д"/>
          <p:cNvGraphicFramePr/>
          <p:nvPr/>
        </p:nvGraphicFramePr>
        <p:xfrm>
          <a:off x="6199632" y="1188720"/>
          <a:ext cx="553212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Овал: динамика в основной группе"/>
          <p:cNvSpPr/>
          <p:nvPr/>
        </p:nvSpPr>
        <p:spPr>
          <a:xfrm>
            <a:off x="10030967" y="1673352"/>
            <a:ext cx="1572767" cy="2916936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p/>
        </p:txBody>
      </p:sp>
      <p:sp>
        <p:nvSpPr>
          <p:cNvPr id="9" name="Примечание (достоверность)"/>
          <p:cNvSpPr txBox="1"/>
          <p:nvPr/>
        </p:nvSpPr>
        <p:spPr>
          <a:xfrm>
            <a:off x="457200" y="6144768"/>
            <a:ext cx="11274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Примечание: * – различия внутри групп до и после лечения; ▲ – различия между группами после лечения (p&lt;0,05)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Психоэмоциональное состояние по цветовому тесту Люшера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1</a:t>
            </a:r>
            <a:endParaRPr lang="en-US" sz="1600" dirty="0"/>
          </a:p>
        </p:txBody>
      </p:sp>
      <p:graphicFrame>
        <p:nvGraphicFramePr>
          <p:cNvPr id="5" name="Уровень стресса (норма &lt;20)"/>
          <p:cNvGraphicFramePr/>
          <p:nvPr/>
        </p:nvGraphicFramePr>
        <p:xfrm>
          <a:off x="457200" y="1188720"/>
          <a:ext cx="361188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Овал: динамика в основной группе"/>
          <p:cNvSpPr/>
          <p:nvPr/>
        </p:nvSpPr>
        <p:spPr>
          <a:xfrm>
            <a:off x="3008376" y="1673352"/>
            <a:ext cx="932688" cy="315468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p/>
        </p:txBody>
      </p:sp>
      <p:graphicFrame>
        <p:nvGraphicFramePr>
          <p:cNvPr id="7" name="Напряжённость (норма 14–20)"/>
          <p:cNvGraphicFramePr/>
          <p:nvPr/>
        </p:nvGraphicFramePr>
        <p:xfrm>
          <a:off x="4288536" y="1188720"/>
          <a:ext cx="361188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Овал: динамика в основной группе"/>
          <p:cNvSpPr/>
          <p:nvPr/>
        </p:nvSpPr>
        <p:spPr>
          <a:xfrm>
            <a:off x="6839712" y="1673352"/>
            <a:ext cx="932688" cy="315468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p/>
        </p:txBody>
      </p:sp>
      <p:graphicFrame>
        <p:nvGraphicFramePr>
          <p:cNvPr id="9" name="Работоспособность (норма 16–20,9)"/>
          <p:cNvGraphicFramePr/>
          <p:nvPr/>
        </p:nvGraphicFramePr>
        <p:xfrm>
          <a:off x="8119872" y="1188720"/>
          <a:ext cx="361188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Овал: динамика в основной группе"/>
          <p:cNvSpPr/>
          <p:nvPr/>
        </p:nvSpPr>
        <p:spPr>
          <a:xfrm>
            <a:off x="10671048" y="1673352"/>
            <a:ext cx="932688" cy="315468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p/>
        </p:txBody>
      </p:sp>
      <p:sp>
        <p:nvSpPr>
          <p:cNvPr id="11" name="Примечание (достоверность)"/>
          <p:cNvSpPr txBox="1"/>
          <p:nvPr/>
        </p:nvSpPr>
        <p:spPr>
          <a:xfrm>
            <a:off x="457200" y="587959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1 — контрольная, 2 — сравнения, 3 — основная группа; а — СРК-З, б — СРК-Д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Примечание: * – различия внутри групп до и после лечения; ▲ – различия между группами после лечения (p&lt;0,05)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Качество жизни (SF-36) у пациентов с СРК-З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1</a:t>
            </a:r>
            <a:endParaRPr lang="en-US" sz="1600" dirty="0"/>
          </a:p>
        </p:txBody>
      </p:sp>
      <p:graphicFrame>
        <p:nvGraphicFramePr>
          <p:cNvPr id="5" name="Контрольная группа"/>
          <p:cNvGraphicFramePr/>
          <p:nvPr/>
        </p:nvGraphicFramePr>
        <p:xfrm>
          <a:off x="457200" y="1097280"/>
          <a:ext cx="361188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Группа сравнения"/>
          <p:cNvGraphicFramePr/>
          <p:nvPr/>
        </p:nvGraphicFramePr>
        <p:xfrm>
          <a:off x="4288536" y="1097280"/>
          <a:ext cx="361188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Основная группа"/>
          <p:cNvGraphicFramePr/>
          <p:nvPr/>
        </p:nvGraphicFramePr>
        <p:xfrm>
          <a:off x="8119872" y="1097280"/>
          <a:ext cx="361188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Овал: основная группа"/>
          <p:cNvSpPr/>
          <p:nvPr/>
        </p:nvSpPr>
        <p:spPr>
          <a:xfrm>
            <a:off x="7936992" y="1005840"/>
            <a:ext cx="3794760" cy="370332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p/>
        </p:txBody>
      </p:sp>
      <p:sp>
        <p:nvSpPr>
          <p:cNvPr id="9" name="Примечание (достоверность)"/>
          <p:cNvSpPr txBox="1"/>
          <p:nvPr/>
        </p:nvSpPr>
        <p:spPr>
          <a:xfrm>
            <a:off x="457200" y="4754880"/>
            <a:ext cx="1127455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PF — физическое функционирование; RP — ролевое физическое функционирование; BP — интенсивность боли; GH — общее состояние здоровья; VT — жизнеспособность; RE — ролевое эмоциональное функционирование; SF — социальное функционирование; MH — психическое здоровье. Баллы по шкалам SF-36 (0–100).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Примечание: * – различия внутри групп до и после лечения; ▲ – различия основной группы с контрольной и сравнения (p&lt;0,05)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Качество жизни (SF-36) у пациентов с СРК-Д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1</a:t>
            </a:r>
            <a:endParaRPr lang="en-US" sz="1600" dirty="0"/>
          </a:p>
        </p:txBody>
      </p:sp>
      <p:graphicFrame>
        <p:nvGraphicFramePr>
          <p:cNvPr id="5" name="Контрольная группа"/>
          <p:cNvGraphicFramePr/>
          <p:nvPr/>
        </p:nvGraphicFramePr>
        <p:xfrm>
          <a:off x="457200" y="1097280"/>
          <a:ext cx="361188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Группа сравнения"/>
          <p:cNvGraphicFramePr/>
          <p:nvPr/>
        </p:nvGraphicFramePr>
        <p:xfrm>
          <a:off x="4288536" y="1097280"/>
          <a:ext cx="361188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Основная группа"/>
          <p:cNvGraphicFramePr/>
          <p:nvPr/>
        </p:nvGraphicFramePr>
        <p:xfrm>
          <a:off x="8119872" y="1097280"/>
          <a:ext cx="361188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Овал: основная группа"/>
          <p:cNvSpPr/>
          <p:nvPr/>
        </p:nvSpPr>
        <p:spPr>
          <a:xfrm>
            <a:off x="7936992" y="1005840"/>
            <a:ext cx="3794760" cy="370332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p/>
        </p:txBody>
      </p:sp>
      <p:sp>
        <p:nvSpPr>
          <p:cNvPr id="9" name="Примечание (достоверность)"/>
          <p:cNvSpPr txBox="1"/>
          <p:nvPr/>
        </p:nvSpPr>
        <p:spPr>
          <a:xfrm>
            <a:off x="457200" y="4754880"/>
            <a:ext cx="1127455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PF — физическое функционирование; RP — ролевое физическое функционирование; BP — интенсивность боли; GH — общее состояние здоровья; VT — жизнеспособность; RE — ролевое эмоциональное функционирование; SF — социальное функционирование; MH — психическое здоровье. Баллы по шкалам SF-36 (0–100).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Примечание: * – различия внутри групп до и после лечения; ▲ – различия основной группы с контрольной и сравнения (p&lt;0,05)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Положение, выносимое на защиту № 2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2011680"/>
            <a:ext cx="10515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chemeClr val="tx1"/>
                </a:solidFill>
              </a:rPr>
              <a:t>Комплексное санаторно-курортное лечение с комбинированным применением КВЧ-терапии и амплипульстерапии обеспечивает повышение непосредственной и отдалённой эффективности лечения, увеличение длительности ремиссии и улучшение качества жизни пациентов молодого возраста с разными клиническими вариантами синдрома раздраженного кишечника (с преобладанием запора и диареи) в катамнезе до 6 месяцев.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Эффективность комплексного санаторно-курортного лечения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2</a:t>
            </a:r>
            <a:endParaRPr lang="en-US" sz="1600" dirty="0"/>
          </a:p>
        </p:txBody>
      </p:sp>
      <p:graphicFrame>
        <p:nvGraphicFramePr>
          <p:cNvPr id="5" name="Структура результатов"/>
          <p:cNvGraphicFramePr/>
          <p:nvPr/>
        </p:nvGraphicFramePr>
        <p:xfrm>
          <a:off x="457200" y="1188720"/>
          <a:ext cx="553212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Овал: динамика в основной группе"/>
          <p:cNvSpPr/>
          <p:nvPr/>
        </p:nvSpPr>
        <p:spPr>
          <a:xfrm>
            <a:off x="4105656" y="1673352"/>
            <a:ext cx="1755648" cy="2871216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p/>
        </p:txBody>
      </p:sp>
      <p:graphicFrame>
        <p:nvGraphicFramePr>
          <p:cNvPr id="7" name="Эффективность лечения"/>
          <p:cNvGraphicFramePr/>
          <p:nvPr/>
        </p:nvGraphicFramePr>
        <p:xfrm>
          <a:off x="6199632" y="1188720"/>
          <a:ext cx="553212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Овал: динамика в основной группе"/>
          <p:cNvSpPr/>
          <p:nvPr/>
        </p:nvSpPr>
        <p:spPr>
          <a:xfrm>
            <a:off x="10030967" y="1673352"/>
            <a:ext cx="1572767" cy="2871216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p/>
        </p:txBody>
      </p:sp>
      <p:sp>
        <p:nvSpPr>
          <p:cNvPr id="9" name="Примечание (достоверность)"/>
          <p:cNvSpPr txBox="1"/>
          <p:nvPr/>
        </p:nvSpPr>
        <p:spPr>
          <a:xfrm>
            <a:off x="457200" y="587959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1 — контрольная, 2 — сравнения, 3 — основная группа; а — СРК-З, б — СРК-Д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Примечание: ▲ – различия основной группы с контрольной и сравнения (p&lt;0,05)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Абдоминалгия в отдалённом периоде (через 6 месяцев)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2</a:t>
            </a:r>
            <a:endParaRPr lang="en-US" sz="1600" dirty="0"/>
          </a:p>
        </p:txBody>
      </p:sp>
      <p:graphicFrame>
        <p:nvGraphicFramePr>
          <p:cNvPr id="5" name="Ликерт 6 мес СРК-З"/>
          <p:cNvGraphicFramePr/>
          <p:nvPr/>
        </p:nvGraphicFramePr>
        <p:xfrm>
          <a:off x="457200" y="1097280"/>
          <a:ext cx="55321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Овал: динамика в основной группе"/>
          <p:cNvSpPr/>
          <p:nvPr/>
        </p:nvSpPr>
        <p:spPr>
          <a:xfrm>
            <a:off x="4288536" y="1581912"/>
            <a:ext cx="1572767" cy="1005839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p/>
        </p:txBody>
      </p:sp>
      <p:graphicFrame>
        <p:nvGraphicFramePr>
          <p:cNvPr id="7" name="Ликерт 6 мес СРК-Д"/>
          <p:cNvGraphicFramePr/>
          <p:nvPr/>
        </p:nvGraphicFramePr>
        <p:xfrm>
          <a:off x="6199632" y="1097280"/>
          <a:ext cx="55321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Овал: динамика в основной группе"/>
          <p:cNvSpPr/>
          <p:nvPr/>
        </p:nvSpPr>
        <p:spPr>
          <a:xfrm>
            <a:off x="10030967" y="1581912"/>
            <a:ext cx="1572767" cy="1005839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p/>
        </p:txBody>
      </p:sp>
      <p:graphicFrame>
        <p:nvGraphicFramePr>
          <p:cNvPr id="9" name="Частота 6 мес СРК-З"/>
          <p:cNvGraphicFramePr/>
          <p:nvPr/>
        </p:nvGraphicFramePr>
        <p:xfrm>
          <a:off x="457200" y="3474720"/>
          <a:ext cx="55321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Овал: динамика в основной группе"/>
          <p:cNvSpPr/>
          <p:nvPr/>
        </p:nvSpPr>
        <p:spPr>
          <a:xfrm>
            <a:off x="4288536" y="3959352"/>
            <a:ext cx="1572767" cy="1005839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p/>
        </p:txBody>
      </p:sp>
      <p:graphicFrame>
        <p:nvGraphicFramePr>
          <p:cNvPr id="11" name="Частота 6 мес СРК-Д"/>
          <p:cNvGraphicFramePr/>
          <p:nvPr/>
        </p:nvGraphicFramePr>
        <p:xfrm>
          <a:off x="6199632" y="3474720"/>
          <a:ext cx="55321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2" name="Овал: динамика в основной группе"/>
          <p:cNvSpPr/>
          <p:nvPr/>
        </p:nvSpPr>
        <p:spPr>
          <a:xfrm>
            <a:off x="10030967" y="3959352"/>
            <a:ext cx="1572767" cy="1005839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p/>
        </p:txBody>
      </p:sp>
      <p:sp>
        <p:nvSpPr>
          <p:cNvPr id="13" name="Примечание (достоверность)"/>
          <p:cNvSpPr txBox="1"/>
          <p:nvPr/>
        </p:nvSpPr>
        <p:spPr>
          <a:xfrm>
            <a:off x="457200" y="6144768"/>
            <a:ext cx="11274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Примечание: * – различия внутри групп до лечения и через 6 мес.; ▲ – различия между группами через 6 мес. (p&lt;0,05)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Микробиоценоз толстого кишечника в отдалённом периоде (через 6 месяцев)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2</a:t>
            </a:r>
            <a:endParaRPr lang="en-US" sz="1600" dirty="0"/>
          </a:p>
        </p:txBody>
      </p:sp>
      <p:graphicFrame>
        <p:nvGraphicFramePr>
          <p:cNvPr id="5" name="Микрофлора 6 мес СРК-З"/>
          <p:cNvGraphicFramePr/>
          <p:nvPr/>
        </p:nvGraphicFramePr>
        <p:xfrm>
          <a:off x="457200" y="1188720"/>
          <a:ext cx="448056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Микрофлора 6 мес СРК-Д"/>
          <p:cNvGraphicFramePr/>
          <p:nvPr/>
        </p:nvGraphicFramePr>
        <p:xfrm>
          <a:off x="5074920" y="1188720"/>
          <a:ext cx="448056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Дисбиоз в контрольных группах"/>
          <p:cNvSpPr txBox="1"/>
          <p:nvPr/>
        </p:nvSpPr>
        <p:spPr>
          <a:xfrm>
            <a:off x="9738360" y="1371600"/>
            <a:ext cx="1993392" cy="2103120"/>
          </a:xfrm>
          <a:prstGeom prst="roundRect">
            <a:avLst>
              <a:gd name="adj" fmla="val 3670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</a:rPr>
              <a:t>13,3–16,6 %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дисбиоз 1-й степени в контрольной группе и группе сравнения</a:t>
            </a:r>
            <a:endParaRPr lang="en-US" sz="1600" dirty="0"/>
          </a:p>
        </p:txBody>
      </p:sp>
      <p:sp>
        <p:nvSpPr>
          <p:cNvPr id="8" name="Дисбиоз в основной группе"/>
          <p:cNvSpPr txBox="1"/>
          <p:nvPr/>
        </p:nvSpPr>
        <p:spPr>
          <a:xfrm>
            <a:off x="9738360" y="3657600"/>
            <a:ext cx="1993392" cy="2103120"/>
          </a:xfrm>
          <a:prstGeom prst="roundRect">
            <a:avLst>
              <a:gd name="adj" fmla="val 3670"/>
            </a:avLst>
          </a:prstGeom>
          <a:solidFill>
            <a:srgbClr val="E1EEEE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</a:rPr>
              <a:t>0 %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признаков нарушения микрофлоры в основной группе</a:t>
            </a:r>
            <a:endParaRPr lang="en-US" sz="1600" dirty="0"/>
          </a:p>
        </p:txBody>
      </p:sp>
      <p:sp>
        <p:nvSpPr>
          <p:cNvPr id="9" name="Примечание (достоверность)"/>
          <p:cNvSpPr txBox="1"/>
          <p:nvPr/>
        </p:nvSpPr>
        <p:spPr>
          <a:xfrm>
            <a:off x="457200" y="6144768"/>
            <a:ext cx="11274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Примечание: ▲ – различия основной группы с контрольной и сравнения через 6 мес. (p&lt;0,05)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Физический и психический компоненты здоровья через 6 месяцев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2</a:t>
            </a:r>
            <a:endParaRPr lang="en-US" sz="1600" dirty="0"/>
          </a:p>
        </p:txBody>
      </p:sp>
      <p:graphicFrame>
        <p:nvGraphicFramePr>
          <p:cNvPr id="5" name="Физический компонент, 6 мес"/>
          <p:cNvGraphicFramePr/>
          <p:nvPr/>
        </p:nvGraphicFramePr>
        <p:xfrm>
          <a:off x="457200" y="1188720"/>
          <a:ext cx="553212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Овал: динамика в основной группе"/>
          <p:cNvSpPr/>
          <p:nvPr/>
        </p:nvSpPr>
        <p:spPr>
          <a:xfrm>
            <a:off x="4288536" y="1673352"/>
            <a:ext cx="1572767" cy="2871216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p/>
        </p:txBody>
      </p:sp>
      <p:graphicFrame>
        <p:nvGraphicFramePr>
          <p:cNvPr id="7" name="Психический компонент, 6 мес"/>
          <p:cNvGraphicFramePr/>
          <p:nvPr/>
        </p:nvGraphicFramePr>
        <p:xfrm>
          <a:off x="6199632" y="1188720"/>
          <a:ext cx="553212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Овал: динамика в основной группе"/>
          <p:cNvSpPr/>
          <p:nvPr/>
        </p:nvSpPr>
        <p:spPr>
          <a:xfrm>
            <a:off x="10030967" y="1673352"/>
            <a:ext cx="1572767" cy="2871216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p/>
        </p:txBody>
      </p:sp>
      <p:sp>
        <p:nvSpPr>
          <p:cNvPr id="9" name="Примечание (достоверность)"/>
          <p:cNvSpPr txBox="1"/>
          <p:nvPr/>
        </p:nvSpPr>
        <p:spPr>
          <a:xfrm>
            <a:off x="457200" y="587959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1 — контрольная, 2 — сравнения, 3 — основная группа; а — СРК-З, б — СРК-Д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Примечание: * – различия внутри групп до лечения и через 6 мес.; ▲ – различия между группами через 6 мес. (p&lt;0,05)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Длительность ремиссии после лечения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2</a:t>
            </a:r>
            <a:endParaRPr lang="en-US" sz="1600" dirty="0"/>
          </a:p>
        </p:txBody>
      </p:sp>
      <p:graphicFrame>
        <p:nvGraphicFramePr>
          <p:cNvPr id="5" name="Длительность ремиссии"/>
          <p:cNvGraphicFramePr/>
          <p:nvPr/>
        </p:nvGraphicFramePr>
        <p:xfrm>
          <a:off x="457200" y="1188720"/>
          <a:ext cx="749808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Овал: динамика в основной группе"/>
          <p:cNvSpPr/>
          <p:nvPr/>
        </p:nvSpPr>
        <p:spPr>
          <a:xfrm>
            <a:off x="5599176" y="1673352"/>
            <a:ext cx="2228088" cy="315468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p/>
        </p:txBody>
      </p:sp>
      <p:sp>
        <p:nvSpPr>
          <p:cNvPr id="7" name="Подпись карточек"/>
          <p:cNvSpPr txBox="1"/>
          <p:nvPr/>
        </p:nvSpPr>
        <p:spPr>
          <a:xfrm>
            <a:off x="8229600" y="1234440"/>
            <a:ext cx="3502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Увеличение длительности ремиссии:</a:t>
            </a:r>
            <a:endParaRPr lang="en-US" sz="1600" dirty="0"/>
          </a:p>
        </p:txBody>
      </p:sp>
      <p:sp>
        <p:nvSpPr>
          <p:cNvPr id="8" name="Основная группа"/>
          <p:cNvSpPr txBox="1"/>
          <p:nvPr/>
        </p:nvSpPr>
        <p:spPr>
          <a:xfrm>
            <a:off x="8229600" y="1645920"/>
            <a:ext cx="3502152" cy="1234440"/>
          </a:xfrm>
          <a:prstGeom prst="roundRect">
            <a:avLst>
              <a:gd name="adj" fmla="val 5926"/>
            </a:avLst>
          </a:prstGeom>
          <a:solidFill>
            <a:srgbClr val="E1EEEE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Основная группа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в 2,0 раза (СРК-З), p=0,0081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в 1,7 раза (СРК-Д), p=0,0073</a:t>
            </a:r>
            <a:endParaRPr lang="en-US" sz="1600" dirty="0"/>
          </a:p>
        </p:txBody>
      </p:sp>
      <p:sp>
        <p:nvSpPr>
          <p:cNvPr id="9" name="Группа сравнения"/>
          <p:cNvSpPr txBox="1"/>
          <p:nvPr/>
        </p:nvSpPr>
        <p:spPr>
          <a:xfrm>
            <a:off x="8229600" y="3017520"/>
            <a:ext cx="3502152" cy="1234440"/>
          </a:xfrm>
          <a:prstGeom prst="roundRect">
            <a:avLst>
              <a:gd name="adj" fmla="val 5926"/>
            </a:avLst>
          </a:prstGeom>
          <a:solidFill>
            <a:srgbClr val="F6EEDC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Группа сравнения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в 1,3 раза (СРК-З), p=0,037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в 1,4 раза (СРК-Д), p=0,041</a:t>
            </a:r>
            <a:endParaRPr lang="en-US" sz="1600" dirty="0"/>
          </a:p>
        </p:txBody>
      </p:sp>
      <p:sp>
        <p:nvSpPr>
          <p:cNvPr id="11" name="Примечание (достоверность)"/>
          <p:cNvSpPr txBox="1"/>
          <p:nvPr/>
        </p:nvSpPr>
        <p:spPr>
          <a:xfrm>
            <a:off x="457200" y="587959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1 — контрольная, 2 — сравнения, 3 — основная группа; а — СРК-З, б — СРК-Д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Примечание: * – различия внутри групп до лечения и через 6 мес.; ▲ – различия между группами через 6 мес. (p&lt;0,05)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Положение, выносимое на защиту № 3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2011680"/>
            <a:ext cx="10515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chemeClr val="tx1"/>
                </a:solidFill>
              </a:rPr>
              <a:t>Эффективность комплексного санаторно-курортного лечения с комбинированным применением КВЧ-терапии и амплипульстерапии у пациентов молодого возраста с синдромом раздраженного кишечника определяется взаимодополняющим характером лечебных эффектов: амплипульстерапия преимущественно влияет на моторную функцию кишечника и оказывает анальгезирующее действие, КВЧ-терапия – вегетокорригирующее, седативное и антистрессорное действие, и взаимосвязана с клинико-лабораторными и психовегетативными показателями, характеризующими течение заболевания.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Корреляционные связи клинических и психовегетативных показателей </a:t>
            </a:r>
            <a:r>
              <a:rPr lang="en-US" sz="2400" b="1" dirty="0" err="1">
                <a:solidFill>
                  <a:schemeClr val="tx2"/>
                </a:solidFill>
              </a:rPr>
              <a:t>до</a:t>
            </a:r>
            <a:r>
              <a:rPr lang="en-US" sz="2400" b="1" dirty="0">
                <a:solidFill>
                  <a:schemeClr val="tx2"/>
                </a:solidFill>
              </a:rPr>
              <a:t> </a:t>
            </a:r>
            <a:r>
              <a:rPr lang="en-US" sz="2400" b="1" dirty="0" err="1">
                <a:solidFill>
                  <a:schemeClr val="tx2"/>
                </a:solidFill>
              </a:rPr>
              <a:t>лечения</a:t>
            </a:r>
            <a:r>
              <a:rPr lang="ru-RU" sz="2400" b="1" dirty="0">
                <a:solidFill>
                  <a:schemeClr val="tx2"/>
                </a:solidFill>
              </a:rPr>
              <a:t> (коэффициент корреляции </a:t>
            </a:r>
            <a:r>
              <a:rPr lang="ru-RU" sz="2400" b="1" dirty="0" err="1">
                <a:solidFill>
                  <a:schemeClr val="tx2"/>
                </a:solidFill>
              </a:rPr>
              <a:t>Спирмена</a:t>
            </a:r>
            <a:r>
              <a:rPr lang="ru-RU" sz="2400" b="1" dirty="0">
                <a:solidFill>
                  <a:schemeClr val="tx2"/>
                </a:solidFill>
              </a:rPr>
              <a:t>)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3</a:t>
            </a:r>
            <a:endParaRPr lang="en-US" sz="1600" dirty="0"/>
          </a:p>
        </p:txBody>
      </p:sp>
      <p:graphicFrame>
        <p:nvGraphicFramePr>
          <p:cNvPr id="5" name="Корреляции Спирмена"/>
          <p:cNvGraphicFramePr/>
          <p:nvPr/>
        </p:nvGraphicFramePr>
        <p:xfrm>
          <a:off x="457200" y="1143000"/>
          <a:ext cx="11274552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Условное обозначение 1"/>
          <p:cNvSpPr/>
          <p:nvPr/>
        </p:nvSpPr>
        <p:spPr>
          <a:xfrm>
            <a:off x="731520" y="5852160"/>
            <a:ext cx="219456" cy="219456"/>
          </a:xfrm>
          <a:prstGeom prst="rect">
            <a:avLst/>
          </a:prstGeom>
          <a:solidFill>
            <a:srgbClr val="5A9AA0"/>
          </a:solidFill>
          <a:ln w="6350">
            <a:solidFill>
              <a:srgbClr val="5A9AA0"/>
            </a:solidFill>
            <a:prstDash val="solid"/>
          </a:ln>
        </p:spPr>
        <p:txBody>
          <a:bodyPr/>
          <a:p/>
        </p:txBody>
      </p:sp>
      <p:sp>
        <p:nvSpPr>
          <p:cNvPr id="7" name="Подпись обозначения 1"/>
          <p:cNvSpPr txBox="1"/>
          <p:nvPr/>
        </p:nvSpPr>
        <p:spPr>
          <a:xfrm>
            <a:off x="1051560" y="581558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3E55"/>
                </a:solidFill>
              </a:rPr>
              <a:t>сильная (≥0,70)</a:t>
            </a:r>
            <a:endParaRPr lang="en-US" sz="1600" dirty="0"/>
          </a:p>
        </p:txBody>
      </p:sp>
      <p:sp>
        <p:nvSpPr>
          <p:cNvPr id="8" name="Условное обозначение 2"/>
          <p:cNvSpPr/>
          <p:nvPr/>
        </p:nvSpPr>
        <p:spPr>
          <a:xfrm>
            <a:off x="3474720" y="5852160"/>
            <a:ext cx="219456" cy="219456"/>
          </a:xfrm>
          <a:prstGeom prst="rect">
            <a:avLst/>
          </a:prstGeom>
          <a:solidFill>
            <a:srgbClr val="6C94BE"/>
          </a:solidFill>
          <a:ln w="6350">
            <a:solidFill>
              <a:srgbClr val="6C94BE"/>
            </a:solidFill>
            <a:prstDash val="solid"/>
          </a:ln>
        </p:spPr>
        <p:txBody>
          <a:bodyPr/>
          <a:p/>
        </p:txBody>
      </p:sp>
      <p:sp>
        <p:nvSpPr>
          <p:cNvPr id="9" name="Подпись обозначения 2"/>
          <p:cNvSpPr txBox="1"/>
          <p:nvPr/>
        </p:nvSpPr>
        <p:spPr>
          <a:xfrm>
            <a:off x="3794760" y="581558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3E55"/>
                </a:solidFill>
              </a:rPr>
              <a:t>умеренная (0,30–0,69)</a:t>
            </a:r>
            <a:endParaRPr lang="en-US" sz="1600" dirty="0"/>
          </a:p>
        </p:txBody>
      </p:sp>
      <p:sp>
        <p:nvSpPr>
          <p:cNvPr id="10" name="Условное обозначение 3"/>
          <p:cNvSpPr/>
          <p:nvPr/>
        </p:nvSpPr>
        <p:spPr>
          <a:xfrm>
            <a:off x="6217920" y="5852160"/>
            <a:ext cx="219456" cy="219456"/>
          </a:xfrm>
          <a:prstGeom prst="rect">
            <a:avLst/>
          </a:prstGeom>
          <a:solidFill>
            <a:srgbClr val="B9C4D2"/>
          </a:solidFill>
          <a:ln w="6350">
            <a:solidFill>
              <a:srgbClr val="B9C4D2"/>
            </a:solidFill>
            <a:prstDash val="solid"/>
          </a:ln>
        </p:spPr>
        <p:txBody>
          <a:bodyPr/>
          <a:p/>
        </p:txBody>
      </p:sp>
      <p:sp>
        <p:nvSpPr>
          <p:cNvPr id="11" name="Подпись обозначения 3"/>
          <p:cNvSpPr txBox="1"/>
          <p:nvPr/>
        </p:nvSpPr>
        <p:spPr>
          <a:xfrm>
            <a:off x="6537960" y="581558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3E55"/>
                </a:solidFill>
              </a:rPr>
              <a:t>слабая (&lt;0,30)</a:t>
            </a:r>
            <a:endParaRPr lang="en-US" sz="1600" dirty="0"/>
          </a:p>
        </p:txBody>
      </p:sp>
      <p:sp>
        <p:nvSpPr>
          <p:cNvPr id="12" name="Условное обозначение 4"/>
          <p:cNvSpPr/>
          <p:nvPr/>
        </p:nvSpPr>
        <p:spPr>
          <a:xfrm>
            <a:off x="8961120" y="5852160"/>
            <a:ext cx="219456" cy="219456"/>
          </a:xfrm>
          <a:prstGeom prst="rect">
            <a:avLst/>
          </a:prstGeom>
          <a:solidFill>
            <a:srgbClr val="C99AA9"/>
          </a:solidFill>
          <a:ln w="6350">
            <a:solidFill>
              <a:srgbClr val="C99AA9"/>
            </a:solidFill>
            <a:prstDash val="solid"/>
          </a:ln>
        </p:spPr>
        <p:txBody>
          <a:bodyPr/>
          <a:p/>
        </p:txBody>
      </p:sp>
      <p:sp>
        <p:nvSpPr>
          <p:cNvPr id="13" name="Подпись обозначения 4"/>
          <p:cNvSpPr txBox="1"/>
          <p:nvPr/>
        </p:nvSpPr>
        <p:spPr>
          <a:xfrm>
            <a:off x="9281160" y="581558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3E55"/>
                </a:solidFill>
              </a:rPr>
              <a:t>отрицательная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2200" b="1" dirty="0">
                <a:solidFill>
                  <a:schemeClr val="tx2"/>
                </a:solidFill>
              </a:rPr>
              <a:t>Сопряженность эффективности лечебных комплексов с динамикой клинических, </a:t>
            </a:r>
            <a:r>
              <a:rPr lang="ru-RU" dirty="0" sz="2200"/>
              <a:t>пс</a:t>
            </a:r>
            <a:r>
              <a:rPr lang="ru-RU" sz="2200" b="1" dirty="0">
                <a:solidFill>
                  <a:schemeClr val="tx2"/>
                </a:solidFill>
              </a:rPr>
              <a:t>иховегетативных и адаптационных показателей (хи квадрат Пирсона, ко)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3</a:t>
            </a:r>
            <a:endParaRPr lang="en-US" sz="1600" dirty="0"/>
          </a:p>
        </p:txBody>
      </p:sp>
      <p:graphicFrame>
        <p:nvGraphicFramePr>
          <p:cNvPr id="5" name="Хи-квадрат СРК-З"/>
          <p:cNvGraphicFramePr/>
          <p:nvPr/>
        </p:nvGraphicFramePr>
        <p:xfrm>
          <a:off x="457200" y="1188720"/>
          <a:ext cx="553212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Хи-квадрат СРК-Д"/>
          <p:cNvGraphicFramePr/>
          <p:nvPr/>
        </p:nvGraphicFramePr>
        <p:xfrm>
          <a:off x="6199632" y="1188720"/>
          <a:ext cx="553212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Факторы, определяющие эффективность лечения в </a:t>
            </a:r>
            <a:r>
              <a:rPr lang="en-US" sz="2400" b="1" dirty="0" err="1">
                <a:solidFill>
                  <a:schemeClr val="tx2"/>
                </a:solidFill>
              </a:rPr>
              <a:t>основной</a:t>
            </a:r>
            <a:r>
              <a:rPr lang="en-US" sz="2400" b="1" dirty="0">
                <a:solidFill>
                  <a:schemeClr val="tx2"/>
                </a:solidFill>
              </a:rPr>
              <a:t> </a:t>
            </a:r>
            <a:r>
              <a:rPr lang="en-US" sz="2400" b="1" dirty="0" err="1">
                <a:solidFill>
                  <a:schemeClr val="tx2"/>
                </a:solidFill>
              </a:rPr>
              <a:t>группе</a:t>
            </a:r>
            <a:r>
              <a:rPr lang="ru-RU" b="1" dirty="0" sz="240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dirty="0" sz="240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Критерий хи-квадрат Пирсона</a:t>
            </a:r>
            <a:r>
              <a:rPr lang="ru-RU" b="1" dirty="0" sz="240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3</a:t>
            </a:r>
            <a:endParaRPr lang="en-US" sz="1600" dirty="0"/>
          </a:p>
        </p:txBody>
      </p:sp>
      <p:graphicFrame>
        <p:nvGraphicFramePr>
          <p:cNvPr id="5" name="Сила связи r"/>
          <p:cNvGraphicFramePr/>
          <p:nvPr/>
        </p:nvGraphicFramePr>
        <p:xfrm>
          <a:off x="457200" y="1188720"/>
          <a:ext cx="553212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Хи-квадрат предикторов"/>
          <p:cNvGraphicFramePr/>
          <p:nvPr/>
        </p:nvGraphicFramePr>
        <p:xfrm>
          <a:off x="6199632" y="1188720"/>
          <a:ext cx="553212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Влияние лечебных комплексов на механизмы патогенеза СРК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280160"/>
            <a:ext cx="2926080" cy="640080"/>
          </a:xfrm>
          <a:prstGeom prst="roundRect">
            <a:avLst>
              <a:gd name="adj" fmla="val 11429"/>
            </a:avLst>
          </a:prstGeom>
          <a:solidFill>
            <a:srgbClr val="B9C4D2"/>
          </a:solidFill>
          <a:ln w="9525">
            <a:solidFill>
              <a:srgbClr val="B9C4D2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1. Базисное лечение</a:t>
            </a:r>
            <a:endParaRPr lang="en-US" sz="1600" dirty="0"/>
          </a:p>
        </p:txBody>
      </p:sp>
      <p:sp>
        <p:nvSpPr>
          <p:cNvPr id="6" name="Стрелка"/>
          <p:cNvSpPr/>
          <p:nvPr/>
        </p:nvSpPr>
        <p:spPr>
          <a:xfrm>
            <a:off x="3383280" y="1600200"/>
            <a:ext cx="457200" cy="0"/>
          </a:xfrm>
          <a:prstGeom prst="line">
            <a:avLst/>
          </a:prstGeom>
          <a:noFill/>
          <a:ln w="22225">
            <a:solidFill>
              <a:srgbClr val="7F93A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3840480" y="1280160"/>
            <a:ext cx="2468880" cy="640080"/>
          </a:xfrm>
          <a:prstGeom prst="roundRect">
            <a:avLst>
              <a:gd name="adj" fmla="val 11429"/>
            </a:avLst>
          </a:prstGeom>
          <a:solidFill>
            <a:srgbClr val="B9C4D2"/>
          </a:solidFill>
          <a:ln w="9525">
            <a:solidFill>
              <a:srgbClr val="B9C4D2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клинические симптомы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94560"/>
            <a:ext cx="2926080" cy="731520"/>
          </a:xfrm>
          <a:prstGeom prst="roundRect">
            <a:avLst>
              <a:gd name="adj" fmla="val 10000"/>
            </a:avLst>
          </a:prstGeom>
          <a:solidFill>
            <a:srgbClr val="E0C28C"/>
          </a:solidFill>
          <a:ln w="9525">
            <a:solidFill>
              <a:srgbClr val="E0C28C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2. Базисное лечение + амплипульстерапия</a:t>
            </a:r>
            <a:endParaRPr lang="en-US" sz="1600" dirty="0"/>
          </a:p>
        </p:txBody>
      </p:sp>
      <p:sp>
        <p:nvSpPr>
          <p:cNvPr id="9" name="Стрелка"/>
          <p:cNvSpPr/>
          <p:nvPr/>
        </p:nvSpPr>
        <p:spPr>
          <a:xfrm>
            <a:off x="3383280" y="2560320"/>
            <a:ext cx="457200" cy="0"/>
          </a:xfrm>
          <a:prstGeom prst="line">
            <a:avLst/>
          </a:prstGeom>
          <a:noFill/>
          <a:ln w="22225">
            <a:solidFill>
              <a:srgbClr val="7F93A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3840480" y="2240280"/>
            <a:ext cx="2468880" cy="640080"/>
          </a:xfrm>
          <a:prstGeom prst="roundRect">
            <a:avLst>
              <a:gd name="adj" fmla="val 11429"/>
            </a:avLst>
          </a:prstGeom>
          <a:solidFill>
            <a:srgbClr val="E0C28C"/>
          </a:solidFill>
          <a:ln w="9525">
            <a:solidFill>
              <a:srgbClr val="E0C28C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клинические симптомы</a:t>
            </a:r>
            <a:endParaRPr lang="en-US" sz="1600" dirty="0"/>
          </a:p>
        </p:txBody>
      </p:sp>
      <p:sp>
        <p:nvSpPr>
          <p:cNvPr id="11" name="Стрелка"/>
          <p:cNvSpPr/>
          <p:nvPr/>
        </p:nvSpPr>
        <p:spPr>
          <a:xfrm>
            <a:off x="6309360" y="2560320"/>
            <a:ext cx="457200" cy="0"/>
          </a:xfrm>
          <a:prstGeom prst="line">
            <a:avLst/>
          </a:prstGeom>
          <a:noFill/>
          <a:ln w="22225">
            <a:solidFill>
              <a:srgbClr val="7F93A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766560" y="2240280"/>
            <a:ext cx="2468880" cy="640080"/>
          </a:xfrm>
          <a:prstGeom prst="roundRect">
            <a:avLst>
              <a:gd name="adj" fmla="val 11429"/>
            </a:avLst>
          </a:prstGeom>
          <a:solidFill>
            <a:srgbClr val="E0C28C"/>
          </a:solidFill>
          <a:ln w="9525">
            <a:solidFill>
              <a:srgbClr val="E0C28C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моторика кишечника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200400"/>
            <a:ext cx="2926080" cy="2743200"/>
          </a:xfrm>
          <a:prstGeom prst="roundRect">
            <a:avLst>
              <a:gd name="adj" fmla="val 2667"/>
            </a:avLst>
          </a:prstGeom>
          <a:solidFill>
            <a:srgbClr val="5A9AA0"/>
          </a:solidFill>
          <a:ln w="9525">
            <a:solidFill>
              <a:srgbClr val="5A9AA0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3. Базисное лечение + амплипульстерапия + КВЧ-терапия</a:t>
            </a:r>
            <a:endParaRPr lang="en-US" sz="1600" dirty="0"/>
          </a:p>
        </p:txBody>
      </p:sp>
      <p:sp>
        <p:nvSpPr>
          <p:cNvPr id="14" name="Скобка"/>
          <p:cNvSpPr/>
          <p:nvPr/>
        </p:nvSpPr>
        <p:spPr>
          <a:xfrm>
            <a:off x="3611880" y="3566160"/>
            <a:ext cx="0" cy="1965960"/>
          </a:xfrm>
          <a:prstGeom prst="line">
            <a:avLst/>
          </a:prstGeom>
          <a:noFill/>
          <a:ln w="22225">
            <a:solidFill>
              <a:srgbClr val="7F93AD"/>
            </a:solidFill>
            <a:prstDash val="solid"/>
          </a:ln>
        </p:spPr>
        <p:txBody>
          <a:bodyPr/>
          <a:p/>
        </p:txBody>
      </p:sp>
      <p:sp>
        <p:nvSpPr>
          <p:cNvPr id="15" name="Отвод от комплекса"/>
          <p:cNvSpPr/>
          <p:nvPr/>
        </p:nvSpPr>
        <p:spPr>
          <a:xfrm>
            <a:off x="3383280" y="4549140"/>
            <a:ext cx="228600" cy="0"/>
          </a:xfrm>
          <a:prstGeom prst="line">
            <a:avLst/>
          </a:prstGeom>
          <a:noFill/>
          <a:ln w="22225">
            <a:solidFill>
              <a:srgbClr val="7F93AD"/>
            </a:solidFill>
            <a:prstDash val="solid"/>
          </a:ln>
        </p:spPr>
        <p:txBody>
          <a:bodyPr/>
          <a:p/>
        </p:txBody>
      </p:sp>
      <p:sp>
        <p:nvSpPr>
          <p:cNvPr id="16" name="Стрелка к блоку 1"/>
          <p:cNvSpPr/>
          <p:nvPr/>
        </p:nvSpPr>
        <p:spPr>
          <a:xfrm>
            <a:off x="3611880" y="3566160"/>
            <a:ext cx="228600" cy="0"/>
          </a:xfrm>
          <a:prstGeom prst="line">
            <a:avLst/>
          </a:prstGeom>
          <a:noFill/>
          <a:ln w="22225">
            <a:solidFill>
              <a:srgbClr val="7F93A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7" name="Стрелка к блоку 2"/>
          <p:cNvSpPr/>
          <p:nvPr/>
        </p:nvSpPr>
        <p:spPr>
          <a:xfrm>
            <a:off x="3611880" y="4572000"/>
            <a:ext cx="228600" cy="0"/>
          </a:xfrm>
          <a:prstGeom prst="line">
            <a:avLst/>
          </a:prstGeom>
          <a:noFill/>
          <a:ln w="22225">
            <a:solidFill>
              <a:srgbClr val="7F93A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8" name="Стрелка к блоку 3"/>
          <p:cNvSpPr/>
          <p:nvPr/>
        </p:nvSpPr>
        <p:spPr>
          <a:xfrm>
            <a:off x="3611880" y="5532120"/>
            <a:ext cx="228600" cy="0"/>
          </a:xfrm>
          <a:prstGeom prst="line">
            <a:avLst/>
          </a:prstGeom>
          <a:noFill/>
          <a:ln w="22225">
            <a:solidFill>
              <a:srgbClr val="7F93A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3840480" y="324612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5A9AA0"/>
          </a:solidFill>
          <a:ln w="9525">
            <a:solidFill>
              <a:srgbClr val="5A9AA0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клинические симптомы</a:t>
            </a:r>
            <a:endParaRPr lang="en-US" sz="1600" dirty="0"/>
          </a:p>
        </p:txBody>
      </p:sp>
      <p:sp>
        <p:nvSpPr>
          <p:cNvPr id="20" name="Стрелка"/>
          <p:cNvSpPr/>
          <p:nvPr/>
        </p:nvSpPr>
        <p:spPr>
          <a:xfrm>
            <a:off x="6035040" y="3566160"/>
            <a:ext cx="365760" cy="0"/>
          </a:xfrm>
          <a:prstGeom prst="line">
            <a:avLst/>
          </a:prstGeom>
          <a:noFill/>
          <a:ln w="22225">
            <a:solidFill>
              <a:srgbClr val="7F93A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6400800" y="324612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5A9AA0"/>
          </a:solidFill>
          <a:ln w="9525">
            <a:solidFill>
              <a:srgbClr val="5A9AA0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моторика кишечника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3840480" y="4206240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5A9AA0"/>
          </a:solidFill>
          <a:ln w="9525">
            <a:solidFill>
              <a:srgbClr val="5A9AA0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отсутствие стресса, тревожности</a:t>
            </a:r>
            <a:endParaRPr lang="en-US" sz="1600" dirty="0"/>
          </a:p>
        </p:txBody>
      </p:sp>
      <p:sp>
        <p:nvSpPr>
          <p:cNvPr id="23" name="Стрелка"/>
          <p:cNvSpPr/>
          <p:nvPr/>
        </p:nvSpPr>
        <p:spPr>
          <a:xfrm>
            <a:off x="6035040" y="4572000"/>
            <a:ext cx="320040" cy="0"/>
          </a:xfrm>
          <a:prstGeom prst="line">
            <a:avLst/>
          </a:prstGeom>
          <a:noFill/>
          <a:ln w="22225">
            <a:solidFill>
              <a:srgbClr val="7F93A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6355080" y="4206240"/>
            <a:ext cx="1783080" cy="731520"/>
          </a:xfrm>
          <a:prstGeom prst="roundRect">
            <a:avLst>
              <a:gd name="adj" fmla="val 10000"/>
            </a:avLst>
          </a:prstGeom>
          <a:solidFill>
            <a:srgbClr val="5A9AA0"/>
          </a:solidFill>
          <a:ln w="9525">
            <a:solidFill>
              <a:srgbClr val="5A9AA0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биоценоз кишечника</a:t>
            </a:r>
            <a:endParaRPr lang="en-US" sz="1600" dirty="0"/>
          </a:p>
        </p:txBody>
      </p:sp>
      <p:sp>
        <p:nvSpPr>
          <p:cNvPr id="25" name="Стрелка"/>
          <p:cNvSpPr/>
          <p:nvPr/>
        </p:nvSpPr>
        <p:spPr>
          <a:xfrm>
            <a:off x="8138160" y="4572000"/>
            <a:ext cx="320040" cy="0"/>
          </a:xfrm>
          <a:prstGeom prst="line">
            <a:avLst/>
          </a:prstGeom>
          <a:noFill/>
          <a:ln w="22225">
            <a:solidFill>
              <a:srgbClr val="7F93A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8458200" y="420624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5A9AA0"/>
          </a:solidFill>
          <a:ln w="9525">
            <a:solidFill>
              <a:srgbClr val="5A9AA0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психовегетативный статус</a:t>
            </a:r>
            <a:endParaRPr lang="en-US" sz="1600" dirty="0"/>
          </a:p>
        </p:txBody>
      </p:sp>
      <p:sp>
        <p:nvSpPr>
          <p:cNvPr id="27" name="Стрелка"/>
          <p:cNvSpPr/>
          <p:nvPr/>
        </p:nvSpPr>
        <p:spPr>
          <a:xfrm>
            <a:off x="10469880" y="4572000"/>
            <a:ext cx="320040" cy="0"/>
          </a:xfrm>
          <a:prstGeom prst="line">
            <a:avLst/>
          </a:prstGeom>
          <a:noFill/>
          <a:ln w="22225">
            <a:solidFill>
              <a:srgbClr val="7F93A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8" name="Text 25"/>
          <p:cNvSpPr txBox="1"/>
          <p:nvPr/>
        </p:nvSpPr>
        <p:spPr>
          <a:xfrm>
            <a:off x="10789920" y="4206240"/>
            <a:ext cx="941832" cy="731520"/>
          </a:xfrm>
          <a:prstGeom prst="roundRect">
            <a:avLst>
              <a:gd name="adj" fmla="val 10000"/>
            </a:avLst>
          </a:prstGeom>
          <a:solidFill>
            <a:srgbClr val="5A9AA0"/>
          </a:solidFill>
          <a:ln w="9525">
            <a:solidFill>
              <a:srgbClr val="5A9AA0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КЖ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3840480" y="521208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5A9AA0"/>
          </a:solidFill>
          <a:ln w="9525">
            <a:solidFill>
              <a:srgbClr val="5A9AA0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работоспособность</a:t>
            </a:r>
            <a:endParaRPr lang="en-US" sz="1600" dirty="0"/>
          </a:p>
        </p:txBody>
      </p:sp>
      <p:sp>
        <p:nvSpPr>
          <p:cNvPr id="30" name="Стрелка"/>
          <p:cNvSpPr/>
          <p:nvPr/>
        </p:nvSpPr>
        <p:spPr>
          <a:xfrm>
            <a:off x="6035040" y="5532120"/>
            <a:ext cx="320040" cy="0"/>
          </a:xfrm>
          <a:prstGeom prst="line">
            <a:avLst/>
          </a:prstGeom>
          <a:noFill/>
          <a:ln w="22225">
            <a:solidFill>
              <a:srgbClr val="7F93A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1" name="Text 28"/>
          <p:cNvSpPr txBox="1"/>
          <p:nvPr/>
        </p:nvSpPr>
        <p:spPr>
          <a:xfrm>
            <a:off x="6355080" y="521208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5A9AA0"/>
          </a:solidFill>
          <a:ln w="9525">
            <a:solidFill>
              <a:srgbClr val="5A9AA0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адаптационный статус</a:t>
            </a:r>
            <a:endParaRPr lang="en-US" sz="1600" dirty="0"/>
          </a:p>
        </p:txBody>
      </p:sp>
      <p:sp>
        <p:nvSpPr>
          <p:cNvPr id="32" name="Пояснение АМП"/>
          <p:cNvSpPr txBox="1"/>
          <p:nvPr/>
        </p:nvSpPr>
        <p:spPr>
          <a:xfrm>
            <a:off x="9235440" y="1783080"/>
            <a:ext cx="24963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амплипульстерапия — моторная функция кишечника, анальгезирующее действие</a:t>
            </a:r>
            <a:endParaRPr lang="en-US" sz="1600" dirty="0"/>
          </a:p>
        </p:txBody>
      </p:sp>
      <p:sp>
        <p:nvSpPr>
          <p:cNvPr id="33" name="Пояснение КВЧ"/>
          <p:cNvSpPr txBox="1"/>
          <p:nvPr/>
        </p:nvSpPr>
        <p:spPr>
          <a:xfrm>
            <a:off x="8778240" y="3127248"/>
            <a:ext cx="2953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КВЧ-терапия — вегетокорригирующее, седативное, антистрессорное действие</a:t>
            </a:r>
            <a:endParaRPr lang="en-US" sz="16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Выводы (1–3)</a:t>
            </a:r>
            <a:endParaRPr lang="en-US" sz="2600" dirty="0"/>
          </a:p>
        </p:txBody>
      </p:sp>
      <p:sp>
        <p:nvSpPr>
          <p:cNvPr id="3" name="Номер вывода 1"/>
          <p:cNvSpPr/>
          <p:nvPr/>
        </p:nvSpPr>
        <p:spPr>
          <a:xfrm>
            <a:off x="457200" y="987552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4" name="Вывод 1"/>
          <p:cNvSpPr txBox="1"/>
          <p:nvPr/>
        </p:nvSpPr>
        <p:spPr>
          <a:xfrm>
            <a:off x="1097280" y="914400"/>
            <a:ext cx="10634472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50800" tIns="127000" rIns="127000" bIns="5080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Установлено, что у пациентов молодого возраста с синдромом раздраженного кишечника имеются выраженные клинические, лабораторные, психовегетативные и адаптационные нарушения: абдоминальная боль и нарушение стула у 100%; дисбиоз кишечника 1–2 степени у 40%; снижение адаптационных возможностей организма по типу реакции стресса и переактивации у 40%; признаки пневматоза при ультразвуковом исследовании кишечника у 91,8%; вегетативная дисфункция у 40,7% (при клиническом варианте с преобладанием запора) и у 35,5% (при клиническом варианте с преобладанием диареи); повышенный уровень стресса у 100%, личностной и ситуативной тревожности у 46,6%; низкое качество жизни у 81,5% пациентов.</a:t>
            </a:r>
            <a:endParaRPr lang="en-US" sz="1600" dirty="0"/>
          </a:p>
        </p:txBody>
      </p:sp>
      <p:sp>
        <p:nvSpPr>
          <p:cNvPr id="5" name="Номер вывода 2"/>
          <p:cNvSpPr/>
          <p:nvPr/>
        </p:nvSpPr>
        <p:spPr>
          <a:xfrm>
            <a:off x="457200" y="2980944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6" name="Вывод 2"/>
          <p:cNvSpPr txBox="1"/>
          <p:nvPr/>
        </p:nvSpPr>
        <p:spPr>
          <a:xfrm>
            <a:off x="1097280" y="2907792"/>
            <a:ext cx="10634472" cy="150876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50800" tIns="127000" rIns="127000" bIns="5080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Комбинированное применение КВЧ-терапии и амплипульстерапии в санаторно-курортном лечении пациентов с синдромом раздраженного кишечника высокоэффективно, что подтверждается купированием абдоминалгии у 75% пациентов при клиническом варианте с запором (p=0,003) и у 52% пациентов при клиническом варианте с диареей (p=0,007), нормализацией стула у 64,7-66,7% соответственно (p=0,0004), устранением пневматоза кишечника у 72,2-80% (p=0,0002) соответственно, улучшением микробиоценоза кишечника у 100% пациентов (p=0,001), формированием адаптационных реакций активации у 87,5% (p=0,001) пациентов.</a:t>
            </a:r>
            <a:endParaRPr lang="en-US" sz="1600" dirty="0"/>
          </a:p>
        </p:txBody>
      </p:sp>
      <p:sp>
        <p:nvSpPr>
          <p:cNvPr id="7" name="Номер вывода 3"/>
          <p:cNvSpPr/>
          <p:nvPr/>
        </p:nvSpPr>
        <p:spPr>
          <a:xfrm>
            <a:off x="457200" y="4562856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8" name="Вывод 3"/>
          <p:cNvSpPr txBox="1"/>
          <p:nvPr/>
        </p:nvSpPr>
        <p:spPr>
          <a:xfrm>
            <a:off x="1097280" y="4489704"/>
            <a:ext cx="10634472" cy="187452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50800" tIns="127000" rIns="127000" bIns="5080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Комплексное санаторно-курортное лечение с применением КВЧ-терапии и амплипульстерапии способствует улучшению вегетативной регуляции и вариабельности ритма сердца: формирование состояния эйтонии у 83,3% пациентов при клиническом варианте с преобладанием запора и у 75,0% пациентов при клиническом варианте с преобладанием диареи; увеличение частоты регистрации нормального типа вегетативного обеспечения и вегетативной реактивности на 58,3-58,2% (p=0,001) соответственно, уменьшение числа пациентов с гиперсимпатикотонией по данным вариабельности ритма сердца до 25,7-12,8% (р=0,004) соответственно и выраженной ваготонией до 26,2-13,1% (р=0,041) соответственно.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Выводы (4–6)</a:t>
            </a:r>
            <a:endParaRPr lang="en-US" sz="2600" dirty="0"/>
          </a:p>
        </p:txBody>
      </p:sp>
      <p:sp>
        <p:nvSpPr>
          <p:cNvPr id="3" name="Номер вывода 4"/>
          <p:cNvSpPr/>
          <p:nvPr/>
        </p:nvSpPr>
        <p:spPr>
          <a:xfrm>
            <a:off x="457200" y="987552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4" name="Вывод 4"/>
          <p:cNvSpPr txBox="1"/>
          <p:nvPr/>
        </p:nvSpPr>
        <p:spPr>
          <a:xfrm>
            <a:off x="1097280" y="914400"/>
            <a:ext cx="10634472" cy="150876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50800" tIns="127000" rIns="127000" bIns="5080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Комбинированное применение КВЧ-терапии и амплипульстерапии оказывает положительное влияние на психоэмоциональный статус и качество жизни: улучшение показателей качества жизни по физическому и психическому компонентам здоровья достигнуто у 69,6% (p=0,001) при клиническом варианте с преобладанием запора и у 66,7% при клиническом варианте с преобладанием диареи (p=0,009), снижение уровня ситуативной и личностной тревожности на 61,1-52,4% (p=0,0002) соответственно, снижение уровня стресса в 6,1-2,4 раза (p=0,001), что сопровождалось ростом работоспособности в 1,5 раза (p=0,03).</a:t>
            </a:r>
            <a:endParaRPr lang="en-US" sz="1600" dirty="0"/>
          </a:p>
        </p:txBody>
      </p:sp>
      <p:sp>
        <p:nvSpPr>
          <p:cNvPr id="5" name="Номер вывода 5"/>
          <p:cNvSpPr/>
          <p:nvPr/>
        </p:nvSpPr>
        <p:spPr>
          <a:xfrm>
            <a:off x="457200" y="2569464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6" name="Вывод 5"/>
          <p:cNvSpPr txBox="1"/>
          <p:nvPr/>
        </p:nvSpPr>
        <p:spPr>
          <a:xfrm>
            <a:off x="1097280" y="2496312"/>
            <a:ext cx="10634472" cy="146304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50800" tIns="127000" rIns="127000" bIns="5080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Комплексное санаторно-курортное лечение с комбинированным применением КВЧ-терапии и амплипульстерапии позволяет достичь высоких непосредственных результатов лечения: эффективность лечения составила 94% у пациентов при клиническом варианте с преобладанием запора и 93,3% у пациентов при клиническом варианте с преобладанием диареи, и способствует устойчивому сохранению достигнутых результатов в краткосрочной и среднесрочной перспективе в 86,7-84,6% случаев соответственно.</a:t>
            </a:r>
            <a:endParaRPr lang="en-US" sz="1600" dirty="0"/>
          </a:p>
        </p:txBody>
      </p:sp>
      <p:sp>
        <p:nvSpPr>
          <p:cNvPr id="7" name="Номер вывода 6"/>
          <p:cNvSpPr/>
          <p:nvPr/>
        </p:nvSpPr>
        <p:spPr>
          <a:xfrm>
            <a:off x="457200" y="4105656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8" name="Вывод 6"/>
          <p:cNvSpPr txBox="1"/>
          <p:nvPr/>
        </p:nvSpPr>
        <p:spPr>
          <a:xfrm>
            <a:off x="1097280" y="4032504"/>
            <a:ext cx="10634472" cy="224028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50800" tIns="127000" rIns="127000" bIns="5080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Патогенетическое действие комбинированного применения КВЧ-терапии и амплипульстерапии многоуровневое: амплипульстерапия влияет на моторную функцию ЖКТ (купирование запора χ²=5,75; p=0,005; диареи χ²=4,88; p=0,007, уменьшение абдоминалгии и метеоризма χ²=19,29; p=0,01); КВЧ-терапия способствует нормализации адаптационного статуса (купирование реакции стресса χ²=10,89; p=0,003), вегетативного баланса (χ²=70,84; p=0,01) и повышению качества жизни (χ²=113,35; p=0,02). Эффективность лечения коррелирует с купированием боли (r=0,325–0,338) и типом адаптационной реакции (r=0,355–0,528); максимальный эффект отмечается при реакциях спокойной и повышенной активации. Ключевой предиктор эффективности лечения – гармонизация вегетативного тонуса: эйтония коррелирует с результатами лечения (r=0,809 при клиническом варианте с запорами и r=1,0 при клиническом варианте с диареей).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94560"/>
            <a:ext cx="107259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</a:rPr>
              <a:t>Благодарю за внимание!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Научный стиль (спокойная гамма)">
  <a:themeElements>
    <a:clrScheme name="Научный стиль (спокойная гамма)">
      <a:dk1>
        <a:srgbClr val="2F3E55"/>
      </a:dk1>
      <a:lt1>
        <a:srgbClr val="FFFFFF"/>
      </a:lt1>
      <a:dk2>
        <a:srgbClr val="3D5A80"/>
      </a:dk2>
      <a:lt2>
        <a:srgbClr val="EEF2F7"/>
      </a:lt2>
      <a:accent1>
        <a:srgbClr val="4F7CAC"/>
      </a:accent1>
      <a:accent2>
        <a:srgbClr val="5A9AA0"/>
      </a:accent2>
      <a:accent3>
        <a:srgbClr val="D9B77E"/>
      </a:accent3>
      <a:accent4>
        <a:srgbClr val="B9C4D2"/>
      </a:accent4>
      <a:accent5>
        <a:srgbClr val="8DB5A5"/>
      </a:accent5>
      <a:accent6>
        <a:srgbClr val="B98B9A"/>
      </a:accent6>
      <a:hlink>
        <a:srgbClr val="3D6A9E"/>
      </a:hlink>
      <a:folHlink>
        <a:srgbClr val="6B7C93"/>
      </a:folHlink>
    </a:clrScheme>
    <a:fontScheme name="Научный стиль (спокойная гамма)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6313</Words>
  <Application>Microsoft Office PowerPoint</Application>
  <PresentationFormat>Широкоэкранный</PresentationFormat>
  <Paragraphs>876</Paragraphs>
  <Slides>38</Slides>
  <Notes>38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38</vt:i4>
      </vt:variant>
    </vt:vector>
  </HeadingPairs>
  <TitlesOfParts>
    <vt:vector size="43" baseType="lpstr">
      <vt:lpstr>Arial</vt:lpstr>
      <vt:lpstr>Calibri</vt:lpstr>
      <vt:lpstr>Cambria</vt:lpstr>
      <vt:lpstr>Times New Roman</vt:lpstr>
      <vt:lpstr>Научный стиль (спокойная гамма)</vt:lpstr>
      <vt:lpstr>КВЧ-терапия и амплипульстерапия в комплексном санаторно-курортном лечении пациентов с синдромом раздраженного кишечника</vt:lpstr>
      <vt:lpstr>Актуальность</vt:lpstr>
      <vt:lpstr>Цель исследования</vt:lpstr>
      <vt:lpstr>Задачи исследования</vt:lpstr>
      <vt:lpstr>Критерии включения, невключения и исключения</vt:lpstr>
      <vt:lpstr>Дизайн исследования</vt:lpstr>
      <vt:lpstr>Методы исследования</vt:lpstr>
      <vt:lpstr>Методы лечения</vt:lpstr>
      <vt:lpstr>Положение, выносимое на защиту № 1</vt:lpstr>
      <vt:lpstr>Динамика абдоминалгии у пациентов с СРК</vt:lpstr>
      <vt:lpstr>Нормализация стула у пациентов с СРК</vt:lpstr>
      <vt:lpstr>Динамика адаптационных реакций (по Л.Х. Гаркави)</vt:lpstr>
      <vt:lpstr>Ультразвуковые признаки пневматоза кишечника</vt:lpstr>
      <vt:lpstr>Нормализация микробиоценоза кишечника</vt:lpstr>
      <vt:lpstr>Динамика микробиоценоза толстого кишечника у пациентов с СРК (КОЕ/г)</vt:lpstr>
      <vt:lpstr>Вегетативный тонус по индексу Кердо у пациентов с СРК</vt:lpstr>
      <vt:lpstr>Ортоклиностатическая проба: типы вегетативного обеспечения</vt:lpstr>
      <vt:lpstr>Эпигастральный рефлекс: типы вегетативной реактивности</vt:lpstr>
      <vt:lpstr>Спектральные показатели вариабельности ритма сердца у пациентов с СРК-З</vt:lpstr>
      <vt:lpstr>Спектральные показатели вариабельности ритма сердца у пациентов с СРК-Д</vt:lpstr>
      <vt:lpstr>Ситуативная и личностная тревожность (тест Спилбергера–Ханина)</vt:lpstr>
      <vt:lpstr>Психоэмоциональное состояние по цветовому тесту Люшера</vt:lpstr>
      <vt:lpstr>Качество жизни (SF-36) у пациентов с СРК-З</vt:lpstr>
      <vt:lpstr>Качество жизни (SF-36) у пациентов с СРК-Д</vt:lpstr>
      <vt:lpstr>Положение, выносимое на защиту № 2</vt:lpstr>
      <vt:lpstr>Эффективность комплексного санаторно-курортного лечения</vt:lpstr>
      <vt:lpstr>Абдоминалгия в отдалённом периоде (через 6 месяцев)</vt:lpstr>
      <vt:lpstr>Микробиоценоз толстого кишечника в отдалённом периоде (через 6 месяцев)</vt:lpstr>
      <vt:lpstr>Физический и психический компоненты здоровья через 6 месяцев</vt:lpstr>
      <vt:lpstr>Длительность ремиссии после лечения</vt:lpstr>
      <vt:lpstr>Положение, выносимое на защиту № 3</vt:lpstr>
      <vt:lpstr>Корреляционные связи клинических и психовегетативных показателей до лечения (коэффициент корреляции Спирмена)</vt:lpstr>
      <vt:lpstr>Сопряженность эффективности лечебных комплексов с динамикой клинических, психовегетативных и адаптационных показателей (хи квадрат Пирсона, ко)</vt:lpstr>
      <vt:lpstr>Факторы, определяющие эффективность лечения в основной группе (Критерий хи-квадрат Пирсона)</vt:lpstr>
      <vt:lpstr>Влияние лечебных комплексов на механизмы патогенеза СРК</vt:lpstr>
      <vt:lpstr>Выводы (1–3)</vt:lpstr>
      <vt:lpstr>Выводы (4–6)</vt:lpstr>
      <vt:lpstr>Благодарю за внимание!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КВЧ-терапия и амплипульстерапия с СРК — доклад к защите</dc:title>
  <dc:subject>PptxGenJS Presentation</dc:subject>
  <dc:creator>Привалова Н.И.</dc:creator>
  <cp:lastModifiedBy>Admin</cp:lastModifiedBy>
  <cp:revision>6</cp:revision>
  <dcterms:created xsi:type="dcterms:W3CDTF">2026-10-03T12:35:25Z</dcterms:created>
  <dcterms:modified xsi:type="dcterms:W3CDTF">2026-10-03T13:25:36Z</dcterms:modified>
</cp:coreProperties>
</file>