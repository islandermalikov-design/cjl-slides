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49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50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724e4ed0-0fc1-de52-2a0e-87d782168b7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Положение 1" id="{abfc960d-5293-6fa4-0b5d-7950e3e9317e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Положение 2" id="{beb45ce4-36ac-75ad-1f02-fcf3804974f1}">
          <p14:sldIdLst>
            <p14:sldId id="283"/>
            <p14:sldId id="284"/>
            <p14:sldId id="285"/>
            <p14:sldId id="286"/>
            <p14:sldId id="287"/>
          </p14:sldIdLst>
        </p14:section>
        <p14:section name="Положение 3" id="{12c269b6-4600-13ec-0af3-987784caacbf}">
          <p14:sldIdLst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Выводы" id="{24a7e950-ddf1-237d-057a-e5e447eb5455}">
          <p14:sldIdLst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_rels/chart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_rels/chart5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Распределение пациентов по группам и клиническим вариантам СРК, n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СРК-З (запор)</c:v>
                </c:pt>
              </c:strCache>
            </c:strRef>
          </c:tx>
          <c:spPr>
            <a:solidFill>
              <a:srgbClr val="8DB5A5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 (n=43)</c:v>
                  </c:pt>
                  <c:pt idx="1">
                    <c:v>Сравнения (n=47)</c:v>
                  </c:pt>
                  <c:pt idx="2">
                    <c:v>Основная (n=45)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</c:v>
                </c:pt>
                <c:pt idx="1">
                  <c:v>25</c:v>
                </c:pt>
                <c:pt idx="2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СРК-Д (диарея)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 (n=43)</c:v>
                  </c:pt>
                  <c:pt idx="1">
                    <c:v>Сравнения (n=47)</c:v>
                  </c:pt>
                  <c:pt idx="2">
                    <c:v>Основная (n=45)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22</c:v>
                </c:pt>
                <c:pt idx="2">
                  <c:v>21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2F3E55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Интенсивность абдоминалгии, баллы (шкала Ликерта) — СРК-З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2.29</c:v>
                </c:pt>
                <c:pt idx="1">
                  <c:v>2.36</c:v>
                </c:pt>
                <c:pt idx="2">
                  <c:v>2.11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1.35</c:v>
                </c:pt>
                <c:pt idx="1">
                  <c:v>1.73</c:v>
                </c:pt>
                <c:pt idx="2">
                  <c:v>0.33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Интенсивность абдоминалгии, баллы (шкала Ликерта) — СРК-Д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2.41</c:v>
                </c:pt>
                <c:pt idx="1">
                  <c:v>2.41</c:v>
                </c:pt>
                <c:pt idx="2">
                  <c:v>2.46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1.73</c:v>
                </c:pt>
                <c:pt idx="1">
                  <c:v>1.29</c:v>
                </c:pt>
                <c:pt idx="2">
                  <c:v>0.2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Частота абдоминалгии, % пациентов — СРК-З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38</c:v>
                </c:pt>
                <c:pt idx="2">
                  <c:v>25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Частота абдоминалгии, % пациентов — СРК-Д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</c:v>
                </c:pt>
                <c:pt idx="1">
                  <c:v>43</c:v>
                </c:pt>
                <c:pt idx="2">
                  <c:v>28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Нормализация стула после лечения, % пациентов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СРК-З (запор)</c:v>
                </c:pt>
              </c:strCache>
            </c:strRef>
          </c:tx>
          <c:spPr>
            <a:solidFill>
              <a:srgbClr val="8DB5A5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76.5</c:v>
                </c:pt>
                <c:pt idx="1">
                  <c:v>57.9</c:v>
                </c:pt>
                <c:pt idx="2">
                  <c:v>64.7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СРК-Д (диарея)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53.3</c:v>
                </c:pt>
                <c:pt idx="1">
                  <c:v>52.9</c:v>
                </c:pt>
                <c:pt idx="2">
                  <c:v>66.7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Реакция стресса (РС), % пациентов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17.4</c:v>
                </c:pt>
                <c:pt idx="1">
                  <c:v>16</c:v>
                </c:pt>
                <c:pt idx="2">
                  <c:v>20.9</c:v>
                </c:pt>
                <c:pt idx="3">
                  <c:v>20</c:v>
                </c:pt>
                <c:pt idx="4">
                  <c:v>22.8</c:v>
                </c:pt>
                <c:pt idx="5">
                  <c:v>19.04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13.04</c:v>
                </c:pt>
                <c:pt idx="1">
                  <c:v>12</c:v>
                </c:pt>
                <c:pt idx="2">
                  <c:v>0</c:v>
                </c:pt>
                <c:pt idx="3">
                  <c:v>15</c:v>
                </c:pt>
                <c:pt idx="4">
                  <c:v>13.6</c:v>
                </c:pt>
                <c:pt idx="5">
                  <c:v>4.7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Реакция переактивации (РПеА), % пациентов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17.4</c:v>
                </c:pt>
                <c:pt idx="1">
                  <c:v>24</c:v>
                </c:pt>
                <c:pt idx="2">
                  <c:v>20.8</c:v>
                </c:pt>
                <c:pt idx="3">
                  <c:v>20</c:v>
                </c:pt>
                <c:pt idx="4">
                  <c:v>13.6</c:v>
                </c:pt>
                <c:pt idx="5">
                  <c:v>23.8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13.04</c:v>
                </c:pt>
                <c:pt idx="1">
                  <c:v>20</c:v>
                </c:pt>
                <c:pt idx="2">
                  <c:v>8.3</c:v>
                </c:pt>
                <c:pt idx="3">
                  <c:v>15</c:v>
                </c:pt>
                <c:pt idx="4">
                  <c:v>18.1</c:v>
                </c:pt>
                <c:pt idx="5">
                  <c:v>9.5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РСА + РПА (физиологическая активация), % пациентов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39.1</c:v>
                </c:pt>
                <c:pt idx="1">
                  <c:v>36</c:v>
                </c:pt>
                <c:pt idx="2">
                  <c:v>37.5</c:v>
                </c:pt>
                <c:pt idx="3">
                  <c:v>40</c:v>
                </c:pt>
                <c:pt idx="4">
                  <c:v>45.4</c:v>
                </c:pt>
                <c:pt idx="5">
                  <c:v>38.1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47.8</c:v>
                </c:pt>
                <c:pt idx="1">
                  <c:v>44</c:v>
                </c:pt>
                <c:pt idx="2">
                  <c:v>87.5</c:v>
                </c:pt>
                <c:pt idx="3">
                  <c:v>55</c:v>
                </c:pt>
                <c:pt idx="4">
                  <c:v>54.5</c:v>
                </c:pt>
                <c:pt idx="5">
                  <c:v>80.9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Прирост числа пациентов с РСА + РПА (Δ),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Прирост РСА + РПА, Δ %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C4D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C2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A9A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C4D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C28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A9AA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8.8</c:v>
                </c:pt>
                <c:pt idx="1">
                  <c:v>12</c:v>
                </c:pt>
                <c:pt idx="2">
                  <c:v>50</c:v>
                </c:pt>
                <c:pt idx="3">
                  <c:v>15</c:v>
                </c:pt>
                <c:pt idx="4">
                  <c:v>9.1</c:v>
                </c:pt>
                <c:pt idx="5">
                  <c:v>42.8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Частота пневматоза кишечника по данным УЗИ, % пациентов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82.3</c:v>
                </c:pt>
                <c:pt idx="1">
                  <c:v>84.2</c:v>
                </c:pt>
                <c:pt idx="2">
                  <c:v>94.4</c:v>
                </c:pt>
                <c:pt idx="3">
                  <c:v>93.3</c:v>
                </c:pt>
                <c:pt idx="4">
                  <c:v>88.9</c:v>
                </c:pt>
                <c:pt idx="5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17.6</c:v>
                </c:pt>
                <c:pt idx="1">
                  <c:v>26.3</c:v>
                </c:pt>
                <c:pt idx="2">
                  <c:v>22.2</c:v>
                </c:pt>
                <c:pt idx="3">
                  <c:v>33.3</c:v>
                </c:pt>
                <c:pt idx="4">
                  <c:v>29.4</c:v>
                </c:pt>
                <c:pt idx="5">
                  <c:v>20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Результат лечения, % пациентов</a:t>
            </a:r>
          </a:p>
        </c:rich>
      </c:tx>
      <c:layout/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Нормализация показателей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Основная группа</c:v>
                  </c:pt>
                  <c:pt idx="1">
                    <c:v>Контрольная и сравнения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61.5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Значительное улучшение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Основная группа</c:v>
                  </c:pt>
                  <c:pt idx="1">
                    <c:v>Контрольная и сравнения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38.5</c:v>
                </c:pt>
              </c:numCache>
            </c:numRef>
          </c:val>
        </c:ser>
        <c:dLbls>
          <c:numFmt formatCode="0.0;-0.0;;" sourceLinked="0"/>
          <c:txPr>
            <a:bodyPr/>
            <a:lstStyle/>
            <a:p>
              <a:pPr>
                <a:defRPr b="0" i="0" strike="noStrike" sz="1100" u="none">
                  <a:solidFill>
                    <a:srgbClr val="2F3E55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Бифидобактерии, lg КОЕ/г (норма 8–10)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7</c:v>
                </c:pt>
                <c:pt idx="4">
                  <c:v>6</c:v>
                </c:pt>
                <c:pt idx="5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6</c:v>
                </c:pt>
                <c:pt idx="2">
                  <c:v>9</c:v>
                </c:pt>
                <c:pt idx="3">
                  <c:v>7</c:v>
                </c:pt>
                <c:pt idx="4">
                  <c:v>7</c:v>
                </c:pt>
                <c:pt idx="5">
                  <c:v>10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Лактобактерии, lg КОЕ/г (норма 6–10)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7</c:v>
                </c:pt>
                <c:pt idx="2">
                  <c:v>6</c:v>
                </c:pt>
                <c:pt idx="3">
                  <c:v>7</c:v>
                </c:pt>
                <c:pt idx="4">
                  <c:v>6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8</c:v>
                </c:pt>
                <c:pt idx="3">
                  <c:v>4</c:v>
                </c:pt>
                <c:pt idx="4">
                  <c:v>6</c:v>
                </c:pt>
                <c:pt idx="5">
                  <c:v>7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Симпатикотония, число пациентов (n)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</c:v>
                </c:pt>
                <c:pt idx="1">
                  <c:v>11</c:v>
                </c:pt>
                <c:pt idx="2">
                  <c:v>12</c:v>
                </c:pt>
                <c:pt idx="3">
                  <c:v>6</c:v>
                </c:pt>
                <c:pt idx="4">
                  <c:v>8</c:v>
                </c:pt>
                <c:pt idx="5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Парасимпатикотония, число пациентов (n)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8</c:v>
                </c:pt>
                <c:pt idx="2">
                  <c:v>6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Нормотония (эйтония), число пациентов (n)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</c:v>
                </c:pt>
                <c:pt idx="1">
                  <c:v>17</c:v>
                </c:pt>
                <c:pt idx="2">
                  <c:v>17</c:v>
                </c:pt>
                <c:pt idx="3">
                  <c:v>12</c:v>
                </c:pt>
                <c:pt idx="4">
                  <c:v>13</c:v>
                </c:pt>
                <c:pt idx="5">
                  <c:v>15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Нормальное вегетативное обеспечение,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21.7</c:v>
                </c:pt>
                <c:pt idx="1">
                  <c:v>20</c:v>
                </c:pt>
                <c:pt idx="2">
                  <c:v>16.7</c:v>
                </c:pt>
                <c:pt idx="3">
                  <c:v>15</c:v>
                </c:pt>
                <c:pt idx="4">
                  <c:v>18.2</c:v>
                </c:pt>
                <c:pt idx="5">
                  <c:v>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30.4</c:v>
                </c:pt>
                <c:pt idx="1">
                  <c:v>40</c:v>
                </c:pt>
                <c:pt idx="2">
                  <c:v>75</c:v>
                </c:pt>
                <c:pt idx="3">
                  <c:v>45</c:v>
                </c:pt>
                <c:pt idx="4">
                  <c:v>54.5</c:v>
                </c:pt>
                <c:pt idx="5">
                  <c:v>71.5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Недостаточное вегетативное обеспечение,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30.4</c:v>
                </c:pt>
                <c:pt idx="1">
                  <c:v>28</c:v>
                </c:pt>
                <c:pt idx="2">
                  <c:v>33.3</c:v>
                </c:pt>
                <c:pt idx="3">
                  <c:v>65</c:v>
                </c:pt>
                <c:pt idx="4">
                  <c:v>59.1</c:v>
                </c:pt>
                <c:pt idx="5">
                  <c:v>57.2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39.2</c:v>
                </c:pt>
                <c:pt idx="1">
                  <c:v>36</c:v>
                </c:pt>
                <c:pt idx="2">
                  <c:v>16.7</c:v>
                </c:pt>
                <c:pt idx="3">
                  <c:v>45</c:v>
                </c:pt>
                <c:pt idx="4">
                  <c:v>31.9</c:v>
                </c:pt>
                <c:pt idx="5">
                  <c:v>19.04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Избыточное вегетативное обеспечение,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47.9</c:v>
                </c:pt>
                <c:pt idx="1">
                  <c:v>52</c:v>
                </c:pt>
                <c:pt idx="2">
                  <c:v>50</c:v>
                </c:pt>
                <c:pt idx="3">
                  <c:v>20</c:v>
                </c:pt>
                <c:pt idx="4">
                  <c:v>22.7</c:v>
                </c:pt>
                <c:pt idx="5">
                  <c:v>33.3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30.4</c:v>
                </c:pt>
                <c:pt idx="1">
                  <c:v>24</c:v>
                </c:pt>
                <c:pt idx="2">
                  <c:v>12.5</c:v>
                </c:pt>
                <c:pt idx="3">
                  <c:v>10</c:v>
                </c:pt>
                <c:pt idx="4">
                  <c:v>13.6</c:v>
                </c:pt>
                <c:pt idx="5">
                  <c:v>9.5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Нормальный тип реактивности,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21.8</c:v>
                </c:pt>
                <c:pt idx="1">
                  <c:v>20</c:v>
                </c:pt>
                <c:pt idx="2">
                  <c:v>20.9</c:v>
                </c:pt>
                <c:pt idx="3">
                  <c:v>20</c:v>
                </c:pt>
                <c:pt idx="4">
                  <c:v>18.1</c:v>
                </c:pt>
                <c:pt idx="5">
                  <c:v>14.3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52.1</c:v>
                </c:pt>
                <c:pt idx="1">
                  <c:v>44</c:v>
                </c:pt>
                <c:pt idx="2">
                  <c:v>79.1</c:v>
                </c:pt>
                <c:pt idx="3">
                  <c:v>50</c:v>
                </c:pt>
                <c:pt idx="4">
                  <c:v>50</c:v>
                </c:pt>
                <c:pt idx="5">
                  <c:v>66.6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Парасимпатический тип реактивности,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30.4</c:v>
                </c:pt>
                <c:pt idx="1">
                  <c:v>28</c:v>
                </c:pt>
                <c:pt idx="2">
                  <c:v>25</c:v>
                </c:pt>
                <c:pt idx="3">
                  <c:v>50</c:v>
                </c:pt>
                <c:pt idx="4">
                  <c:v>50</c:v>
                </c:pt>
                <c:pt idx="5">
                  <c:v>52.4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26.08</c:v>
                </c:pt>
                <c:pt idx="1">
                  <c:v>36</c:v>
                </c:pt>
                <c:pt idx="2">
                  <c:v>12.5</c:v>
                </c:pt>
                <c:pt idx="3">
                  <c:v>25</c:v>
                </c:pt>
                <c:pt idx="4">
                  <c:v>22.7</c:v>
                </c:pt>
                <c:pt idx="5">
                  <c:v>19.04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Симпатический тип реактивности,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47.8</c:v>
                </c:pt>
                <c:pt idx="1">
                  <c:v>52</c:v>
                </c:pt>
                <c:pt idx="2">
                  <c:v>54.2</c:v>
                </c:pt>
                <c:pt idx="3">
                  <c:v>30</c:v>
                </c:pt>
                <c:pt idx="4">
                  <c:v>31.8</c:v>
                </c:pt>
                <c:pt idx="5">
                  <c:v>33.3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21.8</c:v>
                </c:pt>
                <c:pt idx="1">
                  <c:v>20</c:v>
                </c:pt>
                <c:pt idx="2">
                  <c:v>8.3</c:v>
                </c:pt>
                <c:pt idx="3">
                  <c:v>25</c:v>
                </c:pt>
                <c:pt idx="4">
                  <c:v>27.2</c:v>
                </c:pt>
                <c:pt idx="5">
                  <c:v>14.2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СРК-З: уровень тревожности, баллы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Ситуативная — до</c:v>
                </c:pt>
              </c:strCache>
            </c:strRef>
          </c:tx>
          <c:spPr>
            <a:solidFill>
              <a:srgbClr val="C9D3DF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</c:v>
                </c:pt>
                <c:pt idx="1">
                  <c:v>36.3</c:v>
                </c:pt>
                <c:pt idx="2">
                  <c:v>33.4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Ситуативная — после</c:v>
                </c:pt>
              </c:strCache>
            </c:strRef>
          </c:tx>
          <c:spPr>
            <a:solidFill>
              <a:srgbClr val="5F8DBA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33.8</c:v>
                </c:pt>
                <c:pt idx="1">
                  <c:v>36</c:v>
                </c:pt>
                <c:pt idx="2">
                  <c:v>20.8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Личностная — до</c:v>
                </c:pt>
              </c:strCache>
            </c:strRef>
          </c:tx>
          <c:spPr>
            <a:solidFill>
              <a:srgbClr val="C6E0DF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46</c:v>
                </c:pt>
                <c:pt idx="1">
                  <c:v>44.4</c:v>
                </c:pt>
                <c:pt idx="2">
                  <c:v>48.1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Личностная — после</c:v>
                </c:pt>
              </c:strCache>
            </c:strRef>
          </c:tx>
          <c:spPr>
            <a:solidFill>
              <a:srgbClr val="4C9097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39.8</c:v>
                </c:pt>
                <c:pt idx="1">
                  <c:v>43.8</c:v>
                </c:pt>
                <c:pt idx="2">
                  <c:v>33.1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СРК-Д: уровень тревожности, баллы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Ситуативная — до</c:v>
                </c:pt>
              </c:strCache>
            </c:strRef>
          </c:tx>
          <c:spPr>
            <a:solidFill>
              <a:srgbClr val="C9D3DF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38.3</c:v>
                </c:pt>
                <c:pt idx="1">
                  <c:v>35</c:v>
                </c:pt>
                <c:pt idx="2">
                  <c:v>34.5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Ситуативная — после</c:v>
                </c:pt>
              </c:strCache>
            </c:strRef>
          </c:tx>
          <c:spPr>
            <a:solidFill>
              <a:srgbClr val="5F8DBA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</c:v>
                </c:pt>
                <c:pt idx="1">
                  <c:v>33.2</c:v>
                </c:pt>
                <c:pt idx="2">
                  <c:v>20.5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Личностная — до</c:v>
                </c:pt>
              </c:strCache>
            </c:strRef>
          </c:tx>
          <c:spPr>
            <a:solidFill>
              <a:srgbClr val="C6E0DF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55.6</c:v>
                </c:pt>
                <c:pt idx="1">
                  <c:v>48.2</c:v>
                </c:pt>
                <c:pt idx="2">
                  <c:v>53.1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Личностная — после</c:v>
                </c:pt>
              </c:strCache>
            </c:strRef>
          </c:tx>
          <c:spPr>
            <a:solidFill>
              <a:srgbClr val="4C9097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53.5</c:v>
                </c:pt>
                <c:pt idx="1">
                  <c:v>45.1</c:v>
                </c:pt>
                <c:pt idx="2">
                  <c:v>35.5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Высокий уровень ситуативной тревожности, % пациентов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9D3DF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43.5</c:v>
                </c:pt>
                <c:pt idx="1">
                  <c:v>44</c:v>
                </c:pt>
                <c:pt idx="2">
                  <c:v>50</c:v>
                </c:pt>
                <c:pt idx="3">
                  <c:v>50</c:v>
                </c:pt>
                <c:pt idx="4">
                  <c:v>45.5</c:v>
                </c:pt>
                <c:pt idx="5">
                  <c:v>52.4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5F8DBA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34.8</c:v>
                </c:pt>
                <c:pt idx="1">
                  <c:v>32</c:v>
                </c:pt>
                <c:pt idx="2">
                  <c:v>11.1</c:v>
                </c:pt>
                <c:pt idx="3">
                  <c:v>30</c:v>
                </c:pt>
                <c:pt idx="4">
                  <c:v>22.7</c:v>
                </c:pt>
                <c:pt idx="5">
                  <c:v>4.8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Высокий уровень личностной тревожности, % пациентов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6E0DF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52.2</c:v>
                </c:pt>
                <c:pt idx="1">
                  <c:v>48</c:v>
                </c:pt>
                <c:pt idx="2">
                  <c:v>58.3</c:v>
                </c:pt>
                <c:pt idx="3">
                  <c:v>55</c:v>
                </c:pt>
                <c:pt idx="4">
                  <c:v>54.5</c:v>
                </c:pt>
                <c:pt idx="5">
                  <c:v>57.1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4C9097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34.8</c:v>
                </c:pt>
                <c:pt idx="1">
                  <c:v>40</c:v>
                </c:pt>
                <c:pt idx="2">
                  <c:v>16.7</c:v>
                </c:pt>
                <c:pt idx="3">
                  <c:v>30</c:v>
                </c:pt>
                <c:pt idx="4">
                  <c:v>36.4</c:v>
                </c:pt>
                <c:pt idx="5">
                  <c:v>9.5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Низкий уровень ситуативной тревожности, % пациентов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9D3DF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21.7</c:v>
                </c:pt>
                <c:pt idx="1">
                  <c:v>28</c:v>
                </c:pt>
                <c:pt idx="2">
                  <c:v>16.7</c:v>
                </c:pt>
                <c:pt idx="3">
                  <c:v>25</c:v>
                </c:pt>
                <c:pt idx="4">
                  <c:v>31.8</c:v>
                </c:pt>
                <c:pt idx="5">
                  <c:v>19.04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5F8DBA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39.1</c:v>
                </c:pt>
                <c:pt idx="1">
                  <c:v>44</c:v>
                </c:pt>
                <c:pt idx="2">
                  <c:v>77.8</c:v>
                </c:pt>
                <c:pt idx="3">
                  <c:v>35</c:v>
                </c:pt>
                <c:pt idx="4">
                  <c:v>40.9</c:v>
                </c:pt>
                <c:pt idx="5">
                  <c:v>71.4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Низкий уровень личностной тревожности, % пациентов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6E0DF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21.7</c:v>
                </c:pt>
                <c:pt idx="1">
                  <c:v>24</c:v>
                </c:pt>
                <c:pt idx="2">
                  <c:v>20.8</c:v>
                </c:pt>
                <c:pt idx="3">
                  <c:v>20</c:v>
                </c:pt>
                <c:pt idx="4">
                  <c:v>22.7</c:v>
                </c:pt>
                <c:pt idx="5">
                  <c:v>19.04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4C9097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43.5</c:v>
                </c:pt>
                <c:pt idx="1">
                  <c:v>40</c:v>
                </c:pt>
                <c:pt idx="2">
                  <c:v>66.7</c:v>
                </c:pt>
                <c:pt idx="3">
                  <c:v>35</c:v>
                </c:pt>
                <c:pt idx="4">
                  <c:v>45.4</c:v>
                </c:pt>
                <c:pt idx="5">
                  <c:v>71.4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Уровень стресса, баллы (норма &lt;20)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23.2</c:v>
                </c:pt>
                <c:pt idx="1">
                  <c:v>21.5</c:v>
                </c:pt>
                <c:pt idx="2">
                  <c:v>30.1</c:v>
                </c:pt>
                <c:pt idx="3">
                  <c:v>25.9</c:v>
                </c:pt>
                <c:pt idx="4">
                  <c:v>25.2</c:v>
                </c:pt>
                <c:pt idx="5">
                  <c:v>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12.8</c:v>
                </c:pt>
                <c:pt idx="1">
                  <c:v>13.9</c:v>
                </c:pt>
                <c:pt idx="2">
                  <c:v>4.9</c:v>
                </c:pt>
                <c:pt idx="3">
                  <c:v>13.2</c:v>
                </c:pt>
                <c:pt idx="4">
                  <c:v>11.4</c:v>
                </c:pt>
                <c:pt idx="5">
                  <c:v>12.7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Психоэмоциональная напряжённость, баллы (норма 14–20)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24.2</c:v>
                </c:pt>
                <c:pt idx="1">
                  <c:v>22.5</c:v>
                </c:pt>
                <c:pt idx="2">
                  <c:v>26.1</c:v>
                </c:pt>
                <c:pt idx="3">
                  <c:v>23.2</c:v>
                </c:pt>
                <c:pt idx="4">
                  <c:v>25.1</c:v>
                </c:pt>
                <c:pt idx="5">
                  <c:v>24.3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21.8</c:v>
                </c:pt>
                <c:pt idx="1">
                  <c:v>20.8</c:v>
                </c:pt>
                <c:pt idx="2">
                  <c:v>16.3</c:v>
                </c:pt>
                <c:pt idx="3">
                  <c:v>19.3</c:v>
                </c:pt>
                <c:pt idx="4">
                  <c:v>18.7</c:v>
                </c:pt>
                <c:pt idx="5">
                  <c:v>15.6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Работоспособность, баллы (норма 16–20,9)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12.6</c:v>
                </c:pt>
                <c:pt idx="1">
                  <c:v>12.6</c:v>
                </c:pt>
                <c:pt idx="2">
                  <c:v>12.3</c:v>
                </c:pt>
                <c:pt idx="3">
                  <c:v>12.9</c:v>
                </c:pt>
                <c:pt idx="4">
                  <c:v>13.1</c:v>
                </c:pt>
                <c:pt idx="5">
                  <c:v>11.7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15.9</c:v>
                </c:pt>
                <c:pt idx="1">
                  <c:v>14.9</c:v>
                </c:pt>
                <c:pt idx="2">
                  <c:v>19.6</c:v>
                </c:pt>
                <c:pt idx="3">
                  <c:v>14.7</c:v>
                </c:pt>
                <c:pt idx="4">
                  <c:v>14.6</c:v>
                </c:pt>
                <c:pt idx="5">
                  <c:v>19.7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Контрольная группа (1а)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PF</c:v>
                  </c:pt>
                  <c:pt idx="1">
                    <c:v>RP</c:v>
                  </c:pt>
                  <c:pt idx="2">
                    <c:v>BP</c:v>
                  </c:pt>
                  <c:pt idx="3">
                    <c:v>GH</c:v>
                  </c:pt>
                  <c:pt idx="4">
                    <c:v>VT</c:v>
                  </c:pt>
                  <c:pt idx="5">
                    <c:v>RE</c:v>
                  </c:pt>
                  <c:pt idx="6">
                    <c:v>SF</c:v>
                  </c:pt>
                  <c:pt idx="7">
                    <c:v>MH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59.2</c:v>
                </c:pt>
                <c:pt idx="1">
                  <c:v>45.5</c:v>
                </c:pt>
                <c:pt idx="2">
                  <c:v>40.2</c:v>
                </c:pt>
                <c:pt idx="3">
                  <c:v>46.1</c:v>
                </c:pt>
                <c:pt idx="4">
                  <c:v>57.3</c:v>
                </c:pt>
                <c:pt idx="5">
                  <c:v>37.4</c:v>
                </c:pt>
                <c:pt idx="6">
                  <c:v>60.1</c:v>
                </c:pt>
                <c:pt idx="7">
                  <c:v>48.2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ln w="25400" cap="flat">
              <a:solidFill>
                <a:srgbClr val="6C94BE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6C94BE"/>
              </a:solidFill>
              <a:ln w="9525" cap="flat">
                <a:solidFill>
                  <a:srgbClr val="6C94B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PF</c:v>
                  </c:pt>
                  <c:pt idx="1">
                    <c:v>RP</c:v>
                  </c:pt>
                  <c:pt idx="2">
                    <c:v>BP</c:v>
                  </c:pt>
                  <c:pt idx="3">
                    <c:v>GH</c:v>
                  </c:pt>
                  <c:pt idx="4">
                    <c:v>VT</c:v>
                  </c:pt>
                  <c:pt idx="5">
                    <c:v>RE</c:v>
                  </c:pt>
                  <c:pt idx="6">
                    <c:v>SF</c:v>
                  </c:pt>
                  <c:pt idx="7">
                    <c:v>MH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64.1</c:v>
                </c:pt>
                <c:pt idx="1">
                  <c:v>54.9</c:v>
                </c:pt>
                <c:pt idx="2">
                  <c:v>53.9</c:v>
                </c:pt>
                <c:pt idx="3">
                  <c:v>50.9</c:v>
                </c:pt>
                <c:pt idx="4">
                  <c:v>62.9</c:v>
                </c:pt>
                <c:pt idx="5">
                  <c:v>45.9</c:v>
                </c:pt>
                <c:pt idx="6">
                  <c:v>65.9</c:v>
                </c:pt>
                <c:pt idx="7">
                  <c:v>55.8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Группа сравнения (2а)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PF</c:v>
                  </c:pt>
                  <c:pt idx="1">
                    <c:v>RP</c:v>
                  </c:pt>
                  <c:pt idx="2">
                    <c:v>BP</c:v>
                  </c:pt>
                  <c:pt idx="3">
                    <c:v>GH</c:v>
                  </c:pt>
                  <c:pt idx="4">
                    <c:v>VT</c:v>
                  </c:pt>
                  <c:pt idx="5">
                    <c:v>RE</c:v>
                  </c:pt>
                  <c:pt idx="6">
                    <c:v>SF</c:v>
                  </c:pt>
                  <c:pt idx="7">
                    <c:v>MH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60.1</c:v>
                </c:pt>
                <c:pt idx="1">
                  <c:v>44.5</c:v>
                </c:pt>
                <c:pt idx="2">
                  <c:v>41.1</c:v>
                </c:pt>
                <c:pt idx="3">
                  <c:v>44.9</c:v>
                </c:pt>
                <c:pt idx="4">
                  <c:v>59.3</c:v>
                </c:pt>
                <c:pt idx="5">
                  <c:v>37.1</c:v>
                </c:pt>
                <c:pt idx="6">
                  <c:v>59.3</c:v>
                </c:pt>
                <c:pt idx="7">
                  <c:v>47.1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ln w="25400" cap="flat">
              <a:solidFill>
                <a:srgbClr val="6C94BE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6C94BE"/>
              </a:solidFill>
              <a:ln w="9525" cap="flat">
                <a:solidFill>
                  <a:srgbClr val="6C94B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PF</c:v>
                  </c:pt>
                  <c:pt idx="1">
                    <c:v>RP</c:v>
                  </c:pt>
                  <c:pt idx="2">
                    <c:v>BP</c:v>
                  </c:pt>
                  <c:pt idx="3">
                    <c:v>GH</c:v>
                  </c:pt>
                  <c:pt idx="4">
                    <c:v>VT</c:v>
                  </c:pt>
                  <c:pt idx="5">
                    <c:v>RE</c:v>
                  </c:pt>
                  <c:pt idx="6">
                    <c:v>SF</c:v>
                  </c:pt>
                  <c:pt idx="7">
                    <c:v>MH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67.9</c:v>
                </c:pt>
                <c:pt idx="1">
                  <c:v>57.8</c:v>
                </c:pt>
                <c:pt idx="2">
                  <c:v>59.3</c:v>
                </c:pt>
                <c:pt idx="3">
                  <c:v>58.3</c:v>
                </c:pt>
                <c:pt idx="4">
                  <c:v>65.1</c:v>
                </c:pt>
                <c:pt idx="5">
                  <c:v>47.8</c:v>
                </c:pt>
                <c:pt idx="6">
                  <c:v>68.3</c:v>
                </c:pt>
                <c:pt idx="7">
                  <c:v>59.5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Основная группа (3а)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PF</c:v>
                  </c:pt>
                  <c:pt idx="1">
                    <c:v>RP</c:v>
                  </c:pt>
                  <c:pt idx="2">
                    <c:v>BP</c:v>
                  </c:pt>
                  <c:pt idx="3">
                    <c:v>GH</c:v>
                  </c:pt>
                  <c:pt idx="4">
                    <c:v>VT</c:v>
                  </c:pt>
                  <c:pt idx="5">
                    <c:v>RE</c:v>
                  </c:pt>
                  <c:pt idx="6">
                    <c:v>SF</c:v>
                  </c:pt>
                  <c:pt idx="7">
                    <c:v>MH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</c:v>
                </c:pt>
                <c:pt idx="1">
                  <c:v>43.6</c:v>
                </c:pt>
                <c:pt idx="2">
                  <c:v>39.3</c:v>
                </c:pt>
                <c:pt idx="3">
                  <c:v>45.3</c:v>
                </c:pt>
                <c:pt idx="4">
                  <c:v>56.3</c:v>
                </c:pt>
                <c:pt idx="5">
                  <c:v>35.1</c:v>
                </c:pt>
                <c:pt idx="6">
                  <c:v>59.9</c:v>
                </c:pt>
                <c:pt idx="7">
                  <c:v>46.1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5A9AA0"/>
            </a:solidFill>
            <a:ln w="25400" cap="flat">
              <a:solidFill>
                <a:srgbClr val="5A9AA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5A9AA0"/>
              </a:solidFill>
              <a:ln w="9525" cap="flat">
                <a:solidFill>
                  <a:srgbClr val="5A9A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PF</c:v>
                  </c:pt>
                  <c:pt idx="1">
                    <c:v>RP</c:v>
                  </c:pt>
                  <c:pt idx="2">
                    <c:v>BP</c:v>
                  </c:pt>
                  <c:pt idx="3">
                    <c:v>GH</c:v>
                  </c:pt>
                  <c:pt idx="4">
                    <c:v>VT</c:v>
                  </c:pt>
                  <c:pt idx="5">
                    <c:v>RE</c:v>
                  </c:pt>
                  <c:pt idx="6">
                    <c:v>SF</c:v>
                  </c:pt>
                  <c:pt idx="7">
                    <c:v>MH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75.9</c:v>
                </c:pt>
                <c:pt idx="1">
                  <c:v>63.9</c:v>
                </c:pt>
                <c:pt idx="2">
                  <c:v>62.4</c:v>
                </c:pt>
                <c:pt idx="3">
                  <c:v>66.1</c:v>
                </c:pt>
                <c:pt idx="4">
                  <c:v>70.4</c:v>
                </c:pt>
                <c:pt idx="5">
                  <c:v>62.4</c:v>
                </c:pt>
                <c:pt idx="6">
                  <c:v>72.4</c:v>
                </c:pt>
                <c:pt idx="7">
                  <c:v>65.4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Контрольная группа (1б)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PF</c:v>
                  </c:pt>
                  <c:pt idx="1">
                    <c:v>RP</c:v>
                  </c:pt>
                  <c:pt idx="2">
                    <c:v>BP</c:v>
                  </c:pt>
                  <c:pt idx="3">
                    <c:v>GH</c:v>
                  </c:pt>
                  <c:pt idx="4">
                    <c:v>VT</c:v>
                  </c:pt>
                  <c:pt idx="5">
                    <c:v>RE</c:v>
                  </c:pt>
                  <c:pt idx="6">
                    <c:v>SF</c:v>
                  </c:pt>
                  <c:pt idx="7">
                    <c:v>MH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57.3</c:v>
                </c:pt>
                <c:pt idx="1">
                  <c:v>42.1</c:v>
                </c:pt>
                <c:pt idx="2">
                  <c:v>48.3</c:v>
                </c:pt>
                <c:pt idx="3">
                  <c:v>48.3</c:v>
                </c:pt>
                <c:pt idx="4">
                  <c:v>55.2</c:v>
                </c:pt>
                <c:pt idx="5">
                  <c:v>36</c:v>
                </c:pt>
                <c:pt idx="6">
                  <c:v>58.3</c:v>
                </c:pt>
                <c:pt idx="7">
                  <c:v>49.5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ln w="25400" cap="flat">
              <a:solidFill>
                <a:srgbClr val="6C94BE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6C94BE"/>
              </a:solidFill>
              <a:ln w="9525" cap="flat">
                <a:solidFill>
                  <a:srgbClr val="6C94B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PF</c:v>
                  </c:pt>
                  <c:pt idx="1">
                    <c:v>RP</c:v>
                  </c:pt>
                  <c:pt idx="2">
                    <c:v>BP</c:v>
                  </c:pt>
                  <c:pt idx="3">
                    <c:v>GH</c:v>
                  </c:pt>
                  <c:pt idx="4">
                    <c:v>VT</c:v>
                  </c:pt>
                  <c:pt idx="5">
                    <c:v>RE</c:v>
                  </c:pt>
                  <c:pt idx="6">
                    <c:v>SF</c:v>
                  </c:pt>
                  <c:pt idx="7">
                    <c:v>MH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62.1</c:v>
                </c:pt>
                <c:pt idx="1">
                  <c:v>52.7</c:v>
                </c:pt>
                <c:pt idx="2">
                  <c:v>55.7</c:v>
                </c:pt>
                <c:pt idx="3">
                  <c:v>51.7</c:v>
                </c:pt>
                <c:pt idx="4">
                  <c:v>60.4</c:v>
                </c:pt>
                <c:pt idx="5">
                  <c:v>47.8</c:v>
                </c:pt>
                <c:pt idx="6">
                  <c:v>63.7</c:v>
                </c:pt>
                <c:pt idx="7">
                  <c:v>53.7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Группа сравнения (2б)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PF</c:v>
                  </c:pt>
                  <c:pt idx="1">
                    <c:v>RP</c:v>
                  </c:pt>
                  <c:pt idx="2">
                    <c:v>BP</c:v>
                  </c:pt>
                  <c:pt idx="3">
                    <c:v>GH</c:v>
                  </c:pt>
                  <c:pt idx="4">
                    <c:v>VT</c:v>
                  </c:pt>
                  <c:pt idx="5">
                    <c:v>RE</c:v>
                  </c:pt>
                  <c:pt idx="6">
                    <c:v>SF</c:v>
                  </c:pt>
                  <c:pt idx="7">
                    <c:v>MH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58.4</c:v>
                </c:pt>
                <c:pt idx="1">
                  <c:v>45</c:v>
                </c:pt>
                <c:pt idx="2">
                  <c:v>50.3</c:v>
                </c:pt>
                <c:pt idx="3">
                  <c:v>46.5</c:v>
                </c:pt>
                <c:pt idx="4">
                  <c:v>57.2</c:v>
                </c:pt>
                <c:pt idx="5">
                  <c:v>37.8</c:v>
                </c:pt>
                <c:pt idx="6">
                  <c:v>56.1</c:v>
                </c:pt>
                <c:pt idx="7">
                  <c:v>48.5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ln w="25400" cap="flat">
              <a:solidFill>
                <a:srgbClr val="6C94BE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6C94BE"/>
              </a:solidFill>
              <a:ln w="9525" cap="flat">
                <a:solidFill>
                  <a:srgbClr val="6C94B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PF</c:v>
                  </c:pt>
                  <c:pt idx="1">
                    <c:v>RP</c:v>
                  </c:pt>
                  <c:pt idx="2">
                    <c:v>BP</c:v>
                  </c:pt>
                  <c:pt idx="3">
                    <c:v>GH</c:v>
                  </c:pt>
                  <c:pt idx="4">
                    <c:v>VT</c:v>
                  </c:pt>
                  <c:pt idx="5">
                    <c:v>RE</c:v>
                  </c:pt>
                  <c:pt idx="6">
                    <c:v>SF</c:v>
                  </c:pt>
                  <c:pt idx="7">
                    <c:v>MH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68.3</c:v>
                </c:pt>
                <c:pt idx="1">
                  <c:v>56.9</c:v>
                </c:pt>
                <c:pt idx="2">
                  <c:v>59.2</c:v>
                </c:pt>
                <c:pt idx="3">
                  <c:v>55.3</c:v>
                </c:pt>
                <c:pt idx="4">
                  <c:v>63.1</c:v>
                </c:pt>
                <c:pt idx="5">
                  <c:v>46.9</c:v>
                </c:pt>
                <c:pt idx="6">
                  <c:v>69.2</c:v>
                </c:pt>
                <c:pt idx="7">
                  <c:v>58.2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Основная группа (3б)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PF</c:v>
                  </c:pt>
                  <c:pt idx="1">
                    <c:v>RP</c:v>
                  </c:pt>
                  <c:pt idx="2">
                    <c:v>BP</c:v>
                  </c:pt>
                  <c:pt idx="3">
                    <c:v>GH</c:v>
                  </c:pt>
                  <c:pt idx="4">
                    <c:v>VT</c:v>
                  </c:pt>
                  <c:pt idx="5">
                    <c:v>RE</c:v>
                  </c:pt>
                  <c:pt idx="6">
                    <c:v>SF</c:v>
                  </c:pt>
                  <c:pt idx="7">
                    <c:v>MH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59.3</c:v>
                </c:pt>
                <c:pt idx="1">
                  <c:v>43.2</c:v>
                </c:pt>
                <c:pt idx="2">
                  <c:v>47.9</c:v>
                </c:pt>
                <c:pt idx="3">
                  <c:v>45.9</c:v>
                </c:pt>
                <c:pt idx="4">
                  <c:v>55.2</c:v>
                </c:pt>
                <c:pt idx="5">
                  <c:v>31.9</c:v>
                </c:pt>
                <c:pt idx="6">
                  <c:v>56.9</c:v>
                </c:pt>
                <c:pt idx="7">
                  <c:v>47.2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5A9AA0"/>
            </a:solidFill>
            <a:ln w="25400" cap="flat">
              <a:solidFill>
                <a:srgbClr val="5A9AA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5A9AA0"/>
              </a:solidFill>
              <a:ln w="9525" cap="flat">
                <a:solidFill>
                  <a:srgbClr val="5A9A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PF</c:v>
                  </c:pt>
                  <c:pt idx="1">
                    <c:v>RP</c:v>
                  </c:pt>
                  <c:pt idx="2">
                    <c:v>BP</c:v>
                  </c:pt>
                  <c:pt idx="3">
                    <c:v>GH</c:v>
                  </c:pt>
                  <c:pt idx="4">
                    <c:v>VT</c:v>
                  </c:pt>
                  <c:pt idx="5">
                    <c:v>RE</c:v>
                  </c:pt>
                  <c:pt idx="6">
                    <c:v>SF</c:v>
                  </c:pt>
                  <c:pt idx="7">
                    <c:v>MH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73.7</c:v>
                </c:pt>
                <c:pt idx="1">
                  <c:v>66.9</c:v>
                </c:pt>
                <c:pt idx="2">
                  <c:v>60.2</c:v>
                </c:pt>
                <c:pt idx="3">
                  <c:v>67.2</c:v>
                </c:pt>
                <c:pt idx="4">
                  <c:v>68.2</c:v>
                </c:pt>
                <c:pt idx="5">
                  <c:v>63.4</c:v>
                </c:pt>
                <c:pt idx="6">
                  <c:v>75.3</c:v>
                </c:pt>
                <c:pt idx="7">
                  <c:v>61.4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Физический компонент здоровья, баллы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54.5</c:v>
                </c:pt>
                <c:pt idx="1">
                  <c:v>46.5</c:v>
                </c:pt>
                <c:pt idx="2">
                  <c:v>47.6</c:v>
                </c:pt>
                <c:pt idx="3">
                  <c:v>53.2</c:v>
                </c:pt>
                <c:pt idx="4">
                  <c:v>41.3</c:v>
                </c:pt>
                <c:pt idx="5">
                  <c:v>44.3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56.2</c:v>
                </c:pt>
                <c:pt idx="1">
                  <c:v>52.6</c:v>
                </c:pt>
                <c:pt idx="2">
                  <c:v>56.6</c:v>
                </c:pt>
                <c:pt idx="3">
                  <c:v>54.9</c:v>
                </c:pt>
                <c:pt idx="4">
                  <c:v>55.3</c:v>
                </c:pt>
                <c:pt idx="5">
                  <c:v>56.5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Психический компонент здоровья, баллы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50.2</c:v>
                </c:pt>
                <c:pt idx="1">
                  <c:v>49.3</c:v>
                </c:pt>
                <c:pt idx="2">
                  <c:v>47.4</c:v>
                </c:pt>
                <c:pt idx="3">
                  <c:v>48.2</c:v>
                </c:pt>
                <c:pt idx="4">
                  <c:v>47.4</c:v>
                </c:pt>
                <c:pt idx="5">
                  <c:v>46.6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50.7</c:v>
                </c:pt>
                <c:pt idx="1">
                  <c:v>53.4</c:v>
                </c:pt>
                <c:pt idx="2">
                  <c:v>57</c:v>
                </c:pt>
                <c:pt idx="3">
                  <c:v>51.2</c:v>
                </c:pt>
                <c:pt idx="4">
                  <c:v>50.1</c:v>
                </c:pt>
                <c:pt idx="5">
                  <c:v>55.3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Интенсивность абдоминалгии, баллы (шкала Ликерта) — СРК-З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2.29</c:v>
                </c:pt>
                <c:pt idx="1">
                  <c:v>2.36</c:v>
                </c:pt>
                <c:pt idx="2">
                  <c:v>2.11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1.35</c:v>
                </c:pt>
                <c:pt idx="1">
                  <c:v>1.73</c:v>
                </c:pt>
                <c:pt idx="2">
                  <c:v>0.33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1.3</c:v>
                </c:pt>
                <c:pt idx="1">
                  <c:v>1.17</c:v>
                </c:pt>
                <c:pt idx="2">
                  <c:v>0.11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Интенсивность абдоминалгии, баллы (шкала Ликерта) — СРК-Д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2.41</c:v>
                </c:pt>
                <c:pt idx="1">
                  <c:v>2.41</c:v>
                </c:pt>
                <c:pt idx="2">
                  <c:v>2.46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1.73</c:v>
                </c:pt>
                <c:pt idx="1">
                  <c:v>1.29</c:v>
                </c:pt>
                <c:pt idx="2">
                  <c:v>0.2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1.55</c:v>
                </c:pt>
                <c:pt idx="1">
                  <c:v>1.01</c:v>
                </c:pt>
                <c:pt idx="2">
                  <c:v>0.16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Число пациентов с абдоминалгией, % — СРК-З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38</c:v>
                </c:pt>
                <c:pt idx="2">
                  <c:v>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46</c:v>
                </c:pt>
                <c:pt idx="1">
                  <c:v>33.3</c:v>
                </c:pt>
                <c:pt idx="2">
                  <c:v>19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Число пациентов с абдоминалгией, % — СРК-Д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</c:v>
                </c:pt>
                <c:pt idx="1">
                  <c:v>43</c:v>
                </c:pt>
                <c:pt idx="2">
                  <c:v>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Контрольная</c:v>
                  </c:pt>
                  <c:pt idx="1">
                    <c:v>Сравнения</c:v>
                  </c:pt>
                  <c:pt idx="2">
                    <c:v>Основная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50</c:v>
                </c:pt>
                <c:pt idx="1">
                  <c:v>35.7</c:v>
                </c:pt>
                <c:pt idx="2">
                  <c:v>23.1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8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СРК-З: lg КОЕ/г через 6 месяцев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Контрольная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Кишечная палочка</c:v>
                  </c:pt>
                  <c:pt idx="1">
                    <c:v>Бифидобактерии</c:v>
                  </c:pt>
                  <c:pt idx="2">
                    <c:v>Лактобактерии</c:v>
                  </c:pt>
                  <c:pt idx="3">
                    <c:v>Энтеробактерии</c:v>
                  </c:pt>
                  <c:pt idx="4">
                    <c:v>Стафилококки</c:v>
                  </c:pt>
                  <c:pt idx="5">
                    <c:v>Грибы Candida</c:v>
                  </c:pt>
                  <c:pt idx="6">
                    <c:v>Протеи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4</c:v>
                </c:pt>
                <c:pt idx="3">
                  <c:v>2</c:v>
                </c:pt>
                <c:pt idx="4">
                  <c:v>0</c:v>
                </c:pt>
                <c:pt idx="5">
                  <c:v>2</c:v>
                </c:pt>
                <c:pt idx="6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Сравнения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Кишечная палочка</c:v>
                  </c:pt>
                  <c:pt idx="1">
                    <c:v>Бифидобактерии</c:v>
                  </c:pt>
                  <c:pt idx="2">
                    <c:v>Лактобактерии</c:v>
                  </c:pt>
                  <c:pt idx="3">
                    <c:v>Энтеробактерии</c:v>
                  </c:pt>
                  <c:pt idx="4">
                    <c:v>Стафилококки</c:v>
                  </c:pt>
                  <c:pt idx="5">
                    <c:v>Грибы Candida</c:v>
                  </c:pt>
                  <c:pt idx="6">
                    <c:v>Протеи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0</c:v>
                </c:pt>
                <c:pt idx="6">
                  <c:v>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Основная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Кишечная палочка</c:v>
                  </c:pt>
                  <c:pt idx="1">
                    <c:v>Бифидобактерии</c:v>
                  </c:pt>
                  <c:pt idx="2">
                    <c:v>Лактобактерии</c:v>
                  </c:pt>
                  <c:pt idx="3">
                    <c:v>Энтеробактерии</c:v>
                  </c:pt>
                  <c:pt idx="4">
                    <c:v>Стафилококки</c:v>
                  </c:pt>
                  <c:pt idx="5">
                    <c:v>Грибы Candida</c:v>
                  </c:pt>
                  <c:pt idx="6">
                    <c:v>Протеи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8</c:v>
                </c:pt>
                <c:pt idx="1">
                  <c:v>9</c:v>
                </c:pt>
                <c:pt idx="2">
                  <c:v>8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СРК-Д: lg КОЕ/г через 6 месяцев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Контрольная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Кишечная палочка</c:v>
                  </c:pt>
                  <c:pt idx="1">
                    <c:v>Бифидобактерии</c:v>
                  </c:pt>
                  <c:pt idx="2">
                    <c:v>Лактобактерии</c:v>
                  </c:pt>
                  <c:pt idx="3">
                    <c:v>Энтеробактерии</c:v>
                  </c:pt>
                  <c:pt idx="4">
                    <c:v>Стафилококки</c:v>
                  </c:pt>
                  <c:pt idx="5">
                    <c:v>Грибы Candida</c:v>
                  </c:pt>
                  <c:pt idx="6">
                    <c:v>Протеи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</c:v>
                </c:pt>
                <c:pt idx="1">
                  <c:v>7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Сравнения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Кишечная палочка</c:v>
                  </c:pt>
                  <c:pt idx="1">
                    <c:v>Бифидобактерии</c:v>
                  </c:pt>
                  <c:pt idx="2">
                    <c:v>Лактобактерии</c:v>
                  </c:pt>
                  <c:pt idx="3">
                    <c:v>Энтеробактерии</c:v>
                  </c:pt>
                  <c:pt idx="4">
                    <c:v>Стафилококки</c:v>
                  </c:pt>
                  <c:pt idx="5">
                    <c:v>Грибы Candida</c:v>
                  </c:pt>
                  <c:pt idx="6">
                    <c:v>Протеи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</c:v>
                </c:pt>
                <c:pt idx="1">
                  <c:v>7</c:v>
                </c:pt>
                <c:pt idx="2">
                  <c:v>6</c:v>
                </c:pt>
                <c:pt idx="3">
                  <c:v>0</c:v>
                </c:pt>
                <c:pt idx="4">
                  <c:v>2</c:v>
                </c:pt>
                <c:pt idx="5">
                  <c:v>1</c:v>
                </c:pt>
                <c:pt idx="6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Основная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Кишечная палочка</c:v>
                  </c:pt>
                  <c:pt idx="1">
                    <c:v>Бифидобактерии</c:v>
                  </c:pt>
                  <c:pt idx="2">
                    <c:v>Лактобактерии</c:v>
                  </c:pt>
                  <c:pt idx="3">
                    <c:v>Энтеробактерии</c:v>
                  </c:pt>
                  <c:pt idx="4">
                    <c:v>Стафилококки</c:v>
                  </c:pt>
                  <c:pt idx="5">
                    <c:v>Грибы Candida</c:v>
                  </c:pt>
                  <c:pt idx="6">
                    <c:v>Протеи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8</c:v>
                </c:pt>
                <c:pt idx="1">
                  <c:v>10</c:v>
                </c:pt>
                <c:pt idx="2">
                  <c:v>7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Структура результатов лечения (непосредственно), % пациентов</a:t>
            </a:r>
          </a:p>
        </c:rich>
      </c:tx>
      <c:layout/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Значительное улучшение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52.6</c:v>
                </c:pt>
                <c:pt idx="2">
                  <c:v>83.3</c:v>
                </c:pt>
                <c:pt idx="3">
                  <c:v>0</c:v>
                </c:pt>
                <c:pt idx="4">
                  <c:v>47.1</c:v>
                </c:pt>
                <c:pt idx="5">
                  <c:v>73.3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Улучшение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70.6</c:v>
                </c:pt>
                <c:pt idx="1">
                  <c:v>21</c:v>
                </c:pt>
                <c:pt idx="2">
                  <c:v>11.1</c:v>
                </c:pt>
                <c:pt idx="3">
                  <c:v>73.4</c:v>
                </c:pt>
                <c:pt idx="4">
                  <c:v>29.4</c:v>
                </c:pt>
                <c:pt idx="5">
                  <c:v>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Незначительное улучшение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17.6</c:v>
                </c:pt>
                <c:pt idx="1">
                  <c:v>21.1</c:v>
                </c:pt>
                <c:pt idx="2">
                  <c:v>5.6</c:v>
                </c:pt>
                <c:pt idx="3">
                  <c:v>13.3</c:v>
                </c:pt>
                <c:pt idx="4">
                  <c:v>17.6</c:v>
                </c:pt>
                <c:pt idx="5">
                  <c:v>6.7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Без перемен</c:v>
                </c:pt>
              </c:strCache>
            </c:strRef>
          </c:tx>
          <c:spPr>
            <a:solidFill>
              <a:srgbClr val="C99AA9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11.8</c:v>
                </c:pt>
                <c:pt idx="1">
                  <c:v>5.3</c:v>
                </c:pt>
                <c:pt idx="2">
                  <c:v>0</c:v>
                </c:pt>
                <c:pt idx="3">
                  <c:v>13.3</c:v>
                </c:pt>
                <c:pt idx="4">
                  <c:v>5.9</c:v>
                </c:pt>
                <c:pt idx="5">
                  <c:v>0</c:v>
                </c:pt>
              </c:numCache>
            </c:numRef>
          </c:val>
        </c:ser>
        <c:dLbls>
          <c:numFmt formatCode="0.0;-0.0;;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Эффективность лечения,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Непосредственно 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70.6</c:v>
                </c:pt>
                <c:pt idx="1">
                  <c:v>73.6</c:v>
                </c:pt>
                <c:pt idx="2">
                  <c:v>94.4</c:v>
                </c:pt>
                <c:pt idx="3">
                  <c:v>73.4</c:v>
                </c:pt>
                <c:pt idx="4">
                  <c:v>76.5</c:v>
                </c:pt>
                <c:pt idx="5">
                  <c:v>93.3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53.8</c:v>
                </c:pt>
                <c:pt idx="1">
                  <c:v>60</c:v>
                </c:pt>
                <c:pt idx="2">
                  <c:v>86.7</c:v>
                </c:pt>
                <c:pt idx="3">
                  <c:v>50</c:v>
                </c:pt>
                <c:pt idx="4">
                  <c:v>64.3</c:v>
                </c:pt>
                <c:pt idx="5">
                  <c:v>84.6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Длительность ремиссии, месяцы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2.3</c:v>
                </c:pt>
                <c:pt idx="1">
                  <c:v>2.7</c:v>
                </c:pt>
                <c:pt idx="2">
                  <c:v>2.7</c:v>
                </c:pt>
                <c:pt idx="3">
                  <c:v>2.9</c:v>
                </c:pt>
                <c:pt idx="4">
                  <c:v>3</c:v>
                </c:pt>
                <c:pt idx="5">
                  <c:v>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Через 6 месяцев 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1а</c:v>
                  </c:pt>
                  <c:pt idx="1">
                    <c:v>2а</c:v>
                  </c:pt>
                  <c:pt idx="2">
                    <c:v>3а</c:v>
                  </c:pt>
                  <c:pt idx="3">
                    <c:v>1б</c:v>
                  </c:pt>
                  <c:pt idx="4">
                    <c:v>2б</c:v>
                  </c:pt>
                  <c:pt idx="5">
                    <c:v>3б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3.5</c:v>
                </c:pt>
                <c:pt idx="1">
                  <c:v>3.8</c:v>
                </c:pt>
                <c:pt idx="2">
                  <c:v>5.5</c:v>
                </c:pt>
                <c:pt idx="3">
                  <c:v>3.1</c:v>
                </c:pt>
                <c:pt idx="4">
                  <c:v>3.6</c:v>
                </c:pt>
                <c:pt idx="5">
                  <c:v>5.1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1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numFmt formatCode="0.0##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9A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9A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A9A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C94B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C94B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C94B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C94B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C94B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C94B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B9C4D2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99AA9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99AA9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Нормотония ↔ высокое качество жизни (p=0,001)</c:v>
                  </c:pt>
                  <c:pt idx="1">
                    <c:v>Абдоминальная боль ↔ уровень стресса (p=0,04)</c:v>
                  </c:pt>
                  <c:pt idx="2">
                    <c:v>Парасимпатикотония ↔ личностная тревожность, СРК-Д (p=0,0001)</c:v>
                  </c:pt>
                  <c:pt idx="3">
                    <c:v>Запор ↔ симпатикотония (p=0,0001)</c:v>
                  </c:pt>
                  <c:pt idx="4">
                    <c:v>Абдоминальная боль ↔ личностная тревожность, СРК-Д (p=0,0001)</c:v>
                  </c:pt>
                  <c:pt idx="5">
                    <c:v>Симпатикотония ↔ снижение качества жизни (p=0,04)</c:v>
                  </c:pt>
                  <c:pt idx="6">
                    <c:v>Абдоминальная боль ↔ симпатикотония (p=0,003)</c:v>
                  </c:pt>
                  <c:pt idx="7">
                    <c:v>Абдоминальная боль ↔ личностная тревожность, СРК-З (p=0,007)</c:v>
                  </c:pt>
                  <c:pt idx="8">
                    <c:v>Симпатикотония ↔ личностная тревожность, СРК-З (p=0,04)</c:v>
                  </c:pt>
                  <c:pt idx="9">
                    <c:v>Диарея ↔ парасимпатикотония (p=0,03)</c:v>
                  </c:pt>
                  <c:pt idx="10">
                    <c:v>Абдоминальная боль ↔ работоспособность, СРК-З</c:v>
                  </c:pt>
                  <c:pt idx="11">
                    <c:v>Абдоминальная боль ↔ работоспособность, СРК-Д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0.837</c:v>
                </c:pt>
                <c:pt idx="1">
                  <c:v>0.823</c:v>
                </c:pt>
                <c:pt idx="2">
                  <c:v>0.705</c:v>
                </c:pt>
                <c:pt idx="3">
                  <c:v>0.616</c:v>
                </c:pt>
                <c:pt idx="4">
                  <c:v>0.544</c:v>
                </c:pt>
                <c:pt idx="5">
                  <c:v>0.513</c:v>
                </c:pt>
                <c:pt idx="6">
                  <c:v>0.3536</c:v>
                </c:pt>
                <c:pt idx="7">
                  <c:v>0.331</c:v>
                </c:pt>
                <c:pt idx="8">
                  <c:v>0.322</c:v>
                </c:pt>
                <c:pt idx="9">
                  <c:v>0.247</c:v>
                </c:pt>
                <c:pt idx="10">
                  <c:v>-0.33</c:v>
                </c:pt>
                <c:pt idx="11">
                  <c:v>-0.381</c:v>
                </c:pt>
              </c:numCache>
            </c:numRef>
          </c:val>
        </c:ser>
        <c:dLbls>
          <c:numFmt formatCode="0.0##" sourceLinked="0"/>
          <c:txPr>
            <a:bodyPr/>
            <a:lstStyle/>
            <a:p>
              <a:pPr>
                <a:defRPr b="0" i="0" strike="noStrike" sz="10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0.6"/>
        </c:scaling>
        <c:delete val="1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СРК-З: χ² Пирсона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1. Базисное СКЛ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Отсутствие абдоминалгии</c:v>
                  </c:pt>
                  <c:pt idx="1">
                    <c:v>Отсутствие метеоризма</c:v>
                  </c:pt>
                  <c:pt idx="2">
                    <c:v>Отсутствие запора</c:v>
                  </c:pt>
                  <c:pt idx="3">
                    <c:v>Отсутствие стресса</c:v>
                  </c:pt>
                  <c:pt idx="4">
                    <c:v>Реакция повышенной активации</c:v>
                  </c:pt>
                  <c:pt idx="5">
                    <c:v>Высокая работоспособность</c:v>
                  </c:pt>
                  <c:pt idx="6">
                    <c:v>Высокий уровень КЖ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3.49</c:v>
                </c:pt>
                <c:pt idx="1">
                  <c:v>2.11</c:v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2. + амплипульстерапия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Отсутствие абдоминалгии</c:v>
                  </c:pt>
                  <c:pt idx="1">
                    <c:v>Отсутствие метеоризма</c:v>
                  </c:pt>
                  <c:pt idx="2">
                    <c:v>Отсутствие запора</c:v>
                  </c:pt>
                  <c:pt idx="3">
                    <c:v>Отсутствие стресса</c:v>
                  </c:pt>
                  <c:pt idx="4">
                    <c:v>Реакция повышенной активации</c:v>
                  </c:pt>
                  <c:pt idx="5">
                    <c:v>Высокая работоспособность</c:v>
                  </c:pt>
                  <c:pt idx="6">
                    <c:v>Высокий уровень КЖ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4.11</c:v>
                </c:pt>
                <c:pt idx="1">
                  <c:v>3.14</c:v>
                </c:pt>
                <c:pt idx="2">
                  <c:v>5.75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3. + амплипульстерапия + КВЧ-терапия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Отсутствие абдоминалгии</c:v>
                  </c:pt>
                  <c:pt idx="1">
                    <c:v>Отсутствие метеоризма</c:v>
                  </c:pt>
                  <c:pt idx="2">
                    <c:v>Отсутствие запора</c:v>
                  </c:pt>
                  <c:pt idx="3">
                    <c:v>Отсутствие стресса</c:v>
                  </c:pt>
                  <c:pt idx="4">
                    <c:v>Реакция повышенной активации</c:v>
                  </c:pt>
                  <c:pt idx="5">
                    <c:v>Высокая работоспособность</c:v>
                  </c:pt>
                  <c:pt idx="6">
                    <c:v>Высокий уровень КЖ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6.76</c:v>
                </c:pt>
                <c:pt idx="1">
                  <c:v>6.14</c:v>
                </c:pt>
                <c:pt idx="2">
                  <c:v>6.75</c:v>
                </c:pt>
                <c:pt idx="3">
                  <c:v>10.89</c:v>
                </c:pt>
                <c:pt idx="4">
                  <c:v>8.39</c:v>
                </c:pt>
                <c:pt idx="5">
                  <c:v>3.49</c:v>
                </c:pt>
                <c:pt idx="6">
                  <c:v>9.19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СРК-Д: χ² Пирсона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1. Базисное СКЛ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Отсутствие абдоминалгии</c:v>
                  </c:pt>
                  <c:pt idx="1">
                    <c:v>Отсутствие метеоризма</c:v>
                  </c:pt>
                  <c:pt idx="2">
                    <c:v>Отсутствие диареи</c:v>
                  </c:pt>
                  <c:pt idx="3">
                    <c:v>Отсутствие стресса</c:v>
                  </c:pt>
                  <c:pt idx="4">
                    <c:v>Реакция повышенной активации</c:v>
                  </c:pt>
                  <c:pt idx="5">
                    <c:v>Высокая работоспособность</c:v>
                  </c:pt>
                  <c:pt idx="6">
                    <c:v>Высокий уровень КЖ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2.99</c:v>
                </c:pt>
                <c:pt idx="1">
                  <c:v>2.57</c:v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2. + амплипульстерапия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Отсутствие абдоминалгии</c:v>
                  </c:pt>
                  <c:pt idx="1">
                    <c:v>Отсутствие метеоризма</c:v>
                  </c:pt>
                  <c:pt idx="2">
                    <c:v>Отсутствие диареи</c:v>
                  </c:pt>
                  <c:pt idx="3">
                    <c:v>Отсутствие стресса</c:v>
                  </c:pt>
                  <c:pt idx="4">
                    <c:v>Реакция повышенной активации</c:v>
                  </c:pt>
                  <c:pt idx="5">
                    <c:v>Высокая работоспособность</c:v>
                  </c:pt>
                  <c:pt idx="6">
                    <c:v>Высокий уровень КЖ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3.75</c:v>
                </c:pt>
                <c:pt idx="1">
                  <c:v>3.05</c:v>
                </c:pt>
                <c:pt idx="2">
                  <c:v>4.88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3. + амплипульстерапия + КВЧ-терапия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Отсутствие абдоминалгии</c:v>
                  </c:pt>
                  <c:pt idx="1">
                    <c:v>Отсутствие метеоризма</c:v>
                  </c:pt>
                  <c:pt idx="2">
                    <c:v>Отсутствие диареи</c:v>
                  </c:pt>
                  <c:pt idx="3">
                    <c:v>Отсутствие стресса</c:v>
                  </c:pt>
                  <c:pt idx="4">
                    <c:v>Реакция повышенной активации</c:v>
                  </c:pt>
                  <c:pt idx="5">
                    <c:v>Высокая работоспособность</c:v>
                  </c:pt>
                  <c:pt idx="6">
                    <c:v>Высокий уровень КЖ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5.99</c:v>
                </c:pt>
                <c:pt idx="1">
                  <c:v>5.01</c:v>
                </c:pt>
                <c:pt idx="2">
                  <c:v>5.89</c:v>
                </c:pt>
                <c:pt idx="3">
                  <c:v>7.56</c:v>
                </c:pt>
                <c:pt idx="4">
                  <c:v>4.89</c:v>
                </c:pt>
                <c:pt idx="5">
                  <c:v>6.75</c:v>
                </c:pt>
                <c:pt idx="6">
                  <c:v>19.29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90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Сила связи с эффективностью лечения (r)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3а (СРК-З)</c:v>
                </c:pt>
              </c:strCache>
            </c:strRef>
          </c:tx>
          <c:spPr>
            <a:solidFill>
              <a:srgbClr val="8DB5A5"/>
            </a:solidFill>
            <a:effectLst/>
          </c:spPr>
          <c:invertIfNegative val="0"/>
          <c:dLbls>
            <c:numFmt formatCode="0.0##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Купирование абдоминалгии</c:v>
                  </c:pt>
                  <c:pt idx="1">
                    <c:v>Тип адаптационной реакции</c:v>
                  </c:pt>
                  <c:pt idx="2">
                    <c:v>Эйтония</c:v>
                  </c:pt>
                  <c:pt idx="3">
                    <c:v>Низкая ситуативная тревожность</c:v>
                  </c:pt>
                  <c:pt idx="4">
                    <c:v>Низкая личностная тревожность</c:v>
                  </c:pt>
                  <c:pt idx="5">
                    <c:v>Уровень стресса</c:v>
                  </c:pt>
                  <c:pt idx="6">
                    <c:v>Работоспособность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0.325</c:v>
                </c:pt>
                <c:pt idx="1">
                  <c:v>0.355</c:v>
                </c:pt>
                <c:pt idx="2">
                  <c:v>0.809</c:v>
                </c:pt>
                <c:pt idx="3">
                  <c:v>0.776</c:v>
                </c:pt>
                <c:pt idx="4">
                  <c:v>0.794</c:v>
                </c:pt>
                <c:pt idx="5">
                  <c:v>0.823</c:v>
                </c:pt>
                <c:pt idx="6">
                  <c:v>0.892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3б (СРК-Д)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##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Купирование абдоминалгии</c:v>
                  </c:pt>
                  <c:pt idx="1">
                    <c:v>Тип адаптационной реакции</c:v>
                  </c:pt>
                  <c:pt idx="2">
                    <c:v>Эйтония</c:v>
                  </c:pt>
                  <c:pt idx="3">
                    <c:v>Низкая ситуативная тревожность</c:v>
                  </c:pt>
                  <c:pt idx="4">
                    <c:v>Низкая личностная тревожность</c:v>
                  </c:pt>
                  <c:pt idx="5">
                    <c:v>Уровень стресса</c:v>
                  </c:pt>
                  <c:pt idx="6">
                    <c:v>Работоспособность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0.338</c:v>
                </c:pt>
                <c:pt idx="1">
                  <c:v>0.528</c:v>
                </c:pt>
                <c:pt idx="2">
                  <c:v>1</c:v>
                </c:pt>
                <c:pt idx="3">
                  <c:v>0.85</c:v>
                </c:pt>
                <c:pt idx="4">
                  <c:v>1</c:v>
                </c:pt>
                <c:pt idx="5">
                  <c:v>0.72</c:v>
                </c:pt>
                <c:pt idx="6">
                  <c:v>0.789</c:v>
                </c:pt>
              </c:numCache>
            </c:numRef>
          </c:val>
        </c:ser>
        <c:dLbls>
          <c:numFmt formatCode="0.0##" sourceLinked="0"/>
          <c:txPr>
            <a:bodyPr/>
            <a:lstStyle/>
            <a:p>
              <a:pPr>
                <a:defRPr b="0" i="0" strike="noStrike" sz="9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F3E55"/>
                </a:solidFill>
                <a:latin typeface="+mn-lt"/>
              </a:rPr>
              <a:t>χ² Пирсона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3а (СРК-З)</c:v>
                </c:pt>
              </c:strCache>
            </c:strRef>
          </c:tx>
          <c:spPr>
            <a:solidFill>
              <a:srgbClr val="8DB5A5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Купирование абдоминалгии</c:v>
                  </c:pt>
                  <c:pt idx="1">
                    <c:v>Тип адаптационной реакции</c:v>
                  </c:pt>
                  <c:pt idx="2">
                    <c:v>Эйтония</c:v>
                  </c:pt>
                  <c:pt idx="3">
                    <c:v>Низкая ситуативная тревожность</c:v>
                  </c:pt>
                  <c:pt idx="4">
                    <c:v>Низкая личностная тревожность</c:v>
                  </c:pt>
                  <c:pt idx="5">
                    <c:v>Уровень стресса</c:v>
                  </c:pt>
                  <c:pt idx="6">
                    <c:v>Работоспособность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15.67</c:v>
                </c:pt>
                <c:pt idx="1">
                  <c:v>18.73</c:v>
                </c:pt>
                <c:pt idx="2">
                  <c:v>70.84</c:v>
                </c:pt>
                <c:pt idx="3">
                  <c:v>86.78</c:v>
                </c:pt>
                <c:pt idx="4">
                  <c:v>90.78</c:v>
                </c:pt>
                <c:pt idx="5">
                  <c:v>125.65</c:v>
                </c:pt>
                <c:pt idx="6">
                  <c:v>113.35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3б (СРК-Д)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F3E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Купирование абдоминалгии</c:v>
                  </c:pt>
                  <c:pt idx="1">
                    <c:v>Тип адаптационной реакции</c:v>
                  </c:pt>
                  <c:pt idx="2">
                    <c:v>Эйтония</c:v>
                  </c:pt>
                  <c:pt idx="3">
                    <c:v>Низкая ситуативная тревожность</c:v>
                  </c:pt>
                  <c:pt idx="4">
                    <c:v>Низкая личностная тревожность</c:v>
                  </c:pt>
                  <c:pt idx="5">
                    <c:v>Уровень стресса</c:v>
                  </c:pt>
                  <c:pt idx="6">
                    <c:v>Работоспособность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16.97</c:v>
                </c:pt>
                <c:pt idx="1">
                  <c:v>9.48</c:v>
                </c:pt>
                <c:pt idx="2">
                  <c:v>60</c:v>
                </c:pt>
                <c:pt idx="3">
                  <c:v>44.3</c:v>
                </c:pt>
                <c:pt idx="4">
                  <c:v>69.1</c:v>
                </c:pt>
                <c:pt idx="5">
                  <c:v>91.66</c:v>
                </c:pt>
                <c:pt idx="6">
                  <c:v>96.37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950" u="none">
                  <a:solidFill>
                    <a:srgbClr val="2F3E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F3E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F3E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1 диссертации. Подгруппы: 1а n=23, 1б n=20; 2а n=25, 2б n=22; 3а n=24, 3б n=21. ВНИМАНИЕ: в схеме дизайна в Word основная группа указана n=43, но 24+21=45 и 43+47+45=135 — в презентации взято n=45.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1 диссертации. В Word основная группа указана n=43; подгруппы 3а (24) и 3б (21) дают 45 (43+47+45=135).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(шкала Ликерта), рисунки 4 и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и таблица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таблицы 14 и 15. РС — реакция стресса, РПеА — реакция переактивации, РСА — реакция спокойной активации, РПА — реакция повышенной активации.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«Динамика показателей ультрасонографии».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и таблицы 16, 17. lg КОЕ/г: значение 6 означает 10^6 КОЕ/г. Нормальные значения: бифидобактерии 10^8–10^10; лактобактерии 10^6–10^10.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16 диссертации.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17 диссертации.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18. Показано число пациентов (n) в каждой категории до и после лечения.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19. НВО — нормальное, НедВО — недостаточное, ИВО — избыточное вегетативное обеспечение.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23. M, баллы.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таблицы 25 и 26. M, баллы.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29. M, баллы.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и рисунки 6,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таблицы 35 и 36; lg КОЕ/г (значение 6 означает 10^6 КОЕ/г). Нормы: кишечная палочка 10^7–10^8; бифидобактерии 10^8–10^10; лактобактерии 10^6–10^10; энтеробактерии ≤10^4; стафилококки ≤10^4; Candida ≤10^3; протеи ≤10^2.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таблицы 30 и 44. Эффективность = «значительное улучшение» (КЭ ≥ 3,0) + «улучшение» (КЭ 2,1–3,0). Ухудшения не выявлено ни в одной из групп.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45 и рисунок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Коэффициент ранговой корреляции Спирмена (r). Сила связи: слабая 0,01–0,29; умеренная 0,30–0,69; сильная 0,70–1,00 (для положительных и отрицательных значений).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Парные таблицы сопряжённости, критерий χ² Пирсона, V-коэффициент Крамера (r=0–1); уровень значимости p&lt;0,05. Отсутствие столбца — показатель для данной группы в диссертации не приводится.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Рисунок 11 диссертации: схема воспроизведена по подписям и расположению фигур; проверьте соответствие оригиналу.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раздел «Корреляционный анализ и анализ таблиц сопряженности». r — V Крамера (сила связи), χ² — критерий Пирсона.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Основная группа: 3а — СРК-З, 3б — СРК-Д. Значения χ² Пирсона.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1234440"/>
            <a:ext cx="10360152" cy="2057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2011680"/>
            <a:ext cx="1051560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6428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68C"/>
                </a:solidFill>
              </a:rPr>
              <a:t>Привалова Н.И.  ·  КВЧ-терапия и амплипульстерапия в комплексном санаторно-курортном лечении при СРК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chart" Target="/ppt/charts/chart5.xml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chart" Target="/ppt/charts/chart9.xml"/><Relationship Id="rId4" Type="http://schemas.openxmlformats.org/officeDocument/2006/relationships/chart" Target="/ppt/charts/chart10.xml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chart" Target="/ppt/charts/chart14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chart" Target="/ppt/charts/chart16.xml"/><Relationship Id="rId3" Type="http://schemas.openxmlformats.org/officeDocument/2006/relationships/chart" Target="/ppt/charts/chart17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chart" Target="/ppt/charts/chart19.xml"/><Relationship Id="rId3" Type="http://schemas.openxmlformats.org/officeDocument/2006/relationships/chart" Target="/ppt/charts/chart20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chart" Target="/ppt/charts/chart22.xml"/><Relationship Id="rId3" Type="http://schemas.openxmlformats.org/officeDocument/2006/relationships/chart" Target="/ppt/charts/chart23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chart" Target="/ppt/charts/chart25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chart" Target="/ppt/charts/chart27.xml"/><Relationship Id="rId3" Type="http://schemas.openxmlformats.org/officeDocument/2006/relationships/chart" Target="/ppt/charts/chart28.xml"/><Relationship Id="rId4" Type="http://schemas.openxmlformats.org/officeDocument/2006/relationships/chart" Target="/ppt/charts/chart29.xml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0.xml"/><Relationship Id="rId2" Type="http://schemas.openxmlformats.org/officeDocument/2006/relationships/chart" Target="/ppt/charts/chart31.xml"/><Relationship Id="rId3" Type="http://schemas.openxmlformats.org/officeDocument/2006/relationships/chart" Target="/ppt/charts/chart32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3.xml"/><Relationship Id="rId2" Type="http://schemas.openxmlformats.org/officeDocument/2006/relationships/chart" Target="/ppt/charts/chart34.xml"/><Relationship Id="rId3" Type="http://schemas.openxmlformats.org/officeDocument/2006/relationships/chart" Target="/ppt/charts/chart35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6.xml"/><Relationship Id="rId2" Type="http://schemas.openxmlformats.org/officeDocument/2006/relationships/chart" Target="/ppt/charts/chart37.xml"/><Relationship Id="rId3" Type="http://schemas.openxmlformats.org/officeDocument/2006/relationships/chart" Target="/ppt/charts/chart38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9.xml"/><Relationship Id="rId2" Type="http://schemas.openxmlformats.org/officeDocument/2006/relationships/chart" Target="/ppt/charts/chart40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1.xml"/><Relationship Id="rId2" Type="http://schemas.openxmlformats.org/officeDocument/2006/relationships/chart" Target="/ppt/charts/chart42.xml"/><Relationship Id="rId3" Type="http://schemas.openxmlformats.org/officeDocument/2006/relationships/chart" Target="/ppt/charts/chart43.xml"/><Relationship Id="rId4" Type="http://schemas.openxmlformats.org/officeDocument/2006/relationships/chart" Target="/ppt/charts/chart44.xml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5.xml"/><Relationship Id="rId2" Type="http://schemas.openxmlformats.org/officeDocument/2006/relationships/chart" Target="/ppt/charts/chart46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7.xml"/><Relationship Id="rId2" Type="http://schemas.openxmlformats.org/officeDocument/2006/relationships/chart" Target="/ppt/charts/chart48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9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0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1.xml"/><Relationship Id="rId2" Type="http://schemas.openxmlformats.org/officeDocument/2006/relationships/chart" Target="/ppt/charts/chart5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3.xml"/><Relationship Id="rId2" Type="http://schemas.openxmlformats.org/officeDocument/2006/relationships/chart" Target="/ppt/charts/chart5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ид работы"/>
          <p:cNvSpPr txBox="1"/>
          <p:nvPr/>
        </p:nvSpPr>
        <p:spPr>
          <a:xfrm>
            <a:off x="914400" y="5029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Диссертация на соискание ученой степени кандидата медицинских наук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1234440"/>
            <a:ext cx="103601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КВЧ-терапия и амплипульстерапия в комплексном санаторно-курортном лечении пациентов с синдромом раздраженного кишечника</a:t>
            </a:r>
            <a:endParaRPr lang="en-US" sz="3200" dirty="0"/>
          </a:p>
        </p:txBody>
      </p:sp>
      <p:sp>
        <p:nvSpPr>
          <p:cNvPr id="4" name="Специальность"/>
          <p:cNvSpPr txBox="1"/>
          <p:nvPr/>
        </p:nvSpPr>
        <p:spPr>
          <a:xfrm>
            <a:off x="1371600" y="347472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по специальности: 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3.1.33. Восстановительная медицина, спортивная медицина, лечебная физкультура, курортология и физиотерапия, медико-социальная реабилитация</a:t>
            </a:r>
            <a:endParaRPr lang="en-US" sz="1500" dirty="0"/>
          </a:p>
        </p:txBody>
      </p:sp>
      <p:sp>
        <p:nvSpPr>
          <p:cNvPr id="5" name="Соискатель"/>
          <p:cNvSpPr txBox="1"/>
          <p:nvPr/>
        </p:nvSpPr>
        <p:spPr>
          <a:xfrm>
            <a:off x="822960" y="4709160"/>
            <a:ext cx="4206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Привалова Наталья Ивановна</a:t>
            </a:r>
            <a:endParaRPr lang="en-US" sz="1400" dirty="0"/>
          </a:p>
        </p:txBody>
      </p:sp>
      <p:sp>
        <p:nvSpPr>
          <p:cNvPr id="6" name="Научные руководители"/>
          <p:cNvSpPr txBox="1"/>
          <p:nvPr/>
        </p:nvSpPr>
        <p:spPr>
          <a:xfrm>
            <a:off x="5303520" y="4709160"/>
            <a:ext cx="606247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Научные руководители: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Смирнова Ирина Николаевна, доктор медицинских наук, профессор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Поддубная Ольга Александровна, доктор медицинских наук, профессор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Актуальность</a:t>
            </a:r>
            <a:endParaRPr lang="en-US" sz="2600" dirty="0"/>
          </a:p>
        </p:txBody>
      </p:sp>
      <p:sp>
        <p:nvSpPr>
          <p:cNvPr id="3" name="Тезис"/>
          <p:cNvSpPr txBox="1"/>
          <p:nvPr/>
        </p:nvSpPr>
        <p:spPr>
          <a:xfrm>
            <a:off x="457200" y="11887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Синдром раздраженного кишечника (СРК) — одно из наиболее часто встречающихся заболеваний в гастроэнтерологической практике</a:t>
            </a:r>
            <a:endParaRPr lang="en-US" sz="1700" dirty="0"/>
          </a:p>
        </p:txBody>
      </p:sp>
      <p:sp>
        <p:nvSpPr>
          <p:cNvPr id="4" name="Показатель 1"/>
          <p:cNvSpPr txBox="1"/>
          <p:nvPr/>
        </p:nvSpPr>
        <p:spPr>
          <a:xfrm>
            <a:off x="457200" y="1920240"/>
            <a:ext cx="55321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10–13 %</a:t>
            </a:r>
            <a:endParaRPr lang="en-US" sz="14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встречаемость СРК среди населения РФ</a:t>
            </a:r>
            <a:endParaRPr lang="en-US" sz="1400" dirty="0"/>
          </a:p>
        </p:txBody>
      </p:sp>
      <p:sp>
        <p:nvSpPr>
          <p:cNvPr id="5" name="Показатель 2"/>
          <p:cNvSpPr txBox="1"/>
          <p:nvPr/>
        </p:nvSpPr>
        <p:spPr>
          <a:xfrm>
            <a:off x="6199632" y="1920240"/>
            <a:ext cx="55321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18–44 года (до 35 %)</a:t>
            </a:r>
            <a:endParaRPr lang="en-US" sz="14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подъём заболеваемости СРК приходится на молодой возраст</a:t>
            </a:r>
            <a:endParaRPr lang="en-US" sz="1400" dirty="0"/>
          </a:p>
        </p:txBody>
      </p:sp>
      <p:sp>
        <p:nvSpPr>
          <p:cNvPr id="6" name="Факт 1"/>
          <p:cNvSpPr txBox="1"/>
          <p:nvPr/>
        </p:nvSpPr>
        <p:spPr>
          <a:xfrm>
            <a:off x="457200" y="3749040"/>
            <a:ext cx="37033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Чаще страдают лица трудоспособного возраста</a:t>
            </a:r>
            <a:endParaRPr lang="en-US" sz="1400" dirty="0"/>
          </a:p>
        </p:txBody>
      </p:sp>
      <p:sp>
        <p:nvSpPr>
          <p:cNvPr id="7" name="Факт 2"/>
          <p:cNvSpPr txBox="1"/>
          <p:nvPr/>
        </p:nvSpPr>
        <p:spPr>
          <a:xfrm>
            <a:off x="4242816" y="3749040"/>
            <a:ext cx="37033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Функциональные нарушения приобретают устойчивое рецидивирующее течение</a:t>
            </a:r>
            <a:endParaRPr lang="en-US" sz="1400" dirty="0"/>
          </a:p>
        </p:txBody>
      </p:sp>
      <p:sp>
        <p:nvSpPr>
          <p:cNvPr id="8" name="Факт 3"/>
          <p:cNvSpPr txBox="1"/>
          <p:nvPr/>
        </p:nvSpPr>
        <p:spPr>
          <a:xfrm>
            <a:off x="8028432" y="3749040"/>
            <a:ext cx="37033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Признаки вегетативной дисфункции и психоэмоционального напряжения способствуют прогрессированию СРК</a:t>
            </a:r>
            <a:endParaRPr lang="en-US" sz="1400" dirty="0"/>
          </a:p>
        </p:txBody>
      </p:sp>
      <p:sp>
        <p:nvSpPr>
          <p:cNvPr id="9" name="Вывод по актуальности"/>
          <p:cNvSpPr txBox="1"/>
          <p:nvPr/>
        </p:nvSpPr>
        <p:spPr>
          <a:xfrm>
            <a:off x="457200" y="49377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3EBF4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Эффективность современной медикаментозной терапии СРК, даже с учетом регламентированных клинических рекомендаций, нельзя признать удовлетворительной, что обосновывает необходимость разработки новых подходов к лечению данной категории пациентов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Цель исследования</a:t>
            </a:r>
            <a:endParaRPr lang="en-US" sz="2600" dirty="0"/>
          </a:p>
        </p:txBody>
      </p:sp>
      <p:sp>
        <p:nvSpPr>
          <p:cNvPr id="3" name="Цель"/>
          <p:cNvSpPr txBox="1"/>
          <p:nvPr/>
        </p:nvSpPr>
        <p:spPr>
          <a:xfrm>
            <a:off x="914400" y="1737360"/>
            <a:ext cx="10360152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Научное обоснование и оценка эффективности комбинированного применения КВЧ-терапии и амплипульстерапии в комплексном санаторно-курортном лечении пациентов молодого возраста c синдромом раздраженного кишечника</a:t>
            </a:r>
            <a:endParaRPr lang="en-US" sz="2400" dirty="0"/>
          </a:p>
        </p:txBody>
      </p:sp>
      <p:sp>
        <p:nvSpPr>
          <p:cNvPr id="4" name="Контрольная группа"/>
          <p:cNvSpPr txBox="1"/>
          <p:nvPr/>
        </p:nvSpPr>
        <p:spPr>
          <a:xfrm>
            <a:off x="914400" y="42062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Контрольная группа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базисное СКЛ</a:t>
            </a:r>
            <a:endParaRPr lang="en-US" sz="1400" dirty="0"/>
          </a:p>
        </p:txBody>
      </p:sp>
      <p:sp>
        <p:nvSpPr>
          <p:cNvPr id="5" name="Группа сравнения"/>
          <p:cNvSpPr txBox="1"/>
          <p:nvPr/>
        </p:nvSpPr>
        <p:spPr>
          <a:xfrm>
            <a:off x="4471416" y="42062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Группа сравнения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базисное СКЛ + амплипульстерапия</a:t>
            </a:r>
            <a:endParaRPr lang="en-US" sz="1400" dirty="0"/>
          </a:p>
        </p:txBody>
      </p:sp>
      <p:sp>
        <p:nvSpPr>
          <p:cNvPr id="6" name="Основная группа"/>
          <p:cNvSpPr txBox="1"/>
          <p:nvPr/>
        </p:nvSpPr>
        <p:spPr>
          <a:xfrm>
            <a:off x="8028432" y="42062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Основная группа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базисное СКЛ + амплипульстерапия + КВЧ-терапия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Задачи исследования</a:t>
            </a:r>
            <a:endParaRPr lang="en-US" sz="2600" dirty="0"/>
          </a:p>
        </p:txBody>
      </p:sp>
      <p:sp>
        <p:nvSpPr>
          <p:cNvPr id="3" name="Номер задачи 1"/>
          <p:cNvSpPr/>
          <p:nvPr/>
        </p:nvSpPr>
        <p:spPr>
          <a:xfrm>
            <a:off x="457200" y="148590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4" name="Задача 1"/>
          <p:cNvSpPr txBox="1"/>
          <p:nvPr/>
        </p:nvSpPr>
        <p:spPr>
          <a:xfrm>
            <a:off x="1188720" y="1280160"/>
            <a:ext cx="1054303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Изучить клинические, лабораторные, психовегетативные и адаптационные показатели, состояние микробиоценоза кишечника и качество жизни у пациентов молодого возраста с синдромом раздражённого кишечника.</a:t>
            </a:r>
            <a:endParaRPr lang="en-US" sz="1400" dirty="0"/>
          </a:p>
        </p:txBody>
      </p:sp>
      <p:sp>
        <p:nvSpPr>
          <p:cNvPr id="5" name="Номер задачи 2"/>
          <p:cNvSpPr/>
          <p:nvPr/>
        </p:nvSpPr>
        <p:spPr>
          <a:xfrm>
            <a:off x="457200" y="2775204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6" name="Задача 2"/>
          <p:cNvSpPr txBox="1"/>
          <p:nvPr/>
        </p:nvSpPr>
        <p:spPr>
          <a:xfrm>
            <a:off x="1188720" y="2386584"/>
            <a:ext cx="1054303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Изучить влияние комплексного санаторно-курортного лечения с комбинированным применением КВЧ-терапии и амплипульстерапии на показатели клинического, психовегетативного, адаптационного статуса, микробиоценоз кишечника и качество жизни у пациентов молодого возраста с синдромом раздраженного кишечника.</a:t>
            </a:r>
            <a:endParaRPr lang="en-US" sz="1400" dirty="0"/>
          </a:p>
        </p:txBody>
      </p:sp>
      <p:sp>
        <p:nvSpPr>
          <p:cNvPr id="7" name="Номер задачи 3"/>
          <p:cNvSpPr/>
          <p:nvPr/>
        </p:nvSpPr>
        <p:spPr>
          <a:xfrm>
            <a:off x="457200" y="4247388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8" name="Задача 3"/>
          <p:cNvSpPr txBox="1"/>
          <p:nvPr/>
        </p:nvSpPr>
        <p:spPr>
          <a:xfrm>
            <a:off x="1188720" y="3858768"/>
            <a:ext cx="1054303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Оценить непосредственные и отдалённые результаты комплексного санаторно-курортного лечения с комбинированным применением КВЧ-терапии и амплипульстерапии в сравнении со стандартным комплексом у пациентов с синдромом раздражённого кишечника, в том числе с учётом клинических вариантов заболевания.</a:t>
            </a:r>
            <a:endParaRPr lang="en-US" sz="1400" dirty="0"/>
          </a:p>
        </p:txBody>
      </p:sp>
      <p:sp>
        <p:nvSpPr>
          <p:cNvPr id="9" name="Номер задачи 4"/>
          <p:cNvSpPr/>
          <p:nvPr/>
        </p:nvSpPr>
        <p:spPr>
          <a:xfrm>
            <a:off x="457200" y="5628132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0" name="Задача 4"/>
          <p:cNvSpPr txBox="1"/>
          <p:nvPr/>
        </p:nvSpPr>
        <p:spPr>
          <a:xfrm>
            <a:off x="1188720" y="5330952"/>
            <a:ext cx="1054303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Установить взаимосвязи эффективности комплексного санаторно-курортного лечения с включением КВЧ-терапии и амплипульстерапии с основными клинико-лабораторными и психовегетативными показателями, характеризующими течение заболевания.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Исследование проводилось на базах</a:t>
            </a:r>
            <a:endParaRPr lang="en-US" sz="2600" dirty="0"/>
          </a:p>
        </p:txBody>
      </p:sp>
      <p:sp>
        <p:nvSpPr>
          <p:cNvPr id="3" name="База 1"/>
          <p:cNvSpPr txBox="1"/>
          <p:nvPr/>
        </p:nvSpPr>
        <p:spPr>
          <a:xfrm>
            <a:off x="457200" y="1371600"/>
            <a:ext cx="53949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Санаторий-профилакторий Научно-исследовательского Томского политехнического университета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(НИ ТПУ)</a:t>
            </a:r>
            <a:endParaRPr lang="en-US" sz="1400" dirty="0"/>
          </a:p>
        </p:txBody>
      </p:sp>
      <p:sp>
        <p:nvSpPr>
          <p:cNvPr id="4" name="База 2"/>
          <p:cNvSpPr txBox="1"/>
          <p:nvPr/>
        </p:nvSpPr>
        <p:spPr>
          <a:xfrm>
            <a:off x="457200" y="3337560"/>
            <a:ext cx="53949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Томский научно-исследовательский институт курортологии и физиотерапии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(Томский НИИКиФ ФФГБУ ФНКЦ МРИК ФМБА России)</a:t>
            </a:r>
            <a:endParaRPr lang="en-US" sz="1400" dirty="0"/>
          </a:p>
        </p:txBody>
      </p:sp>
      <p:sp>
        <p:nvSpPr>
          <p:cNvPr id="5" name="Объём выборки"/>
          <p:cNvSpPr txBox="1"/>
          <p:nvPr/>
        </p:nvSpPr>
        <p:spPr>
          <a:xfrm>
            <a:off x="457200" y="5303520"/>
            <a:ext cx="53949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25400" tIns="101600" rIns="101600" bIns="2540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 = 135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пациентов с СРК, рандомизированных в 3 группы</a:t>
            </a:r>
            <a:endParaRPr lang="en-US" sz="1400" dirty="0"/>
          </a:p>
        </p:txBody>
      </p:sp>
      <p:graphicFrame>
        <p:nvGraphicFramePr>
          <p:cNvPr id="6" name="Распределение пациентов" descr=""/>
          <p:cNvGraphicFramePr/>
          <p:nvPr/>
        </p:nvGraphicFramePr>
        <p:xfrm>
          <a:off x="6126480" y="1280160"/>
          <a:ext cx="5605272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Критерии включения, невключения и исключения</a:t>
            </a:r>
            <a:endParaRPr lang="en-US" sz="2600" dirty="0"/>
          </a:p>
        </p:txBody>
      </p:sp>
      <p:sp>
        <p:nvSpPr>
          <p:cNvPr id="3" name="Критерии включения"/>
          <p:cNvSpPr txBox="1"/>
          <p:nvPr/>
        </p:nvSpPr>
        <p:spPr>
          <a:xfrm>
            <a:off x="457200" y="128016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Критерии включения</a:t>
            </a:r>
            <a:endParaRPr lang="en-US" sz="1600" dirty="0"/>
          </a:p>
        </p:txBody>
      </p:sp>
      <p:sp>
        <p:nvSpPr>
          <p:cNvPr id="4" name="Критерии включения — перечень"/>
          <p:cNvSpPr txBox="1"/>
          <p:nvPr/>
        </p:nvSpPr>
        <p:spPr>
          <a:xfrm>
            <a:off x="457200" y="1920240"/>
            <a:ext cx="3657600" cy="43434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информированное добровольное согласие на медицинское вмешательство и обработку персональных данных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верифицированный диагноз СРК: «СРК с преобладанием диареи» или «СРК с преобладанием запора»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рецидивирующая боль в животе не реже 1 раза в неделю, связанная с дефекацией, изменением частоты и формы стула; симптомы последние 3 месяца при общей продолжительности не менее 6 месяцев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отсутствие «симптомов тревоги»: потеря массы тела, ночная симптоматика, лихорадка, гепатомегалия, спленомегалия, снижение уровня гемоглобина, лейкоцитоз, повышение СОЭ, скрытая кровь в кале и др.</a:t>
            </a:r>
            <a:endParaRPr lang="en-US" sz="1250" dirty="0"/>
          </a:p>
        </p:txBody>
      </p:sp>
      <p:sp>
        <p:nvSpPr>
          <p:cNvPr id="5" name="Критерии невключения"/>
          <p:cNvSpPr txBox="1"/>
          <p:nvPr/>
        </p:nvSpPr>
        <p:spPr>
          <a:xfrm>
            <a:off x="4265676" y="128016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Критерии невключения</a:t>
            </a:r>
            <a:endParaRPr lang="en-US" sz="1600" dirty="0"/>
          </a:p>
        </p:txBody>
      </p:sp>
      <p:sp>
        <p:nvSpPr>
          <p:cNvPr id="6" name="Критерии невключения — перечень"/>
          <p:cNvSpPr txBox="1"/>
          <p:nvPr/>
        </p:nvSpPr>
        <p:spPr>
          <a:xfrm>
            <a:off x="4265676" y="1920240"/>
            <a:ext cx="3657600" cy="43434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заболевания ЖКТ, повторяющие симптоматику СРК (НЯК, болезнь Крона, целиакия, колиты, рак толстой кишки, панкреатит, лямблиоз, дивертикулит и др.)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гинекологические заболевания (эндометриоз, воспалительные заболевания, опухоли яичника)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острые и хронические заболевания в стадии обострения и/или декомпенсации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терапия, потенциально влияющая на функцию ВНС, ЖКТ, микробиоту кишечника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психические заболевания и депрессивные расстройства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общие противопоказания к назначению физиотерапии</a:t>
            </a:r>
            <a:endParaRPr lang="en-US" sz="1250" dirty="0"/>
          </a:p>
        </p:txBody>
      </p:sp>
      <p:sp>
        <p:nvSpPr>
          <p:cNvPr id="7" name="Критерии исключения"/>
          <p:cNvSpPr txBox="1"/>
          <p:nvPr/>
        </p:nvSpPr>
        <p:spPr>
          <a:xfrm>
            <a:off x="8074152" y="128016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Критерии исключения</a:t>
            </a:r>
            <a:endParaRPr lang="en-US" sz="1600" dirty="0"/>
          </a:p>
        </p:txBody>
      </p:sp>
      <p:sp>
        <p:nvSpPr>
          <p:cNvPr id="8" name="Критерии исключения — перечень"/>
          <p:cNvSpPr txBox="1"/>
          <p:nvPr/>
        </p:nvSpPr>
        <p:spPr>
          <a:xfrm>
            <a:off x="8074152" y="1920240"/>
            <a:ext cx="3657600" cy="43434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отказ пациента от обследования или лечения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оперативные вмешательства за период исследования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острые состояния или обострение хронической патологии в ходе исследования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Дизайн исследования</a:t>
            </a:r>
            <a:endParaRPr lang="en-US" sz="2600" dirty="0"/>
          </a:p>
        </p:txBody>
      </p:sp>
      <p:sp>
        <p:nvSpPr>
          <p:cNvPr id="3" name="Рандомизация"/>
          <p:cNvSpPr txBox="1"/>
          <p:nvPr/>
        </p:nvSpPr>
        <p:spPr>
          <a:xfrm>
            <a:off x="457200" y="1234440"/>
            <a:ext cx="1127455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Включение в исследование и рандомизация пациентов с СРК (n=135)</a:t>
            </a:r>
            <a:endParaRPr lang="en-US" sz="1200" dirty="0"/>
          </a:p>
        </p:txBody>
      </p:sp>
      <p:sp>
        <p:nvSpPr>
          <p:cNvPr id="4" name="Стрелка"/>
          <p:cNvSpPr/>
          <p:nvPr/>
        </p:nvSpPr>
        <p:spPr>
          <a:xfrm>
            <a:off x="6094476" y="1691640"/>
            <a:ext cx="0" cy="182880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  <a:tailEnd type="triangle"/>
          </a:ln>
        </p:spPr>
      </p:sp>
      <p:sp>
        <p:nvSpPr>
          <p:cNvPr id="5" name="Обследование"/>
          <p:cNvSpPr txBox="1"/>
          <p:nvPr/>
        </p:nvSpPr>
        <p:spPr>
          <a:xfrm>
            <a:off x="457200" y="1874520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Обследование пациентов включало: </a:t>
            </a:r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оценку клинических симптомов, жалоб, объективного статуса (пальпация живота), вегетативного (индекс Кердо, ортоклиностатическая проба, эпигастральный рефлекс, кардиоинтервалография) и психологического статуса (цветовой тест Макса Люшера, анкета Спилберга-Ханина), оценка качества жизни (опросник SF-36), лабораторные исследования (общеклинический анализ крови с определением неспецифической адаптационной реакции организма, микробиологическое исследование кала), инструментальные методы исследования (УЗИ кишечника).</a:t>
            </a:r>
            <a:endParaRPr lang="en-US" sz="1150" dirty="0"/>
          </a:p>
        </p:txBody>
      </p:sp>
      <p:sp>
        <p:nvSpPr>
          <p:cNvPr id="6" name="Стрелка"/>
          <p:cNvSpPr/>
          <p:nvPr/>
        </p:nvSpPr>
        <p:spPr>
          <a:xfrm>
            <a:off x="2263140" y="2743200"/>
            <a:ext cx="0" cy="182880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  <a:tailEnd type="triangle"/>
          </a:ln>
        </p:spPr>
      </p:sp>
      <p:sp>
        <p:nvSpPr>
          <p:cNvPr id="7" name="Группа контроля (n=43)"/>
          <p:cNvSpPr txBox="1"/>
          <p:nvPr/>
        </p:nvSpPr>
        <p:spPr>
          <a:xfrm>
            <a:off x="457200" y="2926080"/>
            <a:ext cx="3611880" cy="310896"/>
          </a:xfrm>
          <a:prstGeom prst="roundRect">
            <a:avLst>
              <a:gd name="adj" fmla="val 23529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Группа контроля (n=43)</a:t>
            </a:r>
            <a:endParaRPr lang="en-US" sz="1200" dirty="0"/>
          </a:p>
        </p:txBody>
      </p:sp>
      <p:sp>
        <p:nvSpPr>
          <p:cNvPr id="8" name="Подгруппа 1а (n=23)"/>
          <p:cNvSpPr txBox="1"/>
          <p:nvPr/>
        </p:nvSpPr>
        <p:spPr>
          <a:xfrm>
            <a:off x="457200" y="3236976"/>
            <a:ext cx="17876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СРК-З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1а (n=23)</a:t>
            </a:r>
            <a:endParaRPr lang="en-US" sz="1150" dirty="0"/>
          </a:p>
        </p:txBody>
      </p:sp>
      <p:sp>
        <p:nvSpPr>
          <p:cNvPr id="9" name="Подгруппа 1б (n=20)"/>
          <p:cNvSpPr txBox="1"/>
          <p:nvPr/>
        </p:nvSpPr>
        <p:spPr>
          <a:xfrm>
            <a:off x="2263140" y="3236976"/>
            <a:ext cx="17876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СРК-Д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1б (n=20)</a:t>
            </a:r>
            <a:endParaRPr lang="en-US" sz="1150" dirty="0"/>
          </a:p>
        </p:txBody>
      </p:sp>
      <p:sp>
        <p:nvSpPr>
          <p:cNvPr id="10" name="Стрелка"/>
          <p:cNvSpPr/>
          <p:nvPr/>
        </p:nvSpPr>
        <p:spPr>
          <a:xfrm>
            <a:off x="6094476" y="2743200"/>
            <a:ext cx="0" cy="182880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  <a:tailEnd type="triangle"/>
          </a:ln>
        </p:spPr>
      </p:sp>
      <p:sp>
        <p:nvSpPr>
          <p:cNvPr id="11" name="Группа сравнения (n=47)"/>
          <p:cNvSpPr txBox="1"/>
          <p:nvPr/>
        </p:nvSpPr>
        <p:spPr>
          <a:xfrm>
            <a:off x="4288536" y="2926080"/>
            <a:ext cx="3611880" cy="310896"/>
          </a:xfrm>
          <a:prstGeom prst="roundRect">
            <a:avLst>
              <a:gd name="adj" fmla="val 23529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Группа сравнения (n=47)</a:t>
            </a:r>
            <a:endParaRPr lang="en-US" sz="1200" dirty="0"/>
          </a:p>
        </p:txBody>
      </p:sp>
      <p:sp>
        <p:nvSpPr>
          <p:cNvPr id="12" name="Подгруппа 2а (n=25)"/>
          <p:cNvSpPr txBox="1"/>
          <p:nvPr/>
        </p:nvSpPr>
        <p:spPr>
          <a:xfrm>
            <a:off x="4288536" y="3236976"/>
            <a:ext cx="17876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СРК-З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2а (n=25)</a:t>
            </a:r>
            <a:endParaRPr lang="en-US" sz="1150" dirty="0"/>
          </a:p>
        </p:txBody>
      </p:sp>
      <p:sp>
        <p:nvSpPr>
          <p:cNvPr id="13" name="Подгруппа 2б (n=22)"/>
          <p:cNvSpPr txBox="1"/>
          <p:nvPr/>
        </p:nvSpPr>
        <p:spPr>
          <a:xfrm>
            <a:off x="6094476" y="3236976"/>
            <a:ext cx="17876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СРК-Д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2б (n=22)</a:t>
            </a:r>
            <a:endParaRPr lang="en-US" sz="1150" dirty="0"/>
          </a:p>
        </p:txBody>
      </p:sp>
      <p:sp>
        <p:nvSpPr>
          <p:cNvPr id="14" name="Стрелка"/>
          <p:cNvSpPr/>
          <p:nvPr/>
        </p:nvSpPr>
        <p:spPr>
          <a:xfrm>
            <a:off x="9925812" y="2743200"/>
            <a:ext cx="0" cy="182880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  <a:tailEnd type="triangle"/>
          </a:ln>
        </p:spPr>
      </p:sp>
      <p:sp>
        <p:nvSpPr>
          <p:cNvPr id="15" name="Основная группа (n=45)"/>
          <p:cNvSpPr txBox="1"/>
          <p:nvPr/>
        </p:nvSpPr>
        <p:spPr>
          <a:xfrm>
            <a:off x="8119872" y="2926080"/>
            <a:ext cx="3611880" cy="310896"/>
          </a:xfrm>
          <a:prstGeom prst="roundRect">
            <a:avLst>
              <a:gd name="adj" fmla="val 23529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Основная группа (n=45)</a:t>
            </a:r>
            <a:endParaRPr lang="en-US" sz="1200" dirty="0"/>
          </a:p>
        </p:txBody>
      </p:sp>
      <p:sp>
        <p:nvSpPr>
          <p:cNvPr id="16" name="Подгруппа 3а (n=24)"/>
          <p:cNvSpPr txBox="1"/>
          <p:nvPr/>
        </p:nvSpPr>
        <p:spPr>
          <a:xfrm>
            <a:off x="8119872" y="3236976"/>
            <a:ext cx="17876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СРК-З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3а (n=24)</a:t>
            </a:r>
            <a:endParaRPr lang="en-US" sz="1150" dirty="0"/>
          </a:p>
        </p:txBody>
      </p:sp>
      <p:sp>
        <p:nvSpPr>
          <p:cNvPr id="17" name="Подгруппа 3б (n=21)"/>
          <p:cNvSpPr txBox="1"/>
          <p:nvPr/>
        </p:nvSpPr>
        <p:spPr>
          <a:xfrm>
            <a:off x="9925812" y="3236976"/>
            <a:ext cx="17876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СРК-Д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3б (n=21)</a:t>
            </a:r>
            <a:endParaRPr lang="en-US" sz="1150" dirty="0"/>
          </a:p>
        </p:txBody>
      </p:sp>
      <p:sp>
        <p:nvSpPr>
          <p:cNvPr id="18" name="Базисное СКЛ"/>
          <p:cNvSpPr txBox="1"/>
          <p:nvPr/>
        </p:nvSpPr>
        <p:spPr>
          <a:xfrm>
            <a:off x="457200" y="4023360"/>
            <a:ext cx="1127455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Все пациенты получали комплексное базисное СКЛ: </a:t>
            </a:r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лечебное питание, внутренний прием маломинерализованной минеральной воды, пробиотик «аципол-форте», групповая ЛФК, массаж воротниковой области</a:t>
            </a:r>
            <a:endParaRPr lang="en-US" sz="1200" dirty="0"/>
          </a:p>
        </p:txBody>
      </p:sp>
      <p:sp>
        <p:nvSpPr>
          <p:cNvPr id="19" name="Стрелка"/>
          <p:cNvSpPr/>
          <p:nvPr/>
        </p:nvSpPr>
        <p:spPr>
          <a:xfrm>
            <a:off x="2263140" y="4590288"/>
            <a:ext cx="0" cy="164592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  <a:tailEnd type="triangle"/>
          </a:ln>
        </p:spPr>
      </p:sp>
      <p:sp>
        <p:nvSpPr>
          <p:cNvPr id="20" name="Метод 1"/>
          <p:cNvSpPr txBox="1"/>
          <p:nvPr/>
        </p:nvSpPr>
        <p:spPr>
          <a:xfrm>
            <a:off x="457200" y="475488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Проводилось только базисное СКЛ</a:t>
            </a:r>
            <a:endParaRPr lang="en-US" sz="1200" dirty="0"/>
          </a:p>
        </p:txBody>
      </p:sp>
      <p:sp>
        <p:nvSpPr>
          <p:cNvPr id="21" name="Стрелка"/>
          <p:cNvSpPr/>
          <p:nvPr/>
        </p:nvSpPr>
        <p:spPr>
          <a:xfrm>
            <a:off x="6094476" y="4590288"/>
            <a:ext cx="0" cy="164592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  <a:tailEnd type="triangle"/>
          </a:ln>
        </p:spPr>
      </p:sp>
      <p:sp>
        <p:nvSpPr>
          <p:cNvPr id="22" name="Метод 2"/>
          <p:cNvSpPr txBox="1"/>
          <p:nvPr/>
        </p:nvSpPr>
        <p:spPr>
          <a:xfrm>
            <a:off x="4288536" y="475488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Дополнительно проводилась амплипульстерапия</a:t>
            </a:r>
            <a:endParaRPr lang="en-US" sz="1200" dirty="0"/>
          </a:p>
        </p:txBody>
      </p:sp>
      <p:sp>
        <p:nvSpPr>
          <p:cNvPr id="23" name="Стрелка"/>
          <p:cNvSpPr/>
          <p:nvPr/>
        </p:nvSpPr>
        <p:spPr>
          <a:xfrm>
            <a:off x="9925812" y="4590288"/>
            <a:ext cx="0" cy="164592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  <a:tailEnd type="triangle"/>
          </a:ln>
        </p:spPr>
      </p:sp>
      <p:sp>
        <p:nvSpPr>
          <p:cNvPr id="24" name="Метод 3"/>
          <p:cNvSpPr txBox="1"/>
          <p:nvPr/>
        </p:nvSpPr>
        <p:spPr>
          <a:xfrm>
            <a:off x="8119872" y="475488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Дополнительно проводилась амплипульстерапия и КВЧ-терапия</a:t>
            </a:r>
            <a:endParaRPr lang="en-US" sz="1200" dirty="0"/>
          </a:p>
        </p:txBody>
      </p:sp>
      <p:sp>
        <p:nvSpPr>
          <p:cNvPr id="25" name="Этап 1"/>
          <p:cNvSpPr txBox="1"/>
          <p:nvPr/>
        </p:nvSpPr>
        <p:spPr>
          <a:xfrm>
            <a:off x="457200" y="5577840"/>
            <a:ext cx="361188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Контрольное обследование сразу после завершения курса лечения</a:t>
            </a:r>
            <a:endParaRPr lang="en-US" sz="1200" dirty="0"/>
          </a:p>
        </p:txBody>
      </p:sp>
      <p:sp>
        <p:nvSpPr>
          <p:cNvPr id="26" name="Стрелка"/>
          <p:cNvSpPr/>
          <p:nvPr/>
        </p:nvSpPr>
        <p:spPr>
          <a:xfrm>
            <a:off x="4069080" y="5907024"/>
            <a:ext cx="219456" cy="0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  <a:tailEnd type="triangle"/>
          </a:ln>
        </p:spPr>
      </p:sp>
      <p:sp>
        <p:nvSpPr>
          <p:cNvPr id="27" name="Этап 2"/>
          <p:cNvSpPr txBox="1"/>
          <p:nvPr/>
        </p:nvSpPr>
        <p:spPr>
          <a:xfrm>
            <a:off x="4288536" y="5577840"/>
            <a:ext cx="361188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Контрольное обследование через 6 месяцев после завершения курса лечения</a:t>
            </a:r>
            <a:endParaRPr lang="en-US" sz="1200" dirty="0"/>
          </a:p>
        </p:txBody>
      </p:sp>
      <p:sp>
        <p:nvSpPr>
          <p:cNvPr id="28" name="Стрелка"/>
          <p:cNvSpPr/>
          <p:nvPr/>
        </p:nvSpPr>
        <p:spPr>
          <a:xfrm>
            <a:off x="7900416" y="5907024"/>
            <a:ext cx="219456" cy="0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  <a:tailEnd type="triangle"/>
          </a:ln>
        </p:spPr>
      </p:sp>
      <p:sp>
        <p:nvSpPr>
          <p:cNvPr id="29" name="Этап 3"/>
          <p:cNvSpPr txBox="1"/>
          <p:nvPr/>
        </p:nvSpPr>
        <p:spPr>
          <a:xfrm>
            <a:off x="8119872" y="5577840"/>
            <a:ext cx="361188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Завершение исследования, статистическая обработка результатов и анализ данных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Методы исследования</a:t>
            </a:r>
            <a:endParaRPr lang="en-US" sz="2600" dirty="0"/>
          </a:p>
        </p:txBody>
      </p:sp>
      <p:sp>
        <p:nvSpPr>
          <p:cNvPr id="3" name="Клинические"/>
          <p:cNvSpPr txBox="1"/>
          <p:nvPr/>
        </p:nvSpPr>
        <p:spPr>
          <a:xfrm>
            <a:off x="457200" y="132588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8DB5A5"/>
          </a:solidFill>
          <a:ln w="9525">
            <a:solidFill>
              <a:srgbClr val="8DB5A5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Клинические</a:t>
            </a:r>
            <a:endParaRPr lang="en-US" sz="1400" dirty="0"/>
          </a:p>
        </p:txBody>
      </p:sp>
      <p:sp>
        <p:nvSpPr>
          <p:cNvPr id="4" name="Клинические — перечень"/>
          <p:cNvSpPr txBox="1"/>
          <p:nvPr/>
        </p:nvSpPr>
        <p:spPr>
          <a:xfrm>
            <a:off x="457200" y="1965960"/>
            <a:ext cx="36118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10160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оценка клинических симптомов по 5-балльной шкале Ликерта (Likert scale)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оценка частоты и характера стула по Бристольской шкале</a:t>
            </a:r>
            <a:endParaRPr lang="en-US" sz="1300" dirty="0"/>
          </a:p>
        </p:txBody>
      </p:sp>
      <p:sp>
        <p:nvSpPr>
          <p:cNvPr id="5" name="Лабораторные"/>
          <p:cNvSpPr txBox="1"/>
          <p:nvPr/>
        </p:nvSpPr>
        <p:spPr>
          <a:xfrm>
            <a:off x="4288536" y="132588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6C94BE"/>
          </a:solidFill>
          <a:ln w="9525">
            <a:solidFill>
              <a:srgbClr val="6C94BE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Лабораторные</a:t>
            </a:r>
            <a:endParaRPr lang="en-US" sz="1400" dirty="0"/>
          </a:p>
        </p:txBody>
      </p:sp>
      <p:sp>
        <p:nvSpPr>
          <p:cNvPr id="6" name="Лабораторные — перечень"/>
          <p:cNvSpPr txBox="1"/>
          <p:nvPr/>
        </p:nvSpPr>
        <p:spPr>
          <a:xfrm>
            <a:off x="4288536" y="1965960"/>
            <a:ext cx="36118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10160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общеклинический анализ крови с определением неспецифических адаптивных систем организма по методике Л.Х. Гаркави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бактериологическое исследование количественного и качественного видового состава кишечной микрофлоры</a:t>
            </a:r>
            <a:endParaRPr lang="en-US" sz="1300" dirty="0"/>
          </a:p>
        </p:txBody>
      </p:sp>
      <p:sp>
        <p:nvSpPr>
          <p:cNvPr id="7" name="Инструментальные"/>
          <p:cNvSpPr txBox="1"/>
          <p:nvPr/>
        </p:nvSpPr>
        <p:spPr>
          <a:xfrm>
            <a:off x="8119872" y="132588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Инструментальные</a:t>
            </a:r>
            <a:endParaRPr lang="en-US" sz="1400" dirty="0"/>
          </a:p>
        </p:txBody>
      </p:sp>
      <p:sp>
        <p:nvSpPr>
          <p:cNvPr id="8" name="Инструментальные — перечень"/>
          <p:cNvSpPr txBox="1"/>
          <p:nvPr/>
        </p:nvSpPr>
        <p:spPr>
          <a:xfrm>
            <a:off x="8119872" y="1965960"/>
            <a:ext cx="36118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10160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ультразвуковое исследование толстого кишечника</a:t>
            </a:r>
            <a:endParaRPr lang="en-US" sz="1300" dirty="0"/>
          </a:p>
        </p:txBody>
      </p:sp>
      <p:sp>
        <p:nvSpPr>
          <p:cNvPr id="9" name="Исследование вегетативной регуляции"/>
          <p:cNvSpPr txBox="1"/>
          <p:nvPr/>
        </p:nvSpPr>
        <p:spPr>
          <a:xfrm>
            <a:off x="457200" y="393192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Исследование вегетативной регуляции</a:t>
            </a:r>
            <a:endParaRPr lang="en-US" sz="1400" dirty="0"/>
          </a:p>
        </p:txBody>
      </p:sp>
      <p:sp>
        <p:nvSpPr>
          <p:cNvPr id="10" name="Исследование вегетативной регуляции — перечень"/>
          <p:cNvSpPr txBox="1"/>
          <p:nvPr/>
        </p:nvSpPr>
        <p:spPr>
          <a:xfrm>
            <a:off x="457200" y="4572000"/>
            <a:ext cx="36118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10160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вегетативный индекс Кердо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ортоклиностатическая проба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эпигастральный рефлекс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кардиоинтервалография</a:t>
            </a:r>
            <a:endParaRPr lang="en-US" sz="1300" dirty="0"/>
          </a:p>
        </p:txBody>
      </p:sp>
      <p:sp>
        <p:nvSpPr>
          <p:cNvPr id="11" name="Исследование психоэмоционального статуса"/>
          <p:cNvSpPr txBox="1"/>
          <p:nvPr/>
        </p:nvSpPr>
        <p:spPr>
          <a:xfrm>
            <a:off x="4288536" y="393192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C99AA9"/>
          </a:solidFill>
          <a:ln w="9525">
            <a:solidFill>
              <a:srgbClr val="C99AA9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Исследование психоэмоционального статуса</a:t>
            </a:r>
            <a:endParaRPr lang="en-US" sz="1400" dirty="0"/>
          </a:p>
        </p:txBody>
      </p:sp>
      <p:sp>
        <p:nvSpPr>
          <p:cNvPr id="12" name="Исследование психоэмоционального статуса — перечень"/>
          <p:cNvSpPr txBox="1"/>
          <p:nvPr/>
        </p:nvSpPr>
        <p:spPr>
          <a:xfrm>
            <a:off x="4288536" y="4572000"/>
            <a:ext cx="36118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10160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цветовой тест Макса Люшера (Lüscher-Test)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опросник Спилбергера–Ханина (State-Trait Anxiety Inventory)</a:t>
            </a:r>
            <a:endParaRPr lang="en-US" sz="1300" dirty="0"/>
          </a:p>
        </p:txBody>
      </p:sp>
      <p:sp>
        <p:nvSpPr>
          <p:cNvPr id="13" name="Исследование качества жизни"/>
          <p:cNvSpPr txBox="1"/>
          <p:nvPr/>
        </p:nvSpPr>
        <p:spPr>
          <a:xfrm>
            <a:off x="8119872" y="393192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Исследование качества жизни</a:t>
            </a:r>
            <a:endParaRPr lang="en-US" sz="1400" dirty="0"/>
          </a:p>
        </p:txBody>
      </p:sp>
      <p:sp>
        <p:nvSpPr>
          <p:cNvPr id="14" name="Исследование качества жизни — перечень"/>
          <p:cNvSpPr txBox="1"/>
          <p:nvPr/>
        </p:nvSpPr>
        <p:spPr>
          <a:xfrm>
            <a:off x="8119872" y="4572000"/>
            <a:ext cx="36118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10160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общий опросник MOS SF-36 (36-Item Short-Form Health Survey)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Положение, выносимое на защиту № 1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201168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Комбинированное применение КВЧ-терапии и амплипульстерапии в комплексном санаторно-курортном лечении пациентов молодого возраста с синдромом раздражённого кишечника патогенетически обосновано и обеспечивает более выраженное корригирующее действие на клинические проявления заболевания, психовегетативный и адаптационный статус, состояние микробиоценоза кишечника и качество жизни по сравнению со стандартным лечебным комплексом.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Динамика абдоминалгии у пациентов с СРК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1</a:t>
            </a:r>
            <a:endParaRPr lang="en-US" sz="1000" dirty="0"/>
          </a:p>
        </p:txBody>
      </p:sp>
      <p:graphicFrame>
        <p:nvGraphicFramePr>
          <p:cNvPr id="5" name="Ликерт СРК-З" descr=""/>
          <p:cNvGraphicFramePr/>
          <p:nvPr/>
        </p:nvGraphicFramePr>
        <p:xfrm>
          <a:off x="457200" y="1234440"/>
          <a:ext cx="55321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Ликерт СРК-Д" descr=""/>
          <p:cNvGraphicFramePr/>
          <p:nvPr/>
        </p:nvGraphicFramePr>
        <p:xfrm>
          <a:off x="6199632" y="1234440"/>
          <a:ext cx="55321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Частота СРК-З" descr=""/>
          <p:cNvGraphicFramePr/>
          <p:nvPr/>
        </p:nvGraphicFramePr>
        <p:xfrm>
          <a:off x="457200" y="3611880"/>
          <a:ext cx="55321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Частота СРК-Д" descr=""/>
          <p:cNvGraphicFramePr/>
          <p:nvPr/>
        </p:nvGraphicFramePr>
        <p:xfrm>
          <a:off x="6199632" y="3611880"/>
          <a:ext cx="55321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 2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p (до/после), баллы: СРК-З — 0,005; 0,041; 0,00001; СРК-Д — 0,005; 0,002; 0,00001. Основная группа достоверно лучше контрольной и сравнения (p&lt;0,005; критерии Краскела–Уоллиса, ван дер Вардена). Частота абдоминалгии снижалась во всех группах (p&lt;0,05), наиболее значимо — в основной.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Нормализация стула у пациентов с СРК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1</a:t>
            </a:r>
            <a:endParaRPr lang="en-US" sz="1000" dirty="0"/>
          </a:p>
        </p:txBody>
      </p:sp>
      <p:graphicFrame>
        <p:nvGraphicFramePr>
          <p:cNvPr id="5" name="Нормализация стула" descr=""/>
          <p:cNvGraphicFramePr/>
          <p:nvPr/>
        </p:nvGraphicFramePr>
        <p:xfrm>
          <a:off x="457200" y="1280160"/>
          <a:ext cx="49377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Заголовок таблицы 12"/>
          <p:cNvSpPr txBox="1"/>
          <p:nvPr/>
        </p:nvSpPr>
        <p:spPr>
          <a:xfrm>
            <a:off x="5669280" y="1280160"/>
            <a:ext cx="6062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Динамика частоты и характера стула (по Бристольской шкале)</a:t>
            </a:r>
            <a:endParaRPr lang="en-US" sz="1200" dirty="0"/>
          </a:p>
        </p:txBody>
      </p:sp>
      <p:graphicFrame>
        <p:nvGraphicFramePr>
          <p:cNvPr id="12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645920"/>
          <a:ext cx="60624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011680"/>
                <a:gridCol w="2130552"/>
              </a:tblGrid>
              <a:tr h="36576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55"/>
                          </a:solidFill>
                        </a:rPr>
                        <a:t>Группа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55"/>
                          </a:solidFill>
                        </a:rPr>
                        <a:t>До лечения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55"/>
                          </a:solidFill>
                        </a:rPr>
                        <a:t>После лечения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</a:tr>
              <a:tr h="41148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частота дефекаций / характер стула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частота дефекаций / характер стула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3E55"/>
                          </a:solidFill>
                        </a:rPr>
                        <a:t>Контрольная с СРК-З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55"/>
                          </a:solidFill>
                        </a:rPr>
                        <a:t>1 раз в 3 дня / 2 тип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55"/>
                          </a:solidFill>
                        </a:rPr>
                        <a:t>6 раз в 7 дней / 3 тип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3E55"/>
                          </a:solidFill>
                        </a:rPr>
                        <a:t>Контрольная с СРК-Д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55"/>
                          </a:solidFill>
                        </a:rPr>
                        <a:t>3 раза в день / 6 тип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55"/>
                          </a:solidFill>
                        </a:rPr>
                        <a:t>1–2 раза в день / 5 тип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3E55"/>
                          </a:solidFill>
                        </a:rPr>
                        <a:t>Сравнения с СРК-З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55"/>
                          </a:solidFill>
                        </a:rPr>
                        <a:t>1 раз в 3 дня / 2 тип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55"/>
                          </a:solidFill>
                        </a:rPr>
                        <a:t>7 раз в 7 дней / 3–4 тип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3E55"/>
                          </a:solidFill>
                        </a:rPr>
                        <a:t>Сравнения с СРК-Д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55"/>
                          </a:solidFill>
                        </a:rPr>
                        <a:t>3 раза в день / 6 тип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55"/>
                          </a:solidFill>
                        </a:rPr>
                        <a:t>1–2 раза в день / 5 тип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3E55"/>
                          </a:solidFill>
                        </a:rPr>
                        <a:t>Основная с СРК-З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55"/>
                          </a:solidFill>
                        </a:rPr>
                        <a:t>1 раз в 3 дня / 2 тип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55"/>
                          </a:solidFill>
                        </a:rPr>
                        <a:t>7 раз в 7 дней / 4 тип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3E55"/>
                          </a:solidFill>
                        </a:rPr>
                        <a:t>Основная с СРК-Д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55"/>
                          </a:solidFill>
                        </a:rPr>
                        <a:t>3 раза в день / 6 тип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55"/>
                          </a:solidFill>
                        </a:rPr>
                        <a:t>1 раз в день / 4 тип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p (нормализация стула): СРК-З — 0,0001; 0,001; 0,00001; СРК-Д — 0,05; &lt;0,05; 0,0004. Различия по характеру стула между всеми группами: p=0,003–0,01.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Динамика адаптационных реакций (по Л.Х. Гаркави)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1</a:t>
            </a:r>
            <a:endParaRPr lang="en-US" sz="1000" dirty="0"/>
          </a:p>
        </p:txBody>
      </p:sp>
      <p:graphicFrame>
        <p:nvGraphicFramePr>
          <p:cNvPr id="5" name="Реакция стресса (РС), % пациентов" descr=""/>
          <p:cNvGraphicFramePr/>
          <p:nvPr/>
        </p:nvGraphicFramePr>
        <p:xfrm>
          <a:off x="457200" y="1234440"/>
          <a:ext cx="5532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Реакция переактивации (РПеА), % пациентов" descr=""/>
          <p:cNvGraphicFramePr/>
          <p:nvPr/>
        </p:nvGraphicFramePr>
        <p:xfrm>
          <a:off x="6199632" y="1234440"/>
          <a:ext cx="5532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РСА + РПА (физиологическая активация), % пациентов" descr=""/>
          <p:cNvGraphicFramePr/>
          <p:nvPr/>
        </p:nvGraphicFramePr>
        <p:xfrm>
          <a:off x="457200" y="3566160"/>
          <a:ext cx="5532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Прирост РСА+РПА" descr=""/>
          <p:cNvGraphicFramePr/>
          <p:nvPr/>
        </p:nvGraphicFramePr>
        <p:xfrm>
          <a:off x="6199632" y="3566160"/>
          <a:ext cx="5532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 2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Группы: 1 — контрольная (базисное СКЛ); 2 — сравнения (+ амплипульстерапия); 3 — основная (+ амплипульстерапия + КВЧ-терапия); а — СРК-З (запор); б — СРК-Д (диарея). РС и РСА+РПА, p (до/после): основная — 0,007 и 0,001 (СРК-З), 0,01 и 0,001 (СРК-Д). Δ: основная vs контрольная p=0,008 (СРК-З), vs сравнения p=0,0007 (СРК-Д).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Ультразвуковые признаки пневматоза кишечника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1</a:t>
            </a:r>
            <a:endParaRPr lang="en-US" sz="1000" dirty="0"/>
          </a:p>
        </p:txBody>
      </p:sp>
      <p:graphicFrame>
        <p:nvGraphicFramePr>
          <p:cNvPr id="5" name="Пневматоз" descr=""/>
          <p:cNvGraphicFramePr/>
          <p:nvPr/>
        </p:nvGraphicFramePr>
        <p:xfrm>
          <a:off x="457200" y="1280160"/>
          <a:ext cx="76809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Показатель СРК-З"/>
          <p:cNvSpPr txBox="1"/>
          <p:nvPr/>
        </p:nvSpPr>
        <p:spPr>
          <a:xfrm>
            <a:off x="8503920" y="1463040"/>
            <a:ext cx="3227832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Основная группа</a:t>
            </a:r>
            <a:endParaRPr lang="en-US" sz="14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СРК-З: 94,4 → 22,2 %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 = 0,0002</a:t>
            </a:r>
            <a:endParaRPr lang="en-US" sz="1400" dirty="0"/>
          </a:p>
        </p:txBody>
      </p:sp>
      <p:sp>
        <p:nvSpPr>
          <p:cNvPr id="7" name="Показатель СРК-Д"/>
          <p:cNvSpPr txBox="1"/>
          <p:nvPr/>
        </p:nvSpPr>
        <p:spPr>
          <a:xfrm>
            <a:off x="8503920" y="3200400"/>
            <a:ext cx="3227832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Основная группа</a:t>
            </a:r>
            <a:endParaRPr lang="en-US" sz="14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СРК-Д: 100 → 20,0 %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 = 0,0003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Группы: 1 — контрольная (базисное СКЛ); 2 — сравнения (+ амплипульстерапия); 3 — основная (+ амплипульстерапия + КВЧ-терапия); а — СРК-З (запор); б — СРК-Д (диарея). Во всех группах p&lt;0,05. Межгрупповые различия: СРК-З — 1а/2а 0,01; 1а/3а 0,001; 2а/3а 0,02; СРК-Д — 1б/2б 0,03; 1б/3б 0,005; 2б/3б 0,001.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Нормализация микробиоценоза кишечника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1</a:t>
            </a:r>
            <a:endParaRPr lang="en-US" sz="1000" dirty="0"/>
          </a:p>
        </p:txBody>
      </p:sp>
      <p:graphicFrame>
        <p:nvGraphicFramePr>
          <p:cNvPr id="5" name="Нормализация микробиоценоза" descr=""/>
          <p:cNvGraphicFramePr/>
          <p:nvPr/>
        </p:nvGraphicFramePr>
        <p:xfrm>
          <a:off x="457200" y="1280160"/>
          <a:ext cx="32918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Бифидобактерии" descr=""/>
          <p:cNvGraphicFramePr/>
          <p:nvPr/>
        </p:nvGraphicFramePr>
        <p:xfrm>
          <a:off x="3886200" y="1280160"/>
          <a:ext cx="38862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Лактобактерии" descr=""/>
          <p:cNvGraphicFramePr/>
          <p:nvPr/>
        </p:nvGraphicFramePr>
        <p:xfrm>
          <a:off x="7909560" y="1280160"/>
          <a:ext cx="3822192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2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Группы: 1 — контрольная (базисное СКЛ); 2 — сравнения (+ амплипульстерапия); 3 — основная (+ амплипульстерапия + КВЧ-терапия); а — СРК-З (запор); б — СРК-Д (диарея). Основная группа: нормализация у 100 % пациентов (p=0,001); контрольная и сравнения — у 61,5 % (p=0,005), у остальных показатели значительно улучшились (p=0,05). Патогенные микроорганизмы (Salmonella spp., Shigella spp.) не обнаружены.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Динамика микробиоценоза толстого кишечника у пациентов с СРК-З (КОЕ/г)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1</a:t>
            </a:r>
            <a:endParaRPr lang="en-US" sz="1000" dirty="0"/>
          </a:p>
        </p:txBody>
      </p:sp>
      <p:graphicFrame>
        <p:nvGraphicFramePr>
          <p:cNvPr id="16" name="Динамика микробиоценоза толстого кишечника у пациентов с СРК-З (КОЕ/г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868680"/>
                <a:gridCol w="914400"/>
                <a:gridCol w="868680"/>
                <a:gridCol w="914400"/>
                <a:gridCol w="868680"/>
                <a:gridCol w="960120"/>
                <a:gridCol w="1097280"/>
                <a:gridCol w="1097280"/>
                <a:gridCol w="1170432"/>
              </a:tblGrid>
              <a:tr h="347472">
                <a:tc row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3E55"/>
                          </a:solidFill>
                        </a:rPr>
                        <a:t>Показатель (норма, КОЕ/г)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E55"/>
                          </a:solidFill>
                        </a:rPr>
                        <a:t>Контрольная (1а)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E55"/>
                          </a:solidFill>
                        </a:rPr>
                        <a:t>Сравнения (2а)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E55"/>
                          </a:solidFill>
                        </a:rPr>
                        <a:t>Основная (3а)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E55"/>
                          </a:solidFill>
                        </a:rPr>
                        <a:t>Р1,2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E55"/>
                          </a:solidFill>
                        </a:rPr>
                        <a:t>Р1,3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E55"/>
                          </a:solidFill>
                        </a:rPr>
                        <a:t>Р2,3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до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после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до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после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до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после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Кишечная палочка (10⁷–10⁸)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(p=0,02)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8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F3E55"/>
                          </a:solidFill>
                        </a:rPr>
                        <a:t>0,05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0,02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0,04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Бифидобактерии (10⁸–10¹⁰)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9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F3E55"/>
                          </a:solidFill>
                        </a:rPr>
                        <a:t>0,06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0,001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0,003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Кишечная палочка со сниженными ферментативными свойствами (0)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(p=0,004)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F3E55"/>
                          </a:solidFill>
                        </a:rPr>
                        <a:t>0,2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F3E55"/>
                          </a:solidFill>
                        </a:rPr>
                        <a:t>0,2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F3E55"/>
                          </a:solidFill>
                        </a:rPr>
                        <a:t>0,2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Лактобактерии (10⁶–10¹⁰)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4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(p=0,02)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4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8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F3E55"/>
                          </a:solidFill>
                        </a:rPr>
                        <a:t>0,06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0,004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0,006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Энтеробактерии (≤10⁴)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(p=0,003)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F3E55"/>
                          </a:solidFill>
                        </a:rPr>
                        <a:t>0,08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0,008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0,01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Стафилококки (≤10⁴)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1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0,04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0,03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0,009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Грибы Candida (≤10³)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0,01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0,002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F3E55"/>
                          </a:solidFill>
                        </a:rPr>
                        <a:t>0,1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Протеи (≤10²)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(p=0,0008)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1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F3E55"/>
                          </a:solidFill>
                        </a:rPr>
                        <a:t>0,5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0,001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0,002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59893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до — до лечения; после — после лечения; Р1,2; Р1,3; Р2,3 — достоверность различий между группами (полужирным — p&lt;0,05). Основная группа выделена цветом.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Динамика микробиоценоза толстого кишечника у пациентов с СРК-Д (КОЕ/г)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1</a:t>
            </a:r>
            <a:endParaRPr lang="en-US" sz="1000" dirty="0"/>
          </a:p>
        </p:txBody>
      </p:sp>
      <p:graphicFrame>
        <p:nvGraphicFramePr>
          <p:cNvPr id="17" name="Динамика микробиоценоза толстого кишечника у пациентов с СРК-Д (КОЕ/г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868680"/>
                <a:gridCol w="914400"/>
                <a:gridCol w="868680"/>
                <a:gridCol w="914400"/>
                <a:gridCol w="868680"/>
                <a:gridCol w="960120"/>
                <a:gridCol w="1097280"/>
                <a:gridCol w="1097280"/>
                <a:gridCol w="1170432"/>
              </a:tblGrid>
              <a:tr h="347472">
                <a:tc row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3E55"/>
                          </a:solidFill>
                        </a:rPr>
                        <a:t>Показатель (норма, КОЕ/г)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E55"/>
                          </a:solidFill>
                        </a:rPr>
                        <a:t>Контрольная (1б)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E55"/>
                          </a:solidFill>
                        </a:rPr>
                        <a:t>Сравнения (2б)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E55"/>
                          </a:solidFill>
                        </a:rPr>
                        <a:t>Основная (3б)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E55"/>
                          </a:solidFill>
                        </a:rPr>
                        <a:t>Р1,2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E55"/>
                          </a:solidFill>
                        </a:rPr>
                        <a:t>Р1,3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E55"/>
                          </a:solidFill>
                        </a:rPr>
                        <a:t>Р2,3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до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после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до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после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до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после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Кишечная палочка (10⁷–10⁸)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8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(p=0,007)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F3E55"/>
                          </a:solidFill>
                        </a:rPr>
                        <a:t>0,06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0,01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0,01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Бифидобактерии (10⁸–10¹⁰)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10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(p=0,003)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F3E55"/>
                          </a:solidFill>
                        </a:rPr>
                        <a:t>0,1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0,002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0,001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Кишечная палочка со сниженными ферментативными свойствами (0)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F3E55"/>
                          </a:solidFill>
                        </a:rPr>
                        <a:t>0,5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F3E55"/>
                          </a:solidFill>
                        </a:rPr>
                        <a:t>0,5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F3E55"/>
                          </a:solidFill>
                        </a:rPr>
                        <a:t>0,5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Лактобактерии (10⁶–10¹⁰)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4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(p=0,003)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0,01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0,001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0,001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Энтеробактерии (≤10⁴)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(p=0,003)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(p=0,009)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0,01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0,003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F3E55"/>
                          </a:solidFill>
                        </a:rPr>
                        <a:t>0,1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Стафилококки (≤10⁴)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0,04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0,001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0,002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Грибы Candida (≤10³)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(p=0,02)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1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(p=0,008)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0,01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0,002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0,01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Протеи (≤10²)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(p=0,004)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5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(p=0,005)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11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1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0,04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0,001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E55"/>
                          </a:solidFill>
                        </a:rPr>
                        <a:t>0,0001</a:t>
                      </a:r>
                      <a:endParaRPr lang="en-US" sz="105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59893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до — до лечения; после — после лечения; Р1,2; Р1,3; Р2,3 — достоверность различий между группами (полужирным — p&lt;0,05). Основная группа выделена цветом.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Вегетативный тонус по индексу Кердо у пациентов с СРК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1</a:t>
            </a:r>
            <a:endParaRPr lang="en-US" sz="1000" dirty="0"/>
          </a:p>
        </p:txBody>
      </p:sp>
      <p:graphicFrame>
        <p:nvGraphicFramePr>
          <p:cNvPr id="5" name="Симпатикотония, число пациентов (n)" descr=""/>
          <p:cNvGraphicFramePr/>
          <p:nvPr/>
        </p:nvGraphicFramePr>
        <p:xfrm>
          <a:off x="457200" y="1280160"/>
          <a:ext cx="36118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Парасимпатикотония, число пациентов (n)" descr=""/>
          <p:cNvGraphicFramePr/>
          <p:nvPr/>
        </p:nvGraphicFramePr>
        <p:xfrm>
          <a:off x="4288536" y="1280160"/>
          <a:ext cx="36118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Нормотония (эйтония), число пациентов (n)" descr=""/>
          <p:cNvGraphicFramePr/>
          <p:nvPr/>
        </p:nvGraphicFramePr>
        <p:xfrm>
          <a:off x="8119872" y="1280160"/>
          <a:ext cx="36118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2"/>
          <p:cNvSpPr txBox="1"/>
          <p:nvPr/>
        </p:nvSpPr>
        <p:spPr>
          <a:xfrm>
            <a:off x="457200" y="58978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Группы: 1 — контрольная (базисное СКЛ); 2 — сравнения (+ амплипульстерапия); 3 — основная (+ амплипульстерапия + КВЧ-терапия); а — СРК-З (запор); б — СРК-Д (диарея). Объём групп: 1а=23; 2а=25; 3а=24; 1б=20; 2б=22; 3б=21. Рост эйтонии в основной группе: p=0,01 (СРК-З), p=0,004 (СРК-Д); максимальное приближение индекса Кердо к норме — в основной группе (p=0,001).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Ортоклиностатическая проба: типы вегетативного обеспечения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1</a:t>
            </a:r>
            <a:endParaRPr lang="en-US" sz="1000" dirty="0"/>
          </a:p>
        </p:txBody>
      </p:sp>
      <p:graphicFrame>
        <p:nvGraphicFramePr>
          <p:cNvPr id="5" name="Нормальное вегетативное обеспечение, %" descr=""/>
          <p:cNvGraphicFramePr/>
          <p:nvPr/>
        </p:nvGraphicFramePr>
        <p:xfrm>
          <a:off x="457200" y="1280160"/>
          <a:ext cx="36118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Недостаточное вегетативное обеспечение, %" descr=""/>
          <p:cNvGraphicFramePr/>
          <p:nvPr/>
        </p:nvGraphicFramePr>
        <p:xfrm>
          <a:off x="4288536" y="1280160"/>
          <a:ext cx="36118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Избыточное вегетативное обеспечение, %" descr=""/>
          <p:cNvGraphicFramePr/>
          <p:nvPr/>
        </p:nvGraphicFramePr>
        <p:xfrm>
          <a:off x="8119872" y="1280160"/>
          <a:ext cx="36118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2"/>
          <p:cNvSpPr txBox="1"/>
          <p:nvPr/>
        </p:nvSpPr>
        <p:spPr>
          <a:xfrm>
            <a:off x="457200" y="58978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Группы: 1 — контрольная (базисное СКЛ); 2 — сравнения (+ амплипульстерапия); 3 — основная (+ амплипульстерапия + КВЧ-терапия); а — СРК-З (запор); б — СРК-Д (диарея). НВО после лечения, межгрупповые различия: СРК-З — p1,2=0,005; p1,3=0,0006; p2,3=0,001; СРК-Д — p1,2=0,01; p1,3=0,003; p2,3=0,004. В основной группе число пациентов с избыточным и недостаточным обеспечением уменьшилось в 2–4 раза.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Эпигастральный рефлекс: типы вегетативной реактивности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1</a:t>
            </a:r>
            <a:endParaRPr lang="en-US" sz="1000" dirty="0"/>
          </a:p>
        </p:txBody>
      </p:sp>
      <p:graphicFrame>
        <p:nvGraphicFramePr>
          <p:cNvPr id="5" name="Нормальный тип реактивности, %" descr=""/>
          <p:cNvGraphicFramePr/>
          <p:nvPr/>
        </p:nvGraphicFramePr>
        <p:xfrm>
          <a:off x="457200" y="1280160"/>
          <a:ext cx="36118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Парасимпатический тип реактивности, %" descr=""/>
          <p:cNvGraphicFramePr/>
          <p:nvPr/>
        </p:nvGraphicFramePr>
        <p:xfrm>
          <a:off x="4288536" y="1280160"/>
          <a:ext cx="36118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Симпатический тип реактивности, %" descr=""/>
          <p:cNvGraphicFramePr/>
          <p:nvPr/>
        </p:nvGraphicFramePr>
        <p:xfrm>
          <a:off x="8119872" y="1280160"/>
          <a:ext cx="36118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2"/>
          <p:cNvSpPr txBox="1"/>
          <p:nvPr/>
        </p:nvSpPr>
        <p:spPr>
          <a:xfrm>
            <a:off x="457200" y="58978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Группы: 1 — контрольная (базисное СКЛ); 2 — сравнения (+ амплипульстерапия); 3 — основная (+ амплипульстерапия + КВЧ-терапия); а — СРК-З (запор); б — СРК-Д (диарея). Нормальный тип после лечения, межгрупповые различия: СРК-З — p1,2=0,08; p1,3=0,002; p2,3=0,001; СРК-Д — p1,2=0,09; p1,3=0,01; p2,3=0,02.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Спектральные показатели вариабельности ритма сердца при СРК-З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1</a:t>
            </a:r>
            <a:endParaRPr lang="en-US" sz="1000" dirty="0"/>
          </a:p>
        </p:txBody>
      </p:sp>
      <p:graphicFrame>
        <p:nvGraphicFramePr>
          <p:cNvPr id="21" name="Спектральные показатели вариабельности ритма сердца при СРК-З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286000"/>
                <a:gridCol w="2286000"/>
                <a:gridCol w="2377440"/>
                <a:gridCol w="1033272"/>
                <a:gridCol w="1033272"/>
                <a:gridCol w="1024128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Показатель</a:t>
                      </a:r>
                      <a:endParaRPr lang="en-US" sz="12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Контрольная группа</a:t>
                      </a:r>
                      <a:endParaRPr lang="en-US" sz="12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Группа сравнения</a:t>
                      </a:r>
                      <a:endParaRPr lang="en-US" sz="12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Основная группа</a:t>
                      </a:r>
                      <a:endParaRPr lang="en-US" sz="12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Р1,2</a:t>
                      </a:r>
                      <a:endParaRPr lang="en-US" sz="12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Р2,3</a:t>
                      </a:r>
                      <a:endParaRPr lang="en-US" sz="12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Р1,3</a:t>
                      </a:r>
                      <a:endParaRPr lang="en-US" sz="12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VLF, мс²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595 [418; 1167]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678 [283; 1403]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68C"/>
                          </a:solidFill>
                        </a:rPr>
                        <a:t>p=0,190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612 [413; 1213]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685 [295; 1311]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68C"/>
                          </a:solidFill>
                        </a:rPr>
                        <a:t>p=0,198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711,6 [368; 1215]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590 [411; 738]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6B72"/>
                          </a:solidFill>
                        </a:rPr>
                        <a:t>p=0,041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0,123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0,047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0,048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LF, мс²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272 [181; 344]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319 [124; 456]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68C"/>
                          </a:solidFill>
                        </a:rPr>
                        <a:t>p=0,690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221 [160; 321]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325 [125; 458]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68C"/>
                          </a:solidFill>
                        </a:rPr>
                        <a:t>p=0,511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233,5 [198; 669]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774,6 [352; 1307]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6B72"/>
                          </a:solidFill>
                        </a:rPr>
                        <a:t>p=0,035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0,344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0,031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0,030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HF, мс²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119 [53,5; 206]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160 [119; 409]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68C"/>
                          </a:solidFill>
                        </a:rPr>
                        <a:t>p=0,301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121 [60; 202]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149 [125; 400]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68C"/>
                          </a:solidFill>
                        </a:rPr>
                        <a:t>p=0,251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104 [100; 106]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244 [147; 340]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6B72"/>
                          </a:solidFill>
                        </a:rPr>
                        <a:t>p=0,021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0,231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0,046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0,045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LF/HF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2,28 [1,3; 4,5]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1,23 [0,92; 2,76]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68C"/>
                          </a:solidFill>
                        </a:rPr>
                        <a:t>p=0,147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2,03 [1,3; 4,3]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1,27 [0,93; 2,95]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68C"/>
                          </a:solidFill>
                        </a:rPr>
                        <a:t>p=0,161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2,24 [1,45; 4,78]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1,68 [0,56; 3,18]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6B72"/>
                          </a:solidFill>
                        </a:rPr>
                        <a:t>p=0,002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0,101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0,049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0,046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В ячейках: значение до лечения, значение после лечения, p. Me [LQ; UQ]. VLF, LF, HF — мощность спектра очень низких, низких и высоких частот (мс²); LF/HF — коэффициент вагосимпатического баланса. Полужирным — p&lt;0,05. Основная группа выделена цветом.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Спектральные показатели вариабельности ритма сердца при СРК-Д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1</a:t>
            </a:r>
            <a:endParaRPr lang="en-US" sz="1000" dirty="0"/>
          </a:p>
        </p:txBody>
      </p:sp>
      <p:graphicFrame>
        <p:nvGraphicFramePr>
          <p:cNvPr id="22" name="Спектральные показатели вариабельности ритма сердца при СРК-Д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286000"/>
                <a:gridCol w="2286000"/>
                <a:gridCol w="2377440"/>
                <a:gridCol w="1033272"/>
                <a:gridCol w="1033272"/>
                <a:gridCol w="1024128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Показатель</a:t>
                      </a:r>
                      <a:endParaRPr lang="en-US" sz="12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Контрольная группа</a:t>
                      </a:r>
                      <a:endParaRPr lang="en-US" sz="12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Группа сравнения</a:t>
                      </a:r>
                      <a:endParaRPr lang="en-US" sz="12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Основная группа</a:t>
                      </a:r>
                      <a:endParaRPr lang="en-US" sz="12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Р1,2</a:t>
                      </a:r>
                      <a:endParaRPr lang="en-US" sz="12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Р2,3</a:t>
                      </a:r>
                      <a:endParaRPr lang="en-US" sz="12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Р1,3</a:t>
                      </a:r>
                      <a:endParaRPr lang="en-US" sz="12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VLF, мс²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365 [311; 1020]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423 [311; 1423]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68C"/>
                          </a:solidFill>
                        </a:rPr>
                        <a:t>p=0,201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301 [295; 1001]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510 [321; 1278]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68C"/>
                          </a:solidFill>
                        </a:rPr>
                        <a:t>p=0,501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287 [260; 1058]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630 [511; 835]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6B72"/>
                          </a:solidFill>
                        </a:rPr>
                        <a:t>p=0,042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0,062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0,049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0,040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LF, мс²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205 [175; 368]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420 [213; 579]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68C"/>
                          </a:solidFill>
                        </a:rPr>
                        <a:t>p=0,071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290 [236; 327]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467 [215; 490]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68C"/>
                          </a:solidFill>
                        </a:rPr>
                        <a:t>p=0,081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307 [185; 613]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670 [312; 1108]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6B72"/>
                          </a:solidFill>
                        </a:rPr>
                        <a:t>p=0,031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0,276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0,045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0,032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HF, мс²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817 [615; 1101]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759 [613; 913]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6B72"/>
                          </a:solidFill>
                        </a:rPr>
                        <a:t>p=0,021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907 [625; 1101]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790 [118; 407]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68C"/>
                          </a:solidFill>
                        </a:rPr>
                        <a:t>p=0,081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901 [99; 107]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337 [190; 527]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6B72"/>
                          </a:solidFill>
                        </a:rPr>
                        <a:t>p=0,009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0,431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0,021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0,030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LF/HF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0,35 [0,23; 1,25]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0,60 [0,52; 1,26]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68C"/>
                          </a:solidFill>
                        </a:rPr>
                        <a:t>p=0,231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0,31 [0,21; 1,06]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0,59 [0,46; 1,25]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68C"/>
                          </a:solidFill>
                        </a:rPr>
                        <a:t>p=0,312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0,74 [0,44; 1,05]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1,98 [0,58; 3,55]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6B72"/>
                          </a:solidFill>
                        </a:rPr>
                        <a:t>p=0,003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0,698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0,041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0,021</a:t>
                      </a:r>
                      <a:endParaRPr lang="en-US" sz="13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В ячейках: значение до лечения, значение после лечения, p. Me [LQ; UQ]. VLF, LF, HF — мощность спектра очень низких, низких и высоких частот (мс²); LF/HF — коэффициент вагосимпатического баланса. Полужирным — p&lt;0,05. Основная группа выделена цветом.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Ситуативная и личностная тревожность (тест Спилбергера–Ханина)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1</a:t>
            </a:r>
            <a:endParaRPr lang="en-US" sz="1000" dirty="0"/>
          </a:p>
        </p:txBody>
      </p:sp>
      <p:graphicFrame>
        <p:nvGraphicFramePr>
          <p:cNvPr id="5" name="Тревожность СРК-З" descr=""/>
          <p:cNvGraphicFramePr/>
          <p:nvPr/>
        </p:nvGraphicFramePr>
        <p:xfrm>
          <a:off x="457200" y="1280160"/>
          <a:ext cx="55321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Тревожность СРК-Д" descr=""/>
          <p:cNvGraphicFramePr/>
          <p:nvPr/>
        </p:nvGraphicFramePr>
        <p:xfrm>
          <a:off x="6199632" y="1280160"/>
          <a:ext cx="55321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457200" y="58978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Основная группа, p (до/после): СРК-З — ситуативная 0,019, личностная 0,0032; СРК-Д — 0,0069 и 0,0071. В контрольной группе и группе сравнения изменения недостоверны (p&gt;0,05). Межгрупповые различия основной группы: p1,3 и p2,3 = 0,01–0,04 (СРК-З); 0,005–0,01 (СРК-Д).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Распределение пациентов по уровням тревожности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1</a:t>
            </a:r>
            <a:endParaRPr lang="en-US" sz="1000" dirty="0"/>
          </a:p>
        </p:txBody>
      </p:sp>
      <p:graphicFrame>
        <p:nvGraphicFramePr>
          <p:cNvPr id="5" name="Высокий уровень ситуативной тревожности, % пациентов" descr=""/>
          <p:cNvGraphicFramePr/>
          <p:nvPr/>
        </p:nvGraphicFramePr>
        <p:xfrm>
          <a:off x="457200" y="1234440"/>
          <a:ext cx="5532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Высокий уровень личностной тревожности, % пациентов" descr=""/>
          <p:cNvGraphicFramePr/>
          <p:nvPr/>
        </p:nvGraphicFramePr>
        <p:xfrm>
          <a:off x="6199632" y="1234440"/>
          <a:ext cx="5532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Низкий уровень ситуативной тревожности, % пациентов" descr=""/>
          <p:cNvGraphicFramePr/>
          <p:nvPr/>
        </p:nvGraphicFramePr>
        <p:xfrm>
          <a:off x="457200" y="3566160"/>
          <a:ext cx="5532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Низкий уровень личностной тревожности, % пациентов" descr=""/>
          <p:cNvGraphicFramePr/>
          <p:nvPr/>
        </p:nvGraphicFramePr>
        <p:xfrm>
          <a:off x="6199632" y="3566160"/>
          <a:ext cx="5532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 2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Группы: 1 — контрольная (базисное СКЛ); 2 — сравнения (+ амплипульстерапия); 3 — основная (+ амплипульстерапия + КВЧ-терапия); а — СРК-З (запор); б — СРК-Д (диарея). Основная группа: высокий уровень снизился в 4,5–5,0 раз (p=0,001 СРК-З; p=0,0001 СРК-Д), низкий вырос в 3,0–4,5 раза (p=0,0009 СРК-З; p=0,0002 СРК-Д). В контрольной группе и группе сравнения число пациентов с низким уровнем не увеличилось (p&gt;0,05).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Психоэмоциональное состояние по цветовому тесту Люшера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1</a:t>
            </a:r>
            <a:endParaRPr lang="en-US" sz="1000" dirty="0"/>
          </a:p>
        </p:txBody>
      </p:sp>
      <p:graphicFrame>
        <p:nvGraphicFramePr>
          <p:cNvPr id="5" name="Уровень стресса, баллы (норма &lt;20)" descr=""/>
          <p:cNvGraphicFramePr/>
          <p:nvPr/>
        </p:nvGraphicFramePr>
        <p:xfrm>
          <a:off x="457200" y="1280160"/>
          <a:ext cx="36118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Психоэмоциональная напряжённость, баллы (норма 14–20)" descr=""/>
          <p:cNvGraphicFramePr/>
          <p:nvPr/>
        </p:nvGraphicFramePr>
        <p:xfrm>
          <a:off x="4288536" y="1280160"/>
          <a:ext cx="36118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Работоспособность, баллы (норма 16–20,9)" descr=""/>
          <p:cNvGraphicFramePr/>
          <p:nvPr/>
        </p:nvGraphicFramePr>
        <p:xfrm>
          <a:off x="8119872" y="1280160"/>
          <a:ext cx="36118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2"/>
          <p:cNvSpPr txBox="1"/>
          <p:nvPr/>
        </p:nvSpPr>
        <p:spPr>
          <a:xfrm>
            <a:off x="457200" y="58978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Группы: 1 — контрольная (базисное СКЛ); 2 — сравнения (+ амплипульстерапия); 3 — основная (+ амплипульстерапия + КВЧ-терапия); а — СРК-З (запор); б — СРК-Д (диарея). Основная группа, p (до/после): стресс 0,001 (СРК-З), 0,007 (СРК-Д); напряжённость 0,01 и 0,02; работоспособность 0,03 и 0,006. Работоспособность достоверно возросла только в основной группе.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Качество жизни (SF-36) у пациентов с СРК-З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1</a:t>
            </a:r>
            <a:endParaRPr lang="en-US" sz="1000" dirty="0"/>
          </a:p>
        </p:txBody>
      </p:sp>
      <p:graphicFrame>
        <p:nvGraphicFramePr>
          <p:cNvPr id="5" name="Контрольная группа" descr=""/>
          <p:cNvGraphicFramePr/>
          <p:nvPr/>
        </p:nvGraphicFramePr>
        <p:xfrm>
          <a:off x="457200" y="1234440"/>
          <a:ext cx="36118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Группа сравнения" descr=""/>
          <p:cNvGraphicFramePr/>
          <p:nvPr/>
        </p:nvGraphicFramePr>
        <p:xfrm>
          <a:off x="4288536" y="1234440"/>
          <a:ext cx="36118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Основная группа" descr=""/>
          <p:cNvGraphicFramePr/>
          <p:nvPr/>
        </p:nvGraphicFramePr>
        <p:xfrm>
          <a:off x="8119872" y="1234440"/>
          <a:ext cx="36118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2"/>
          <p:cNvSpPr txBox="1"/>
          <p:nvPr/>
        </p:nvSpPr>
        <p:spPr>
          <a:xfrm>
            <a:off x="457200" y="56692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PF — физическое функционирование; RP — ролевое физическое функционирование; BP — интенсивность боли; GH — общее состояние здоровья; VT — жизнеспособность; RE — ролевое эмоциональное функционирование; SF — социальное функционирование; MH — психическое здоровье. Баллы по шкалам SF-36 (0–100).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Качество жизни (SF-36) у пациентов с СРК-Д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1</a:t>
            </a:r>
            <a:endParaRPr lang="en-US" sz="1000" dirty="0"/>
          </a:p>
        </p:txBody>
      </p:sp>
      <p:graphicFrame>
        <p:nvGraphicFramePr>
          <p:cNvPr id="5" name="Контрольная группа" descr=""/>
          <p:cNvGraphicFramePr/>
          <p:nvPr/>
        </p:nvGraphicFramePr>
        <p:xfrm>
          <a:off x="457200" y="1234440"/>
          <a:ext cx="36118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Группа сравнения" descr=""/>
          <p:cNvGraphicFramePr/>
          <p:nvPr/>
        </p:nvGraphicFramePr>
        <p:xfrm>
          <a:off x="4288536" y="1234440"/>
          <a:ext cx="36118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Основная группа" descr=""/>
          <p:cNvGraphicFramePr/>
          <p:nvPr/>
        </p:nvGraphicFramePr>
        <p:xfrm>
          <a:off x="8119872" y="1234440"/>
          <a:ext cx="36118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2"/>
          <p:cNvSpPr txBox="1"/>
          <p:nvPr/>
        </p:nvSpPr>
        <p:spPr>
          <a:xfrm>
            <a:off x="457200" y="56692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PF — физическое функционирование; RP — ролевое физическое функционирование; BP — интенсивность боли; GH — общее состояние здоровья; VT — жизнеспособность; RE — ролевое эмоциональное функционирование; SF — социальное функционирование; MH — психическое здоровье. Баллы по шкалам SF-36 (0–100).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Физический и психический компоненты здоровья (SF-36)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1</a:t>
            </a:r>
            <a:endParaRPr lang="en-US" sz="1000" dirty="0"/>
          </a:p>
        </p:txBody>
      </p:sp>
      <p:graphicFrame>
        <p:nvGraphicFramePr>
          <p:cNvPr id="5" name="Физический компонент" descr=""/>
          <p:cNvGraphicFramePr/>
          <p:nvPr/>
        </p:nvGraphicFramePr>
        <p:xfrm>
          <a:off x="457200" y="1280160"/>
          <a:ext cx="55321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Психический компонент" descr=""/>
          <p:cNvGraphicFramePr/>
          <p:nvPr/>
        </p:nvGraphicFramePr>
        <p:xfrm>
          <a:off x="6199632" y="1280160"/>
          <a:ext cx="55321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Группы: 1 — контрольная (базисное СКЛ); 2 — сравнения (+ амплипульстерапия); 3 — основная (+ амплипульстерапия + КВЧ-терапия); а — СРК-З (запор); б — СРК-Д (диарея). Основная группа, p (до/после): физический компонент — 0,007 (СРК-З), 0,001 (СРК-Д); психический — 0,001 и 0,009. Межгрупповые различия после лечения: физический компонент — недостоверны (p&gt;0,05); психический — выше в основной группе (p=0,01–0,02).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Положение, выносимое на защиту № 2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201168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Комплексное санаторно-курортное лечение с комбинированным применением КВЧ-терапии и амплипульстерапии обеспечивает повышение непосредственной и отдалённой эффективности лечения, увеличение длительности ремиссии и улучшение качества жизни пациентов молодого возраста с разными клиническими вариантами синдрома раздраженного кишечника (с преобладанием запора и диареи) в катамнезе до 6 месяцев.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Абдоминалгия в отдалённом периоде наблюдения (через 6 месяцев)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2</a:t>
            </a:r>
            <a:endParaRPr lang="en-US" sz="1000" dirty="0"/>
          </a:p>
        </p:txBody>
      </p:sp>
      <p:graphicFrame>
        <p:nvGraphicFramePr>
          <p:cNvPr id="5" name="Ликерт 6 мес СРК-З" descr=""/>
          <p:cNvGraphicFramePr/>
          <p:nvPr/>
        </p:nvGraphicFramePr>
        <p:xfrm>
          <a:off x="457200" y="1234440"/>
          <a:ext cx="55321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Ликерт 6 мес СРК-Д" descr=""/>
          <p:cNvGraphicFramePr/>
          <p:nvPr/>
        </p:nvGraphicFramePr>
        <p:xfrm>
          <a:off x="6199632" y="1234440"/>
          <a:ext cx="55321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Частота 6 мес СРК-З" descr=""/>
          <p:cNvGraphicFramePr/>
          <p:nvPr/>
        </p:nvGraphicFramePr>
        <p:xfrm>
          <a:off x="457200" y="3611880"/>
          <a:ext cx="55321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Частота 6 мес СРК-Д" descr=""/>
          <p:cNvGraphicFramePr/>
          <p:nvPr/>
        </p:nvGraphicFramePr>
        <p:xfrm>
          <a:off x="6199632" y="3611880"/>
          <a:ext cx="55321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 2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p (до лечения / через 6 мес.), баллы: СРК-З — 0,004; 0,03; 0,00005; СРК-Д — 0,003; 0,002; 0,00002. Превосходство основной группы p&lt;0,01; различий между контрольной группой и группой сравнения нет (p&gt;0,05). Число пациентов с абдоминалгией: p&lt;0,05; основная группа — p=0,008 (СРК-З), p=0,007 (СРК-Д).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Микробиоценоз толстого кишечника в отдалённом периоде (через 6 месяцев)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2</a:t>
            </a:r>
            <a:endParaRPr lang="en-US" sz="1000" dirty="0"/>
          </a:p>
        </p:txBody>
      </p:sp>
      <p:graphicFrame>
        <p:nvGraphicFramePr>
          <p:cNvPr id="5" name="Микрофлора 6 мес СРК-З" descr=""/>
          <p:cNvGraphicFramePr/>
          <p:nvPr/>
        </p:nvGraphicFramePr>
        <p:xfrm>
          <a:off x="457200" y="1280160"/>
          <a:ext cx="44805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Микрофлора 6 мес СРК-Д" descr=""/>
          <p:cNvGraphicFramePr/>
          <p:nvPr/>
        </p:nvGraphicFramePr>
        <p:xfrm>
          <a:off x="5074920" y="1280160"/>
          <a:ext cx="44805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Дисбиоз в контрольных группах"/>
          <p:cNvSpPr txBox="1"/>
          <p:nvPr/>
        </p:nvSpPr>
        <p:spPr>
          <a:xfrm>
            <a:off x="9738360" y="1463040"/>
            <a:ext cx="1993392" cy="2011680"/>
          </a:xfrm>
          <a:prstGeom prst="roundRect">
            <a:avLst>
              <a:gd name="adj" fmla="val 367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13,3–16,6 %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дисбиоз 1-й степени в контрольной группе и группе сравнения</a:t>
            </a:r>
            <a:endParaRPr lang="en-US" sz="1400" dirty="0"/>
          </a:p>
        </p:txBody>
      </p:sp>
      <p:sp>
        <p:nvSpPr>
          <p:cNvPr id="8" name="Дисбиоз в основной группе"/>
          <p:cNvSpPr txBox="1"/>
          <p:nvPr/>
        </p:nvSpPr>
        <p:spPr>
          <a:xfrm>
            <a:off x="9738360" y="3657600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E1EEEE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0 %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признаков нарушения микрофлоры в основной группе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Основная группа: достоверно более высокий уровень бифидо- и лактобактерий (p1,3 и p2,3 = 0,0001–0,01) и отсутствие протеев (p=0,0001–0,002).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Эффективность комплексного санаторно-курортного лечения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2</a:t>
            </a:r>
            <a:endParaRPr lang="en-US" sz="1000" dirty="0"/>
          </a:p>
        </p:txBody>
      </p:sp>
      <p:graphicFrame>
        <p:nvGraphicFramePr>
          <p:cNvPr id="5" name="Структура результатов" descr=""/>
          <p:cNvGraphicFramePr/>
          <p:nvPr/>
        </p:nvGraphicFramePr>
        <p:xfrm>
          <a:off x="457200" y="1280160"/>
          <a:ext cx="55321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Эффективность лечения" descr=""/>
          <p:cNvGraphicFramePr/>
          <p:nvPr/>
        </p:nvGraphicFramePr>
        <p:xfrm>
          <a:off x="6199632" y="1280160"/>
          <a:ext cx="55321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457200" y="58978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Группы: 1 — контрольная (базисное СКЛ); 2 — сравнения (+ амплипульстерапия); 3 — основная (+ амплипульстерапия + КВЧ-терапия); а — СРК-З (запор); б — СРК-Д (диарея). Различия эффективности (χ²): непосредственно — СРК-З p1,3=0,001; p2,3=0,004; СРК-Д p1,3=0,005; p2,3=0,007; через 6 месяцев — СРК-З p1,3=0,006; p2,3=0,02; СРК-Д p1,3=0,02; p2,3=0,03.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Длительность ремиссии после лечения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2</a:t>
            </a:r>
            <a:endParaRPr lang="en-US" sz="1000" dirty="0"/>
          </a:p>
        </p:txBody>
      </p:sp>
      <p:graphicFrame>
        <p:nvGraphicFramePr>
          <p:cNvPr id="5" name="Длительность ремиссии" descr=""/>
          <p:cNvGraphicFramePr/>
          <p:nvPr/>
        </p:nvGraphicFramePr>
        <p:xfrm>
          <a:off x="457200" y="1280160"/>
          <a:ext cx="74980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Подпись карточек"/>
          <p:cNvSpPr txBox="1"/>
          <p:nvPr/>
        </p:nvSpPr>
        <p:spPr>
          <a:xfrm>
            <a:off x="8229600" y="132588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Увеличение длительности ремиссии:</a:t>
            </a:r>
            <a:endParaRPr lang="en-US" sz="1300" dirty="0"/>
          </a:p>
        </p:txBody>
      </p:sp>
      <p:sp>
        <p:nvSpPr>
          <p:cNvPr id="7" name="Основная группа"/>
          <p:cNvSpPr txBox="1"/>
          <p:nvPr/>
        </p:nvSpPr>
        <p:spPr>
          <a:xfrm>
            <a:off x="8229600" y="169164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E1EEEE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Основная группа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 2,0 раза (СРК-З), p=0,0081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 1,7 раза (СРК-Д), p=0,0073</a:t>
            </a:r>
            <a:endParaRPr lang="en-US" sz="1400" dirty="0"/>
          </a:p>
        </p:txBody>
      </p:sp>
      <p:sp>
        <p:nvSpPr>
          <p:cNvPr id="8" name="Группа сравнения"/>
          <p:cNvSpPr txBox="1"/>
          <p:nvPr/>
        </p:nvSpPr>
        <p:spPr>
          <a:xfrm>
            <a:off x="8229600" y="306324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F6EEDC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Группа сравнения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 1,3 раза (СРК-З), p=0,037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 1,4 раза (СРК-Д), p=0,041</a:t>
            </a:r>
            <a:endParaRPr lang="en-US" sz="1400" dirty="0"/>
          </a:p>
        </p:txBody>
      </p:sp>
      <p:sp>
        <p:nvSpPr>
          <p:cNvPr id="9" name="Контрольная группа"/>
          <p:cNvSpPr txBox="1"/>
          <p:nvPr/>
        </p:nvSpPr>
        <p:spPr>
          <a:xfrm>
            <a:off x="8229600" y="443484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EEF2F7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Контрольная группа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увеличение незначительно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(p&gt;0,05)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58978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Группы: 1 — контрольная (базисное СКЛ); 2 — сравнения (+ амплипульстерапия); 3 — основная (+ амплипульстерапия + КВЧ-терапия); а — СРК-З (запор); б — СРК-Д (диарея). Через 6 месяцев, межгрупповые различия: СРК-З — p1,3=0,005; p2,3=0,001; СРК-Д — p1,3=0,001; p2,3=0,006. Основная группа vs до лечения: p=0,005 (СРК-З), p=0,008 (СРК-Д).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Положение, выносимое на защиту № 3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201168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Эффективность комплексного санаторно-курортного лечения с комбинированным применением КВЧ-терапии и амплипульстерапии у пациентов молодого возраста с синдромом раздраженного кишечника определяется взаимодополняющим характером лечебных эффектов: амплипульстерапия преимущественно влияет на моторную функцию кишечника и оказывает анальгезирующее действие, КВЧ-терапия – вегетокорригирующее, седативное и антистрессорное действие, и взаимосвязана с клинико-лабораторными и психовегетативными показателями, характеризующими течение заболевания.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Корреляционные связи клинических и психовегетативных показателей до лечения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3</a:t>
            </a:r>
            <a:endParaRPr lang="en-US" sz="1000" dirty="0"/>
          </a:p>
        </p:txBody>
      </p:sp>
      <p:graphicFrame>
        <p:nvGraphicFramePr>
          <p:cNvPr id="5" name="Корреляции Спирмена" descr=""/>
          <p:cNvGraphicFramePr/>
          <p:nvPr/>
        </p:nvGraphicFramePr>
        <p:xfrm>
          <a:off x="457200" y="1234440"/>
          <a:ext cx="11274552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Условное обозначение 1"/>
          <p:cNvSpPr/>
          <p:nvPr/>
        </p:nvSpPr>
        <p:spPr>
          <a:xfrm>
            <a:off x="731520" y="5742432"/>
            <a:ext cx="201168" cy="201168"/>
          </a:xfrm>
          <a:prstGeom prst="rect">
            <a:avLst/>
          </a:prstGeom>
          <a:solidFill>
            <a:srgbClr val="5A9AA0"/>
          </a:solidFill>
          <a:ln w="6350">
            <a:solidFill>
              <a:srgbClr val="5A9AA0"/>
            </a:solidFill>
            <a:prstDash val="solid"/>
          </a:ln>
        </p:spPr>
      </p:sp>
      <p:sp>
        <p:nvSpPr>
          <p:cNvPr id="7" name="Подпись обозначения 1"/>
          <p:cNvSpPr txBox="1"/>
          <p:nvPr/>
        </p:nvSpPr>
        <p:spPr>
          <a:xfrm>
            <a:off x="1005840" y="5705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E55"/>
                </a:solidFill>
              </a:rPr>
              <a:t>сильная (≥0,70)</a:t>
            </a:r>
            <a:endParaRPr lang="en-US" sz="1100" dirty="0"/>
          </a:p>
        </p:txBody>
      </p:sp>
      <p:sp>
        <p:nvSpPr>
          <p:cNvPr id="8" name="Условное обозначение 2"/>
          <p:cNvSpPr/>
          <p:nvPr/>
        </p:nvSpPr>
        <p:spPr>
          <a:xfrm>
            <a:off x="3474720" y="5742432"/>
            <a:ext cx="201168" cy="201168"/>
          </a:xfrm>
          <a:prstGeom prst="rect">
            <a:avLst/>
          </a:prstGeom>
          <a:solidFill>
            <a:srgbClr val="6C94BE"/>
          </a:solidFill>
          <a:ln w="6350">
            <a:solidFill>
              <a:srgbClr val="6C94BE"/>
            </a:solidFill>
            <a:prstDash val="solid"/>
          </a:ln>
        </p:spPr>
      </p:sp>
      <p:sp>
        <p:nvSpPr>
          <p:cNvPr id="9" name="Подпись обозначения 2"/>
          <p:cNvSpPr txBox="1"/>
          <p:nvPr/>
        </p:nvSpPr>
        <p:spPr>
          <a:xfrm>
            <a:off x="3749040" y="5705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E55"/>
                </a:solidFill>
              </a:rPr>
              <a:t>умеренная (0,30–0,69)</a:t>
            </a:r>
            <a:endParaRPr lang="en-US" sz="1100" dirty="0"/>
          </a:p>
        </p:txBody>
      </p:sp>
      <p:sp>
        <p:nvSpPr>
          <p:cNvPr id="10" name="Условное обозначение 3"/>
          <p:cNvSpPr/>
          <p:nvPr/>
        </p:nvSpPr>
        <p:spPr>
          <a:xfrm>
            <a:off x="6217920" y="5742432"/>
            <a:ext cx="201168" cy="201168"/>
          </a:xfrm>
          <a:prstGeom prst="rect">
            <a:avLst/>
          </a:prstGeom>
          <a:solidFill>
            <a:srgbClr val="B9C4D2"/>
          </a:solidFill>
          <a:ln w="6350">
            <a:solidFill>
              <a:srgbClr val="B9C4D2"/>
            </a:solidFill>
            <a:prstDash val="solid"/>
          </a:ln>
        </p:spPr>
      </p:sp>
      <p:sp>
        <p:nvSpPr>
          <p:cNvPr id="11" name="Подпись обозначения 3"/>
          <p:cNvSpPr txBox="1"/>
          <p:nvPr/>
        </p:nvSpPr>
        <p:spPr>
          <a:xfrm>
            <a:off x="6492240" y="5705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E55"/>
                </a:solidFill>
              </a:rPr>
              <a:t>слабая (&lt;0,30)</a:t>
            </a:r>
            <a:endParaRPr lang="en-US" sz="1100" dirty="0"/>
          </a:p>
        </p:txBody>
      </p:sp>
      <p:sp>
        <p:nvSpPr>
          <p:cNvPr id="12" name="Условное обозначение 4"/>
          <p:cNvSpPr/>
          <p:nvPr/>
        </p:nvSpPr>
        <p:spPr>
          <a:xfrm>
            <a:off x="8961120" y="5742432"/>
            <a:ext cx="201168" cy="201168"/>
          </a:xfrm>
          <a:prstGeom prst="rect">
            <a:avLst/>
          </a:prstGeom>
          <a:solidFill>
            <a:srgbClr val="C99AA9"/>
          </a:solidFill>
          <a:ln w="6350">
            <a:solidFill>
              <a:srgbClr val="C99AA9"/>
            </a:solidFill>
            <a:prstDash val="solid"/>
          </a:ln>
        </p:spPr>
      </p:sp>
      <p:sp>
        <p:nvSpPr>
          <p:cNvPr id="13" name="Подпись обозначения 4"/>
          <p:cNvSpPr txBox="1"/>
          <p:nvPr/>
        </p:nvSpPr>
        <p:spPr>
          <a:xfrm>
            <a:off x="9235440" y="5705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E55"/>
                </a:solidFill>
              </a:rPr>
              <a:t>отрицательная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10819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Корреляции Спирмена рассчитаны на этапе первичного осмотра; p — уровень значимости.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Связь лечебных комплексов с клиническими, психовегетативными и адаптационными исходами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3</a:t>
            </a:r>
            <a:endParaRPr lang="en-US" sz="1000" dirty="0"/>
          </a:p>
        </p:txBody>
      </p:sp>
      <p:graphicFrame>
        <p:nvGraphicFramePr>
          <p:cNvPr id="5" name="Хи-квадрат СРК-З" descr=""/>
          <p:cNvGraphicFramePr/>
          <p:nvPr/>
        </p:nvGraphicFramePr>
        <p:xfrm>
          <a:off x="457200" y="1234440"/>
          <a:ext cx="55321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Хи-квадрат СРК-Д" descr=""/>
          <p:cNvGraphicFramePr/>
          <p:nvPr/>
        </p:nvGraphicFramePr>
        <p:xfrm>
          <a:off x="6199632" y="1234440"/>
          <a:ext cx="55321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Базисное СКЛ: p=0,01–0,03; + амплипульстерапия — p=0,005–0,02 (в т.ч. моторика: отсутствие запора p=0,005, диареи p=0,007); + амплипульстерапия + КВЧ-терапия — p=0,001–0,03 (отсутствие стресса p=0,003 и p=0,002; КЖ p=0,001 и p=0,01).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Влияние лечебных комплексов на механизмы патогенеза СРК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8016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1. Базисное лечение</a:t>
            </a:r>
            <a:endParaRPr lang="en-US" sz="1300" dirty="0"/>
          </a:p>
        </p:txBody>
      </p:sp>
      <p:sp>
        <p:nvSpPr>
          <p:cNvPr id="6" name="Стрелка"/>
          <p:cNvSpPr/>
          <p:nvPr/>
        </p:nvSpPr>
        <p:spPr>
          <a:xfrm>
            <a:off x="3383280" y="1600200"/>
            <a:ext cx="457200" cy="0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3840480" y="128016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клинические симптомы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9456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2. Базисное лечение + амплипульстерапия</a:t>
            </a:r>
            <a:endParaRPr lang="en-US" sz="1300" dirty="0"/>
          </a:p>
        </p:txBody>
      </p:sp>
      <p:sp>
        <p:nvSpPr>
          <p:cNvPr id="9" name="Стрелка"/>
          <p:cNvSpPr/>
          <p:nvPr/>
        </p:nvSpPr>
        <p:spPr>
          <a:xfrm>
            <a:off x="3383280" y="2560320"/>
            <a:ext cx="457200" cy="0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3840480" y="22402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клинические симптомы</a:t>
            </a:r>
            <a:endParaRPr lang="en-US" sz="1300" dirty="0"/>
          </a:p>
        </p:txBody>
      </p:sp>
      <p:sp>
        <p:nvSpPr>
          <p:cNvPr id="11" name="Стрелка"/>
          <p:cNvSpPr/>
          <p:nvPr/>
        </p:nvSpPr>
        <p:spPr>
          <a:xfrm>
            <a:off x="6309360" y="2560320"/>
            <a:ext cx="457200" cy="0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6766560" y="22402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моторика кишечника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200400"/>
            <a:ext cx="2926080" cy="2697480"/>
          </a:xfrm>
          <a:prstGeom prst="roundRect">
            <a:avLst>
              <a:gd name="adj" fmla="val 2712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3. Базисное лечение + амплипульстерапия + КВЧ-терапия</a:t>
            </a:r>
            <a:endParaRPr lang="en-US" sz="1300" dirty="0"/>
          </a:p>
        </p:txBody>
      </p:sp>
      <p:sp>
        <p:nvSpPr>
          <p:cNvPr id="14" name="Скобка"/>
          <p:cNvSpPr/>
          <p:nvPr/>
        </p:nvSpPr>
        <p:spPr>
          <a:xfrm>
            <a:off x="3611880" y="3566160"/>
            <a:ext cx="0" cy="1965960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</a:ln>
        </p:spPr>
      </p:sp>
      <p:sp>
        <p:nvSpPr>
          <p:cNvPr id="15" name="Отвод 1"/>
          <p:cNvSpPr/>
          <p:nvPr/>
        </p:nvSpPr>
        <p:spPr>
          <a:xfrm>
            <a:off x="3383280" y="3566160"/>
            <a:ext cx="228600" cy="0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</a:ln>
        </p:spPr>
      </p:sp>
      <p:sp>
        <p:nvSpPr>
          <p:cNvPr id="16" name="Отвод 2"/>
          <p:cNvSpPr/>
          <p:nvPr/>
        </p:nvSpPr>
        <p:spPr>
          <a:xfrm>
            <a:off x="3383280" y="4572000"/>
            <a:ext cx="228600" cy="0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</a:ln>
        </p:spPr>
      </p:sp>
      <p:sp>
        <p:nvSpPr>
          <p:cNvPr id="17" name="Отвод 3"/>
          <p:cNvSpPr/>
          <p:nvPr/>
        </p:nvSpPr>
        <p:spPr>
          <a:xfrm>
            <a:off x="3383280" y="5532120"/>
            <a:ext cx="228600" cy="0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840480" y="32461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клинические симптомы</a:t>
            </a:r>
            <a:endParaRPr lang="en-US" sz="1300" dirty="0"/>
          </a:p>
        </p:txBody>
      </p:sp>
      <p:sp>
        <p:nvSpPr>
          <p:cNvPr id="19" name="Стрелка"/>
          <p:cNvSpPr/>
          <p:nvPr/>
        </p:nvSpPr>
        <p:spPr>
          <a:xfrm>
            <a:off x="6035040" y="3566160"/>
            <a:ext cx="365760" cy="0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6400800" y="32461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моторика кишечника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0" y="420624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отсутствие стресса, тревожности</a:t>
            </a:r>
            <a:endParaRPr lang="en-US" sz="1300" dirty="0"/>
          </a:p>
        </p:txBody>
      </p:sp>
      <p:sp>
        <p:nvSpPr>
          <p:cNvPr id="22" name="Стрелка"/>
          <p:cNvSpPr/>
          <p:nvPr/>
        </p:nvSpPr>
        <p:spPr>
          <a:xfrm>
            <a:off x="6035040" y="4572000"/>
            <a:ext cx="320040" cy="0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6355080" y="420624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биоценоз кишечника</a:t>
            </a:r>
            <a:endParaRPr lang="en-US" sz="1300" dirty="0"/>
          </a:p>
        </p:txBody>
      </p:sp>
      <p:sp>
        <p:nvSpPr>
          <p:cNvPr id="24" name="Стрелка"/>
          <p:cNvSpPr/>
          <p:nvPr/>
        </p:nvSpPr>
        <p:spPr>
          <a:xfrm>
            <a:off x="8138160" y="4572000"/>
            <a:ext cx="320040" cy="0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8458200" y="42062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психовегетативный статус</a:t>
            </a:r>
            <a:endParaRPr lang="en-US" sz="1300" dirty="0"/>
          </a:p>
        </p:txBody>
      </p:sp>
      <p:sp>
        <p:nvSpPr>
          <p:cNvPr id="26" name="Стрелка"/>
          <p:cNvSpPr/>
          <p:nvPr/>
        </p:nvSpPr>
        <p:spPr>
          <a:xfrm>
            <a:off x="10469880" y="4572000"/>
            <a:ext cx="320040" cy="0"/>
          </a:xfrm>
          <a:prstGeom prst="line">
            <a:avLst/>
          </a:prstGeom>
          <a:noFill/>
          <a:ln w="19050">
            <a:solidFill>
              <a:srgbClr val="7F93AD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10789920" y="4206240"/>
            <a:ext cx="941832" cy="731520"/>
          </a:xfrm>
          <a:prstGeom prst="roundRect">
            <a:avLst>
              <a:gd name="adj" fmla="val 10000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КЖ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840480" y="521208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работоспособность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355080" y="521208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адаптационный статус</a:t>
            </a:r>
            <a:endParaRPr lang="en-US" sz="1300" dirty="0"/>
          </a:p>
        </p:txBody>
      </p:sp>
      <p:sp>
        <p:nvSpPr>
          <p:cNvPr id="30" name="Пояснение АМП"/>
          <p:cNvSpPr txBox="1"/>
          <p:nvPr/>
        </p:nvSpPr>
        <p:spPr>
          <a:xfrm>
            <a:off x="9418320" y="2148840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68C"/>
                </a:solidFill>
              </a:rPr>
              <a:t>амплипульстерапия — моторная функция кишечника, анальгезирующее действие</a:t>
            </a:r>
            <a:endParaRPr lang="en-US" sz="1150" dirty="0"/>
          </a:p>
        </p:txBody>
      </p:sp>
      <p:sp>
        <p:nvSpPr>
          <p:cNvPr id="31" name="Пояснение КВЧ"/>
          <p:cNvSpPr txBox="1"/>
          <p:nvPr/>
        </p:nvSpPr>
        <p:spPr>
          <a:xfrm>
            <a:off x="8778240" y="315468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68C"/>
                </a:solidFill>
              </a:rPr>
              <a:t>КВЧ-терапия — вегетокорригирующее, седативное, антистрессорное действие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Факторы, определяющие эффективность лечения в основной группе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3</a:t>
            </a:r>
            <a:endParaRPr lang="en-US" sz="1000" dirty="0"/>
          </a:p>
        </p:txBody>
      </p:sp>
      <p:graphicFrame>
        <p:nvGraphicFramePr>
          <p:cNvPr id="5" name="Сила связи r" descr=""/>
          <p:cNvGraphicFramePr/>
          <p:nvPr/>
        </p:nvGraphicFramePr>
        <p:xfrm>
          <a:off x="457200" y="1234440"/>
          <a:ext cx="55321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Хи-квадрат предикторов" descr=""/>
          <p:cNvGraphicFramePr/>
          <p:nvPr/>
        </p:nvGraphicFramePr>
        <p:xfrm>
          <a:off x="6199632" y="1234440"/>
          <a:ext cx="55321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457200" y="58978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p (СРК-З / СРК-Д): абдоминалгия 0,04 / 0,03; адаптационная реакция 0,01 / 0,01; эйтония 0,01 / 0,05; ситуативная тревожность 0,048 / 0,045; личностная тревожность 0,03 / 0,03; стресс 0,01 / 0,01; работоспособность 0,02 / 0,03. Ключевой предиктор — гармонизация вегетативного тонуса (эйтония).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Сопряжённость показателей с категориями эффекта лечения (χ²)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731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768C"/>
                </a:solidFill>
              </a:rPr>
              <a:t>Положение 3</a:t>
            </a:r>
            <a:endParaRPr lang="en-US" sz="1000" dirty="0"/>
          </a:p>
        </p:txBody>
      </p:sp>
      <p:graphicFrame>
        <p:nvGraphicFramePr>
          <p:cNvPr id="39" name="Сопряжённость с категориями эффект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200400"/>
                <a:gridCol w="1645920"/>
                <a:gridCol w="16733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Показатель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Категория эффекта лечения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СРК-З (3а)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СРК-Д (3б)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Купирование абдоминалгии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F3E55"/>
                          </a:solidFill>
                        </a:rPr>
                        <a:t>значительное улучшение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3,68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6,64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Умеренный болевой синдром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F3E55"/>
                          </a:solidFill>
                        </a:rPr>
                        <a:t>улучшение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2,22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3,21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Умеренный болевой синдром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F3E55"/>
                          </a:solidFill>
                        </a:rPr>
                        <a:t>незначительное улучшение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2,06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2,54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Адаптационная реакция: РСА (СРК-З), РПА (СРК-Д)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F3E55"/>
                          </a:solidFill>
                        </a:rPr>
                        <a:t>значительное улучшение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5,09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2,35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Адаптационная реакция: РПА (СРК-З), РСА (СРК-Д)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F3E55"/>
                          </a:solidFill>
                        </a:rPr>
                        <a:t>улучшение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2,93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1,78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Эйтония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F3E55"/>
                          </a:solidFill>
                        </a:rPr>
                        <a:t>значительное улучшение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16,04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13,05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Эйтония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F3E55"/>
                          </a:solidFill>
                        </a:rPr>
                        <a:t>улучшение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11,01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9,05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Низкая личностная тревожность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F3E55"/>
                          </a:solidFill>
                        </a:rPr>
                        <a:t>значительное улучшение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19,07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21,05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Незначительный уровень стресса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F3E55"/>
                          </a:solidFill>
                        </a:rPr>
                        <a:t>значительное улучшение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46,01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63,05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Незначительный уровень стресса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F3E55"/>
                          </a:solidFill>
                        </a:rPr>
                        <a:t>улучшение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37,11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3E55"/>
                          </a:solidFill>
                        </a:rPr>
                        <a:t>15,63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F3E55"/>
                          </a:solidFill>
                        </a:rPr>
                        <a:t>Высокая работоспособность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F3E55"/>
                          </a:solidFill>
                        </a:rPr>
                        <a:t>значительное улучшение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31,04 и 23,16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55"/>
                          </a:solidFill>
                        </a:rPr>
                        <a:t>29,09 и 29,45</a:t>
                      </a:r>
                      <a:endParaRPr lang="en-US" sz="13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608990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8C"/>
                </a:solidFill>
              </a:rPr>
              <a:t>РСА — реакция спокойной активации; РПА — реакция повышенной активации. Цветом выделена категория «значительное улучшение».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Выводы (1–3)</a:t>
            </a:r>
            <a:endParaRPr lang="en-US" sz="2600" dirty="0"/>
          </a:p>
        </p:txBody>
      </p:sp>
      <p:sp>
        <p:nvSpPr>
          <p:cNvPr id="3" name="Номер вывода 1"/>
          <p:cNvSpPr/>
          <p:nvPr/>
        </p:nvSpPr>
        <p:spPr>
          <a:xfrm>
            <a:off x="457200" y="126187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Вывод 1"/>
          <p:cNvSpPr txBox="1"/>
          <p:nvPr/>
        </p:nvSpPr>
        <p:spPr>
          <a:xfrm>
            <a:off x="1097280" y="1188720"/>
            <a:ext cx="1063447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Установлено, что у пациентов молодого возраста с синдромом раздраженного кишечника имеются выраженные клинические, лабораторные, психовегетативные и адаптационные нарушения: абдоминальная боль и нарушение стула у 100%; дисбиоз кишечника 1–2 степени у 40%; снижение адаптационных возможностей организма по типу реакции стресса и переактивации у 40%; признаки пневматоза при ультразвуковом исследовании кишечника у 91,8%; вегетативная дисфункция у 40,7% (при клиническом варианте с преобладанием запора) и у 35,5% (при клиническом варианте с преобладанием диареи); повышенный уровень стресса у 100%, личностной и ситуативной тревожности у 46,6%; низкое качество жизни у 81,5% пациентов.</a:t>
            </a:r>
            <a:endParaRPr lang="en-US" sz="1350" dirty="0"/>
          </a:p>
        </p:txBody>
      </p:sp>
      <p:sp>
        <p:nvSpPr>
          <p:cNvPr id="5" name="Номер вывода 2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Вывод 2"/>
          <p:cNvSpPr txBox="1"/>
          <p:nvPr/>
        </p:nvSpPr>
        <p:spPr>
          <a:xfrm>
            <a:off x="1097280" y="3127248"/>
            <a:ext cx="10634472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Комбинированное применение КВЧ-терапии и амплипульстерапии в санаторно-курортном лечении пациентов с синдромом раздраженного кишечника высокоэффективно, что подтверждается купированием абдоминалгии у 75% пациентов при клиническом варианте с запором (p=0,003) и у 52% пациентов при клиническом варианте с диареей (p=0,007), нормализацией стула у 64,7-66,7% соответственно (p=0,0004), устранением пневматоза кишечника у 72,2-80% (p=0,0002) соответственно, улучшением микробиоценоза кишечника у 100% пациентов (p=0,001), формированием адаптационных реакций активации у 87,5% (p=0,001) пациентов.</a:t>
            </a:r>
            <a:endParaRPr lang="en-US" sz="1350" dirty="0"/>
          </a:p>
        </p:txBody>
      </p:sp>
      <p:sp>
        <p:nvSpPr>
          <p:cNvPr id="7" name="Номер вывода 3"/>
          <p:cNvSpPr/>
          <p:nvPr/>
        </p:nvSpPr>
        <p:spPr>
          <a:xfrm>
            <a:off x="457200" y="4818888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Вывод 3"/>
          <p:cNvSpPr txBox="1"/>
          <p:nvPr/>
        </p:nvSpPr>
        <p:spPr>
          <a:xfrm>
            <a:off x="1097280" y="4745736"/>
            <a:ext cx="10634472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Комплексное санаторно-курортное лечение с применением КВЧ-терапии и амплипульстерапии способствует улучшению вегетативной регуляции и вариабельности ритма сердца: формирование состояния эйтонии у 83,3% пациентов при клиническом варианте с преобладанием запора и у 75,0% пациентов при клиническом варианте с преобладанием диареи; увеличение частоты регистрации нормального типа вегетативного обеспечения и вегетативной реактивности на 58,3-58,2% (p=0,001) соответственно, уменьшение числа пациентов с гиперсимпатикотонией по данным вариабельности ритма сердца до 25,7-12,8% (р=0,004) соответственно и выраженной ваготонией до 26,2-13,1% (р=0,041) соответственно.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Выводы (4–6)</a:t>
            </a:r>
            <a:endParaRPr lang="en-US" sz="2600" dirty="0"/>
          </a:p>
        </p:txBody>
      </p:sp>
      <p:sp>
        <p:nvSpPr>
          <p:cNvPr id="3" name="Номер вывода 4"/>
          <p:cNvSpPr/>
          <p:nvPr/>
        </p:nvSpPr>
        <p:spPr>
          <a:xfrm>
            <a:off x="457200" y="126187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4" name="Вывод 4"/>
          <p:cNvSpPr txBox="1"/>
          <p:nvPr/>
        </p:nvSpPr>
        <p:spPr>
          <a:xfrm>
            <a:off x="1097280" y="1188720"/>
            <a:ext cx="10634472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Комбинированное применение КВЧ-терапии и амплипульстерапии оказывает положительное влияние на психоэмоциональный статус и качество жизни: улучшение показателей качества жизни по физическому и психическому компонентам здоровья достигнуто у 69,6% (p=0,001) при клиническом варианте с преобладанием запора и у 66,7% при клиническом варианте с преобладанием диареи (p=0,009), снижение уровня ситуативной и личностной тревожности на 61,1-52,4% (p=0,0002) соответственно, снижение уровня стресса в 6,1-2,4 раза (p=0,001), что сопровождалось ростом работоспособности в 1,5 раза (p=0,03).</a:t>
            </a:r>
            <a:endParaRPr lang="en-US" sz="1350" dirty="0"/>
          </a:p>
        </p:txBody>
      </p:sp>
      <p:sp>
        <p:nvSpPr>
          <p:cNvPr id="5" name="Номер вывода 5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6" name="Вывод 5"/>
          <p:cNvSpPr txBox="1"/>
          <p:nvPr/>
        </p:nvSpPr>
        <p:spPr>
          <a:xfrm>
            <a:off x="1097280" y="2852928"/>
            <a:ext cx="106344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Комплексное санаторно-курортное лечение с комбинированным применением КВЧ-терапии и амплипульстерапии позволяет достичь высоких непосредственных результатов лечения: эффективность лечения составила 94% у пациентов при клиническом варианте с преобладанием запора и 93,3% у пациентов при клиническом варианте с преобладанием диареи, и способствует устойчивому сохранению достигнутых результатов в краткосрочной и среднесрочной перспективе в 86,7-84,6% случаев соответственно.</a:t>
            </a:r>
            <a:endParaRPr lang="en-US" sz="1350" dirty="0"/>
          </a:p>
        </p:txBody>
      </p:sp>
      <p:sp>
        <p:nvSpPr>
          <p:cNvPr id="7" name="Номер вывода 6"/>
          <p:cNvSpPr/>
          <p:nvPr/>
        </p:nvSpPr>
        <p:spPr>
          <a:xfrm>
            <a:off x="457200" y="4361688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8" name="Вывод 6"/>
          <p:cNvSpPr txBox="1"/>
          <p:nvPr/>
        </p:nvSpPr>
        <p:spPr>
          <a:xfrm>
            <a:off x="1097280" y="4288536"/>
            <a:ext cx="1063447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Патогенетическое действие комбинированного применения КВЧ-терапии и амплипульстерапии многоуровневое: амплипульстерапия влияет на моторную функцию ЖКТ (купирование запора χ²=5,75; p=0,005; диареи χ²=4,88; p=0,007, уменьшение абдоминалгии и метеоризма χ²=19,29; p=0,01); КВЧ-терапия способствует нормализации адаптационного статуса (купирование реакции стресса χ²=10,89; p=0,003), вегетативного баланса (χ²=70,84; p=0,01) и повышению качества жизни (χ²=113,35; p=0,02). Эффективность лечения коррелирует с купированием боли (r=0,325–0,338) и типом адаптационной реакции (r=0,355–0,528); максимальный эффект отмечается при реакциях спокойной и повышенной активации. Ключевой предиктор эффективности лечения – гармонизация вегетативного тонуса: эйтония коррелирует с результатами лечения (r=0,809 при клиническом варианте с запорами и r=1,0 при клиническом варианте с диареей).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1234440"/>
            <a:ext cx="103601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Благодарю за внимание!</a:t>
            </a:r>
            <a:endParaRPr lang="en-US" sz="3200" dirty="0"/>
          </a:p>
        </p:txBody>
      </p:sp>
      <p:sp>
        <p:nvSpPr>
          <p:cNvPr id="3" name="Автор"/>
          <p:cNvSpPr txBox="1"/>
          <p:nvPr/>
        </p:nvSpPr>
        <p:spPr>
          <a:xfrm>
            <a:off x="3566160" y="3931920"/>
            <a:ext cx="5056632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Привалова Наталья Ивановна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Научный стиль (спокойная гамма)">
  <a:themeElements>
    <a:clrScheme name="Научный стиль (спокойная гамма)">
      <a:dk1>
        <a:srgbClr val="2F3E55"/>
      </a:dk1>
      <a:lt1>
        <a:srgbClr val="FFFFFF"/>
      </a:lt1>
      <a:dk2>
        <a:srgbClr val="3D5A80"/>
      </a:dk2>
      <a:lt2>
        <a:srgbClr val="EEF2F7"/>
      </a:lt2>
      <a:accent1>
        <a:srgbClr val="4F7CAC"/>
      </a:accent1>
      <a:accent2>
        <a:srgbClr val="5A9AA0"/>
      </a:accent2>
      <a:accent3>
        <a:srgbClr val="D9B77E"/>
      </a:accent3>
      <a:accent4>
        <a:srgbClr val="B9C4D2"/>
      </a:accent4>
      <a:accent5>
        <a:srgbClr val="8DB5A5"/>
      </a:accent5>
      <a:accent6>
        <a:srgbClr val="B98B9A"/>
      </a:accent6>
      <a:hlink>
        <a:srgbClr val="3D6A9E"/>
      </a:hlink>
      <a:folHlink>
        <a:srgbClr val="6B7C93"/>
      </a:folHlink>
    </a:clrScheme>
    <a:fontScheme name="Научный стиль (спокойная гамма)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КВЧ-терапия и амплипульстерапия при СРК — доклад к защите</dc:title>
  <dc:subject>PptxGenJS Presentation</dc:subject>
  <dc:creator>Привалова Н.И.</dc:creator>
  <cp:lastModifiedBy>Привалова Н.И.</cp:lastModifiedBy>
  <cp:revision>1</cp:revision>
  <dcterms:created xsi:type="dcterms:W3CDTF">2026-10-02T04:13:30Z</dcterms:created>
  <dcterms:modified xsi:type="dcterms:W3CDTF">2026-10-02T04:13:30Z</dcterms:modified>
</cp:coreProperties>
</file>