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51211"/>
            <a:ext cx="7164923" cy="4978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00" b="1">
                <a:solidFill>
                  <a:srgbClr val="1D1D1D"/>
                </a:solidFill>
                <a:latin typeface="Arial"/>
              </a:rPr>
              <a:t>5 ключевых источников обеспечивают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70311"/>
            <a:ext cx="9368324" cy="4978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00" b="1">
                <a:solidFill>
                  <a:srgbClr val="EF3124"/>
                </a:solidFill>
                <a:latin typeface="Arial"/>
              </a:rPr>
              <a:t>35% онлайн-продаж карт и 19% РКО в Альфа-Банке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393700"/>
            <a:ext cx="253845" cy="3937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8000" y="1244600"/>
            <a:ext cx="241300" cy="165100"/>
          </a:xfrm>
          <a:prstGeom prst="roundRect">
            <a:avLst>
              <a:gd name="adj" fmla="val 50000"/>
            </a:avLst>
          </a:prstGeom>
          <a:solidFill>
            <a:srgbClr val="2FB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6304" y="1275220"/>
            <a:ext cx="14184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Arial"/>
              </a:rPr>
              <a:t>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261184"/>
            <a:ext cx="1211686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— доля продаж банка*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000" y="1549400"/>
            <a:ext cx="11176000" cy="1981200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6350">
            <a:solidFill>
              <a:srgbClr val="E7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762000" y="2108200"/>
            <a:ext cx="10668000" cy="0"/>
          </a:xfrm>
          <a:prstGeom prst="line">
            <a:avLst/>
          </a:prstGeom>
          <a:ln w="6350">
            <a:solidFill>
              <a:srgbClr val="E7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2000" y="2819400"/>
            <a:ext cx="10668000" cy="0"/>
          </a:xfrm>
          <a:prstGeom prst="line">
            <a:avLst/>
          </a:prstGeom>
          <a:ln w="6350">
            <a:solidFill>
              <a:srgbClr val="E7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60800" y="1727200"/>
            <a:ext cx="0" cy="1625600"/>
          </a:xfrm>
          <a:prstGeom prst="line">
            <a:avLst/>
          </a:prstGeom>
          <a:ln w="6350">
            <a:solidFill>
              <a:srgbClr val="E7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753100" y="1727200"/>
            <a:ext cx="0" cy="1625600"/>
          </a:xfrm>
          <a:prstGeom prst="line">
            <a:avLst/>
          </a:prstGeom>
          <a:ln w="6350">
            <a:solidFill>
              <a:srgbClr val="E7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645400" y="1727200"/>
            <a:ext cx="0" cy="1625600"/>
          </a:xfrm>
          <a:prstGeom prst="line">
            <a:avLst/>
          </a:prstGeom>
          <a:ln w="6350">
            <a:solidFill>
              <a:srgbClr val="E7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537700" y="1727200"/>
            <a:ext cx="0" cy="1625600"/>
          </a:xfrm>
          <a:prstGeom prst="line">
            <a:avLst/>
          </a:prstGeom>
          <a:ln w="6350">
            <a:solidFill>
              <a:srgbClr val="E7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2000" y="2296413"/>
            <a:ext cx="639421" cy="120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75" b="1" spc="33">
                <a:solidFill>
                  <a:srgbClr val="8A8A90"/>
                </a:solidFill>
                <a:latin typeface="Arial"/>
              </a:rPr>
              <a:t>КАРТОЧНЫЕ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417063"/>
            <a:ext cx="776238" cy="120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75" b="1" spc="33">
                <a:solidFill>
                  <a:srgbClr val="8A8A90"/>
                </a:solidFill>
                <a:latin typeface="Arial"/>
              </a:rPr>
              <a:t>ПРОДУКТЫ, шт.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2537713"/>
            <a:ext cx="643828" cy="120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75" b="0" spc="13">
                <a:solidFill>
                  <a:srgbClr val="A5A5AB"/>
                </a:solidFill>
                <a:latin typeface="Arial"/>
              </a:rPr>
              <a:t>за 8 мес.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067938"/>
            <a:ext cx="678383" cy="120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75" b="1" spc="33">
                <a:solidFill>
                  <a:srgbClr val="8A8A90"/>
                </a:solidFill>
                <a:latin typeface="Arial"/>
              </a:rPr>
              <a:t>РКО, СЧЕТОВ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188588"/>
            <a:ext cx="643828" cy="120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75" b="0" spc="13">
                <a:solidFill>
                  <a:srgbClr val="A5A5AB"/>
                </a:solidFill>
                <a:latin typeface="Arial"/>
              </a:rPr>
              <a:t>за 8 мес.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3600" y="1614648"/>
            <a:ext cx="1130037" cy="213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1D1D1D"/>
                </a:solidFill>
                <a:latin typeface="Arial"/>
              </a:rPr>
              <a:t>Реферальная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33600" y="1805148"/>
            <a:ext cx="921231" cy="213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1D1D1D"/>
                </a:solidFill>
                <a:latin typeface="Arial"/>
              </a:rPr>
              <a:t>программа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3600" y="2270115"/>
            <a:ext cx="835473" cy="515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900" b="1">
                <a:solidFill>
                  <a:srgbClr val="EF3124"/>
                </a:solidFill>
                <a:latin typeface="Arial"/>
              </a:rPr>
              <a:t>930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24293" y="2325624"/>
            <a:ext cx="355758" cy="177800"/>
          </a:xfrm>
          <a:prstGeom prst="roundRect">
            <a:avLst>
              <a:gd name="adj" fmla="val 50000"/>
            </a:avLst>
          </a:prstGeom>
          <a:solidFill>
            <a:srgbClr val="2FB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94143" y="2355670"/>
            <a:ext cx="280828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13%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24293" y="2505784"/>
            <a:ext cx="269864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EF3124"/>
                </a:solidFill>
                <a:latin typeface="Arial"/>
              </a:rPr>
              <a:t>тыс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33600" y="2981315"/>
            <a:ext cx="630642" cy="515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900" b="1">
                <a:solidFill>
                  <a:srgbClr val="EF3124"/>
                </a:solidFill>
                <a:latin typeface="Arial"/>
              </a:rPr>
              <a:t>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19462" y="3036824"/>
            <a:ext cx="295721" cy="177800"/>
          </a:xfrm>
          <a:prstGeom prst="roundRect">
            <a:avLst>
              <a:gd name="adj" fmla="val 50000"/>
            </a:avLst>
          </a:prstGeom>
          <a:solidFill>
            <a:srgbClr val="2FB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89312" y="3066870"/>
            <a:ext cx="220791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9462" y="3216984"/>
            <a:ext cx="269864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EF3124"/>
                </a:solidFill>
                <a:latin typeface="Arial"/>
              </a:rPr>
              <a:t>тыс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5900" y="1614648"/>
            <a:ext cx="1149161" cy="213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1D1D1D"/>
                </a:solidFill>
                <a:latin typeface="Arial"/>
              </a:rPr>
              <a:t>Органическое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5900" y="1805148"/>
            <a:ext cx="1089258" cy="213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1D1D1D"/>
                </a:solidFill>
                <a:latin typeface="Arial"/>
              </a:rPr>
              <a:t>привлечение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5900" y="2270115"/>
            <a:ext cx="835473" cy="515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900" b="1">
                <a:solidFill>
                  <a:srgbClr val="EF3124"/>
                </a:solidFill>
                <a:latin typeface="Arial"/>
              </a:rPr>
              <a:t>655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16593" y="2325624"/>
            <a:ext cx="295721" cy="177800"/>
          </a:xfrm>
          <a:prstGeom prst="roundRect">
            <a:avLst>
              <a:gd name="adj" fmla="val 50000"/>
            </a:avLst>
          </a:prstGeom>
          <a:solidFill>
            <a:srgbClr val="2FB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86443" y="2355670"/>
            <a:ext cx="220791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16593" y="2505784"/>
            <a:ext cx="269864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EF3124"/>
                </a:solidFill>
                <a:latin typeface="Arial"/>
              </a:rPr>
              <a:t>тыс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5900" y="2981315"/>
            <a:ext cx="630642" cy="515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900" b="1">
                <a:solidFill>
                  <a:srgbClr val="EF3124"/>
                </a:solidFill>
                <a:latin typeface="Arial"/>
              </a:rPr>
              <a:t>37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11762" y="3036824"/>
            <a:ext cx="295721" cy="177800"/>
          </a:xfrm>
          <a:prstGeom prst="roundRect">
            <a:avLst>
              <a:gd name="adj" fmla="val 50000"/>
            </a:avLst>
          </a:prstGeom>
          <a:solidFill>
            <a:srgbClr val="2FB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81612" y="3066870"/>
            <a:ext cx="220791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1762" y="3216984"/>
            <a:ext cx="269864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EF3124"/>
                </a:solidFill>
                <a:latin typeface="Arial"/>
              </a:rPr>
              <a:t>тыс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18200" y="1805148"/>
            <a:ext cx="898609" cy="213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1D1D1D"/>
                </a:solidFill>
                <a:latin typeface="Arial"/>
              </a:rPr>
              <a:t>CPA-канал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8200" y="2270115"/>
            <a:ext cx="835473" cy="515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900" b="1">
                <a:solidFill>
                  <a:srgbClr val="EF3124"/>
                </a:solidFill>
                <a:latin typeface="Arial"/>
              </a:rPr>
              <a:t>415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8893" y="2325624"/>
            <a:ext cx="295721" cy="177800"/>
          </a:xfrm>
          <a:prstGeom prst="roundRect">
            <a:avLst>
              <a:gd name="adj" fmla="val 50000"/>
            </a:avLst>
          </a:prstGeom>
          <a:solidFill>
            <a:srgbClr val="2FB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8743" y="2355670"/>
            <a:ext cx="220791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8893" y="2505784"/>
            <a:ext cx="269864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EF3124"/>
                </a:solidFill>
                <a:latin typeface="Arial"/>
              </a:rPr>
              <a:t>тыс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18200" y="2981315"/>
            <a:ext cx="630642" cy="515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900" b="1">
                <a:solidFill>
                  <a:srgbClr val="EF3124"/>
                </a:solidFill>
                <a:latin typeface="Arial"/>
              </a:rPr>
              <a:t>25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4062" y="3036824"/>
            <a:ext cx="295721" cy="177800"/>
          </a:xfrm>
          <a:prstGeom prst="roundRect">
            <a:avLst>
              <a:gd name="adj" fmla="val 50000"/>
            </a:avLst>
          </a:prstGeom>
          <a:solidFill>
            <a:srgbClr val="2FB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3912" y="3066870"/>
            <a:ext cx="220791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4062" y="3216984"/>
            <a:ext cx="269864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EF3124"/>
                </a:solidFill>
                <a:latin typeface="Arial"/>
              </a:rPr>
              <a:t>тыс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10500" y="1805148"/>
            <a:ext cx="1252374" cy="213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1D1D1D"/>
                </a:solidFill>
                <a:latin typeface="Arial"/>
              </a:rPr>
              <a:t>Кросс-продажи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0500" y="2270115"/>
            <a:ext cx="835473" cy="515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900" b="1">
                <a:solidFill>
                  <a:srgbClr val="EF3124"/>
                </a:solidFill>
                <a:latin typeface="Arial"/>
              </a:rPr>
              <a:t>336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01193" y="2325624"/>
            <a:ext cx="295721" cy="177800"/>
          </a:xfrm>
          <a:prstGeom prst="roundRect">
            <a:avLst>
              <a:gd name="adj" fmla="val 50000"/>
            </a:avLst>
          </a:prstGeom>
          <a:solidFill>
            <a:srgbClr val="2FB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71043" y="2355670"/>
            <a:ext cx="220791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1193" y="2505784"/>
            <a:ext cx="269864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EF3124"/>
                </a:solidFill>
                <a:latin typeface="Arial"/>
              </a:rPr>
              <a:t>тыс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10500" y="3039946"/>
            <a:ext cx="860321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A5A5AB"/>
                </a:solidFill>
                <a:latin typeface="Arial"/>
              </a:rPr>
              <a:t>на этапе заявки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10500" y="3192346"/>
            <a:ext cx="529566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A5A5AB"/>
                </a:solidFill>
                <a:latin typeface="Arial"/>
              </a:rPr>
              <a:t>и выдачи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02800" y="1614648"/>
            <a:ext cx="1030397" cy="213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1D1D1D"/>
                </a:solidFill>
                <a:latin typeface="Arial"/>
              </a:rPr>
              <a:t>Контекстная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02800" y="1805148"/>
            <a:ext cx="724629" cy="213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1D1D1D"/>
                </a:solidFill>
                <a:latin typeface="Arial"/>
              </a:rPr>
              <a:t>реклама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02800" y="2270115"/>
            <a:ext cx="835473" cy="515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900" b="1">
                <a:solidFill>
                  <a:srgbClr val="EF3124"/>
                </a:solidFill>
                <a:latin typeface="Arial"/>
              </a:rPr>
              <a:t>237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393493" y="2325624"/>
            <a:ext cx="295721" cy="177800"/>
          </a:xfrm>
          <a:prstGeom prst="roundRect">
            <a:avLst>
              <a:gd name="adj" fmla="val 50000"/>
            </a:avLst>
          </a:prstGeom>
          <a:solidFill>
            <a:srgbClr val="2FB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463343" y="2355670"/>
            <a:ext cx="220791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93493" y="2505784"/>
            <a:ext cx="269864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EF3124"/>
                </a:solidFill>
                <a:latin typeface="Arial"/>
              </a:rPr>
              <a:t>тыс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02800" y="2981315"/>
            <a:ext cx="630642" cy="515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900" b="1">
                <a:solidFill>
                  <a:srgbClr val="EF3124"/>
                </a:solidFill>
                <a:latin typeface="Arial"/>
              </a:rPr>
              <a:t>16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188662" y="3036824"/>
            <a:ext cx="295721" cy="177800"/>
          </a:xfrm>
          <a:prstGeom prst="roundRect">
            <a:avLst>
              <a:gd name="adj" fmla="val 50000"/>
            </a:avLst>
          </a:prstGeom>
          <a:solidFill>
            <a:srgbClr val="2FB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258512" y="3066870"/>
            <a:ext cx="220791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5%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88662" y="3216984"/>
            <a:ext cx="269864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EF3124"/>
                </a:solidFill>
                <a:latin typeface="Arial"/>
              </a:rPr>
              <a:t>тыс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8000" y="3681602"/>
            <a:ext cx="4253634" cy="120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75" b="0">
                <a:solidFill>
                  <a:srgbClr val="A5A5AB"/>
                </a:solidFill>
                <a:latin typeface="Arial"/>
              </a:rPr>
              <a:t>*Доли других каналов привлечения карточных продуктов в Рознице: от 1% до 25%, в ММБ от 7% до 37%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8000" y="3937000"/>
            <a:ext cx="11176000" cy="2413000"/>
          </a:xfrm>
          <a:prstGeom prst="roundRect">
            <a:avLst>
              <a:gd name="adj" fmla="val 7368"/>
            </a:avLst>
          </a:prstGeom>
          <a:solidFill>
            <a:srgbClr val="F6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62000" y="4233255"/>
            <a:ext cx="5041672" cy="2489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EF3124"/>
                </a:solidFill>
                <a:latin typeface="Arial"/>
              </a:rPr>
              <a:t>Более 30 </a:t>
            </a:r>
            <a:r>
              <a:rPr sz="1400" b="1">
                <a:solidFill>
                  <a:srgbClr val="1D1D1D"/>
                </a:solidFill>
                <a:latin typeface="Arial"/>
              </a:rPr>
              <a:t>продвигаемых продуктов трёх линий бизнеса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000" y="4663580"/>
            <a:ext cx="122757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spc="60">
                <a:solidFill>
                  <a:srgbClr val="1D1D1D"/>
                </a:solidFill>
                <a:latin typeface="Arial"/>
              </a:rPr>
              <a:t>РОЗНИЧНЫЙ БИЗНЕС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62000" y="4864100"/>
            <a:ext cx="3524250" cy="0"/>
          </a:xfrm>
          <a:prstGeom prst="line">
            <a:avLst/>
          </a:prstGeom>
          <a:ln w="6350">
            <a:solidFill>
              <a:srgbClr val="DC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62000" y="4944184"/>
            <a:ext cx="948558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Дебетовые карты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2000" y="5099759"/>
            <a:ext cx="942022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Кредитные карты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5255334"/>
            <a:ext cx="1694615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Кредит под залог недвижимости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2000" y="5410909"/>
            <a:ext cx="1021350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Кредит наличными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2000" y="5566484"/>
            <a:ext cx="280459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МКК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000" y="5722059"/>
            <a:ext cx="833756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Самозанятость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2000" y="5877634"/>
            <a:ext cx="477594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Ипотека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98750" y="4944184"/>
            <a:ext cx="885517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Перевод пенсии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98750" y="5099759"/>
            <a:ext cx="447602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Вклады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98750" y="5255334"/>
            <a:ext cx="1164458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Накопительные счета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98750" y="5410909"/>
            <a:ext cx="502737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Alfa Only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98750" y="5566484"/>
            <a:ext cx="1261655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Альфа-Мобайл (MVNO)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698750" y="5722059"/>
            <a:ext cx="1261444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Карты для иностранцев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698750" y="5877634"/>
            <a:ext cx="705934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Валютобмен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35500" y="4663580"/>
            <a:ext cx="29953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spc="60">
                <a:solidFill>
                  <a:srgbClr val="1D1D1D"/>
                </a:solidFill>
                <a:latin typeface="Arial"/>
              </a:rPr>
              <a:t>ММБ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635500" y="4864100"/>
            <a:ext cx="1651000" cy="0"/>
          </a:xfrm>
          <a:prstGeom prst="line">
            <a:avLst/>
          </a:prstGeom>
          <a:ln w="6350">
            <a:solidFill>
              <a:srgbClr val="DC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4635500" y="4944184"/>
            <a:ext cx="283622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РКО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35500" y="5099759"/>
            <a:ext cx="1135836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Регистрация бизнеса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35500" y="5255334"/>
            <a:ext cx="1075852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Интернет-эквайринг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635500" y="5410909"/>
            <a:ext cx="1074746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Торговый эквайринг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635500" y="5566484"/>
            <a:ext cx="1147749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Кредиты для бизнеса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635500" y="5722059"/>
            <a:ext cx="731762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Бизнес-карта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635500" y="5877634"/>
            <a:ext cx="772190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Альфа-Конфа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35500" y="6033209"/>
            <a:ext cx="563090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Касса 3в1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604000" y="4663580"/>
            <a:ext cx="26777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spc="60">
                <a:solidFill>
                  <a:srgbClr val="1D1D1D"/>
                </a:solidFill>
                <a:latin typeface="Arial"/>
              </a:rPr>
              <a:t>СКБ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604000" y="4864100"/>
            <a:ext cx="1841500" cy="0"/>
          </a:xfrm>
          <a:prstGeom prst="line">
            <a:avLst/>
          </a:prstGeom>
          <a:ln w="6350">
            <a:solidFill>
              <a:srgbClr val="DC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604000" y="4944184"/>
            <a:ext cx="891473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Альфа-Будущее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04000" y="5099759"/>
            <a:ext cx="971329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Массовый подбор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604000" y="5255334"/>
            <a:ext cx="550756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Хакатоны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604000" y="5410909"/>
            <a:ext cx="561140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HR-бренд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604000" y="5566484"/>
            <a:ext cx="525297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РКО СКБ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04000" y="5722059"/>
            <a:ext cx="586599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Эквайринг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04000" y="5877634"/>
            <a:ext cx="1202936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Депозиты для бизнеса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604000" y="6033209"/>
            <a:ext cx="679632" cy="1511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>
                <a:solidFill>
                  <a:srgbClr val="5A5A62"/>
                </a:solidFill>
                <a:latin typeface="Arial"/>
              </a:rPr>
              <a:t>Альфа-Босс</a:t>
            </a:r>
          </a:p>
        </p:txBody>
      </p:sp>
      <p:pic>
        <p:nvPicPr>
          <p:cNvPr id="105" name="Picture 104" descr="g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5800" y="4838700"/>
            <a:ext cx="1549400" cy="122037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1631026" y="6454280"/>
            <a:ext cx="1101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>
                <a:solidFill>
                  <a:srgbClr val="A5A5A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51211"/>
            <a:ext cx="8645664" cy="4978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00" b="1">
                <a:solidFill>
                  <a:srgbClr val="1D1D1D"/>
                </a:solidFill>
                <a:latin typeface="Arial"/>
              </a:rPr>
              <a:t>Объёмы привлечения на банковские продукты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770311"/>
            <a:ext cx="6989381" cy="4978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00" b="1">
                <a:solidFill>
                  <a:srgbClr val="1D1D1D"/>
                </a:solidFill>
                <a:latin typeface="Arial"/>
              </a:rPr>
              <a:t>за 8 месяцев 2026 через онлайн-канал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393700"/>
            <a:ext cx="253845" cy="393700"/>
          </a:xfrm>
          <a:prstGeom prst="rect">
            <a:avLst/>
          </a:prstGeom>
        </p:spPr>
      </p:pic>
      <p:pic>
        <p:nvPicPr>
          <p:cNvPr id="5" name="Picture 4" descr="st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600" y="927100"/>
            <a:ext cx="939800" cy="92006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8000" y="1841500"/>
            <a:ext cx="3556000" cy="2032000"/>
          </a:xfrm>
          <a:prstGeom prst="roundRect">
            <a:avLst>
              <a:gd name="adj" fmla="val 8750"/>
            </a:avLst>
          </a:prstGeom>
          <a:solidFill>
            <a:srgbClr val="F5F5F7"/>
          </a:solidFill>
          <a:ln w="6350">
            <a:solidFill>
              <a:srgbClr val="EA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7400" y="2140590"/>
            <a:ext cx="1569184" cy="853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4800" b="1">
                <a:solidFill>
                  <a:srgbClr val="EF3124"/>
                </a:solidFill>
                <a:latin typeface="Arial"/>
              </a:rPr>
              <a:t>+1,8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9724" y="2519959"/>
            <a:ext cx="4913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500" b="1">
                <a:solidFill>
                  <a:srgbClr val="EF3124"/>
                </a:solidFill>
                <a:latin typeface="Arial"/>
              </a:rPr>
              <a:t>млн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7400" y="3009900"/>
            <a:ext cx="2997200" cy="0"/>
          </a:xfrm>
          <a:prstGeom prst="line">
            <a:avLst/>
          </a:prstGeom>
          <a:ln w="6350">
            <a:solidFill>
              <a:srgbClr val="DF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87400" y="3128355"/>
            <a:ext cx="2350710" cy="2489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400" b="0">
                <a:solidFill>
                  <a:srgbClr val="1D1D1D"/>
                </a:solidFill>
                <a:latin typeface="Arial"/>
              </a:rPr>
              <a:t>новых розничных клиентов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8000" y="1841500"/>
            <a:ext cx="3556000" cy="2032000"/>
          </a:xfrm>
          <a:prstGeom prst="roundRect">
            <a:avLst>
              <a:gd name="adj" fmla="val 8750"/>
            </a:avLst>
          </a:prstGeom>
          <a:solidFill>
            <a:srgbClr val="F5F5F7"/>
          </a:solidFill>
          <a:ln w="6350">
            <a:solidFill>
              <a:srgbClr val="EA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7400" y="2140590"/>
            <a:ext cx="1738848" cy="853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4800" b="1">
                <a:solidFill>
                  <a:srgbClr val="EF3124"/>
                </a:solidFill>
                <a:latin typeface="Arial"/>
              </a:rPr>
              <a:t>+205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9388" y="2519959"/>
            <a:ext cx="1059359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500" b="1">
                <a:solidFill>
                  <a:srgbClr val="EF3124"/>
                </a:solidFill>
                <a:latin typeface="Arial"/>
              </a:rPr>
              <a:t>млрд руб.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97400" y="3009900"/>
            <a:ext cx="2997200" cy="0"/>
          </a:xfrm>
          <a:prstGeom prst="line">
            <a:avLst/>
          </a:prstGeom>
          <a:ln w="6350">
            <a:solidFill>
              <a:srgbClr val="DF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97400" y="3128355"/>
            <a:ext cx="2803979" cy="2489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400" b="0">
                <a:solidFill>
                  <a:srgbClr val="1D1D1D"/>
                </a:solidFill>
                <a:latin typeface="Arial"/>
              </a:rPr>
              <a:t>розничных кредитных продуктов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7400" y="3466440"/>
            <a:ext cx="970471" cy="177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>
                <a:solidFill>
                  <a:srgbClr val="A5A5AB"/>
                </a:solidFill>
                <a:latin typeface="Arial"/>
              </a:rPr>
              <a:t>КН, КПЗН, МКК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8000" y="1841500"/>
            <a:ext cx="3556000" cy="2032000"/>
          </a:xfrm>
          <a:prstGeom prst="roundRect">
            <a:avLst>
              <a:gd name="adj" fmla="val 8750"/>
            </a:avLst>
          </a:prstGeom>
          <a:solidFill>
            <a:srgbClr val="F5F5F7"/>
          </a:solidFill>
          <a:ln w="6350">
            <a:solidFill>
              <a:srgbClr val="EAE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7400" y="2140590"/>
            <a:ext cx="1738848" cy="853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4800" b="1">
                <a:solidFill>
                  <a:srgbClr val="EF3124"/>
                </a:solidFill>
                <a:latin typeface="Arial"/>
              </a:rPr>
              <a:t>+108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69388" y="2519959"/>
            <a:ext cx="529158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500" b="1">
                <a:solidFill>
                  <a:srgbClr val="EF3124"/>
                </a:solidFill>
                <a:latin typeface="Arial"/>
              </a:rPr>
              <a:t>тыс.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07400" y="3009900"/>
            <a:ext cx="2997200" cy="0"/>
          </a:xfrm>
          <a:prstGeom prst="line">
            <a:avLst/>
          </a:prstGeom>
          <a:ln w="6350">
            <a:solidFill>
              <a:srgbClr val="DF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07400" y="3128355"/>
            <a:ext cx="2386132" cy="2489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400" b="0">
                <a:solidFill>
                  <a:srgbClr val="1D1D1D"/>
                </a:solidFill>
                <a:latin typeface="Arial"/>
              </a:rPr>
              <a:t>предпринимателей малого,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7400" y="3369655"/>
            <a:ext cx="2495607" cy="2489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400" b="0">
                <a:solidFill>
                  <a:srgbClr val="1D1D1D"/>
                </a:solidFill>
                <a:latin typeface="Arial"/>
              </a:rPr>
              <a:t>среднего и крупного бизнеса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8000" y="4191000"/>
            <a:ext cx="11176000" cy="1905000"/>
          </a:xfrm>
          <a:prstGeom prst="roundRect">
            <a:avLst>
              <a:gd name="adj" fmla="val 9333"/>
            </a:avLst>
          </a:prstGeom>
          <a:solidFill>
            <a:srgbClr val="FD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0346846" y="5585347"/>
            <a:ext cx="1335135" cy="487324"/>
          </a:xfrm>
          <a:custGeom>
            <a:avLst/>
            <a:gdLst/>
            <a:ahLst/>
            <a:cxnLst/>
            <a:rect l="l" t="t" r="r" b="b"/>
            <a:pathLst>
              <a:path w="1335135" h="487324">
                <a:moveTo>
                  <a:pt x="0" y="487324"/>
                </a:moveTo>
                <a:lnTo>
                  <a:pt x="60297" y="456144"/>
                </a:lnTo>
                <a:lnTo>
                  <a:pt x="120986" y="425734"/>
                </a:lnTo>
                <a:lnTo>
                  <a:pt x="182057" y="396098"/>
                </a:lnTo>
                <a:lnTo>
                  <a:pt x="243501" y="367243"/>
                </a:lnTo>
                <a:lnTo>
                  <a:pt x="305307" y="339171"/>
                </a:lnTo>
                <a:lnTo>
                  <a:pt x="367465" y="311888"/>
                </a:lnTo>
                <a:lnTo>
                  <a:pt x="429965" y="285399"/>
                </a:lnTo>
                <a:lnTo>
                  <a:pt x="492797" y="259707"/>
                </a:lnTo>
                <a:lnTo>
                  <a:pt x="555951" y="234817"/>
                </a:lnTo>
                <a:lnTo>
                  <a:pt x="619416" y="210732"/>
                </a:lnTo>
                <a:lnTo>
                  <a:pt x="683184" y="187457"/>
                </a:lnTo>
                <a:lnTo>
                  <a:pt x="747242" y="164995"/>
                </a:lnTo>
                <a:lnTo>
                  <a:pt x="811580" y="143351"/>
                </a:lnTo>
                <a:lnTo>
                  <a:pt x="876189" y="122527"/>
                </a:lnTo>
                <a:lnTo>
                  <a:pt x="941058" y="102527"/>
                </a:lnTo>
                <a:lnTo>
                  <a:pt x="1006176" y="83354"/>
                </a:lnTo>
                <a:lnTo>
                  <a:pt x="1071533" y="65011"/>
                </a:lnTo>
                <a:lnTo>
                  <a:pt x="1137118" y="47501"/>
                </a:lnTo>
                <a:lnTo>
                  <a:pt x="1202920" y="30828"/>
                </a:lnTo>
                <a:lnTo>
                  <a:pt x="1268929" y="14993"/>
                </a:lnTo>
                <a:lnTo>
                  <a:pt x="1335135" y="0"/>
                </a:lnTo>
              </a:path>
            </a:pathLst>
          </a:custGeom>
          <a:noFill/>
          <a:ln w="12700">
            <a:solidFill>
              <a:srgbClr val="F0A79E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330478" y="4809735"/>
            <a:ext cx="2339879" cy="991714"/>
          </a:xfrm>
          <a:custGeom>
            <a:avLst/>
            <a:gdLst/>
            <a:ahLst/>
            <a:cxnLst/>
            <a:rect l="l" t="t" r="r" b="b"/>
            <a:pathLst>
              <a:path w="2339879" h="991714">
                <a:moveTo>
                  <a:pt x="0" y="991714"/>
                </a:moveTo>
                <a:lnTo>
                  <a:pt x="63831" y="947622"/>
                </a:lnTo>
                <a:lnTo>
                  <a:pt x="128218" y="904345"/>
                </a:lnTo>
                <a:lnTo>
                  <a:pt x="193151" y="861892"/>
                </a:lnTo>
                <a:lnTo>
                  <a:pt x="258619" y="820268"/>
                </a:lnTo>
                <a:lnTo>
                  <a:pt x="324611" y="779480"/>
                </a:lnTo>
                <a:lnTo>
                  <a:pt x="391116" y="739536"/>
                </a:lnTo>
                <a:lnTo>
                  <a:pt x="458125" y="700441"/>
                </a:lnTo>
                <a:lnTo>
                  <a:pt x="525626" y="662203"/>
                </a:lnTo>
                <a:lnTo>
                  <a:pt x="593608" y="624826"/>
                </a:lnTo>
                <a:lnTo>
                  <a:pt x="662060" y="588318"/>
                </a:lnTo>
                <a:lnTo>
                  <a:pt x="730971" y="552683"/>
                </a:lnTo>
                <a:lnTo>
                  <a:pt x="800330" y="517929"/>
                </a:lnTo>
                <a:lnTo>
                  <a:pt x="870126" y="484060"/>
                </a:lnTo>
                <a:lnTo>
                  <a:pt x="940347" y="451082"/>
                </a:lnTo>
                <a:lnTo>
                  <a:pt x="1010982" y="419000"/>
                </a:lnTo>
                <a:lnTo>
                  <a:pt x="1082020" y="387820"/>
                </a:lnTo>
                <a:lnTo>
                  <a:pt x="1153448" y="357546"/>
                </a:lnTo>
                <a:lnTo>
                  <a:pt x="1225257" y="328184"/>
                </a:lnTo>
                <a:lnTo>
                  <a:pt x="1297433" y="299738"/>
                </a:lnTo>
                <a:lnTo>
                  <a:pt x="1369965" y="272212"/>
                </a:lnTo>
                <a:lnTo>
                  <a:pt x="1442841" y="245612"/>
                </a:lnTo>
                <a:lnTo>
                  <a:pt x="1516051" y="219942"/>
                </a:lnTo>
                <a:lnTo>
                  <a:pt x="1589581" y="195205"/>
                </a:lnTo>
                <a:lnTo>
                  <a:pt x="1663419" y="171406"/>
                </a:lnTo>
                <a:lnTo>
                  <a:pt x="1737555" y="148549"/>
                </a:lnTo>
                <a:lnTo>
                  <a:pt x="1811976" y="126637"/>
                </a:lnTo>
                <a:lnTo>
                  <a:pt x="1886669" y="105674"/>
                </a:lnTo>
                <a:lnTo>
                  <a:pt x="1961623" y="85663"/>
                </a:lnTo>
                <a:lnTo>
                  <a:pt x="2036826" y="66608"/>
                </a:lnTo>
                <a:lnTo>
                  <a:pt x="2112265" y="48511"/>
                </a:lnTo>
                <a:lnTo>
                  <a:pt x="2187928" y="31376"/>
                </a:lnTo>
                <a:lnTo>
                  <a:pt x="2263804" y="15205"/>
                </a:lnTo>
                <a:lnTo>
                  <a:pt x="2339879" y="0"/>
                </a:lnTo>
              </a:path>
            </a:pathLst>
          </a:custGeom>
          <a:noFill/>
          <a:ln w="12700">
            <a:solidFill>
              <a:srgbClr val="F0A79E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8893413" y="4204044"/>
            <a:ext cx="2038472" cy="973211"/>
          </a:xfrm>
          <a:custGeom>
            <a:avLst/>
            <a:gdLst/>
            <a:ahLst/>
            <a:cxnLst/>
            <a:rect l="l" t="t" r="r" b="b"/>
            <a:pathLst>
              <a:path w="2038472" h="973211">
                <a:moveTo>
                  <a:pt x="0" y="973211"/>
                </a:moveTo>
                <a:lnTo>
                  <a:pt x="71810" y="923607"/>
                </a:lnTo>
                <a:lnTo>
                  <a:pt x="144245" y="874921"/>
                </a:lnTo>
                <a:lnTo>
                  <a:pt x="217295" y="827161"/>
                </a:lnTo>
                <a:lnTo>
                  <a:pt x="290946" y="780334"/>
                </a:lnTo>
                <a:lnTo>
                  <a:pt x="365187" y="734448"/>
                </a:lnTo>
                <a:lnTo>
                  <a:pt x="440006" y="689511"/>
                </a:lnTo>
                <a:lnTo>
                  <a:pt x="515390" y="645530"/>
                </a:lnTo>
                <a:lnTo>
                  <a:pt x="591329" y="602511"/>
                </a:lnTo>
                <a:lnTo>
                  <a:pt x="667809" y="560462"/>
                </a:lnTo>
                <a:lnTo>
                  <a:pt x="744817" y="519390"/>
                </a:lnTo>
                <a:lnTo>
                  <a:pt x="822342" y="479302"/>
                </a:lnTo>
                <a:lnTo>
                  <a:pt x="900371" y="440203"/>
                </a:lnTo>
                <a:lnTo>
                  <a:pt x="978891" y="402100"/>
                </a:lnTo>
                <a:lnTo>
                  <a:pt x="1057890" y="365000"/>
                </a:lnTo>
                <a:lnTo>
                  <a:pt x="1137355" y="328908"/>
                </a:lnTo>
                <a:lnTo>
                  <a:pt x="1217272" y="293830"/>
                </a:lnTo>
                <a:lnTo>
                  <a:pt x="1297629" y="259772"/>
                </a:lnTo>
                <a:lnTo>
                  <a:pt x="1378413" y="226739"/>
                </a:lnTo>
                <a:lnTo>
                  <a:pt x="1459611" y="194738"/>
                </a:lnTo>
                <a:lnTo>
                  <a:pt x="1541210" y="163772"/>
                </a:lnTo>
                <a:lnTo>
                  <a:pt x="1623196" y="133847"/>
                </a:lnTo>
                <a:lnTo>
                  <a:pt x="1705557" y="104968"/>
                </a:lnTo>
                <a:lnTo>
                  <a:pt x="1788278" y="77139"/>
                </a:lnTo>
                <a:lnTo>
                  <a:pt x="1871347" y="50365"/>
                </a:lnTo>
                <a:lnTo>
                  <a:pt x="1954749" y="24651"/>
                </a:lnTo>
                <a:lnTo>
                  <a:pt x="2038472" y="0"/>
                </a:lnTo>
              </a:path>
            </a:pathLst>
          </a:custGeom>
          <a:noFill/>
          <a:ln w="12700">
            <a:solidFill>
              <a:srgbClr val="F0A79E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roph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200" y="4660900"/>
            <a:ext cx="965200" cy="965200"/>
          </a:xfrm>
          <a:prstGeom prst="rect">
            <a:avLst/>
          </a:prstGeom>
        </p:spPr>
      </p:pic>
      <p:cxnSp>
        <p:nvCxnSpPr>
          <p:cNvPr id="28" name="Connector 27"/>
          <p:cNvCxnSpPr/>
          <p:nvPr/>
        </p:nvCxnSpPr>
        <p:spPr>
          <a:xfrm>
            <a:off x="2324100" y="4635500"/>
            <a:ext cx="0" cy="1016000"/>
          </a:xfrm>
          <a:prstGeom prst="line">
            <a:avLst/>
          </a:prstGeom>
          <a:ln w="6350">
            <a:solidFill>
              <a:srgbClr val="F3CC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30500" y="4749140"/>
            <a:ext cx="573403" cy="177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spc="140">
                <a:solidFill>
                  <a:srgbClr val="EF3124"/>
                </a:solidFill>
                <a:latin typeface="Arial"/>
              </a:rPr>
              <a:t>А ЕЩЁ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0500" y="5008382"/>
            <a:ext cx="1325233" cy="817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4600" b="1">
                <a:solidFill>
                  <a:srgbClr val="EF3124"/>
                </a:solidFill>
                <a:latin typeface="Arial"/>
              </a:rPr>
              <a:t>197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06813" y="5353263"/>
            <a:ext cx="999609" cy="284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1">
                <a:solidFill>
                  <a:srgbClr val="EF3124"/>
                </a:solidFill>
                <a:latin typeface="Arial"/>
              </a:rPr>
              <a:t>млн руб.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4906289"/>
            <a:ext cx="2660656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D1D1D"/>
                </a:solidFill>
                <a:latin typeface="Arial"/>
              </a:rPr>
              <a:t>заработали через запуск игр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5172989"/>
            <a:ext cx="1925352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D1D1D"/>
                </a:solidFill>
                <a:latin typeface="Arial"/>
              </a:rPr>
              <a:t>для Розницы и ММБ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31026" y="6454280"/>
            <a:ext cx="1101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>
                <a:solidFill>
                  <a:srgbClr val="A5A5A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