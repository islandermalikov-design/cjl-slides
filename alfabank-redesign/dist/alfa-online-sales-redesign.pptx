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51211"/>
            <a:ext cx="7164923" cy="4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1D1D1D"/>
                </a:solidFill>
                <a:latin typeface="Arial"/>
              </a:rPr>
              <a:t>5 ключевых источников обеспечивают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70311"/>
            <a:ext cx="9368324" cy="4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35% онлайн-продаж карт и 19% РКО в Альфа-Банке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93700"/>
            <a:ext cx="253845" cy="393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8000" y="1244600"/>
            <a:ext cx="241300" cy="1651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304" y="1275220"/>
            <a:ext cx="14184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261184"/>
            <a:ext cx="121168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— доля продаж банка*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1549400"/>
            <a:ext cx="11176000" cy="19812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6350">
            <a:solidFill>
              <a:srgbClr val="E7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62000" y="2108200"/>
            <a:ext cx="10668000" cy="0"/>
          </a:xfrm>
          <a:prstGeom prst="line">
            <a:avLst/>
          </a:prstGeom>
          <a:ln w="6350">
            <a:solidFill>
              <a:srgbClr val="E7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2000" y="2819400"/>
            <a:ext cx="10668000" cy="0"/>
          </a:xfrm>
          <a:prstGeom prst="line">
            <a:avLst/>
          </a:prstGeom>
          <a:ln w="6350">
            <a:solidFill>
              <a:srgbClr val="E7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60800" y="1727200"/>
            <a:ext cx="0" cy="1625600"/>
          </a:xfrm>
          <a:prstGeom prst="line">
            <a:avLst/>
          </a:prstGeom>
          <a:ln w="6350">
            <a:solidFill>
              <a:srgbClr val="E7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53100" y="1727200"/>
            <a:ext cx="0" cy="1625600"/>
          </a:xfrm>
          <a:prstGeom prst="line">
            <a:avLst/>
          </a:prstGeom>
          <a:ln w="6350">
            <a:solidFill>
              <a:srgbClr val="E7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45400" y="1727200"/>
            <a:ext cx="0" cy="1625600"/>
          </a:xfrm>
          <a:prstGeom prst="line">
            <a:avLst/>
          </a:prstGeom>
          <a:ln w="6350">
            <a:solidFill>
              <a:srgbClr val="E7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37700" y="1727200"/>
            <a:ext cx="0" cy="1625600"/>
          </a:xfrm>
          <a:prstGeom prst="line">
            <a:avLst/>
          </a:prstGeom>
          <a:ln w="6350">
            <a:solidFill>
              <a:srgbClr val="E7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2000" y="2296413"/>
            <a:ext cx="639421" cy="120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75" b="1" spc="33">
                <a:solidFill>
                  <a:srgbClr val="8A8A90"/>
                </a:solidFill>
                <a:latin typeface="Arial"/>
              </a:rPr>
              <a:t>КАРТОЧНЫЕ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417063"/>
            <a:ext cx="776238" cy="120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75" b="1" spc="33">
                <a:solidFill>
                  <a:srgbClr val="8A8A90"/>
                </a:solidFill>
                <a:latin typeface="Arial"/>
              </a:rPr>
              <a:t>ПРОДУКТЫ, шт.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537713"/>
            <a:ext cx="643828" cy="120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75" b="0" spc="13">
                <a:solidFill>
                  <a:srgbClr val="A5A5AB"/>
                </a:solidFill>
                <a:latin typeface="Arial"/>
              </a:rPr>
              <a:t>за 8 мес.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067938"/>
            <a:ext cx="678383" cy="120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75" b="1" spc="33">
                <a:solidFill>
                  <a:srgbClr val="8A8A90"/>
                </a:solidFill>
                <a:latin typeface="Arial"/>
              </a:rPr>
              <a:t>РКО, СЧЕТОВ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188588"/>
            <a:ext cx="643828" cy="120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75" b="0" spc="13">
                <a:solidFill>
                  <a:srgbClr val="A5A5AB"/>
                </a:solidFill>
                <a:latin typeface="Arial"/>
              </a:rPr>
              <a:t>за 8 мес.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1614648"/>
            <a:ext cx="1130037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Реферальная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3600" y="1805148"/>
            <a:ext cx="921231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программа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2270115"/>
            <a:ext cx="835473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930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24293" y="2325624"/>
            <a:ext cx="355758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4143" y="2355670"/>
            <a:ext cx="280828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13%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4293" y="25057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600" y="2981315"/>
            <a:ext cx="630642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9462" y="30368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89312" y="30668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9462" y="32169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5900" y="1614648"/>
            <a:ext cx="1149161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Органическое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5900" y="1805148"/>
            <a:ext cx="1089258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привлечение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5900" y="2270115"/>
            <a:ext cx="835473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655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16593" y="23256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6443" y="23556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6593" y="25057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5900" y="2981315"/>
            <a:ext cx="630642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37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11762" y="30368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81612" y="30668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1762" y="32169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8200" y="1805148"/>
            <a:ext cx="898609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CPA-канал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18200" y="2270115"/>
            <a:ext cx="835473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415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08893" y="23256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743" y="23556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8893" y="25057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18200" y="2981315"/>
            <a:ext cx="630642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25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4062" y="30368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12" y="30668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4062" y="32169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0" y="1805148"/>
            <a:ext cx="1252374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Кросс-продажи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0500" y="2270115"/>
            <a:ext cx="835473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336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1193" y="23256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1043" y="23556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1193" y="25057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0500" y="3039946"/>
            <a:ext cx="86032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A5A5AB"/>
                </a:solidFill>
                <a:latin typeface="Arial"/>
              </a:rPr>
              <a:t>на этапе заявки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0500" y="3192346"/>
            <a:ext cx="52956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A5A5AB"/>
                </a:solidFill>
                <a:latin typeface="Arial"/>
              </a:rPr>
              <a:t>и выдачи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02800" y="1614648"/>
            <a:ext cx="1030397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Контекстная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02800" y="1805148"/>
            <a:ext cx="724629" cy="213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D1D1D"/>
                </a:solidFill>
                <a:latin typeface="Arial"/>
              </a:rPr>
              <a:t>реклама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02800" y="2270115"/>
            <a:ext cx="835473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237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93493" y="23256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63343" y="23556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3493" y="25057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02800" y="2981315"/>
            <a:ext cx="630642" cy="515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900" b="1">
                <a:solidFill>
                  <a:srgbClr val="EF3124"/>
                </a:solidFill>
                <a:latin typeface="Arial"/>
              </a:rPr>
              <a:t>16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88662" y="3036824"/>
            <a:ext cx="295721" cy="177800"/>
          </a:xfrm>
          <a:prstGeom prst="roundRect">
            <a:avLst>
              <a:gd name="adj" fmla="val 50000"/>
            </a:avLst>
          </a:prstGeom>
          <a:solidFill>
            <a:srgbClr val="2FB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58512" y="3066870"/>
            <a:ext cx="220791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88662" y="3216984"/>
            <a:ext cx="26986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EF3124"/>
                </a:solidFill>
                <a:latin typeface="Arial"/>
              </a:rPr>
              <a:t>тыс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8000" y="3681602"/>
            <a:ext cx="4253634" cy="1200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75" b="0">
                <a:solidFill>
                  <a:srgbClr val="A5A5AB"/>
                </a:solidFill>
                <a:latin typeface="Arial"/>
              </a:rPr>
              <a:t>*Доли других каналов привлечения карточных продуктов в Рознице: от 1% до 25%, в ММБ от 7% до 37%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8000" y="3937000"/>
            <a:ext cx="11176000" cy="2413000"/>
          </a:xfrm>
          <a:prstGeom prst="roundRect">
            <a:avLst>
              <a:gd name="adj" fmla="val 7368"/>
            </a:avLst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2000" y="4233255"/>
            <a:ext cx="5041672" cy="248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EF3124"/>
                </a:solidFill>
                <a:latin typeface="Arial"/>
              </a:rPr>
              <a:t>Более 30 </a:t>
            </a:r>
            <a:r>
              <a:rPr sz="1400" b="1">
                <a:solidFill>
                  <a:srgbClr val="1D1D1D"/>
                </a:solidFill>
                <a:latin typeface="Arial"/>
              </a:rPr>
              <a:t>продвигаемых продуктов трёх линий бизнеса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4663580"/>
            <a:ext cx="12275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spc="60">
                <a:solidFill>
                  <a:srgbClr val="1D1D1D"/>
                </a:solidFill>
                <a:latin typeface="Arial"/>
              </a:rPr>
              <a:t>РОЗНИЧНЫЙ БИЗНЕС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62000" y="4864100"/>
            <a:ext cx="3524250" cy="0"/>
          </a:xfrm>
          <a:prstGeom prst="line">
            <a:avLst/>
          </a:prstGeom>
          <a:ln w="635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62000" y="4944184"/>
            <a:ext cx="948558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Дебетовые карты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2000" y="5099759"/>
            <a:ext cx="942022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Кредитные карты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00" y="5255334"/>
            <a:ext cx="1694615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Кредит под залог недвижимости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2000" y="5410909"/>
            <a:ext cx="1021350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Кредит наличными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000" y="5566484"/>
            <a:ext cx="280459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МКК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000" y="5722059"/>
            <a:ext cx="83375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Самозанятость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000" y="5877634"/>
            <a:ext cx="47759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Ипотека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98750" y="4944184"/>
            <a:ext cx="885517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Перевод пенсии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98750" y="5099759"/>
            <a:ext cx="447602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Вклады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98750" y="5255334"/>
            <a:ext cx="1164458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Накопительные счета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8750" y="5410909"/>
            <a:ext cx="502737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Alfa Only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98750" y="5566484"/>
            <a:ext cx="1261655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Альфа-Мобайл (MVNO)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98750" y="5722059"/>
            <a:ext cx="126144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Карты для иностранцев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98750" y="5877634"/>
            <a:ext cx="705934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Валютобмен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35500" y="4663580"/>
            <a:ext cx="29953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spc="60">
                <a:solidFill>
                  <a:srgbClr val="1D1D1D"/>
                </a:solidFill>
                <a:latin typeface="Arial"/>
              </a:rPr>
              <a:t>ММБ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635500" y="4864100"/>
            <a:ext cx="1651000" cy="0"/>
          </a:xfrm>
          <a:prstGeom prst="line">
            <a:avLst/>
          </a:prstGeom>
          <a:ln w="635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635500" y="4944184"/>
            <a:ext cx="283622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РКО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35500" y="5099759"/>
            <a:ext cx="113583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Регистрация бизнеса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35500" y="5255334"/>
            <a:ext cx="1075852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Интернет-эквайринг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35500" y="5410909"/>
            <a:ext cx="107474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Торговый эквайринг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35500" y="5566484"/>
            <a:ext cx="1147749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Кредиты для бизнеса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35500" y="5722059"/>
            <a:ext cx="731762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Бизнес-карта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35500" y="5877634"/>
            <a:ext cx="772190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Альфа-Конфа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35500" y="6033209"/>
            <a:ext cx="563090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Касса 3в1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04000" y="4663580"/>
            <a:ext cx="26777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spc="60">
                <a:solidFill>
                  <a:srgbClr val="1D1D1D"/>
                </a:solidFill>
                <a:latin typeface="Arial"/>
              </a:rPr>
              <a:t>СКБ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604000" y="4864100"/>
            <a:ext cx="1841500" cy="0"/>
          </a:xfrm>
          <a:prstGeom prst="line">
            <a:avLst/>
          </a:prstGeom>
          <a:ln w="635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604000" y="4944184"/>
            <a:ext cx="891473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Альфа-Будущее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04000" y="5099759"/>
            <a:ext cx="971329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Массовый подбор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04000" y="5255334"/>
            <a:ext cx="55075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Хакатоны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04000" y="5410909"/>
            <a:ext cx="561140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HR-бренд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04000" y="5566484"/>
            <a:ext cx="525297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РКО СКБ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04000" y="5722059"/>
            <a:ext cx="586599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Эквайринг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4000" y="5877634"/>
            <a:ext cx="1202936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Депозиты для бизнеса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04000" y="6033209"/>
            <a:ext cx="679632" cy="151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5A5A62"/>
                </a:solidFill>
                <a:latin typeface="Arial"/>
              </a:rPr>
              <a:t>Альфа-Босс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826500" y="4216400"/>
            <a:ext cx="0" cy="1854200"/>
          </a:xfrm>
          <a:prstGeom prst="line">
            <a:avLst/>
          </a:prstGeom>
          <a:ln w="635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400" y="4292600"/>
            <a:ext cx="711200" cy="7112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9169400" y="5255936"/>
            <a:ext cx="516062" cy="1600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spc="126">
                <a:solidFill>
                  <a:srgbClr val="EF3124"/>
                </a:solidFill>
                <a:latin typeface="Arial"/>
              </a:rPr>
              <a:t>А ЕЩЁ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69400" y="5384566"/>
            <a:ext cx="616692" cy="746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4200" b="1">
                <a:solidFill>
                  <a:srgbClr val="EF3124"/>
                </a:solidFill>
                <a:latin typeface="Arial"/>
              </a:rP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54952" y="5706455"/>
            <a:ext cx="1228782" cy="248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EF3124"/>
                </a:solidFill>
                <a:latin typeface="Arial"/>
              </a:rPr>
              <a:t>млн человек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69400" y="6006440"/>
            <a:ext cx="1699605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D1D1D"/>
                </a:solidFill>
                <a:latin typeface="Arial"/>
              </a:rPr>
              <a:t>сыграют в игры в 2026 году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631026" y="6454280"/>
            <a:ext cx="1101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A5A5A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51211"/>
            <a:ext cx="8645664" cy="4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1D1D1D"/>
                </a:solidFill>
                <a:latin typeface="Arial"/>
              </a:rPr>
              <a:t>Объёмы привлечения на банковские продукты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70311"/>
            <a:ext cx="6989381" cy="4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1D1D1D"/>
                </a:solidFill>
                <a:latin typeface="Arial"/>
              </a:rPr>
              <a:t>за 8 месяцев 2026 через онлайн-канал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93700"/>
            <a:ext cx="253845" cy="393700"/>
          </a:xfrm>
          <a:prstGeom prst="rect">
            <a:avLst/>
          </a:prstGeom>
        </p:spPr>
      </p:pic>
      <p:pic>
        <p:nvPicPr>
          <p:cNvPr id="5" name="Picture 4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927100"/>
            <a:ext cx="939800" cy="920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8000" y="2133600"/>
            <a:ext cx="3556000" cy="2438400"/>
          </a:xfrm>
          <a:prstGeom prst="roundRect">
            <a:avLst>
              <a:gd name="adj" fmla="val 7291"/>
            </a:avLst>
          </a:prstGeom>
          <a:solidFill>
            <a:srgbClr val="F5F5F7"/>
          </a:solidFill>
          <a:ln w="6350">
            <a:solidFill>
              <a:srgbClr val="EA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7400" y="2539106"/>
            <a:ext cx="1699950" cy="924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200" b="1">
                <a:solidFill>
                  <a:srgbClr val="EF3124"/>
                </a:solidFill>
                <a:latin typeface="Arial"/>
              </a:rPr>
              <a:t>+1,8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0010" y="2964459"/>
            <a:ext cx="49130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EF3124"/>
                </a:solidFill>
                <a:latin typeface="Arial"/>
              </a:rPr>
              <a:t>млн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7400" y="3505200"/>
            <a:ext cx="2997200" cy="0"/>
          </a:xfrm>
          <a:prstGeom prst="line">
            <a:avLst/>
          </a:prstGeom>
          <a:ln w="6350">
            <a:solidFill>
              <a:srgbClr val="D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7400" y="3649055"/>
            <a:ext cx="2350710" cy="248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1D1D1D"/>
                </a:solidFill>
                <a:latin typeface="Arial"/>
              </a:rPr>
              <a:t>новых розничных клиентов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8000" y="2133600"/>
            <a:ext cx="3556000" cy="2438400"/>
          </a:xfrm>
          <a:prstGeom prst="roundRect">
            <a:avLst>
              <a:gd name="adj" fmla="val 7291"/>
            </a:avLst>
          </a:prstGeom>
          <a:solidFill>
            <a:srgbClr val="F5F5F7"/>
          </a:solidFill>
          <a:ln w="6350">
            <a:solidFill>
              <a:srgbClr val="EA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539106"/>
            <a:ext cx="1883752" cy="924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200" b="1">
                <a:solidFill>
                  <a:srgbClr val="EF3124"/>
                </a:solidFill>
                <a:latin typeface="Arial"/>
              </a:rPr>
              <a:t>+205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3812" y="2964459"/>
            <a:ext cx="1059359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EF3124"/>
                </a:solidFill>
                <a:latin typeface="Arial"/>
              </a:rPr>
              <a:t>млрд руб.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97400" y="3505200"/>
            <a:ext cx="2997200" cy="0"/>
          </a:xfrm>
          <a:prstGeom prst="line">
            <a:avLst/>
          </a:prstGeom>
          <a:ln w="6350">
            <a:solidFill>
              <a:srgbClr val="D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97400" y="3649055"/>
            <a:ext cx="2803979" cy="248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1D1D1D"/>
                </a:solidFill>
                <a:latin typeface="Arial"/>
              </a:rPr>
              <a:t>розничных кредитных продуктов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00" y="4012540"/>
            <a:ext cx="970471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A5A5AB"/>
                </a:solidFill>
                <a:latin typeface="Arial"/>
              </a:rPr>
              <a:t>КН, КПЗН, МКК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0" y="2133600"/>
            <a:ext cx="3556000" cy="2438400"/>
          </a:xfrm>
          <a:prstGeom prst="roundRect">
            <a:avLst>
              <a:gd name="adj" fmla="val 7291"/>
            </a:avLst>
          </a:prstGeom>
          <a:solidFill>
            <a:srgbClr val="F5F5F7"/>
          </a:solidFill>
          <a:ln w="6350">
            <a:solidFill>
              <a:srgbClr val="EAE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7400" y="2539106"/>
            <a:ext cx="1883752" cy="924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200" b="1">
                <a:solidFill>
                  <a:srgbClr val="EF3124"/>
                </a:solidFill>
                <a:latin typeface="Arial"/>
              </a:rPr>
              <a:t>+108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3812" y="2964459"/>
            <a:ext cx="529158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EF3124"/>
                </a:solidFill>
                <a:latin typeface="Arial"/>
              </a:rPr>
              <a:t>тыс.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07400" y="3505200"/>
            <a:ext cx="2997200" cy="0"/>
          </a:xfrm>
          <a:prstGeom prst="line">
            <a:avLst/>
          </a:prstGeom>
          <a:ln w="6350">
            <a:solidFill>
              <a:srgbClr val="DF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07400" y="3649055"/>
            <a:ext cx="2386132" cy="248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1D1D1D"/>
                </a:solidFill>
                <a:latin typeface="Arial"/>
              </a:rPr>
              <a:t>предпринимателей малого,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7400" y="3903055"/>
            <a:ext cx="2495607" cy="248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1D1D1D"/>
                </a:solidFill>
                <a:latin typeface="Arial"/>
              </a:rPr>
              <a:t>среднего и крупного бизнеса</a:t>
            </a:r>
          </a:p>
        </p:txBody>
      </p:sp>
      <p:pic>
        <p:nvPicPr>
          <p:cNvPr id="23" name="Picture 22" descr="g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4902200"/>
            <a:ext cx="1600200" cy="12603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631026" y="6454280"/>
            <a:ext cx="11012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A5A5A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