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ФОТО — cover" descr="Фотография: Обложка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ТЕМНЕНИЕ (SCRIM)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1210">
                  <a:alpha val="93000"/>
                </a:srgbClr>
              </a:gs>
              <a:gs pos="46000">
                <a:srgbClr val="141210">
                  <a:alpha val="80000"/>
                </a:srgbClr>
              </a:gs>
              <a:gs pos="100000">
                <a:srgbClr val="141210">
                  <a:alpha val="62000"/>
                </a:srgbClr>
              </a:gs>
            </a:gsLst>
            <a:lin ang="105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ЛИНИЯ"/>
          <p:cNvSpPr/>
          <p:nvPr/>
        </p:nvSpPr>
        <p:spPr>
          <a:xfrm>
            <a:off x="853380" y="2688431"/>
            <a:ext cx="658316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4330" y="3060502"/>
            <a:ext cx="8900120" cy="63232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580"/>
              </a:lnSpc>
            </a:pPr>
            <a:r>
              <a:rPr sz="4320" b="0" spc="864">
                <a:solidFill>
                  <a:srgbClr val="F2ECE3"/>
                </a:solidFill>
                <a:latin typeface="Cormorant Garamond Light"/>
              </a:rPr>
              <a:t>РЕСТАВРАЦИЯ ОБЪЕКТОВ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330" y="3934619"/>
            <a:ext cx="890012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340" b="0" spc="81">
                <a:solidFill>
                  <a:srgbClr val="F2ECE3"/>
                </a:solidFill>
                <a:latin typeface="Noto Sans"/>
              </a:rPr>
              <a:t>Портфолио реализованных проектов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0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giliarovskogo-before" descr="Место под будущую фотографию: Гиляровского, 37к2 — ДО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6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304800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304800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2919710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575" y="536377"/>
            <a:ext cx="374253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01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Гиляровского,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37к2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7A7168"/>
                </a:solidFill>
                <a:latin typeface="Noto Sans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0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giliarovskogo-after" descr="Место под будущую фотографию: Гиляровского, 37к2 — ПОСЛЕ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6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304800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304800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304800" y="437098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ЛИНИЯ"/>
          <p:cNvSpPr/>
          <p:nvPr/>
        </p:nvSpPr>
        <p:spPr>
          <a:xfrm>
            <a:off x="304800" y="4784229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ЛИНИЯ"/>
          <p:cNvSpPr/>
          <p:nvPr/>
        </p:nvSpPr>
        <p:spPr>
          <a:xfrm>
            <a:off x="304800" y="5197475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ЛИНИЯ"/>
          <p:cNvSpPr/>
          <p:nvPr/>
        </p:nvSpPr>
        <p:spPr>
          <a:xfrm>
            <a:off x="304800" y="5610721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ЛИНИЯ"/>
          <p:cNvSpPr/>
          <p:nvPr/>
        </p:nvSpPr>
        <p:spPr>
          <a:xfrm>
            <a:off x="304800" y="6023967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ЛИНИЯ"/>
          <p:cNvSpPr/>
          <p:nvPr/>
        </p:nvSpPr>
        <p:spPr>
          <a:xfrm>
            <a:off x="304800" y="643721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ЛИНИЯ"/>
          <p:cNvSpPr/>
          <p:nvPr/>
        </p:nvSpPr>
        <p:spPr>
          <a:xfrm>
            <a:off x="2919710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3575" y="536377"/>
            <a:ext cx="374253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01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750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Гиляровского,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37к2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9A7F5E"/>
                </a:solidFill>
                <a:latin typeface="Noto Sans"/>
              </a:rPr>
              <a:t>ПОСЛЕ РЕСТАВРАЦИИ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50" y="4051796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ПЛОЩАДЬ ЗДАНИЯ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750" y="4465042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ЭТАЖНОСТЬ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50" y="4878288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ГОД ПОСТРОЙКИ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750" y="5291534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СОСТОЯНИЕ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5704780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СТАТУС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6118027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КОММУНИКАЦИИ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9265841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borby-before" descr="Место под будущую фотографию: Площадь Борьбы, 13А — ДО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9570641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9570641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9265841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29416" y="536377"/>
            <a:ext cx="394692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02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1591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Площадь Борьбы,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13А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1591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7A7168"/>
                </a:solidFill>
                <a:latin typeface="Noto Sans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9265841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borby-after" descr="Место под будущую фотографию: Площадь Борьбы, 13А — ПОСЛЕ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9570641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9570641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9570641" y="437098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ЛИНИЯ"/>
          <p:cNvSpPr/>
          <p:nvPr/>
        </p:nvSpPr>
        <p:spPr>
          <a:xfrm>
            <a:off x="9570641" y="4784229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ЛИНИЯ"/>
          <p:cNvSpPr/>
          <p:nvPr/>
        </p:nvSpPr>
        <p:spPr>
          <a:xfrm>
            <a:off x="9570641" y="5197475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ЛИНИЯ"/>
          <p:cNvSpPr/>
          <p:nvPr/>
        </p:nvSpPr>
        <p:spPr>
          <a:xfrm>
            <a:off x="9570641" y="5610721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ЛИНИЯ"/>
          <p:cNvSpPr/>
          <p:nvPr/>
        </p:nvSpPr>
        <p:spPr>
          <a:xfrm>
            <a:off x="9570641" y="6023967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ЛИНИЯ"/>
          <p:cNvSpPr/>
          <p:nvPr/>
        </p:nvSpPr>
        <p:spPr>
          <a:xfrm>
            <a:off x="9570641" y="643721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ЛИНИЯ"/>
          <p:cNvSpPr/>
          <p:nvPr/>
        </p:nvSpPr>
        <p:spPr>
          <a:xfrm>
            <a:off x="9265841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929416" y="536377"/>
            <a:ext cx="394692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02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1591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Площадь Борьбы,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13А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1591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9A7F5E"/>
                </a:solidFill>
                <a:latin typeface="Noto Sans"/>
              </a:rPr>
              <a:t>ПОСЛЕ РЕСТАВРАЦИИ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1591" y="4051796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ПЛОЩАДЬ ЗДАНИЯ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1591" y="4465042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ЭТАЖНОСТЬ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1591" y="4878288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ГОД ПОСТРОЙКИ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1591" y="5291534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СОСТОЯНИЕ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1591" y="5704780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СТАТУС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1591" y="6118027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КОММУНИКАЦИИ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0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myasnickaya-before" descr="Место под будущую фотографию: Мясницкая, 13 стр. 2 — ДО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6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304800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304800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2919710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575" y="536377"/>
            <a:ext cx="396677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03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Мясницкая,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13 стр.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7A7168"/>
                </a:solidFill>
                <a:latin typeface="Noto Sans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0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myasnickaya-after" descr="Место под будущую фотографию: Мясницкая, 13 стр. 2 — ПОСЛЕ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6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304800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304800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304800" y="437098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ЛИНИЯ"/>
          <p:cNvSpPr/>
          <p:nvPr/>
        </p:nvSpPr>
        <p:spPr>
          <a:xfrm>
            <a:off x="304800" y="4784229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ЛИНИЯ"/>
          <p:cNvSpPr/>
          <p:nvPr/>
        </p:nvSpPr>
        <p:spPr>
          <a:xfrm>
            <a:off x="304800" y="5197475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ЛИНИЯ"/>
          <p:cNvSpPr/>
          <p:nvPr/>
        </p:nvSpPr>
        <p:spPr>
          <a:xfrm>
            <a:off x="304800" y="5610721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ЛИНИЯ"/>
          <p:cNvSpPr/>
          <p:nvPr/>
        </p:nvSpPr>
        <p:spPr>
          <a:xfrm>
            <a:off x="304800" y="6023967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ЛИНИЯ"/>
          <p:cNvSpPr/>
          <p:nvPr/>
        </p:nvSpPr>
        <p:spPr>
          <a:xfrm>
            <a:off x="304800" y="643721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ЛИНИЯ"/>
          <p:cNvSpPr/>
          <p:nvPr/>
        </p:nvSpPr>
        <p:spPr>
          <a:xfrm>
            <a:off x="2919710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3575" y="536377"/>
            <a:ext cx="396677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03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750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Мясницкая,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13 стр.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9A7F5E"/>
                </a:solidFill>
                <a:latin typeface="Noto Sans"/>
              </a:rPr>
              <a:t>ПОСЛЕ РЕСТАВРАЦИИ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50" y="4051796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ПЛОЩАДЬ ЗДАНИЯ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750" y="4465042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ЭТАЖНОСТЬ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50" y="4878288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ГОД ПОСТРОЙКИ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750" y="5291534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СОСТОЯНИЕ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5704780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СТАТУС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6118027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КОММУНИКАЦИИ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9265841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nikoloyamskaya-before" descr="Место под будущую фотографию: Николоямская, 51 стр. 2 — ДО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9570641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9570641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9265841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29416" y="536377"/>
            <a:ext cx="397966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04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1591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Николоямская,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51 стр.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1591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7A7168"/>
                </a:solidFill>
                <a:latin typeface="Noto Sans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9265841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nikoloyamskaya-after" descr="Место под будущую фотографию: Николоямская, 51 стр. 2 — ПОСЛЕ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9570641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9570641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9570641" y="437098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ЛИНИЯ"/>
          <p:cNvSpPr/>
          <p:nvPr/>
        </p:nvSpPr>
        <p:spPr>
          <a:xfrm>
            <a:off x="9570641" y="4784229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ЛИНИЯ"/>
          <p:cNvSpPr/>
          <p:nvPr/>
        </p:nvSpPr>
        <p:spPr>
          <a:xfrm>
            <a:off x="9570641" y="5197475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ЛИНИЯ"/>
          <p:cNvSpPr/>
          <p:nvPr/>
        </p:nvSpPr>
        <p:spPr>
          <a:xfrm>
            <a:off x="9570641" y="5610721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ЛИНИЯ"/>
          <p:cNvSpPr/>
          <p:nvPr/>
        </p:nvSpPr>
        <p:spPr>
          <a:xfrm>
            <a:off x="9570641" y="6023967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ЛИНИЯ"/>
          <p:cNvSpPr/>
          <p:nvPr/>
        </p:nvSpPr>
        <p:spPr>
          <a:xfrm>
            <a:off x="9570641" y="643721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ЛИНИЯ"/>
          <p:cNvSpPr/>
          <p:nvPr/>
        </p:nvSpPr>
        <p:spPr>
          <a:xfrm>
            <a:off x="9265841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929416" y="536377"/>
            <a:ext cx="397966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04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1591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Николоямская,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51 стр.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1591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9A7F5E"/>
                </a:solidFill>
                <a:latin typeface="Noto Sans"/>
              </a:rPr>
              <a:t>ПОСЛЕ РЕСТАВРАЦИИ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1591" y="4051796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ПЛОЩАДЬ ЗДАНИЯ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1591" y="4465042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ЭТАЖНОСТЬ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1591" y="4878288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ГОД ПОСТРОЙКИ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1591" y="5291534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СОСТОЯНИЕ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1591" y="5704780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СТАТУС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1591" y="6118027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КОММУНИКАЦИИ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0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okruzhnoy-before" descr="Место под будущую фотографию: Окружной проезд, 16 и 16 стр. 2 — ДО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6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304800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304800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2919710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575" y="536377"/>
            <a:ext cx="398165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05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Окружной проезд,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16 и 16 стр.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7A7168"/>
                </a:solidFill>
                <a:latin typeface="Noto Sans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0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okruzhnoy-after" descr="Место под будущую фотографию: Окружной проезд, 16 и 16 стр. 2 — ПОСЛЕ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6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304800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304800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304800" y="437098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ЛИНИЯ"/>
          <p:cNvSpPr/>
          <p:nvPr/>
        </p:nvSpPr>
        <p:spPr>
          <a:xfrm>
            <a:off x="304800" y="4784229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ЛИНИЯ"/>
          <p:cNvSpPr/>
          <p:nvPr/>
        </p:nvSpPr>
        <p:spPr>
          <a:xfrm>
            <a:off x="304800" y="5197475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ЛИНИЯ"/>
          <p:cNvSpPr/>
          <p:nvPr/>
        </p:nvSpPr>
        <p:spPr>
          <a:xfrm>
            <a:off x="304800" y="5610721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ЛИНИЯ"/>
          <p:cNvSpPr/>
          <p:nvPr/>
        </p:nvSpPr>
        <p:spPr>
          <a:xfrm>
            <a:off x="304800" y="6023967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ЛИНИЯ"/>
          <p:cNvSpPr/>
          <p:nvPr/>
        </p:nvSpPr>
        <p:spPr>
          <a:xfrm>
            <a:off x="304800" y="643721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ЛИНИЯ"/>
          <p:cNvSpPr/>
          <p:nvPr/>
        </p:nvSpPr>
        <p:spPr>
          <a:xfrm>
            <a:off x="2919710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3575" y="536377"/>
            <a:ext cx="398165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05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750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Окружной проезд,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16 и 16 стр.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9A7F5E"/>
                </a:solidFill>
                <a:latin typeface="Noto Sans"/>
              </a:rPr>
              <a:t>ПОСЛЕ РЕСТАВРАЦИИ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50" y="4051796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ПЛОЩАДЬ ЗДАНИЯ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750" y="4465042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ЭТАЖНОСТЬ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50" y="4878288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ГОД ПОСТРОЙКИ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750" y="5291534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СОСТОЯНИЕ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" y="5704780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СТАТУС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50" y="6118027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КОММУНИКАЦИИ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9265841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 — pochtovaya-before" descr="Фотография: Большая Почтовая, 18/20 стр. 15 — ДО. Заменить: правый клик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9570641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9570641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9265841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29416" y="536377"/>
            <a:ext cx="399653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06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1591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Большая Почтовая,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18/20 стр.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1591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7A7168"/>
                </a:solidFill>
                <a:latin typeface="Noto Sans"/>
              </a:rPr>
              <a:t>ДО РЕСТАВРАЦИИ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ПАНЕЛЬ"/>
          <p:cNvSpPr/>
          <p:nvPr/>
        </p:nvSpPr>
        <p:spPr>
          <a:xfrm>
            <a:off x="9265841" y="0"/>
            <a:ext cx="2926060" cy="6858000"/>
          </a:xfrm>
          <a:prstGeom prst="rect">
            <a:avLst/>
          </a:prstGeom>
          <a:solidFill>
            <a:srgbClr val="F2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ФОТО-ПЛЕЙСХОЛДЕР — pochtovaya-after" descr="Место под будущую фотографию: Большая Почтовая, 18/20 стр. 15 — ПОСЛЕ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5841" cy="6858000"/>
          </a:xfrm>
          <a:prstGeom prst="rect">
            <a:avLst/>
          </a:prstGeom>
        </p:spPr>
      </p:pic>
      <p:sp>
        <p:nvSpPr>
          <p:cNvPr id="5" name="ЛИНИЯ"/>
          <p:cNvSpPr/>
          <p:nvPr/>
        </p:nvSpPr>
        <p:spPr>
          <a:xfrm>
            <a:off x="9570641" y="587177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ЛИНИЯ"/>
          <p:cNvSpPr/>
          <p:nvPr/>
        </p:nvSpPr>
        <p:spPr>
          <a:xfrm>
            <a:off x="9570641" y="1816398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ЛИНИЯ"/>
          <p:cNvSpPr/>
          <p:nvPr/>
        </p:nvSpPr>
        <p:spPr>
          <a:xfrm>
            <a:off x="9570641" y="437098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ЛИНИЯ"/>
          <p:cNvSpPr/>
          <p:nvPr/>
        </p:nvSpPr>
        <p:spPr>
          <a:xfrm>
            <a:off x="9570641" y="4784229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ЛИНИЯ"/>
          <p:cNvSpPr/>
          <p:nvPr/>
        </p:nvSpPr>
        <p:spPr>
          <a:xfrm>
            <a:off x="9570641" y="5197475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ЛИНИЯ"/>
          <p:cNvSpPr/>
          <p:nvPr/>
        </p:nvSpPr>
        <p:spPr>
          <a:xfrm>
            <a:off x="9570641" y="5610721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ЛИНИЯ"/>
          <p:cNvSpPr/>
          <p:nvPr/>
        </p:nvSpPr>
        <p:spPr>
          <a:xfrm>
            <a:off x="9570641" y="6023967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ЛИНИЯ"/>
          <p:cNvSpPr/>
          <p:nvPr/>
        </p:nvSpPr>
        <p:spPr>
          <a:xfrm>
            <a:off x="9570641" y="6437213"/>
            <a:ext cx="2316460" cy="635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ЛИНИЯ"/>
          <p:cNvSpPr/>
          <p:nvPr/>
        </p:nvSpPr>
        <p:spPr>
          <a:xfrm>
            <a:off x="9265841" y="0"/>
            <a:ext cx="6350" cy="6858000"/>
          </a:xfrm>
          <a:prstGeom prst="rect">
            <a:avLst/>
          </a:prstGeom>
          <a:solidFill>
            <a:srgbClr val="DC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929416" y="536377"/>
            <a:ext cx="399653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30" b="0" spc="190">
                <a:solidFill>
                  <a:srgbClr val="1B1917"/>
                </a:solidFill>
                <a:latin typeface="Noto Sans"/>
              </a:rPr>
              <a:t>06</a:t>
            </a:r>
            <a:r>
              <a:rPr sz="630" b="0" spc="190">
                <a:solidFill>
                  <a:srgbClr val="7A7168"/>
                </a:solidFill>
                <a:latin typeface="Noto Sans"/>
              </a:rPr>
              <a:t>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1591" y="997843"/>
            <a:ext cx="2354560" cy="6621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Большая Почтовая,</a:t>
            </a:r>
          </a:p>
          <a:p>
            <a:pPr algn="l">
              <a:lnSpc>
                <a:spcPts val="2410"/>
              </a:lnSpc>
            </a:pPr>
            <a:r>
              <a:rPr sz="2110" b="0" spc="11">
                <a:solidFill>
                  <a:srgbClr val="1B1917"/>
                </a:solidFill>
                <a:latin typeface="Cormorant Garamond Light"/>
              </a:rPr>
              <a:t>18/20 стр.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1591" y="1975148"/>
            <a:ext cx="2354560" cy="158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600" b="0" spc="206">
                <a:solidFill>
                  <a:srgbClr val="9A7F5E"/>
                </a:solidFill>
                <a:latin typeface="Noto Sans"/>
              </a:rPr>
              <a:t>ПОСЛЕ РЕСТАВРАЦИИ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1591" y="4051796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ПЛОЩАДЬ ЗДАНИЯ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1591" y="4465042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ЭТАЖНОСТЬ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1591" y="4878288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ГОД ПОСТРОЙКИ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1591" y="5291534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СОСТОЯНИЕ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1591" y="5704780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СТАТУС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1591" y="6118027"/>
            <a:ext cx="235456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08">
                <a:solidFill>
                  <a:srgbClr val="7A7168"/>
                </a:solidFill>
                <a:latin typeface="Noto Sans"/>
              </a:rPr>
              <a:t>КОММУНИКАЦИИ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ФО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ФОТО-ПЛЕЙСХОЛДЕР — final-giliarovskogo" descr="Место под будущую фотографию: Финал / Гиляровского, 37к2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79289"/>
            <a:ext cx="1676400" cy="4470698"/>
          </a:xfrm>
          <a:prstGeom prst="rect">
            <a:avLst/>
          </a:prstGeom>
        </p:spPr>
      </p:pic>
      <p:pic>
        <p:nvPicPr>
          <p:cNvPr id="4" name="ФОТО-ПЛЕЙСХОЛДЕР — final-borby" descr="Место под будущую фотографию: Финал / Площадь Борьбы, 13А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60" y="979289"/>
            <a:ext cx="1676400" cy="4470698"/>
          </a:xfrm>
          <a:prstGeom prst="rect">
            <a:avLst/>
          </a:prstGeom>
        </p:spPr>
      </p:pic>
      <p:pic>
        <p:nvPicPr>
          <p:cNvPr id="5" name="ФОТО-ПЛЕЙСХОЛДЕР — final-myasnickaya" descr="Место под будущую фотографию: Финал / Мясницкая, 13 стр. 2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120" y="979289"/>
            <a:ext cx="1676400" cy="4470698"/>
          </a:xfrm>
          <a:prstGeom prst="rect">
            <a:avLst/>
          </a:prstGeom>
        </p:spPr>
      </p:pic>
      <p:pic>
        <p:nvPicPr>
          <p:cNvPr id="6" name="ФОТО-ПЛЕЙСХОЛДЕР — final-nikoloyamskaya" descr="Место под будущую фотографию: Финал / Николоямская, 51 стр. 2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380" y="979289"/>
            <a:ext cx="1676400" cy="4470698"/>
          </a:xfrm>
          <a:prstGeom prst="rect">
            <a:avLst/>
          </a:prstGeom>
        </p:spPr>
      </p:pic>
      <p:pic>
        <p:nvPicPr>
          <p:cNvPr id="7" name="ФОТО-ПЛЕЙСХОЛДЕР — final-okruzhnoy" descr="Место под будущую фотографию: Финал / Окружной проезд, 16 и 16 стр. 2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641" y="979289"/>
            <a:ext cx="1676400" cy="4470698"/>
          </a:xfrm>
          <a:prstGeom prst="rect">
            <a:avLst/>
          </a:prstGeom>
        </p:spPr>
      </p:pic>
      <p:pic>
        <p:nvPicPr>
          <p:cNvPr id="8" name="ФОТО-ПЛЕЙСХОЛДЕР — final-pochtovaya" descr="Место под будущую фотографию: Финал / Большая Почтовая, 18/20 стр. 15. Заменить: правый клик по изображению — «Изменить рисунок»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01" y="979289"/>
            <a:ext cx="1676400" cy="4470698"/>
          </a:xfrm>
          <a:prstGeom prst="rect">
            <a:avLst/>
          </a:prstGeom>
        </p:spPr>
      </p:pic>
      <p:sp>
        <p:nvSpPr>
          <p:cNvPr id="9" name="ЛИНИЯ"/>
          <p:cNvSpPr/>
          <p:nvPr/>
        </p:nvSpPr>
        <p:spPr>
          <a:xfrm>
            <a:off x="609600" y="559594"/>
            <a:ext cx="268188" cy="6350"/>
          </a:xfrm>
          <a:prstGeom prst="rect">
            <a:avLst/>
          </a:prstGeom>
          <a:solidFill>
            <a:srgbClr val="B29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РАМКА ПЛИТКИ"/>
          <p:cNvSpPr/>
          <p:nvPr/>
        </p:nvSpPr>
        <p:spPr>
          <a:xfrm>
            <a:off x="609600" y="979289"/>
            <a:ext cx="1676400" cy="4470698"/>
          </a:xfrm>
          <a:prstGeom prst="rect">
            <a:avLst/>
          </a:prstGeom>
          <a:noFill/>
          <a:ln w="6350">
            <a:solidFill>
              <a:srgbClr val="F2ECE3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АМКА ПЛИТКИ"/>
          <p:cNvSpPr/>
          <p:nvPr/>
        </p:nvSpPr>
        <p:spPr>
          <a:xfrm>
            <a:off x="2468860" y="979289"/>
            <a:ext cx="1676400" cy="4470698"/>
          </a:xfrm>
          <a:prstGeom prst="rect">
            <a:avLst/>
          </a:prstGeom>
          <a:noFill/>
          <a:ln w="6350">
            <a:solidFill>
              <a:srgbClr val="F2ECE3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АМКА ПЛИТКИ"/>
          <p:cNvSpPr/>
          <p:nvPr/>
        </p:nvSpPr>
        <p:spPr>
          <a:xfrm>
            <a:off x="4328120" y="979289"/>
            <a:ext cx="1676400" cy="4470698"/>
          </a:xfrm>
          <a:prstGeom prst="rect">
            <a:avLst/>
          </a:prstGeom>
          <a:noFill/>
          <a:ln w="6350">
            <a:solidFill>
              <a:srgbClr val="F2ECE3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АМКА ПЛИТКИ"/>
          <p:cNvSpPr/>
          <p:nvPr/>
        </p:nvSpPr>
        <p:spPr>
          <a:xfrm>
            <a:off x="6187380" y="979289"/>
            <a:ext cx="1676400" cy="4470698"/>
          </a:xfrm>
          <a:prstGeom prst="rect">
            <a:avLst/>
          </a:prstGeom>
          <a:noFill/>
          <a:ln w="6350">
            <a:solidFill>
              <a:srgbClr val="F2ECE3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АМКА ПЛИТКИ"/>
          <p:cNvSpPr/>
          <p:nvPr/>
        </p:nvSpPr>
        <p:spPr>
          <a:xfrm>
            <a:off x="8046641" y="979289"/>
            <a:ext cx="1676400" cy="4470698"/>
          </a:xfrm>
          <a:prstGeom prst="rect">
            <a:avLst/>
          </a:prstGeom>
          <a:noFill/>
          <a:ln w="6350">
            <a:solidFill>
              <a:srgbClr val="F2ECE3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АМКА ПЛИТКИ"/>
          <p:cNvSpPr/>
          <p:nvPr/>
        </p:nvSpPr>
        <p:spPr>
          <a:xfrm>
            <a:off x="9905901" y="979289"/>
            <a:ext cx="1676400" cy="4470698"/>
          </a:xfrm>
          <a:prstGeom prst="rect">
            <a:avLst/>
          </a:prstGeom>
          <a:noFill/>
          <a:ln w="6350">
            <a:solidFill>
              <a:srgbClr val="F2ECE3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0579" y="511969"/>
            <a:ext cx="743347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80" b="0" spc="207">
                <a:solidFill>
                  <a:srgbClr val="7A7168"/>
                </a:solidFill>
                <a:latin typeface="Noto Sans"/>
              </a:rPr>
              <a:t>ПОРТФОЛИО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5547519"/>
            <a:ext cx="171450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40">
                <a:solidFill>
                  <a:srgbClr val="F2ECE3"/>
                </a:solidFill>
                <a:latin typeface="Noto San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9810" y="5547519"/>
            <a:ext cx="171450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40">
                <a:solidFill>
                  <a:srgbClr val="F2ECE3"/>
                </a:solidFill>
                <a:latin typeface="Noto San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9070" y="5547519"/>
            <a:ext cx="171450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40">
                <a:solidFill>
                  <a:srgbClr val="F2ECE3"/>
                </a:solidFill>
                <a:latin typeface="Noto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8330" y="5547519"/>
            <a:ext cx="171450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40">
                <a:solidFill>
                  <a:srgbClr val="F2ECE3"/>
                </a:solidFill>
                <a:latin typeface="Noto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7591" y="5547519"/>
            <a:ext cx="171450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40">
                <a:solidFill>
                  <a:srgbClr val="F2ECE3"/>
                </a:solidFill>
                <a:latin typeface="Noto Sa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6851" y="5547519"/>
            <a:ext cx="171450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540" b="0" spc="140">
                <a:solidFill>
                  <a:srgbClr val="F2ECE3"/>
                </a:solidFill>
                <a:latin typeface="Noto San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50" y="5977731"/>
            <a:ext cx="110109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2400" b="0" spc="720">
                <a:solidFill>
                  <a:srgbClr val="F2ECE3"/>
                </a:solidFill>
                <a:latin typeface="Cormorant Garamond Light"/>
              </a:rPr>
              <a:t>РЕСТАВРАЦИЯ ОБЪЕКТОВ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